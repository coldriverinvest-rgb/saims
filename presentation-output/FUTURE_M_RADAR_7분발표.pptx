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발표 주제와 시스템의 성격을 한 문장으로 각인시킨다.
[대본] 안녕하십니까. 오늘 발표할 프로젝트는 FUTURE:M RADAR입니다. 이차전지 산업의 주요 변화를 빠르게 수집하고, AI를 활용해 경영진이 검토해야 할 시사점까지 도출하는 시스템을 구현했습니다. 단순히 정보를 모아 보여주는 대시보드가 아니라, 지금 무엇을 봐야 하고 그것이 우리 사업에 어떤 의미인지까지 연결하는 것이 이 시스템의 목적입니다.
[강조할 한 문장] 시장 변화를 빠르게 수집하고, AI로 의미를 해석해 경영진의 적시 의사결정을 지원한다.
[예상 시간] 20초
[다음 연결] 먼저 왜 이차전지 산업에서 속도가 중요한지부터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이 산업에서 왜 '속도'가 핵심 변수인지 설득한다.
[대본] 이차전지는 성장산업입니다. 화면 가운데가 경영 의사결정이고, 주변이 그 판단에 영향을 주는 다섯 갈래의 변화입니다. 경쟁사의 증설이나 계약 하나, 고객사의 공급망 전략 변경, 리튬이나 니켈 같은 원자재 가격 움직임, 각국의 산업정책, 그리고 기업별 실적까지 이 모든 것이 동시에 움직입니다. 그래서 성장산업에서는 변화를 적시에 발견하고 해석하는 속도 자체가 경쟁력이 됩니다.
[강조할 한 문장] 다섯 갈래의 변화가 동시에 움직이므로, 확인이 늦으면 대응도 늦어진다.
[예상 시간] 45초
[다음 연결] 그렇다면 기존에는 이 정보를 어떻게 확인하고 있었는지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문제의 본질이 정보 부족이 아니라 '분산과 해석 시간'임을 명확히 한다.
[대본] 기존 방식은 화면과 같습니다. 위쪽 네 단계가 수집인데, DART에서 공시를 보고, 뉴스를 검색하고, 금융 사이트에서 주가와 재무를 확인하고, 원자재 가격을 따로 봅니다. 그 아래가 가공과 판단인데, 흩어진 내용을 다시 정리해 비교하고, 우리 회사에 어떤 영향인지 검토한 다음, 보고자료를 작성합니다. 여기서 문제의 본질은 정보가 부족하다는 게 아니었습니다. 정보는 이미 많습니다. 다만 출처가 흩어져 있고, 수집한 정보가 우리 사업에 어떤 의미인지 판단하는 데 시간이 걸린다는 점이 핵심이었습니다. 아래 수치는 실제 업무 기준으로 측정해 채워 넣을 부분입니다.
[강조할 한 문장] 문제는 정보 부족이 아니라 분산과 해석에 걸리는 시간이다.
[예상 시간] 55초
[다음 연결] 그래서 이 문제를 어떤 관점으로 다시 정의했는지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AI에게 요약이 아니라 '임플리케이션 도출'을 맡겼다는 설계 의도를 전달한다.
[대본] 문제를 네 가지 기준으로 다시 봤습니다. 얼마나 빨리 발견하는가, 무엇을 먼저 볼 것인가, 그 변화가 회사에 어떤 영향인가, 그리고 결과를 원문에서 검증할 수 있는가입니다. 여기서 세운 가설이 가운데 있습니다. 자동으로 수집하고 AI가 중요도와 사업 영향, 대응 방향까지 함께 제시하면 경영진의 판단 시간을 줄일 수 있을 것이다. 중요한 점은 AI에게 단순 요약만 맡기지 않았다는 것입니다. 오른쪽 여섯 개 질문처럼, 무슨 변화가 있었고 왜 중요하며 무엇을 더 확인해야 하는지까지 답하도록 설계했습니다. 아래가 그 흐름을 네 단계로 정리한 것입니다.
[강조할 한 문장] AI의 역할은 요약이 아니라 사업 임플리케이션 도출이다.
[예상 시간] 50초
[다음 연결] 이 가설을 실제 시스템으로 어떻게 구현했는지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기능 나열이 아니라 '데이터가 판단으로 이어지는 흐름'을 보여준다.
[대본] 시스템은 크게 세 단계입니다. 왼쪽이 데이터 수집인데 공시와 재무, 뉴스, 주가, 원자재, 환율을 가져옵니다. 가운데가 분석과 저장입니다. 형식이 제각각인 데이터를 통일하고 기업과 주제별로 분류한 다음, 중요도와 위험·기회 신호를 분석하고 AI 브리핑과 사업 임플리케이션을 생성합니다. 오른쪽이 경영진이 실제로 보는 결과입니다. 아래는 사용한 기술인데, 기술 이름보다 각 기술이 어떤 문제를 해결했는지를 함께 적었습니다. 예를 들어 FastAPI는 여러 출처를 동시에 수집하기 위해, Telegram과 이메일은 중요한 변화를 화면에 들어오기 전에 먼저 전달하기 위해 선택했습니다.
[강조할 한 문장] 데이터 수집에서 끝내지 않고 경영진의 판단까지 하나의 흐름으로 연결했다.
[예상 시간] 60초
[다음 연결] 다만 구현 과정이 순조롭지만은 않았습니다. 겪은 시행착오를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결과물이 아니라 문제를 해결해 나간 과정을 보여준다.
[대본] 구현 과정에서 겪은 세 가지 사례입니다. 첫 번째는 외부 데이터 수집 실패였습니다. 외부 사이트의 응답 구조가 일정하지 않아서, 한 곳이 잘못되면 화면 전체가 오류로 이어졌습니다. 마지막 정상값을 유지하고 수집 시각과 오류 상태를 함께 보여주는 방식으로 바꿨습니다. 여기서 배운 건 정상 수집만큼 실패 상황을 다루는 설계가 중요하다는 점이었습니다. 두 번째는 AI 결과의 신뢰성입니다. 결과만 보여주면 사용자가 사실을 검증할 방법이 없어서, 공시와 뉴스 원문 링크를 항상 함께 제공하도록 했습니다. AI는 판단을 대신하는 게 아니라 검토 시간을 줄이는 역할로 정의했습니다. 세 번째는 화면 피드백이었습니다. 제가 만든 기능을 많이 보여주는 데 집중했는데, 정보와 장식이 많아 핵심에 집중하기 어렵다는 의견을 받았습니다. 배너와 불필요한 버튼을 걷어내고 핵심 정보를 위로 올렸습니다. 기능을 더하는 것만이 아니라 빼는 것도 개선이라는 걸 배웠습니다.
[강조할 한 문장] 기능을 더하는 것만이 아니라, 판단에 방해되는 요소를 빼는 것도 개선이었다.
[예상 시간] 70초
[다음 연결] 그 결과 사용자가 실제로 어떤 흐름으로 확인하게 되는지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실제 사용 흐름이 '발견 → 해석 → 검증'으로 끊기지 않고 이어짐을 화면으로 보여준다.
[대본] 실제 동작 화면을 30초 영상으로 준비했습니다. 지금 보시는 것처럼 대시보드에 들어오면 상단에 AI 데일리 브리핑이 오늘 확인할 사안을 먼저 올려줍니다. 아래는 9개사 공시와 뉴스가 한 피드로 모여 있고, 여기서 주요 공시의 AI 분석을 누르면 원문을 파싱해 만든 핵심 요약 세 문장과 계약금액·지분율 같은 핵심 수치, 그리고 사업적 영향 분석이 함께 나옵니다. 경쟁사 신호 히트맵에서는 네 개 축으로 분류한 위험 신호를 한눈에 보고, 재무와 주가, 원자재 가격으로 곧바로 교차 검증할 수 있습니다. 중요한 건 이 발견과 해석과 검증이 한 흐름 안에서 끊기지 않는다는 점입니다.
[강조할 한 문장] 발견과 해석과 검증이 한 화면 흐름 안에서 끊기지 않는다.
[예상 시간] 70초 (영상 30초 + 설명)
[운영 메모] 영상은 슬라이드에 삽입되어 있으며 클릭하면 재생된다. 발표 전 재생 여부를 반드시 사전 점검할 것.
[출처] 영상은 본 프로젝트에서 직접 개발한 FUTURE:M RADAR 실행 화면을 녹화한 것이다.
[다음 연결] 마지막으로 기대 효과와 이 과정에서 배운 점을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기대 효과를 과장 없이 제시하고, 배운 점으로 마무리한다.
[대본] 기대 효과는 정량과 정성으로 나눠 정리했습니다. 위 표의 수치는 실제 업무 기준으로 측정한 뒤 채워 넣을 계획이고, 아직 측정하지 않은 값을 임의로 적지 않았습니다. 아래 왼쪽 정성적 효과는 시장 변화를 더 일찍 발견하고, 수집과 정리보다 판단에 시간을 쓸 수 있으며, 위험과 기회를 일관된 기준으로 검토하고, AI 결과를 원문으로 검증할 수 있다는 점입니다. 오른쪽이 이 프로젝트에서 가장 크게 배운 점입니다. 처음에는 정보를 많이 보여주는 것이 좋은 시스템이라고 생각했습니다. 그런데 구현과 피드백을 거치면서, 경영진에게 필요한 것은 정보의 양이 아니라 지금 무엇을 봐야 하고 그것이 어떤 의미인지 빠르게 이해할 수 있는 구조라는 걸 알게 됐습니다. FUTURE:M RADAR의 최종 목표는 빠르게 변화하는 성장산업에서 경영진이 더 빠르고 근거 있게 판단하도록 지원하는 것입니다. 이상으로 발표를 마치겠습니다.
[강조할 한 문장] 필요한 것은 정보의 양이 아니라, 무엇을 봐야 하는지 알려주는 구조였다.
[예상 시간] 55초
[다음 연결] 이후 질의응답에서는 부록의 기술 구성과 한계 자료를 활용한다.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질의응답에서 기술 구현 관련 질문에 답하기 위한 참고 자료다.
[대본 · 질문 시] 구성은 크게 여섯 가지입니다. 프론트엔드와 백엔드를 분리했고, 외부 데이터는 공시와 뉴스, 금융, 원자재 네 계열을 가져옵니다. API는 기업별 통합 조회와 재무·주가 분석, AI 분석 요청, 알림 수신자 관리로 나뉩니다. 저장은 SQLite를 쓰는데 가격 이력과 알림 발송 이력을 보관하고, 이 발송 이력이 중복 알림을 막는 역할을 합니다. AI는 Gemini를 먼저 호출하고 실패하면 OpenAI로 넘어가며, 둘 다 안 되면 기본 결과를 돌려줘 화면이 비지 않게 했습니다.
[강조할 한 문장] 외부 의존 구간마다 실패했을 때의 동작을 함께 정의했다.
[예상 시간] 질의응답 시 30초 내외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한계를 숨기지 않고 제시해 신뢰를 확보하고, 검증 계획을 함께 보여준다.
[대본 · 질문 시] 현재 한계는 네 가지로 정리했습니다. 외부 사이트가 개편되면 수집이 중단될 수 있고, AI 분석에는 사실과 추론이 섞일 가능성이 있어 원문 확인이 필요합니다. 또 실제 사용자를 통한 장기 검증이 아직 이뤄지지 않았고, 사내 운영으로 넘어가려면 접근 권한 설계가 필요합니다. 향후에는 임플리케이션의 정확도를 판단할 평가 데이터셋을 만들고, 사용자별로 관심 기업과 위험 기준을 설정할 수 있게 하며, 실제 사용자 대상으로 시간 단축 효과를 측정할 계획입니다. 무엇보다 AI 분석 결과는 최종 결정이 아니라 경영진 검토를 위한 자료라는 점을 분명히 하고 있습니다.
[강조할 한 문장] AI 결과는 최종 결정이 아니라 검토 자료다.
[예상 시간] 질의응답 시 30초 내외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7086600" y="320040"/>
            <a:ext cx="6217920" cy="6217920"/>
          </a:xfrm>
          <a:prstGeom prst="ellipse">
            <a:avLst/>
          </a:prstGeom>
          <a:ln w="12700">
            <a:solidFill>
              <a:srgbClr val="1E5286"/>
            </a:solidFill>
            <a:prstDash val="solid"/>
          </a:ln>
        </p:spPr>
      </p:sp>
      <p:sp>
        <p:nvSpPr>
          <p:cNvPr id="3" name="Shape 1"/>
          <p:cNvSpPr/>
          <p:nvPr/>
        </p:nvSpPr>
        <p:spPr>
          <a:xfrm>
            <a:off x="7955280" y="1188720"/>
            <a:ext cx="4480560" cy="4480560"/>
          </a:xfrm>
          <a:prstGeom prst="ellipse">
            <a:avLst/>
          </a:prstGeom>
          <a:ln w="12700">
            <a:solidFill>
              <a:srgbClr val="1E5286"/>
            </a:solidFill>
            <a:prstDash val="solid"/>
          </a:ln>
        </p:spPr>
      </p:sp>
      <p:sp>
        <p:nvSpPr>
          <p:cNvPr id="4" name="Shape 2"/>
          <p:cNvSpPr/>
          <p:nvPr/>
        </p:nvSpPr>
        <p:spPr>
          <a:xfrm>
            <a:off x="8778240" y="2011680"/>
            <a:ext cx="2834640" cy="2834640"/>
          </a:xfrm>
          <a:prstGeom prst="ellipse">
            <a:avLst/>
          </a:prstGeom>
          <a:ln w="12700">
            <a:solidFill>
              <a:srgbClr val="1E5286"/>
            </a:solidFill>
            <a:prstDash val="solid"/>
          </a:ln>
        </p:spPr>
      </p:sp>
      <p:sp>
        <p:nvSpPr>
          <p:cNvPr id="5" name="Shape 3"/>
          <p:cNvSpPr/>
          <p:nvPr/>
        </p:nvSpPr>
        <p:spPr>
          <a:xfrm>
            <a:off x="10058400" y="3291840"/>
            <a:ext cx="274320" cy="274320"/>
          </a:xfrm>
          <a:prstGeom prst="ellipse">
            <a:avLst/>
          </a:prstGeom>
          <a:solidFill>
            <a:srgbClr val="00A88F"/>
          </a:solidFill>
          <a:ln w="12700">
            <a:solidFill>
              <a:srgbClr val="00A88F"/>
            </a:solidFill>
            <a:prstDash val="solid"/>
          </a:ln>
        </p:spPr>
      </p:sp>
      <p:sp>
        <p:nvSpPr>
          <p:cNvPr id="6" name="Shape 4"/>
          <p:cNvSpPr/>
          <p:nvPr/>
        </p:nvSpPr>
        <p:spPr>
          <a:xfrm>
            <a:off x="731520" y="1828800"/>
            <a:ext cx="822960" cy="16459"/>
          </a:xfrm>
          <a:prstGeom prst="rect">
            <a:avLst/>
          </a:prstGeom>
          <a:solidFill>
            <a:srgbClr val="00A88F"/>
          </a:solidFill>
          <a:ln w="12700">
            <a:solidFill>
              <a:srgbClr val="00A88F"/>
            </a:solidFill>
            <a:prstDash val="solid"/>
          </a:ln>
        </p:spPr>
      </p:sp>
      <p:sp>
        <p:nvSpPr>
          <p:cNvPr id="7" name="Text 5"/>
          <p:cNvSpPr txBox="1"/>
          <p:nvPr/>
        </p:nvSpPr>
        <p:spPr>
          <a:xfrm>
            <a:off x="731520" y="2121408"/>
            <a:ext cx="8778240" cy="914400"/>
          </a:xfrm>
          <a:prstGeom prst="rect">
            <a:avLst/>
          </a:prstGeom>
          <a:noFill/>
          <a:ln/>
        </p:spPr>
        <p:txBody>
          <a:bodyPr wrap="square" lIns="0" tIns="0" rIns="0" bIns="0" rtlCol="0" anchor="t"/>
          <a:lstStyle/>
          <a:p>
            <a:pPr indent="0" marL="0">
              <a:buNone/>
            </a:pPr>
            <a:r>
              <a:rPr lang="en-US" sz="4600" b="1" dirty="0">
                <a:solidFill>
                  <a:srgbClr val="FFFFFF"/>
                </a:solidFill>
                <a:latin typeface="함초롬돋움" pitchFamily="34" charset="0"/>
                <a:ea typeface="함초롬돋움" pitchFamily="34" charset="-122"/>
                <a:cs typeface="함초롬돋움" pitchFamily="34" charset="-120"/>
              </a:rPr>
              <a:t>FUTURE:M RADAR</a:t>
            </a:r>
            <a:endParaRPr lang="en-US" sz="4600" dirty="0"/>
          </a:p>
        </p:txBody>
      </p:sp>
      <p:sp>
        <p:nvSpPr>
          <p:cNvPr id="8" name="Text 6"/>
          <p:cNvSpPr txBox="1"/>
          <p:nvPr/>
        </p:nvSpPr>
        <p:spPr>
          <a:xfrm>
            <a:off x="731520" y="3163824"/>
            <a:ext cx="7680960" cy="914400"/>
          </a:xfrm>
          <a:prstGeom prst="rect">
            <a:avLst/>
          </a:prstGeom>
          <a:noFill/>
          <a:ln/>
        </p:spPr>
        <p:txBody>
          <a:bodyPr wrap="square" lIns="0" tIns="0" rIns="0" bIns="0" rtlCol="0" anchor="t"/>
          <a:lstStyle/>
          <a:p>
            <a:pPr indent="0" marL="0">
              <a:lnSpc>
                <a:spcPts val="3600"/>
              </a:lnSpc>
              <a:buNone/>
            </a:pPr>
            <a:r>
              <a:rPr lang="en-US" sz="2200" dirty="0">
                <a:solidFill>
                  <a:srgbClr val="4FD1BC"/>
                </a:solidFill>
                <a:latin typeface="함초롬돋움" pitchFamily="34" charset="0"/>
                <a:ea typeface="함초롬돋움" pitchFamily="34" charset="-122"/>
                <a:cs typeface="함초롬돋움" pitchFamily="34" charset="-120"/>
              </a:rPr>
              <a:t>이차전지 산업 인텔리전스 기반</a:t>
            </a:r>
            <a:endParaRPr lang="en-US" sz="2200" dirty="0"/>
          </a:p>
          <a:p>
            <a:pPr indent="0" marL="0">
              <a:lnSpc>
                <a:spcPts val="3600"/>
              </a:lnSpc>
              <a:buNone/>
            </a:pPr>
            <a:r>
              <a:rPr lang="en-US" sz="2200" dirty="0">
                <a:solidFill>
                  <a:srgbClr val="4FD1BC"/>
                </a:solidFill>
                <a:latin typeface="함초롬돋움" pitchFamily="34" charset="0"/>
                <a:ea typeface="함초롬돋움" pitchFamily="34" charset="-122"/>
                <a:cs typeface="함초롬돋움" pitchFamily="34" charset="-120"/>
              </a:rPr>
              <a:t>경영 의사결정 지원 시스템</a:t>
            </a:r>
            <a:endParaRPr lang="en-US" sz="2200" dirty="0"/>
          </a:p>
        </p:txBody>
      </p:sp>
      <p:sp>
        <p:nvSpPr>
          <p:cNvPr id="9" name="Shape 7"/>
          <p:cNvSpPr/>
          <p:nvPr/>
        </p:nvSpPr>
        <p:spPr>
          <a:xfrm>
            <a:off x="731520" y="4791456"/>
            <a:ext cx="6035040" cy="16459"/>
          </a:xfrm>
          <a:prstGeom prst="rect">
            <a:avLst/>
          </a:prstGeom>
          <a:solidFill>
            <a:srgbClr val="1E5286"/>
          </a:solidFill>
          <a:ln w="12700">
            <a:solidFill>
              <a:srgbClr val="1E5286"/>
            </a:solidFill>
            <a:prstDash val="solid"/>
          </a:ln>
        </p:spPr>
      </p:sp>
      <p:sp>
        <p:nvSpPr>
          <p:cNvPr id="10" name="Text 8"/>
          <p:cNvSpPr txBox="1"/>
          <p:nvPr/>
        </p:nvSpPr>
        <p:spPr>
          <a:xfrm>
            <a:off x="731520" y="5047488"/>
            <a:ext cx="2468880" cy="274320"/>
          </a:xfrm>
          <a:prstGeom prst="rect">
            <a:avLst/>
          </a:prstGeom>
          <a:noFill/>
          <a:ln/>
        </p:spPr>
        <p:txBody>
          <a:bodyPr wrap="square" lIns="0" tIns="0" rIns="0" bIns="0" rtlCol="0" anchor="t"/>
          <a:lstStyle/>
          <a:p>
            <a:pPr indent="0" marL="0">
              <a:buNone/>
            </a:pPr>
            <a:r>
              <a:rPr lang="en-US" sz="1400" dirty="0">
                <a:solidFill>
                  <a:srgbClr val="738BA3"/>
                </a:solidFill>
                <a:latin typeface="함초롬돋움" pitchFamily="34" charset="0"/>
                <a:ea typeface="함초롬돋움" pitchFamily="34" charset="-122"/>
                <a:cs typeface="함초롬돋움" pitchFamily="34" charset="-120"/>
              </a:rPr>
              <a:t>발표자</a:t>
            </a:r>
            <a:endParaRPr lang="en-US" sz="1400" dirty="0"/>
          </a:p>
        </p:txBody>
      </p:sp>
      <p:sp>
        <p:nvSpPr>
          <p:cNvPr id="11" name="Text 9"/>
          <p:cNvSpPr txBox="1"/>
          <p:nvPr/>
        </p:nvSpPr>
        <p:spPr>
          <a:xfrm>
            <a:off x="731520" y="5340096"/>
            <a:ext cx="2468880" cy="310896"/>
          </a:xfrm>
          <a:prstGeom prst="rect">
            <a:avLst/>
          </a:prstGeom>
          <a:noFill/>
          <a:ln/>
        </p:spPr>
        <p:txBody>
          <a:bodyPr wrap="square" lIns="0" tIns="0" rIns="0" bIns="0" rtlCol="0" anchor="t"/>
          <a:lstStyle/>
          <a:p>
            <a:pPr indent="0" marL="0">
              <a:buNone/>
            </a:pPr>
            <a:r>
              <a:rPr lang="en-US" sz="1800" b="1" dirty="0">
                <a:solidFill>
                  <a:srgbClr val="FFFFFF"/>
                </a:solidFill>
                <a:latin typeface="함초롬돋움" pitchFamily="34" charset="0"/>
                <a:ea typeface="함초롬돋움" pitchFamily="34" charset="-122"/>
                <a:cs typeface="함초롬돋움" pitchFamily="34" charset="-120"/>
              </a:rPr>
              <a:t>[입력 필요]</a:t>
            </a:r>
            <a:endParaRPr lang="en-US" sz="1800" dirty="0"/>
          </a:p>
        </p:txBody>
      </p:sp>
      <p:sp>
        <p:nvSpPr>
          <p:cNvPr id="12" name="Text 10"/>
          <p:cNvSpPr txBox="1"/>
          <p:nvPr/>
        </p:nvSpPr>
        <p:spPr>
          <a:xfrm>
            <a:off x="3383280" y="5047488"/>
            <a:ext cx="2468880" cy="274320"/>
          </a:xfrm>
          <a:prstGeom prst="rect">
            <a:avLst/>
          </a:prstGeom>
          <a:noFill/>
          <a:ln/>
        </p:spPr>
        <p:txBody>
          <a:bodyPr wrap="square" lIns="0" tIns="0" rIns="0" bIns="0" rtlCol="0" anchor="t"/>
          <a:lstStyle/>
          <a:p>
            <a:pPr indent="0" marL="0">
              <a:buNone/>
            </a:pPr>
            <a:r>
              <a:rPr lang="en-US" sz="1400" dirty="0">
                <a:solidFill>
                  <a:srgbClr val="738BA3"/>
                </a:solidFill>
                <a:latin typeface="함초롬돋움" pitchFamily="34" charset="0"/>
                <a:ea typeface="함초롬돋움" pitchFamily="34" charset="-122"/>
                <a:cs typeface="함초롬돋움" pitchFamily="34" charset="-120"/>
              </a:rPr>
              <a:t>소속</a:t>
            </a:r>
            <a:endParaRPr lang="en-US" sz="1400" dirty="0"/>
          </a:p>
        </p:txBody>
      </p:sp>
      <p:sp>
        <p:nvSpPr>
          <p:cNvPr id="13" name="Text 11"/>
          <p:cNvSpPr txBox="1"/>
          <p:nvPr/>
        </p:nvSpPr>
        <p:spPr>
          <a:xfrm>
            <a:off x="3383280" y="5340096"/>
            <a:ext cx="2468880" cy="310896"/>
          </a:xfrm>
          <a:prstGeom prst="rect">
            <a:avLst/>
          </a:prstGeom>
          <a:noFill/>
          <a:ln/>
        </p:spPr>
        <p:txBody>
          <a:bodyPr wrap="square" lIns="0" tIns="0" rIns="0" bIns="0" rtlCol="0" anchor="t"/>
          <a:lstStyle/>
          <a:p>
            <a:pPr indent="0" marL="0">
              <a:buNone/>
            </a:pPr>
            <a:r>
              <a:rPr lang="en-US" sz="1800" b="1" dirty="0">
                <a:solidFill>
                  <a:srgbClr val="FFFFFF"/>
                </a:solidFill>
                <a:latin typeface="함초롬돋움" pitchFamily="34" charset="0"/>
                <a:ea typeface="함초롬돋움" pitchFamily="34" charset="-122"/>
                <a:cs typeface="함초롬돋움" pitchFamily="34" charset="-120"/>
              </a:rPr>
              <a:t>[입력 필요]</a:t>
            </a:r>
            <a:endParaRPr lang="en-US" sz="1800" dirty="0"/>
          </a:p>
        </p:txBody>
      </p:sp>
      <p:sp>
        <p:nvSpPr>
          <p:cNvPr id="14" name="Text 12"/>
          <p:cNvSpPr txBox="1"/>
          <p:nvPr/>
        </p:nvSpPr>
        <p:spPr>
          <a:xfrm>
            <a:off x="6035040" y="5047488"/>
            <a:ext cx="2468880" cy="274320"/>
          </a:xfrm>
          <a:prstGeom prst="rect">
            <a:avLst/>
          </a:prstGeom>
          <a:noFill/>
          <a:ln/>
        </p:spPr>
        <p:txBody>
          <a:bodyPr wrap="square" lIns="0" tIns="0" rIns="0" bIns="0" rtlCol="0" anchor="t"/>
          <a:lstStyle/>
          <a:p>
            <a:pPr indent="0" marL="0">
              <a:buNone/>
            </a:pPr>
            <a:r>
              <a:rPr lang="en-US" sz="1400" dirty="0">
                <a:solidFill>
                  <a:srgbClr val="738BA3"/>
                </a:solidFill>
                <a:latin typeface="함초롬돋움" pitchFamily="34" charset="0"/>
                <a:ea typeface="함초롬돋움" pitchFamily="34" charset="-122"/>
                <a:cs typeface="함초롬돋움" pitchFamily="34" charset="-120"/>
              </a:rPr>
              <a:t>교육 과정명</a:t>
            </a:r>
            <a:endParaRPr lang="en-US" sz="1400" dirty="0"/>
          </a:p>
        </p:txBody>
      </p:sp>
      <p:sp>
        <p:nvSpPr>
          <p:cNvPr id="15" name="Text 13"/>
          <p:cNvSpPr txBox="1"/>
          <p:nvPr/>
        </p:nvSpPr>
        <p:spPr>
          <a:xfrm>
            <a:off x="6035040" y="5340096"/>
            <a:ext cx="2468880" cy="310896"/>
          </a:xfrm>
          <a:prstGeom prst="rect">
            <a:avLst/>
          </a:prstGeom>
          <a:noFill/>
          <a:ln/>
        </p:spPr>
        <p:txBody>
          <a:bodyPr wrap="square" lIns="0" tIns="0" rIns="0" bIns="0" rtlCol="0" anchor="t"/>
          <a:lstStyle/>
          <a:p>
            <a:pPr indent="0" marL="0">
              <a:buNone/>
            </a:pPr>
            <a:r>
              <a:rPr lang="en-US" sz="1800" b="1" dirty="0">
                <a:solidFill>
                  <a:srgbClr val="FFFFFF"/>
                </a:solidFill>
                <a:latin typeface="함초롬돋움" pitchFamily="34" charset="0"/>
                <a:ea typeface="함초롬돋움" pitchFamily="34" charset="-122"/>
                <a:cs typeface="함초롬돋움" pitchFamily="34" charset="-120"/>
              </a:rPr>
              <a:t>[입력 필요]</a:t>
            </a:r>
            <a:endParaRPr lang="en-US" sz="1800" dirty="0"/>
          </a:p>
        </p:txBody>
      </p:sp>
      <p:sp>
        <p:nvSpPr>
          <p:cNvPr id="16" name="Text 14"/>
          <p:cNvSpPr txBox="1"/>
          <p:nvPr/>
        </p:nvSpPr>
        <p:spPr>
          <a:xfrm>
            <a:off x="8686800" y="5047488"/>
            <a:ext cx="2468880" cy="274320"/>
          </a:xfrm>
          <a:prstGeom prst="rect">
            <a:avLst/>
          </a:prstGeom>
          <a:noFill/>
          <a:ln/>
        </p:spPr>
        <p:txBody>
          <a:bodyPr wrap="square" lIns="0" tIns="0" rIns="0" bIns="0" rtlCol="0" anchor="t"/>
          <a:lstStyle/>
          <a:p>
            <a:pPr indent="0" marL="0">
              <a:buNone/>
            </a:pPr>
            <a:r>
              <a:rPr lang="en-US" sz="1400" dirty="0">
                <a:solidFill>
                  <a:srgbClr val="738BA3"/>
                </a:solidFill>
                <a:latin typeface="함초롬돋움" pitchFamily="34" charset="0"/>
                <a:ea typeface="함초롬돋움" pitchFamily="34" charset="-122"/>
                <a:cs typeface="함초롬돋움" pitchFamily="34" charset="-120"/>
              </a:rPr>
              <a:t>발표 일자</a:t>
            </a:r>
            <a:endParaRPr lang="en-US" sz="1400" dirty="0"/>
          </a:p>
        </p:txBody>
      </p:sp>
      <p:sp>
        <p:nvSpPr>
          <p:cNvPr id="17" name="Text 15"/>
          <p:cNvSpPr txBox="1"/>
          <p:nvPr/>
        </p:nvSpPr>
        <p:spPr>
          <a:xfrm>
            <a:off x="8686800" y="5340096"/>
            <a:ext cx="2468880" cy="310896"/>
          </a:xfrm>
          <a:prstGeom prst="rect">
            <a:avLst/>
          </a:prstGeom>
          <a:noFill/>
          <a:ln/>
        </p:spPr>
        <p:txBody>
          <a:bodyPr wrap="square" lIns="0" tIns="0" rIns="0" bIns="0" rtlCol="0" anchor="t"/>
          <a:lstStyle/>
          <a:p>
            <a:pPr indent="0" marL="0">
              <a:buNone/>
            </a:pPr>
            <a:r>
              <a:rPr lang="en-US" sz="1800" b="1" dirty="0">
                <a:solidFill>
                  <a:srgbClr val="FFFFFF"/>
                </a:solidFill>
                <a:latin typeface="함초롬돋움" pitchFamily="34" charset="0"/>
                <a:ea typeface="함초롬돋움" pitchFamily="34" charset="-122"/>
                <a:cs typeface="함초롬돋움" pitchFamily="34" charset="-120"/>
              </a:rPr>
              <a:t>[입력 필요]</a:t>
            </a:r>
            <a:endParaRPr lang="en-US" sz="1800" dirty="0"/>
          </a:p>
        </p:txBody>
      </p:sp>
      <p:sp>
        <p:nvSpPr>
          <p:cNvPr id="18" name="Text 16"/>
          <p:cNvSpPr txBox="1"/>
          <p:nvPr/>
        </p:nvSpPr>
        <p:spPr>
          <a:xfrm>
            <a:off x="10545775" y="6355080"/>
            <a:ext cx="914400" cy="274320"/>
          </a:xfrm>
          <a:prstGeom prst="rect">
            <a:avLst/>
          </a:prstGeom>
          <a:noFill/>
          <a:ln/>
        </p:spPr>
        <p:txBody>
          <a:bodyPr wrap="square" lIns="0" tIns="0" rIns="0" bIns="0" rtlCol="0" anchor="t"/>
          <a:lstStyle/>
          <a:p>
            <a:pPr algn="r" indent="0" marL="0">
              <a:buNone/>
            </a:pPr>
            <a:r>
              <a:rPr lang="en-US" sz="1300" dirty="0">
                <a:solidFill>
                  <a:srgbClr val="738BA3"/>
                </a:solidFill>
                <a:latin typeface="함초롬돋움" pitchFamily="34" charset="0"/>
                <a:ea typeface="함초롬돋움" pitchFamily="34" charset="-122"/>
                <a:cs typeface="함초롬돋움"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indent="0" marL="0">
              <a:buNone/>
            </a:pPr>
            <a:r>
              <a:rPr lang="en-US" sz="3200" b="1" dirty="0">
                <a:solidFill>
                  <a:srgbClr val="0B2545"/>
                </a:solidFill>
                <a:latin typeface="함초롬돋움" pitchFamily="34" charset="0"/>
                <a:ea typeface="함초롬돋움" pitchFamily="34" charset="-122"/>
                <a:cs typeface="함초롬돋움" pitchFamily="34" charset="-120"/>
              </a:rPr>
              <a:t>속도가 중요한 이차전지 성장산업</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indent="0" marL="0">
              <a:buNone/>
            </a:pPr>
            <a:r>
              <a:rPr lang="en-US" sz="1800" dirty="0">
                <a:solidFill>
                  <a:srgbClr val="5A6B7C"/>
                </a:solidFill>
                <a:latin typeface="함초롬돋움" pitchFamily="34" charset="0"/>
                <a:ea typeface="함초롬돋움" pitchFamily="34" charset="-122"/>
                <a:cs typeface="함초롬돋움" pitchFamily="34" charset="-120"/>
              </a:rPr>
              <a:t>시장 변화를 얼마나 빠르게 발견하고 해석하는지가 경영 판단의 질을 좌우합니다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algn="r" indent="0" marL="0">
              <a:buNone/>
            </a:pPr>
            <a:r>
              <a:rPr lang="en-US" sz="1300" dirty="0">
                <a:solidFill>
                  <a:srgbClr val="8B9BAA"/>
                </a:solidFill>
                <a:latin typeface="함초롬돋움" pitchFamily="34" charset="0"/>
                <a:ea typeface="함초롬돋움" pitchFamily="34" charset="-122"/>
                <a:cs typeface="함초롬돋움" pitchFamily="34" charset="-120"/>
              </a:rPr>
              <a:t>02</a:t>
            </a:r>
            <a:endParaRPr lang="en-US" sz="1300" dirty="0"/>
          </a:p>
        </p:txBody>
      </p:sp>
      <p:sp>
        <p:nvSpPr>
          <p:cNvPr id="6" name="Shape 4"/>
          <p:cNvSpPr/>
          <p:nvPr/>
        </p:nvSpPr>
        <p:spPr>
          <a:xfrm>
            <a:off x="731520" y="1993392"/>
            <a:ext cx="3328416" cy="868680"/>
          </a:xfrm>
          <a:prstGeom prst="roundRect">
            <a:avLst>
              <a:gd name="adj" fmla="val 5263"/>
            </a:avLst>
          </a:prstGeom>
          <a:solidFill>
            <a:srgbClr val="FFFFFF"/>
          </a:solidFill>
          <a:ln w="12700">
            <a:solidFill>
              <a:srgbClr val="D2DEEA"/>
            </a:solidFill>
            <a:prstDash val="solid"/>
          </a:ln>
        </p:spPr>
      </p:sp>
      <p:sp>
        <p:nvSpPr>
          <p:cNvPr id="7" name="Text 5"/>
          <p:cNvSpPr txBox="1"/>
          <p:nvPr/>
        </p:nvSpPr>
        <p:spPr>
          <a:xfrm>
            <a:off x="987552" y="2157984"/>
            <a:ext cx="2834640" cy="274320"/>
          </a:xfrm>
          <a:prstGeom prst="rect">
            <a:avLst/>
          </a:prstGeom>
          <a:noFill/>
          <a:ln/>
        </p:spPr>
        <p:txBody>
          <a:bodyPr wrap="square" lIns="0" tIns="0" rIns="0" bIns="0" rtlCol="0" anchor="t"/>
          <a:lstStyle/>
          <a:p>
            <a:pPr indent="0" marL="0">
              <a:buNone/>
            </a:pPr>
            <a:r>
              <a:rPr lang="en-US" sz="1900" b="1" dirty="0">
                <a:solidFill>
                  <a:srgbClr val="0B2545"/>
                </a:solidFill>
                <a:latin typeface="함초롬돋움" pitchFamily="34" charset="0"/>
                <a:ea typeface="함초롬돋움" pitchFamily="34" charset="-122"/>
                <a:cs typeface="함초롬돋움" pitchFamily="34" charset="-120"/>
              </a:rPr>
              <a:t>경쟁사</a:t>
            </a:r>
            <a:endParaRPr lang="en-US" sz="1900" dirty="0"/>
          </a:p>
        </p:txBody>
      </p:sp>
      <p:sp>
        <p:nvSpPr>
          <p:cNvPr id="8" name="Text 6"/>
          <p:cNvSpPr txBox="1"/>
          <p:nvPr/>
        </p:nvSpPr>
        <p:spPr>
          <a:xfrm>
            <a:off x="987552" y="2468880"/>
            <a:ext cx="2926080" cy="256032"/>
          </a:xfrm>
          <a:prstGeom prst="rect">
            <a:avLst/>
          </a:prstGeom>
          <a:noFill/>
          <a:ln/>
        </p:spPr>
        <p:txBody>
          <a:bodyPr wrap="square" lIns="0" tIns="0" rIns="0" bIns="0" rtlCol="0" anchor="t"/>
          <a:lstStyle/>
          <a:p>
            <a:pPr indent="0" marL="0">
              <a:buNone/>
            </a:pPr>
            <a:r>
              <a:rPr lang="en-US" sz="1500" dirty="0">
                <a:solidFill>
                  <a:srgbClr val="5A6B7C"/>
                </a:solidFill>
                <a:latin typeface="함초롬돋움" pitchFamily="34" charset="0"/>
                <a:ea typeface="함초롬돋움" pitchFamily="34" charset="-122"/>
                <a:cs typeface="함초롬돋움" pitchFamily="34" charset="-120"/>
              </a:rPr>
              <a:t>증설 · 투자 · 계약 · 기술 개발</a:t>
            </a:r>
            <a:endParaRPr lang="en-US" sz="1500" dirty="0"/>
          </a:p>
        </p:txBody>
      </p:sp>
      <p:sp>
        <p:nvSpPr>
          <p:cNvPr id="9" name="Shape 7"/>
          <p:cNvSpPr/>
          <p:nvPr/>
        </p:nvSpPr>
        <p:spPr>
          <a:xfrm>
            <a:off x="2395728" y="2862072"/>
            <a:ext cx="0" cy="457200"/>
          </a:xfrm>
          <a:prstGeom prst="line">
            <a:avLst/>
          </a:prstGeom>
          <a:noFill/>
          <a:ln w="19050">
            <a:solidFill>
              <a:srgbClr val="6BA6DE"/>
            </a:solidFill>
            <a:prstDash val="solid"/>
          </a:ln>
        </p:spPr>
      </p:sp>
      <p:sp>
        <p:nvSpPr>
          <p:cNvPr id="10" name="Shape 8"/>
          <p:cNvSpPr/>
          <p:nvPr/>
        </p:nvSpPr>
        <p:spPr>
          <a:xfrm>
            <a:off x="4443984" y="1993392"/>
            <a:ext cx="3328416" cy="868680"/>
          </a:xfrm>
          <a:prstGeom prst="roundRect">
            <a:avLst>
              <a:gd name="adj" fmla="val 5263"/>
            </a:avLst>
          </a:prstGeom>
          <a:solidFill>
            <a:srgbClr val="FFFFFF"/>
          </a:solidFill>
          <a:ln w="12700">
            <a:solidFill>
              <a:srgbClr val="D2DEEA"/>
            </a:solidFill>
            <a:prstDash val="solid"/>
          </a:ln>
        </p:spPr>
      </p:sp>
      <p:sp>
        <p:nvSpPr>
          <p:cNvPr id="11" name="Text 9"/>
          <p:cNvSpPr txBox="1"/>
          <p:nvPr/>
        </p:nvSpPr>
        <p:spPr>
          <a:xfrm>
            <a:off x="4700016" y="2157984"/>
            <a:ext cx="2834640" cy="274320"/>
          </a:xfrm>
          <a:prstGeom prst="rect">
            <a:avLst/>
          </a:prstGeom>
          <a:noFill/>
          <a:ln/>
        </p:spPr>
        <p:txBody>
          <a:bodyPr wrap="square" lIns="0" tIns="0" rIns="0" bIns="0" rtlCol="0" anchor="t"/>
          <a:lstStyle/>
          <a:p>
            <a:pPr indent="0" marL="0">
              <a:buNone/>
            </a:pPr>
            <a:r>
              <a:rPr lang="en-US" sz="1900" b="1" dirty="0">
                <a:solidFill>
                  <a:srgbClr val="0B2545"/>
                </a:solidFill>
                <a:latin typeface="함초롬돋움" pitchFamily="34" charset="0"/>
                <a:ea typeface="함초롬돋움" pitchFamily="34" charset="-122"/>
                <a:cs typeface="함초롬돋움" pitchFamily="34" charset="-120"/>
              </a:rPr>
              <a:t>고객사</a:t>
            </a:r>
            <a:endParaRPr lang="en-US" sz="1900" dirty="0"/>
          </a:p>
        </p:txBody>
      </p:sp>
      <p:sp>
        <p:nvSpPr>
          <p:cNvPr id="12" name="Text 10"/>
          <p:cNvSpPr txBox="1"/>
          <p:nvPr/>
        </p:nvSpPr>
        <p:spPr>
          <a:xfrm>
            <a:off x="4700016" y="2468880"/>
            <a:ext cx="2926080" cy="256032"/>
          </a:xfrm>
          <a:prstGeom prst="rect">
            <a:avLst/>
          </a:prstGeom>
          <a:noFill/>
          <a:ln/>
        </p:spPr>
        <p:txBody>
          <a:bodyPr wrap="square" lIns="0" tIns="0" rIns="0" bIns="0" rtlCol="0" anchor="t"/>
          <a:lstStyle/>
          <a:p>
            <a:pPr indent="0" marL="0">
              <a:buNone/>
            </a:pPr>
            <a:r>
              <a:rPr lang="en-US" sz="1500" dirty="0">
                <a:solidFill>
                  <a:srgbClr val="5A6B7C"/>
                </a:solidFill>
                <a:latin typeface="함초롬돋움" pitchFamily="34" charset="0"/>
                <a:ea typeface="함초롬돋움" pitchFamily="34" charset="-122"/>
                <a:cs typeface="함초롬돋움" pitchFamily="34" charset="-120"/>
              </a:rPr>
              <a:t>공급망 · 구매 전략 변화</a:t>
            </a:r>
            <a:endParaRPr lang="en-US" sz="1500" dirty="0"/>
          </a:p>
        </p:txBody>
      </p:sp>
      <p:sp>
        <p:nvSpPr>
          <p:cNvPr id="13" name="Shape 11"/>
          <p:cNvSpPr/>
          <p:nvPr/>
        </p:nvSpPr>
        <p:spPr>
          <a:xfrm>
            <a:off x="6108192" y="2862072"/>
            <a:ext cx="0" cy="457200"/>
          </a:xfrm>
          <a:prstGeom prst="line">
            <a:avLst/>
          </a:prstGeom>
          <a:noFill/>
          <a:ln w="19050">
            <a:solidFill>
              <a:srgbClr val="6BA6DE"/>
            </a:solidFill>
            <a:prstDash val="solid"/>
          </a:ln>
        </p:spPr>
      </p:sp>
      <p:sp>
        <p:nvSpPr>
          <p:cNvPr id="14" name="Shape 12"/>
          <p:cNvSpPr/>
          <p:nvPr/>
        </p:nvSpPr>
        <p:spPr>
          <a:xfrm>
            <a:off x="8156448" y="1993392"/>
            <a:ext cx="3328416" cy="868680"/>
          </a:xfrm>
          <a:prstGeom prst="roundRect">
            <a:avLst>
              <a:gd name="adj" fmla="val 5263"/>
            </a:avLst>
          </a:prstGeom>
          <a:solidFill>
            <a:srgbClr val="FFFFFF"/>
          </a:solidFill>
          <a:ln w="12700">
            <a:solidFill>
              <a:srgbClr val="D2DEEA"/>
            </a:solidFill>
            <a:prstDash val="solid"/>
          </a:ln>
        </p:spPr>
      </p:sp>
      <p:sp>
        <p:nvSpPr>
          <p:cNvPr id="15" name="Text 13"/>
          <p:cNvSpPr txBox="1"/>
          <p:nvPr/>
        </p:nvSpPr>
        <p:spPr>
          <a:xfrm>
            <a:off x="8412480" y="2157984"/>
            <a:ext cx="2834640" cy="274320"/>
          </a:xfrm>
          <a:prstGeom prst="rect">
            <a:avLst/>
          </a:prstGeom>
          <a:noFill/>
          <a:ln/>
        </p:spPr>
        <p:txBody>
          <a:bodyPr wrap="square" lIns="0" tIns="0" rIns="0" bIns="0" rtlCol="0" anchor="t"/>
          <a:lstStyle/>
          <a:p>
            <a:pPr indent="0" marL="0">
              <a:buNone/>
            </a:pPr>
            <a:r>
              <a:rPr lang="en-US" sz="1900" b="1" dirty="0">
                <a:solidFill>
                  <a:srgbClr val="0B2545"/>
                </a:solidFill>
                <a:latin typeface="함초롬돋움" pitchFamily="34" charset="0"/>
                <a:ea typeface="함초롬돋움" pitchFamily="34" charset="-122"/>
                <a:cs typeface="함초롬돋움" pitchFamily="34" charset="-120"/>
              </a:rPr>
              <a:t>원자재</a:t>
            </a:r>
            <a:endParaRPr lang="en-US" sz="1900" dirty="0"/>
          </a:p>
        </p:txBody>
      </p:sp>
      <p:sp>
        <p:nvSpPr>
          <p:cNvPr id="16" name="Text 14"/>
          <p:cNvSpPr txBox="1"/>
          <p:nvPr/>
        </p:nvSpPr>
        <p:spPr>
          <a:xfrm>
            <a:off x="8412480" y="2468880"/>
            <a:ext cx="2926080" cy="256032"/>
          </a:xfrm>
          <a:prstGeom prst="rect">
            <a:avLst/>
          </a:prstGeom>
          <a:noFill/>
          <a:ln/>
        </p:spPr>
        <p:txBody>
          <a:bodyPr wrap="square" lIns="0" tIns="0" rIns="0" bIns="0" rtlCol="0" anchor="t"/>
          <a:lstStyle/>
          <a:p>
            <a:pPr indent="0" marL="0">
              <a:buNone/>
            </a:pPr>
            <a:r>
              <a:rPr lang="en-US" sz="1500" dirty="0">
                <a:solidFill>
                  <a:srgbClr val="5A6B7C"/>
                </a:solidFill>
                <a:latin typeface="함초롬돋움" pitchFamily="34" charset="0"/>
                <a:ea typeface="함초롬돋움" pitchFamily="34" charset="-122"/>
                <a:cs typeface="함초롬돋움" pitchFamily="34" charset="-120"/>
              </a:rPr>
              <a:t>리튬 · 니켈 · 코발트 · 망간</a:t>
            </a:r>
            <a:endParaRPr lang="en-US" sz="1500" dirty="0"/>
          </a:p>
        </p:txBody>
      </p:sp>
      <p:sp>
        <p:nvSpPr>
          <p:cNvPr id="17" name="Shape 15"/>
          <p:cNvSpPr/>
          <p:nvPr/>
        </p:nvSpPr>
        <p:spPr>
          <a:xfrm>
            <a:off x="9820656" y="2862072"/>
            <a:ext cx="0" cy="457200"/>
          </a:xfrm>
          <a:prstGeom prst="line">
            <a:avLst/>
          </a:prstGeom>
          <a:noFill/>
          <a:ln w="19050">
            <a:solidFill>
              <a:srgbClr val="6BA6DE"/>
            </a:solidFill>
            <a:prstDash val="solid"/>
          </a:ln>
        </p:spPr>
      </p:sp>
      <p:sp>
        <p:nvSpPr>
          <p:cNvPr id="18" name="Shape 16"/>
          <p:cNvSpPr/>
          <p:nvPr/>
        </p:nvSpPr>
        <p:spPr>
          <a:xfrm>
            <a:off x="731520" y="3319272"/>
            <a:ext cx="10728655" cy="1024128"/>
          </a:xfrm>
          <a:prstGeom prst="rect">
            <a:avLst/>
          </a:prstGeom>
          <a:solidFill>
            <a:srgbClr val="0B2545"/>
          </a:solidFill>
          <a:ln w="12700">
            <a:solidFill>
              <a:srgbClr val="333333"/>
            </a:solidFill>
            <a:prstDash val="solid"/>
          </a:ln>
        </p:spPr>
      </p:sp>
      <p:sp>
        <p:nvSpPr>
          <p:cNvPr id="19" name="Text 17"/>
          <p:cNvSpPr txBox="1"/>
          <p:nvPr/>
        </p:nvSpPr>
        <p:spPr>
          <a:xfrm>
            <a:off x="731520" y="3547872"/>
            <a:ext cx="10728655" cy="384048"/>
          </a:xfrm>
          <a:prstGeom prst="rect">
            <a:avLst/>
          </a:prstGeom>
          <a:noFill/>
          <a:ln/>
        </p:spPr>
        <p:txBody>
          <a:bodyPr wrap="square" lIns="0" tIns="0" rIns="0" bIns="0" rtlCol="0" anchor="t"/>
          <a:lstStyle/>
          <a:p>
            <a:pPr algn="ctr" indent="0" marL="0">
              <a:buNone/>
            </a:pPr>
            <a:r>
              <a:rPr lang="en-US" sz="2600" b="1" dirty="0">
                <a:solidFill>
                  <a:srgbClr val="FFFFFF"/>
                </a:solidFill>
                <a:latin typeface="함초롬돋움" pitchFamily="34" charset="0"/>
                <a:ea typeface="함초롬돋움" pitchFamily="34" charset="-122"/>
                <a:cs typeface="함초롬돋움" pitchFamily="34" charset="-120"/>
              </a:rPr>
              <a:t>경영 의사결정</a:t>
            </a:r>
            <a:endParaRPr lang="en-US" sz="2600" dirty="0"/>
          </a:p>
        </p:txBody>
      </p:sp>
      <p:sp>
        <p:nvSpPr>
          <p:cNvPr id="20" name="Text 18"/>
          <p:cNvSpPr txBox="1"/>
          <p:nvPr/>
        </p:nvSpPr>
        <p:spPr>
          <a:xfrm>
            <a:off x="731520" y="3968496"/>
            <a:ext cx="10728655" cy="274320"/>
          </a:xfrm>
          <a:prstGeom prst="rect">
            <a:avLst/>
          </a:prstGeom>
          <a:noFill/>
          <a:ln/>
        </p:spPr>
        <p:txBody>
          <a:bodyPr wrap="square" lIns="0" tIns="0" rIns="0" bIns="0" rtlCol="0" anchor="t"/>
          <a:lstStyle/>
          <a:p>
            <a:pPr algn="ctr" indent="0" marL="0">
              <a:buNone/>
            </a:pPr>
            <a:r>
              <a:rPr lang="en-US" sz="1500" dirty="0">
                <a:solidFill>
                  <a:srgbClr val="4FD1BC"/>
                </a:solidFill>
                <a:latin typeface="함초롬돋움" pitchFamily="34" charset="0"/>
                <a:ea typeface="함초롬돋움" pitchFamily="34" charset="-122"/>
                <a:cs typeface="함초롬돋움" pitchFamily="34" charset="-120"/>
              </a:rPr>
              <a:t>투자 · 공급망 · 고객 대응 · 사업계획</a:t>
            </a:r>
            <a:endParaRPr lang="en-US" sz="1500" dirty="0"/>
          </a:p>
        </p:txBody>
      </p:sp>
      <p:sp>
        <p:nvSpPr>
          <p:cNvPr id="21" name="Shape 19"/>
          <p:cNvSpPr/>
          <p:nvPr/>
        </p:nvSpPr>
        <p:spPr>
          <a:xfrm>
            <a:off x="3319272" y="4343400"/>
            <a:ext cx="0" cy="457200"/>
          </a:xfrm>
          <a:prstGeom prst="line">
            <a:avLst/>
          </a:prstGeom>
          <a:noFill/>
          <a:ln w="19050">
            <a:solidFill>
              <a:srgbClr val="6BA6DE"/>
            </a:solidFill>
            <a:prstDash val="solid"/>
          </a:ln>
        </p:spPr>
      </p:sp>
      <p:sp>
        <p:nvSpPr>
          <p:cNvPr id="22" name="Shape 20"/>
          <p:cNvSpPr/>
          <p:nvPr/>
        </p:nvSpPr>
        <p:spPr>
          <a:xfrm>
            <a:off x="731520" y="4800600"/>
            <a:ext cx="5175504" cy="868680"/>
          </a:xfrm>
          <a:prstGeom prst="roundRect">
            <a:avLst>
              <a:gd name="adj" fmla="val 5263"/>
            </a:avLst>
          </a:prstGeom>
          <a:solidFill>
            <a:srgbClr val="FFFFFF"/>
          </a:solidFill>
          <a:ln w="12700">
            <a:solidFill>
              <a:srgbClr val="D2DEEA"/>
            </a:solidFill>
            <a:prstDash val="solid"/>
          </a:ln>
        </p:spPr>
      </p:sp>
      <p:sp>
        <p:nvSpPr>
          <p:cNvPr id="23" name="Text 21"/>
          <p:cNvSpPr txBox="1"/>
          <p:nvPr/>
        </p:nvSpPr>
        <p:spPr>
          <a:xfrm>
            <a:off x="987552" y="4965192"/>
            <a:ext cx="4663440" cy="274320"/>
          </a:xfrm>
          <a:prstGeom prst="rect">
            <a:avLst/>
          </a:prstGeom>
          <a:noFill/>
          <a:ln/>
        </p:spPr>
        <p:txBody>
          <a:bodyPr wrap="square" lIns="0" tIns="0" rIns="0" bIns="0" rtlCol="0" anchor="t"/>
          <a:lstStyle/>
          <a:p>
            <a:pPr indent="0" marL="0">
              <a:buNone/>
            </a:pPr>
            <a:r>
              <a:rPr lang="en-US" sz="1900" b="1" dirty="0">
                <a:solidFill>
                  <a:srgbClr val="0B2545"/>
                </a:solidFill>
                <a:latin typeface="함초롬돋움" pitchFamily="34" charset="0"/>
                <a:ea typeface="함초롬돋움" pitchFamily="34" charset="-122"/>
                <a:cs typeface="함초롬돋움" pitchFamily="34" charset="-120"/>
              </a:rPr>
              <a:t>산업정책 · 수요</a:t>
            </a:r>
            <a:endParaRPr lang="en-US" sz="1900" dirty="0"/>
          </a:p>
        </p:txBody>
      </p:sp>
      <p:sp>
        <p:nvSpPr>
          <p:cNvPr id="24" name="Text 22"/>
          <p:cNvSpPr txBox="1"/>
          <p:nvPr/>
        </p:nvSpPr>
        <p:spPr>
          <a:xfrm>
            <a:off x="987552" y="5276088"/>
            <a:ext cx="4754880" cy="256032"/>
          </a:xfrm>
          <a:prstGeom prst="rect">
            <a:avLst/>
          </a:prstGeom>
          <a:noFill/>
          <a:ln/>
        </p:spPr>
        <p:txBody>
          <a:bodyPr wrap="square" lIns="0" tIns="0" rIns="0" bIns="0" rtlCol="0" anchor="t"/>
          <a:lstStyle/>
          <a:p>
            <a:pPr indent="0" marL="0">
              <a:buNone/>
            </a:pPr>
            <a:r>
              <a:rPr lang="en-US" sz="1500" dirty="0">
                <a:solidFill>
                  <a:srgbClr val="5A6B7C"/>
                </a:solidFill>
                <a:latin typeface="함초롬돋움" pitchFamily="34" charset="0"/>
                <a:ea typeface="함초롬돋움" pitchFamily="34" charset="-122"/>
                <a:cs typeface="함초롬돋움" pitchFamily="34" charset="-120"/>
              </a:rPr>
              <a:t>전기차 수요와 주요 국가의 산업정책 변화</a:t>
            </a:r>
            <a:endParaRPr lang="en-US" sz="1500" dirty="0"/>
          </a:p>
        </p:txBody>
      </p:sp>
      <p:sp>
        <p:nvSpPr>
          <p:cNvPr id="25" name="Shape 23"/>
          <p:cNvSpPr/>
          <p:nvPr/>
        </p:nvSpPr>
        <p:spPr>
          <a:xfrm>
            <a:off x="8869680" y="4343400"/>
            <a:ext cx="0" cy="457200"/>
          </a:xfrm>
          <a:prstGeom prst="line">
            <a:avLst/>
          </a:prstGeom>
          <a:noFill/>
          <a:ln w="19050">
            <a:solidFill>
              <a:srgbClr val="6BA6DE"/>
            </a:solidFill>
            <a:prstDash val="solid"/>
          </a:ln>
        </p:spPr>
      </p:sp>
      <p:sp>
        <p:nvSpPr>
          <p:cNvPr id="26" name="Shape 24"/>
          <p:cNvSpPr/>
          <p:nvPr/>
        </p:nvSpPr>
        <p:spPr>
          <a:xfrm>
            <a:off x="6281928" y="4800600"/>
            <a:ext cx="5175504" cy="868680"/>
          </a:xfrm>
          <a:prstGeom prst="roundRect">
            <a:avLst>
              <a:gd name="adj" fmla="val 5263"/>
            </a:avLst>
          </a:prstGeom>
          <a:solidFill>
            <a:srgbClr val="FFFFFF"/>
          </a:solidFill>
          <a:ln w="12700">
            <a:solidFill>
              <a:srgbClr val="D2DEEA"/>
            </a:solidFill>
            <a:prstDash val="solid"/>
          </a:ln>
        </p:spPr>
      </p:sp>
      <p:sp>
        <p:nvSpPr>
          <p:cNvPr id="27" name="Text 25"/>
          <p:cNvSpPr txBox="1"/>
          <p:nvPr/>
        </p:nvSpPr>
        <p:spPr>
          <a:xfrm>
            <a:off x="6537960" y="4965192"/>
            <a:ext cx="4663440" cy="274320"/>
          </a:xfrm>
          <a:prstGeom prst="rect">
            <a:avLst/>
          </a:prstGeom>
          <a:noFill/>
          <a:ln/>
        </p:spPr>
        <p:txBody>
          <a:bodyPr wrap="square" lIns="0" tIns="0" rIns="0" bIns="0" rtlCol="0" anchor="t"/>
          <a:lstStyle/>
          <a:p>
            <a:pPr indent="0" marL="0">
              <a:buNone/>
            </a:pPr>
            <a:r>
              <a:rPr lang="en-US" sz="1900" b="1" dirty="0">
                <a:solidFill>
                  <a:srgbClr val="0B2545"/>
                </a:solidFill>
                <a:latin typeface="함초롬돋움" pitchFamily="34" charset="0"/>
                <a:ea typeface="함초롬돋움" pitchFamily="34" charset="-122"/>
                <a:cs typeface="함초롬돋움" pitchFamily="34" charset="-120"/>
              </a:rPr>
              <a:t>재무 · 주가</a:t>
            </a:r>
            <a:endParaRPr lang="en-US" sz="1900" dirty="0"/>
          </a:p>
        </p:txBody>
      </p:sp>
      <p:sp>
        <p:nvSpPr>
          <p:cNvPr id="28" name="Text 26"/>
          <p:cNvSpPr txBox="1"/>
          <p:nvPr/>
        </p:nvSpPr>
        <p:spPr>
          <a:xfrm>
            <a:off x="6537960" y="5276088"/>
            <a:ext cx="4754880" cy="256032"/>
          </a:xfrm>
          <a:prstGeom prst="rect">
            <a:avLst/>
          </a:prstGeom>
          <a:noFill/>
          <a:ln/>
        </p:spPr>
        <p:txBody>
          <a:bodyPr wrap="square" lIns="0" tIns="0" rIns="0" bIns="0" rtlCol="0" anchor="t"/>
          <a:lstStyle/>
          <a:p>
            <a:pPr indent="0" marL="0">
              <a:buNone/>
            </a:pPr>
            <a:r>
              <a:rPr lang="en-US" sz="1500" dirty="0">
                <a:solidFill>
                  <a:srgbClr val="5A6B7C"/>
                </a:solidFill>
                <a:latin typeface="함초롬돋움" pitchFamily="34" charset="0"/>
                <a:ea typeface="함초롬돋움" pitchFamily="34" charset="-122"/>
                <a:cs typeface="함초롬돋움" pitchFamily="34" charset="-120"/>
              </a:rPr>
              <a:t>기업별 실적과 재무 건전성 변화</a:t>
            </a:r>
            <a:endParaRPr lang="en-US" sz="1500" dirty="0"/>
          </a:p>
        </p:txBody>
      </p:sp>
      <p:sp>
        <p:nvSpPr>
          <p:cNvPr id="29" name="Text 27"/>
          <p:cNvSpPr txBox="1"/>
          <p:nvPr/>
        </p:nvSpPr>
        <p:spPr>
          <a:xfrm>
            <a:off x="731520" y="5943600"/>
            <a:ext cx="10728655" cy="310896"/>
          </a:xfrm>
          <a:prstGeom prst="rect">
            <a:avLst/>
          </a:prstGeom>
          <a:noFill/>
          <a:ln/>
        </p:spPr>
        <p:txBody>
          <a:bodyPr wrap="square" lIns="0" tIns="0" rIns="0" bIns="0" rtlCol="0" anchor="t"/>
          <a:lstStyle/>
          <a:p>
            <a:pPr indent="0" marL="0">
              <a:buNone/>
            </a:pPr>
            <a:r>
              <a:rPr lang="en-US" sz="1800" b="1" dirty="0">
                <a:solidFill>
                  <a:srgbClr val="143A63"/>
                </a:solidFill>
                <a:latin typeface="함초롬돋움" pitchFamily="34" charset="0"/>
                <a:ea typeface="함초롬돋움" pitchFamily="34" charset="-122"/>
                <a:cs typeface="함초롬돋움" pitchFamily="34" charset="-120"/>
              </a:rPr>
              <a:t>다섯 갈래의 변화가 동시에 움직이기 때문에, 확인이 늦어지면 대응 검토도 그만큼 늦어집니다.</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indent="0" marL="0">
              <a:buNone/>
            </a:pPr>
            <a:r>
              <a:rPr lang="en-US" sz="3200" b="1" dirty="0">
                <a:solidFill>
                  <a:srgbClr val="0B2545"/>
                </a:solidFill>
                <a:latin typeface="함초롬돋움" pitchFamily="34" charset="0"/>
                <a:ea typeface="함초롬돋움" pitchFamily="34" charset="-122"/>
                <a:cs typeface="함초롬돋움" pitchFamily="34" charset="-120"/>
              </a:rPr>
              <a:t>기존 정보 수집과 판단 과정의 문제</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indent="0" marL="0">
              <a:buNone/>
            </a:pPr>
            <a:r>
              <a:rPr lang="en-US" sz="1800" dirty="0">
                <a:solidFill>
                  <a:srgbClr val="5A6B7C"/>
                </a:solidFill>
                <a:latin typeface="함초롬돋움" pitchFamily="34" charset="0"/>
                <a:ea typeface="함초롬돋움" pitchFamily="34" charset="-122"/>
                <a:cs typeface="함초롬돋움" pitchFamily="34" charset="-120"/>
              </a:rPr>
              <a:t>정보는 많지만, 경영진이 판단할 수 있는 형태로 정리하는 데 시간이 걸립니다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algn="r" indent="0" marL="0">
              <a:buNone/>
            </a:pPr>
            <a:r>
              <a:rPr lang="en-US" sz="1300" dirty="0">
                <a:solidFill>
                  <a:srgbClr val="8B9BAA"/>
                </a:solidFill>
                <a:latin typeface="함초롬돋움" pitchFamily="34" charset="0"/>
                <a:ea typeface="함초롬돋움" pitchFamily="34" charset="-122"/>
                <a:cs typeface="함초롬돋움" pitchFamily="34" charset="-120"/>
              </a:rPr>
              <a:t>03</a:t>
            </a:r>
            <a:endParaRPr lang="en-US" sz="1300" dirty="0"/>
          </a:p>
        </p:txBody>
      </p:sp>
      <p:sp>
        <p:nvSpPr>
          <p:cNvPr id="6" name="Text 4"/>
          <p:cNvSpPr txBox="1"/>
          <p:nvPr/>
        </p:nvSpPr>
        <p:spPr>
          <a:xfrm>
            <a:off x="731520" y="2048256"/>
            <a:ext cx="914400" cy="274320"/>
          </a:xfrm>
          <a:prstGeom prst="rect">
            <a:avLst/>
          </a:prstGeom>
          <a:noFill/>
          <a:ln/>
        </p:spPr>
        <p:txBody>
          <a:bodyPr wrap="square" lIns="0" tIns="0" rIns="0" bIns="0" rtlCol="0" anchor="t"/>
          <a:lstStyle/>
          <a:p>
            <a:pPr indent="0" marL="0">
              <a:buNone/>
            </a:pPr>
            <a:r>
              <a:rPr lang="en-US" sz="1600" b="1" dirty="0">
                <a:solidFill>
                  <a:srgbClr val="1E6FBF"/>
                </a:solidFill>
                <a:latin typeface="함초롬돋움" pitchFamily="34" charset="0"/>
                <a:ea typeface="함초롬돋움" pitchFamily="34" charset="-122"/>
                <a:cs typeface="함초롬돋움" pitchFamily="34" charset="-120"/>
              </a:rPr>
              <a:t>수집</a:t>
            </a:r>
            <a:endParaRPr lang="en-US" sz="1600" dirty="0"/>
          </a:p>
        </p:txBody>
      </p:sp>
      <p:sp>
        <p:nvSpPr>
          <p:cNvPr id="7" name="Shape 5"/>
          <p:cNvSpPr/>
          <p:nvPr/>
        </p:nvSpPr>
        <p:spPr>
          <a:xfrm>
            <a:off x="1691640" y="1956816"/>
            <a:ext cx="2231136" cy="566928"/>
          </a:xfrm>
          <a:prstGeom prst="roundRect">
            <a:avLst>
              <a:gd name="adj" fmla="val 8065"/>
            </a:avLst>
          </a:prstGeom>
          <a:solidFill>
            <a:srgbClr val="FFFFFF"/>
          </a:solidFill>
          <a:ln w="12700">
            <a:solidFill>
              <a:srgbClr val="D2DEEA"/>
            </a:solidFill>
            <a:prstDash val="solid"/>
          </a:ln>
        </p:spPr>
      </p:sp>
      <p:sp>
        <p:nvSpPr>
          <p:cNvPr id="8" name="Text 6"/>
          <p:cNvSpPr txBox="1"/>
          <p:nvPr/>
        </p:nvSpPr>
        <p:spPr>
          <a:xfrm>
            <a:off x="1801368" y="2121408"/>
            <a:ext cx="2011680" cy="256032"/>
          </a:xfrm>
          <a:prstGeom prst="rect">
            <a:avLst/>
          </a:prstGeom>
          <a:noFill/>
          <a:ln/>
        </p:spPr>
        <p:txBody>
          <a:bodyPr wrap="square" lIns="0" tIns="0" rIns="0" bIns="0" rtlCol="0" anchor="t"/>
          <a:lstStyle/>
          <a:p>
            <a:pPr algn="ctr" indent="0" marL="0">
              <a:buNone/>
            </a:pPr>
            <a:r>
              <a:rPr lang="en-US" sz="1500" dirty="0">
                <a:solidFill>
                  <a:srgbClr val="16273A"/>
                </a:solidFill>
                <a:latin typeface="함초롬돋움" pitchFamily="34" charset="0"/>
                <a:ea typeface="함초롬돋움" pitchFamily="34" charset="-122"/>
                <a:cs typeface="함초롬돋움" pitchFamily="34" charset="-120"/>
              </a:rPr>
              <a:t>DART 공시 확인</a:t>
            </a:r>
            <a:endParaRPr lang="en-US" sz="1500" dirty="0"/>
          </a:p>
        </p:txBody>
      </p:sp>
      <p:sp>
        <p:nvSpPr>
          <p:cNvPr id="9" name="Shape 7"/>
          <p:cNvSpPr/>
          <p:nvPr/>
        </p:nvSpPr>
        <p:spPr>
          <a:xfrm>
            <a:off x="3922776" y="2240280"/>
            <a:ext cx="182880" cy="0"/>
          </a:xfrm>
          <a:prstGeom prst="line">
            <a:avLst/>
          </a:prstGeom>
          <a:noFill/>
          <a:ln w="19050">
            <a:solidFill>
              <a:srgbClr val="6BA6DE"/>
            </a:solidFill>
            <a:prstDash val="solid"/>
          </a:ln>
        </p:spPr>
      </p:sp>
      <p:sp>
        <p:nvSpPr>
          <p:cNvPr id="10" name="Shape 8"/>
          <p:cNvSpPr/>
          <p:nvPr/>
        </p:nvSpPr>
        <p:spPr>
          <a:xfrm>
            <a:off x="4105656" y="1956816"/>
            <a:ext cx="2231136" cy="566928"/>
          </a:xfrm>
          <a:prstGeom prst="roundRect">
            <a:avLst>
              <a:gd name="adj" fmla="val 8065"/>
            </a:avLst>
          </a:prstGeom>
          <a:solidFill>
            <a:srgbClr val="FFFFFF"/>
          </a:solidFill>
          <a:ln w="12700">
            <a:solidFill>
              <a:srgbClr val="D2DEEA"/>
            </a:solidFill>
            <a:prstDash val="solid"/>
          </a:ln>
        </p:spPr>
      </p:sp>
      <p:sp>
        <p:nvSpPr>
          <p:cNvPr id="11" name="Text 9"/>
          <p:cNvSpPr txBox="1"/>
          <p:nvPr/>
        </p:nvSpPr>
        <p:spPr>
          <a:xfrm>
            <a:off x="4215384" y="2121408"/>
            <a:ext cx="2011680" cy="256032"/>
          </a:xfrm>
          <a:prstGeom prst="rect">
            <a:avLst/>
          </a:prstGeom>
          <a:noFill/>
          <a:ln/>
        </p:spPr>
        <p:txBody>
          <a:bodyPr wrap="square" lIns="0" tIns="0" rIns="0" bIns="0" rtlCol="0" anchor="t"/>
          <a:lstStyle/>
          <a:p>
            <a:pPr algn="ctr" indent="0" marL="0">
              <a:buNone/>
            </a:pPr>
            <a:r>
              <a:rPr lang="en-US" sz="1500" dirty="0">
                <a:solidFill>
                  <a:srgbClr val="16273A"/>
                </a:solidFill>
                <a:latin typeface="함초롬돋움" pitchFamily="34" charset="0"/>
                <a:ea typeface="함초롬돋움" pitchFamily="34" charset="-122"/>
                <a:cs typeface="함초롬돋움" pitchFamily="34" charset="-120"/>
              </a:rPr>
              <a:t>뉴스 동향 검색</a:t>
            </a:r>
            <a:endParaRPr lang="en-US" sz="1500" dirty="0"/>
          </a:p>
        </p:txBody>
      </p:sp>
      <p:sp>
        <p:nvSpPr>
          <p:cNvPr id="12" name="Shape 10"/>
          <p:cNvSpPr/>
          <p:nvPr/>
        </p:nvSpPr>
        <p:spPr>
          <a:xfrm>
            <a:off x="6336792" y="2240280"/>
            <a:ext cx="182880" cy="0"/>
          </a:xfrm>
          <a:prstGeom prst="line">
            <a:avLst/>
          </a:prstGeom>
          <a:noFill/>
          <a:ln w="19050">
            <a:solidFill>
              <a:srgbClr val="6BA6DE"/>
            </a:solidFill>
            <a:prstDash val="solid"/>
          </a:ln>
        </p:spPr>
      </p:sp>
      <p:sp>
        <p:nvSpPr>
          <p:cNvPr id="13" name="Shape 11"/>
          <p:cNvSpPr/>
          <p:nvPr/>
        </p:nvSpPr>
        <p:spPr>
          <a:xfrm>
            <a:off x="6519672" y="1956816"/>
            <a:ext cx="2231136" cy="566928"/>
          </a:xfrm>
          <a:prstGeom prst="roundRect">
            <a:avLst>
              <a:gd name="adj" fmla="val 8065"/>
            </a:avLst>
          </a:prstGeom>
          <a:solidFill>
            <a:srgbClr val="FFFFFF"/>
          </a:solidFill>
          <a:ln w="12700">
            <a:solidFill>
              <a:srgbClr val="D2DEEA"/>
            </a:solidFill>
            <a:prstDash val="solid"/>
          </a:ln>
        </p:spPr>
      </p:sp>
      <p:sp>
        <p:nvSpPr>
          <p:cNvPr id="14" name="Text 12"/>
          <p:cNvSpPr txBox="1"/>
          <p:nvPr/>
        </p:nvSpPr>
        <p:spPr>
          <a:xfrm>
            <a:off x="6629400" y="2121408"/>
            <a:ext cx="2011680" cy="256032"/>
          </a:xfrm>
          <a:prstGeom prst="rect">
            <a:avLst/>
          </a:prstGeom>
          <a:noFill/>
          <a:ln/>
        </p:spPr>
        <p:txBody>
          <a:bodyPr wrap="square" lIns="0" tIns="0" rIns="0" bIns="0" rtlCol="0" anchor="t"/>
          <a:lstStyle/>
          <a:p>
            <a:pPr algn="ctr" indent="0" marL="0">
              <a:buNone/>
            </a:pPr>
            <a:r>
              <a:rPr lang="en-US" sz="1500" dirty="0">
                <a:solidFill>
                  <a:srgbClr val="16273A"/>
                </a:solidFill>
                <a:latin typeface="함초롬돋움" pitchFamily="34" charset="0"/>
                <a:ea typeface="함초롬돋움" pitchFamily="34" charset="-122"/>
                <a:cs typeface="함초롬돋움" pitchFamily="34" charset="-120"/>
              </a:rPr>
              <a:t>주가 · 재무 확인</a:t>
            </a:r>
            <a:endParaRPr lang="en-US" sz="1500" dirty="0"/>
          </a:p>
        </p:txBody>
      </p:sp>
      <p:sp>
        <p:nvSpPr>
          <p:cNvPr id="15" name="Shape 13"/>
          <p:cNvSpPr/>
          <p:nvPr/>
        </p:nvSpPr>
        <p:spPr>
          <a:xfrm>
            <a:off x="8750808" y="2240280"/>
            <a:ext cx="182880" cy="0"/>
          </a:xfrm>
          <a:prstGeom prst="line">
            <a:avLst/>
          </a:prstGeom>
          <a:noFill/>
          <a:ln w="19050">
            <a:solidFill>
              <a:srgbClr val="6BA6DE"/>
            </a:solidFill>
            <a:prstDash val="solid"/>
          </a:ln>
        </p:spPr>
      </p:sp>
      <p:sp>
        <p:nvSpPr>
          <p:cNvPr id="16" name="Shape 14"/>
          <p:cNvSpPr/>
          <p:nvPr/>
        </p:nvSpPr>
        <p:spPr>
          <a:xfrm>
            <a:off x="8933688" y="1956816"/>
            <a:ext cx="2231136" cy="566928"/>
          </a:xfrm>
          <a:prstGeom prst="roundRect">
            <a:avLst>
              <a:gd name="adj" fmla="val 8065"/>
            </a:avLst>
          </a:prstGeom>
          <a:solidFill>
            <a:srgbClr val="FFFFFF"/>
          </a:solidFill>
          <a:ln w="12700">
            <a:solidFill>
              <a:srgbClr val="D2DEEA"/>
            </a:solidFill>
            <a:prstDash val="solid"/>
          </a:ln>
        </p:spPr>
      </p:sp>
      <p:sp>
        <p:nvSpPr>
          <p:cNvPr id="17" name="Text 15"/>
          <p:cNvSpPr txBox="1"/>
          <p:nvPr/>
        </p:nvSpPr>
        <p:spPr>
          <a:xfrm>
            <a:off x="9043416" y="2121408"/>
            <a:ext cx="2011680" cy="256032"/>
          </a:xfrm>
          <a:prstGeom prst="rect">
            <a:avLst/>
          </a:prstGeom>
          <a:noFill/>
          <a:ln/>
        </p:spPr>
        <p:txBody>
          <a:bodyPr wrap="square" lIns="0" tIns="0" rIns="0" bIns="0" rtlCol="0" anchor="t"/>
          <a:lstStyle/>
          <a:p>
            <a:pPr algn="ctr" indent="0" marL="0">
              <a:buNone/>
            </a:pPr>
            <a:r>
              <a:rPr lang="en-US" sz="1500" dirty="0">
                <a:solidFill>
                  <a:srgbClr val="16273A"/>
                </a:solidFill>
                <a:latin typeface="함초롬돋움" pitchFamily="34" charset="0"/>
                <a:ea typeface="함초롬돋움" pitchFamily="34" charset="-122"/>
                <a:cs typeface="함초롬돋움" pitchFamily="34" charset="-120"/>
              </a:rPr>
              <a:t>원자재 가격 확인</a:t>
            </a:r>
            <a:endParaRPr lang="en-US" sz="1500" dirty="0"/>
          </a:p>
        </p:txBody>
      </p:sp>
      <p:sp>
        <p:nvSpPr>
          <p:cNvPr id="18" name="Shape 16"/>
          <p:cNvSpPr/>
          <p:nvPr/>
        </p:nvSpPr>
        <p:spPr>
          <a:xfrm>
            <a:off x="6428232" y="2523744"/>
            <a:ext cx="0" cy="384048"/>
          </a:xfrm>
          <a:prstGeom prst="line">
            <a:avLst/>
          </a:prstGeom>
          <a:noFill/>
          <a:ln w="19050">
            <a:solidFill>
              <a:srgbClr val="6BA6DE"/>
            </a:solidFill>
            <a:prstDash val="solid"/>
          </a:ln>
        </p:spPr>
      </p:sp>
      <p:sp>
        <p:nvSpPr>
          <p:cNvPr id="19" name="Text 17"/>
          <p:cNvSpPr txBox="1"/>
          <p:nvPr/>
        </p:nvSpPr>
        <p:spPr>
          <a:xfrm>
            <a:off x="731520" y="3035808"/>
            <a:ext cx="914400" cy="548640"/>
          </a:xfrm>
          <a:prstGeom prst="rect">
            <a:avLst/>
          </a:prstGeom>
          <a:noFill/>
          <a:ln/>
        </p:spPr>
        <p:txBody>
          <a:bodyPr wrap="square" lIns="0" tIns="0" rIns="0" bIns="0" rtlCol="0" anchor="t"/>
          <a:lstStyle/>
          <a:p>
            <a:pPr indent="0" marL="0">
              <a:lnSpc>
                <a:spcPts val="2000"/>
              </a:lnSpc>
              <a:buNone/>
            </a:pPr>
            <a:r>
              <a:rPr lang="en-US" sz="1600" b="1" dirty="0">
                <a:solidFill>
                  <a:srgbClr val="1E6FBF"/>
                </a:solidFill>
                <a:latin typeface="함초롬돋움" pitchFamily="34" charset="0"/>
                <a:ea typeface="함초롬돋움" pitchFamily="34" charset="-122"/>
                <a:cs typeface="함초롬돋움" pitchFamily="34" charset="-120"/>
              </a:rPr>
              <a:t>가공</a:t>
            </a:r>
            <a:endParaRPr lang="en-US" sz="1600" dirty="0"/>
          </a:p>
          <a:p>
            <a:pPr indent="0" marL="0">
              <a:lnSpc>
                <a:spcPts val="2000"/>
              </a:lnSpc>
              <a:buNone/>
            </a:pPr>
            <a:r>
              <a:rPr lang="en-US" sz="1600" b="1" dirty="0">
                <a:solidFill>
                  <a:srgbClr val="1E6FBF"/>
                </a:solidFill>
                <a:latin typeface="함초롬돋움" pitchFamily="34" charset="0"/>
                <a:ea typeface="함초롬돋움" pitchFamily="34" charset="-122"/>
                <a:cs typeface="함초롬돋움" pitchFamily="34" charset="-120"/>
              </a:rPr>
              <a:t>판단</a:t>
            </a:r>
            <a:endParaRPr lang="en-US" sz="1600" dirty="0"/>
          </a:p>
        </p:txBody>
      </p:sp>
      <p:sp>
        <p:nvSpPr>
          <p:cNvPr id="20" name="Shape 18"/>
          <p:cNvSpPr/>
          <p:nvPr/>
        </p:nvSpPr>
        <p:spPr>
          <a:xfrm>
            <a:off x="1691640" y="2907792"/>
            <a:ext cx="3054096" cy="566928"/>
          </a:xfrm>
          <a:prstGeom prst="roundRect">
            <a:avLst>
              <a:gd name="adj" fmla="val 8065"/>
            </a:avLst>
          </a:prstGeom>
          <a:solidFill>
            <a:srgbClr val="E9F1F9"/>
          </a:solidFill>
          <a:ln w="12700">
            <a:solidFill>
              <a:srgbClr val="C9DCEE"/>
            </a:solidFill>
            <a:prstDash val="solid"/>
          </a:ln>
        </p:spPr>
      </p:sp>
      <p:sp>
        <p:nvSpPr>
          <p:cNvPr id="21" name="Text 19"/>
          <p:cNvSpPr txBox="1"/>
          <p:nvPr/>
        </p:nvSpPr>
        <p:spPr>
          <a:xfrm>
            <a:off x="1801368" y="3072384"/>
            <a:ext cx="2834640" cy="256032"/>
          </a:xfrm>
          <a:prstGeom prst="rect">
            <a:avLst/>
          </a:prstGeom>
          <a:noFill/>
          <a:ln/>
        </p:spPr>
        <p:txBody>
          <a:bodyPr wrap="square" lIns="0" tIns="0" rIns="0" bIns="0" rtlCol="0" anchor="t"/>
          <a:lstStyle/>
          <a:p>
            <a:pPr algn="ctr" indent="0" marL="0">
              <a:buNone/>
            </a:pPr>
            <a:r>
              <a:rPr lang="en-US" sz="1500" b="1" dirty="0">
                <a:solidFill>
                  <a:srgbClr val="143A63"/>
                </a:solidFill>
                <a:latin typeface="함초롬돋움" pitchFamily="34" charset="0"/>
                <a:ea typeface="함초롬돋움" pitchFamily="34" charset="-122"/>
                <a:cs typeface="함초롬돋움" pitchFamily="34" charset="-120"/>
              </a:rPr>
              <a:t>다시 정리하고 비교</a:t>
            </a:r>
            <a:endParaRPr lang="en-US" sz="1500" dirty="0"/>
          </a:p>
        </p:txBody>
      </p:sp>
      <p:sp>
        <p:nvSpPr>
          <p:cNvPr id="22" name="Shape 20"/>
          <p:cNvSpPr/>
          <p:nvPr/>
        </p:nvSpPr>
        <p:spPr>
          <a:xfrm>
            <a:off x="4745736" y="3191256"/>
            <a:ext cx="219456" cy="0"/>
          </a:xfrm>
          <a:prstGeom prst="line">
            <a:avLst/>
          </a:prstGeom>
          <a:noFill/>
          <a:ln w="19050">
            <a:solidFill>
              <a:srgbClr val="6BA6DE"/>
            </a:solidFill>
            <a:prstDash val="solid"/>
          </a:ln>
        </p:spPr>
      </p:sp>
      <p:sp>
        <p:nvSpPr>
          <p:cNvPr id="23" name="Shape 21"/>
          <p:cNvSpPr/>
          <p:nvPr/>
        </p:nvSpPr>
        <p:spPr>
          <a:xfrm>
            <a:off x="4965192" y="2907792"/>
            <a:ext cx="3054096" cy="566928"/>
          </a:xfrm>
          <a:prstGeom prst="roundRect">
            <a:avLst>
              <a:gd name="adj" fmla="val 8065"/>
            </a:avLst>
          </a:prstGeom>
          <a:solidFill>
            <a:srgbClr val="E9F1F9"/>
          </a:solidFill>
          <a:ln w="12700">
            <a:solidFill>
              <a:srgbClr val="C9DCEE"/>
            </a:solidFill>
            <a:prstDash val="solid"/>
          </a:ln>
        </p:spPr>
      </p:sp>
      <p:sp>
        <p:nvSpPr>
          <p:cNvPr id="24" name="Text 22"/>
          <p:cNvSpPr txBox="1"/>
          <p:nvPr/>
        </p:nvSpPr>
        <p:spPr>
          <a:xfrm>
            <a:off x="5074920" y="3072384"/>
            <a:ext cx="2834640" cy="256032"/>
          </a:xfrm>
          <a:prstGeom prst="rect">
            <a:avLst/>
          </a:prstGeom>
          <a:noFill/>
          <a:ln/>
        </p:spPr>
        <p:txBody>
          <a:bodyPr wrap="square" lIns="0" tIns="0" rIns="0" bIns="0" rtlCol="0" anchor="t"/>
          <a:lstStyle/>
          <a:p>
            <a:pPr algn="ctr" indent="0" marL="0">
              <a:buNone/>
            </a:pPr>
            <a:r>
              <a:rPr lang="en-US" sz="1500" b="1" dirty="0">
                <a:solidFill>
                  <a:srgbClr val="143A63"/>
                </a:solidFill>
                <a:latin typeface="함초롬돋움" pitchFamily="34" charset="0"/>
                <a:ea typeface="함초롬돋움" pitchFamily="34" charset="-122"/>
                <a:cs typeface="함초롬돋움" pitchFamily="34" charset="-120"/>
              </a:rPr>
              <a:t>회사 영향 · 대응 검토</a:t>
            </a:r>
            <a:endParaRPr lang="en-US" sz="1500" dirty="0"/>
          </a:p>
        </p:txBody>
      </p:sp>
      <p:sp>
        <p:nvSpPr>
          <p:cNvPr id="25" name="Shape 23"/>
          <p:cNvSpPr/>
          <p:nvPr/>
        </p:nvSpPr>
        <p:spPr>
          <a:xfrm>
            <a:off x="8019288" y="3191256"/>
            <a:ext cx="219456" cy="0"/>
          </a:xfrm>
          <a:prstGeom prst="line">
            <a:avLst/>
          </a:prstGeom>
          <a:noFill/>
          <a:ln w="19050">
            <a:solidFill>
              <a:srgbClr val="6BA6DE"/>
            </a:solidFill>
            <a:prstDash val="solid"/>
          </a:ln>
        </p:spPr>
      </p:sp>
      <p:sp>
        <p:nvSpPr>
          <p:cNvPr id="26" name="Shape 24"/>
          <p:cNvSpPr/>
          <p:nvPr/>
        </p:nvSpPr>
        <p:spPr>
          <a:xfrm>
            <a:off x="8238744" y="2907792"/>
            <a:ext cx="3054096" cy="566928"/>
          </a:xfrm>
          <a:prstGeom prst="roundRect">
            <a:avLst>
              <a:gd name="adj" fmla="val 8065"/>
            </a:avLst>
          </a:prstGeom>
          <a:solidFill>
            <a:srgbClr val="E9F1F9"/>
          </a:solidFill>
          <a:ln w="12700">
            <a:solidFill>
              <a:srgbClr val="C9DCEE"/>
            </a:solidFill>
            <a:prstDash val="solid"/>
          </a:ln>
        </p:spPr>
      </p:sp>
      <p:sp>
        <p:nvSpPr>
          <p:cNvPr id="27" name="Text 25"/>
          <p:cNvSpPr txBox="1"/>
          <p:nvPr/>
        </p:nvSpPr>
        <p:spPr>
          <a:xfrm>
            <a:off x="8348472" y="3072384"/>
            <a:ext cx="2834640" cy="256032"/>
          </a:xfrm>
          <a:prstGeom prst="rect">
            <a:avLst/>
          </a:prstGeom>
          <a:noFill/>
          <a:ln/>
        </p:spPr>
        <p:txBody>
          <a:bodyPr wrap="square" lIns="0" tIns="0" rIns="0" bIns="0" rtlCol="0" anchor="t"/>
          <a:lstStyle/>
          <a:p>
            <a:pPr algn="ctr" indent="0" marL="0">
              <a:buNone/>
            </a:pPr>
            <a:r>
              <a:rPr lang="en-US" sz="1500" b="1" dirty="0">
                <a:solidFill>
                  <a:srgbClr val="143A63"/>
                </a:solidFill>
                <a:latin typeface="함초롬돋움" pitchFamily="34" charset="0"/>
                <a:ea typeface="함초롬돋움" pitchFamily="34" charset="-122"/>
                <a:cs typeface="함초롬돋움" pitchFamily="34" charset="-120"/>
              </a:rPr>
              <a:t>경영진 보고자료 작성</a:t>
            </a:r>
            <a:endParaRPr lang="en-US" sz="1500" dirty="0"/>
          </a:p>
        </p:txBody>
      </p:sp>
      <p:sp>
        <p:nvSpPr>
          <p:cNvPr id="28" name="Shape 26"/>
          <p:cNvSpPr/>
          <p:nvPr/>
        </p:nvSpPr>
        <p:spPr>
          <a:xfrm>
            <a:off x="731520" y="3767328"/>
            <a:ext cx="10728655" cy="16459"/>
          </a:xfrm>
          <a:prstGeom prst="rect">
            <a:avLst/>
          </a:prstGeom>
          <a:solidFill>
            <a:srgbClr val="D2DEEA"/>
          </a:solidFill>
          <a:ln w="12700">
            <a:solidFill>
              <a:srgbClr val="D2DEEA"/>
            </a:solidFill>
            <a:prstDash val="solid"/>
          </a:ln>
        </p:spPr>
      </p:sp>
      <p:sp>
        <p:nvSpPr>
          <p:cNvPr id="29" name="Text 27"/>
          <p:cNvSpPr txBox="1"/>
          <p:nvPr/>
        </p:nvSpPr>
        <p:spPr>
          <a:xfrm>
            <a:off x="731520" y="3895344"/>
            <a:ext cx="2743200" cy="292608"/>
          </a:xfrm>
          <a:prstGeom prst="rect">
            <a:avLst/>
          </a:prstGeom>
          <a:noFill/>
          <a:ln/>
        </p:spPr>
        <p:txBody>
          <a:bodyPr wrap="square" lIns="0" tIns="0" rIns="0" bIns="0" rtlCol="0" anchor="t"/>
          <a:lstStyle/>
          <a:p>
            <a:pPr indent="0" marL="0">
              <a:buNone/>
            </a:pPr>
            <a:r>
              <a:rPr lang="en-US" sz="1900" b="1" dirty="0">
                <a:solidFill>
                  <a:srgbClr val="0B2545"/>
                </a:solidFill>
                <a:latin typeface="함초롬돋움" pitchFamily="34" charset="0"/>
                <a:ea typeface="함초롬돋움" pitchFamily="34" charset="-122"/>
                <a:cs typeface="함초롬돋움" pitchFamily="34" charset="-120"/>
              </a:rPr>
              <a:t>핵심 문제</a:t>
            </a:r>
            <a:endParaRPr lang="en-US" sz="1900" dirty="0"/>
          </a:p>
        </p:txBody>
      </p:sp>
      <p:sp>
        <p:nvSpPr>
          <p:cNvPr id="30" name="Shape 28"/>
          <p:cNvSpPr/>
          <p:nvPr/>
        </p:nvSpPr>
        <p:spPr>
          <a:xfrm>
            <a:off x="731520" y="4398264"/>
            <a:ext cx="109728" cy="109728"/>
          </a:xfrm>
          <a:prstGeom prst="ellipse">
            <a:avLst/>
          </a:prstGeom>
          <a:solidFill>
            <a:srgbClr val="00A88F"/>
          </a:solidFill>
          <a:ln w="12700">
            <a:solidFill>
              <a:srgbClr val="00A88F"/>
            </a:solidFill>
            <a:prstDash val="solid"/>
          </a:ln>
        </p:spPr>
      </p:sp>
      <p:sp>
        <p:nvSpPr>
          <p:cNvPr id="31" name="Text 29"/>
          <p:cNvSpPr txBox="1"/>
          <p:nvPr/>
        </p:nvSpPr>
        <p:spPr>
          <a:xfrm>
            <a:off x="987552" y="4297680"/>
            <a:ext cx="4846320" cy="310896"/>
          </a:xfrm>
          <a:prstGeom prst="rect">
            <a:avLst/>
          </a:prstGeom>
          <a:noFill/>
          <a:ln/>
        </p:spPr>
        <p:txBody>
          <a:bodyPr wrap="square" lIns="0" tIns="0" rIns="0" bIns="0" rtlCol="0" anchor="t"/>
          <a:lstStyle/>
          <a:p>
            <a:pPr indent="0" marL="0">
              <a:buNone/>
            </a:pPr>
            <a:r>
              <a:rPr lang="en-US" sz="1800" dirty="0">
                <a:solidFill>
                  <a:srgbClr val="16273A"/>
                </a:solidFill>
                <a:latin typeface="함초롬돋움" pitchFamily="34" charset="0"/>
                <a:ea typeface="함초롬돋움" pitchFamily="34" charset="-122"/>
                <a:cs typeface="함초롬돋움" pitchFamily="34" charset="-120"/>
              </a:rPr>
              <a:t>정보가 여러 출처에 분산되어 있다</a:t>
            </a:r>
            <a:endParaRPr lang="en-US" sz="1800" dirty="0"/>
          </a:p>
        </p:txBody>
      </p:sp>
      <p:sp>
        <p:nvSpPr>
          <p:cNvPr id="32" name="Shape 30"/>
          <p:cNvSpPr/>
          <p:nvPr/>
        </p:nvSpPr>
        <p:spPr>
          <a:xfrm>
            <a:off x="6336792" y="4398264"/>
            <a:ext cx="109728" cy="109728"/>
          </a:xfrm>
          <a:prstGeom prst="ellipse">
            <a:avLst/>
          </a:prstGeom>
          <a:solidFill>
            <a:srgbClr val="00A88F"/>
          </a:solidFill>
          <a:ln w="12700">
            <a:solidFill>
              <a:srgbClr val="00A88F"/>
            </a:solidFill>
            <a:prstDash val="solid"/>
          </a:ln>
        </p:spPr>
      </p:sp>
      <p:sp>
        <p:nvSpPr>
          <p:cNvPr id="33" name="Text 31"/>
          <p:cNvSpPr txBox="1"/>
          <p:nvPr/>
        </p:nvSpPr>
        <p:spPr>
          <a:xfrm>
            <a:off x="6592824" y="4297680"/>
            <a:ext cx="4846320" cy="310896"/>
          </a:xfrm>
          <a:prstGeom prst="rect">
            <a:avLst/>
          </a:prstGeom>
          <a:noFill/>
          <a:ln/>
        </p:spPr>
        <p:txBody>
          <a:bodyPr wrap="square" lIns="0" tIns="0" rIns="0" bIns="0" rtlCol="0" anchor="t"/>
          <a:lstStyle/>
          <a:p>
            <a:pPr indent="0" marL="0">
              <a:buNone/>
            </a:pPr>
            <a:r>
              <a:rPr lang="en-US" sz="1800" dirty="0">
                <a:solidFill>
                  <a:srgbClr val="16273A"/>
                </a:solidFill>
                <a:latin typeface="함초롬돋움" pitchFamily="34" charset="0"/>
                <a:ea typeface="함초롬돋움" pitchFamily="34" charset="-122"/>
                <a:cs typeface="함초롬돋움" pitchFamily="34" charset="-120"/>
              </a:rPr>
              <a:t>반복적인 검색과 정리에 시간이 든다</a:t>
            </a:r>
            <a:endParaRPr lang="en-US" sz="1800" dirty="0"/>
          </a:p>
        </p:txBody>
      </p:sp>
      <p:sp>
        <p:nvSpPr>
          <p:cNvPr id="34" name="Shape 32"/>
          <p:cNvSpPr/>
          <p:nvPr/>
        </p:nvSpPr>
        <p:spPr>
          <a:xfrm>
            <a:off x="731520" y="4800600"/>
            <a:ext cx="109728" cy="109728"/>
          </a:xfrm>
          <a:prstGeom prst="ellipse">
            <a:avLst/>
          </a:prstGeom>
          <a:solidFill>
            <a:srgbClr val="00A88F"/>
          </a:solidFill>
          <a:ln w="12700">
            <a:solidFill>
              <a:srgbClr val="00A88F"/>
            </a:solidFill>
            <a:prstDash val="solid"/>
          </a:ln>
        </p:spPr>
      </p:sp>
      <p:sp>
        <p:nvSpPr>
          <p:cNvPr id="35" name="Text 33"/>
          <p:cNvSpPr txBox="1"/>
          <p:nvPr/>
        </p:nvSpPr>
        <p:spPr>
          <a:xfrm>
            <a:off x="987552" y="4700016"/>
            <a:ext cx="4846320" cy="310896"/>
          </a:xfrm>
          <a:prstGeom prst="rect">
            <a:avLst/>
          </a:prstGeom>
          <a:noFill/>
          <a:ln/>
        </p:spPr>
        <p:txBody>
          <a:bodyPr wrap="square" lIns="0" tIns="0" rIns="0" bIns="0" rtlCol="0" anchor="t"/>
          <a:lstStyle/>
          <a:p>
            <a:pPr indent="0" marL="0">
              <a:buNone/>
            </a:pPr>
            <a:r>
              <a:rPr lang="en-US" sz="1800" dirty="0">
                <a:solidFill>
                  <a:srgbClr val="16273A"/>
                </a:solidFill>
                <a:latin typeface="함초롬돋움" pitchFamily="34" charset="0"/>
                <a:ea typeface="함초롬돋움" pitchFamily="34" charset="-122"/>
                <a:cs typeface="함초롬돋움" pitchFamily="34" charset="-120"/>
              </a:rPr>
              <a:t>중요한 정보와 일반 정보를 구분하기 어렵다</a:t>
            </a:r>
            <a:endParaRPr lang="en-US" sz="1800" dirty="0"/>
          </a:p>
        </p:txBody>
      </p:sp>
      <p:sp>
        <p:nvSpPr>
          <p:cNvPr id="36" name="Shape 34"/>
          <p:cNvSpPr/>
          <p:nvPr/>
        </p:nvSpPr>
        <p:spPr>
          <a:xfrm>
            <a:off x="6336792" y="4800600"/>
            <a:ext cx="109728" cy="109728"/>
          </a:xfrm>
          <a:prstGeom prst="ellipse">
            <a:avLst/>
          </a:prstGeom>
          <a:solidFill>
            <a:srgbClr val="00A88F"/>
          </a:solidFill>
          <a:ln w="12700">
            <a:solidFill>
              <a:srgbClr val="00A88F"/>
            </a:solidFill>
            <a:prstDash val="solid"/>
          </a:ln>
        </p:spPr>
      </p:sp>
      <p:sp>
        <p:nvSpPr>
          <p:cNvPr id="37" name="Text 35"/>
          <p:cNvSpPr txBox="1"/>
          <p:nvPr/>
        </p:nvSpPr>
        <p:spPr>
          <a:xfrm>
            <a:off x="6592824" y="4700016"/>
            <a:ext cx="4846320" cy="310896"/>
          </a:xfrm>
          <a:prstGeom prst="rect">
            <a:avLst/>
          </a:prstGeom>
          <a:noFill/>
          <a:ln/>
        </p:spPr>
        <p:txBody>
          <a:bodyPr wrap="square" lIns="0" tIns="0" rIns="0" bIns="0" rtlCol="0" anchor="t"/>
          <a:lstStyle/>
          <a:p>
            <a:pPr indent="0" marL="0">
              <a:buNone/>
            </a:pPr>
            <a:r>
              <a:rPr lang="en-US" sz="1800" dirty="0">
                <a:solidFill>
                  <a:srgbClr val="16273A"/>
                </a:solidFill>
                <a:latin typeface="함초롬돋움" pitchFamily="34" charset="0"/>
                <a:ea typeface="함초롬돋움" pitchFamily="34" charset="-122"/>
                <a:cs typeface="함초롬돋움" pitchFamily="34" charset="-120"/>
              </a:rPr>
              <a:t>수집 후 사업 관점의 재해석이 필요하다</a:t>
            </a:r>
            <a:endParaRPr lang="en-US" sz="1800" dirty="0"/>
          </a:p>
        </p:txBody>
      </p:sp>
      <p:sp>
        <p:nvSpPr>
          <p:cNvPr id="38" name="Shape 36"/>
          <p:cNvSpPr/>
          <p:nvPr/>
        </p:nvSpPr>
        <p:spPr>
          <a:xfrm>
            <a:off x="731520" y="5193792"/>
            <a:ext cx="10728655" cy="932688"/>
          </a:xfrm>
          <a:prstGeom prst="rect">
            <a:avLst/>
          </a:prstGeom>
          <a:solidFill>
            <a:srgbClr val="0B2545"/>
          </a:solidFill>
          <a:ln w="12700">
            <a:solidFill>
              <a:srgbClr val="333333"/>
            </a:solidFill>
            <a:prstDash val="solid"/>
          </a:ln>
        </p:spPr>
      </p:sp>
      <p:sp>
        <p:nvSpPr>
          <p:cNvPr id="39" name="Text 37"/>
          <p:cNvSpPr txBox="1"/>
          <p:nvPr/>
        </p:nvSpPr>
        <p:spPr>
          <a:xfrm>
            <a:off x="1060704" y="5358384"/>
            <a:ext cx="2468880" cy="256032"/>
          </a:xfrm>
          <a:prstGeom prst="rect">
            <a:avLst/>
          </a:prstGeom>
          <a:noFill/>
          <a:ln/>
        </p:spPr>
        <p:txBody>
          <a:bodyPr wrap="square" lIns="0" tIns="0" rIns="0" bIns="0" rtlCol="0" anchor="t"/>
          <a:lstStyle/>
          <a:p>
            <a:pPr indent="0" marL="0">
              <a:buNone/>
            </a:pPr>
            <a:r>
              <a:rPr lang="en-US" sz="1400" dirty="0">
                <a:solidFill>
                  <a:srgbClr val="738BA3"/>
                </a:solidFill>
                <a:latin typeface="함초롬돋움" pitchFamily="34" charset="0"/>
                <a:ea typeface="함초롬돋움" pitchFamily="34" charset="-122"/>
                <a:cs typeface="함초롬돋움" pitchFamily="34" charset="-120"/>
              </a:rPr>
              <a:t>확인 대상 기업</a:t>
            </a:r>
            <a:endParaRPr lang="en-US" sz="1400" dirty="0"/>
          </a:p>
        </p:txBody>
      </p:sp>
      <p:sp>
        <p:nvSpPr>
          <p:cNvPr id="40" name="Text 38"/>
          <p:cNvSpPr txBox="1"/>
          <p:nvPr/>
        </p:nvSpPr>
        <p:spPr>
          <a:xfrm>
            <a:off x="1060704" y="5650992"/>
            <a:ext cx="2514600" cy="292608"/>
          </a:xfrm>
          <a:prstGeom prst="rect">
            <a:avLst/>
          </a:prstGeom>
          <a:noFill/>
          <a:ln/>
        </p:spPr>
        <p:txBody>
          <a:bodyPr wrap="square" lIns="0" tIns="0" rIns="0" bIns="0" rtlCol="0" anchor="t"/>
          <a:lstStyle/>
          <a:p>
            <a:pPr indent="0" marL="0">
              <a:buNone/>
            </a:pPr>
            <a:r>
              <a:rPr lang="en-US" sz="1700" b="1" dirty="0">
                <a:solidFill>
                  <a:srgbClr val="4FD1BC"/>
                </a:solidFill>
                <a:latin typeface="함초롬돋움" pitchFamily="34" charset="0"/>
                <a:ea typeface="함초롬돋움" pitchFamily="34" charset="-122"/>
                <a:cs typeface="함초롬돋움" pitchFamily="34" charset="-120"/>
              </a:rPr>
              <a:t>[실제 측정값 입력]</a:t>
            </a:r>
            <a:endParaRPr lang="en-US" sz="1700" dirty="0"/>
          </a:p>
        </p:txBody>
      </p:sp>
      <p:sp>
        <p:nvSpPr>
          <p:cNvPr id="41" name="Text 39"/>
          <p:cNvSpPr txBox="1"/>
          <p:nvPr/>
        </p:nvSpPr>
        <p:spPr>
          <a:xfrm>
            <a:off x="3675888" y="5358384"/>
            <a:ext cx="2468880" cy="256032"/>
          </a:xfrm>
          <a:prstGeom prst="rect">
            <a:avLst/>
          </a:prstGeom>
          <a:noFill/>
          <a:ln/>
        </p:spPr>
        <p:txBody>
          <a:bodyPr wrap="square" lIns="0" tIns="0" rIns="0" bIns="0" rtlCol="0" anchor="t"/>
          <a:lstStyle/>
          <a:p>
            <a:pPr indent="0" marL="0">
              <a:buNone/>
            </a:pPr>
            <a:r>
              <a:rPr lang="en-US" sz="1400" dirty="0">
                <a:solidFill>
                  <a:srgbClr val="738BA3"/>
                </a:solidFill>
                <a:latin typeface="함초롬돋움" pitchFamily="34" charset="0"/>
                <a:ea typeface="함초롬돋움" pitchFamily="34" charset="-122"/>
                <a:cs typeface="함초롬돋움" pitchFamily="34" charset="-120"/>
              </a:rPr>
              <a:t>방문하는 사이트 수</a:t>
            </a:r>
            <a:endParaRPr lang="en-US" sz="1400" dirty="0"/>
          </a:p>
        </p:txBody>
      </p:sp>
      <p:sp>
        <p:nvSpPr>
          <p:cNvPr id="42" name="Text 40"/>
          <p:cNvSpPr txBox="1"/>
          <p:nvPr/>
        </p:nvSpPr>
        <p:spPr>
          <a:xfrm>
            <a:off x="3675888" y="5650992"/>
            <a:ext cx="2514600" cy="292608"/>
          </a:xfrm>
          <a:prstGeom prst="rect">
            <a:avLst/>
          </a:prstGeom>
          <a:noFill/>
          <a:ln/>
        </p:spPr>
        <p:txBody>
          <a:bodyPr wrap="square" lIns="0" tIns="0" rIns="0" bIns="0" rtlCol="0" anchor="t"/>
          <a:lstStyle/>
          <a:p>
            <a:pPr indent="0" marL="0">
              <a:buNone/>
            </a:pPr>
            <a:r>
              <a:rPr lang="en-US" sz="1700" b="1" dirty="0">
                <a:solidFill>
                  <a:srgbClr val="4FD1BC"/>
                </a:solidFill>
                <a:latin typeface="함초롬돋움" pitchFamily="34" charset="0"/>
                <a:ea typeface="함초롬돋움" pitchFamily="34" charset="-122"/>
                <a:cs typeface="함초롬돋움" pitchFamily="34" charset="-120"/>
              </a:rPr>
              <a:t>[실제 측정값 입력]</a:t>
            </a:r>
            <a:endParaRPr lang="en-US" sz="1700" dirty="0"/>
          </a:p>
        </p:txBody>
      </p:sp>
      <p:sp>
        <p:nvSpPr>
          <p:cNvPr id="43" name="Text 41"/>
          <p:cNvSpPr txBox="1"/>
          <p:nvPr/>
        </p:nvSpPr>
        <p:spPr>
          <a:xfrm>
            <a:off x="6291072" y="5358384"/>
            <a:ext cx="2468880" cy="256032"/>
          </a:xfrm>
          <a:prstGeom prst="rect">
            <a:avLst/>
          </a:prstGeom>
          <a:noFill/>
          <a:ln/>
        </p:spPr>
        <p:txBody>
          <a:bodyPr wrap="square" lIns="0" tIns="0" rIns="0" bIns="0" rtlCol="0" anchor="t"/>
          <a:lstStyle/>
          <a:p>
            <a:pPr indent="0" marL="0">
              <a:buNone/>
            </a:pPr>
            <a:r>
              <a:rPr lang="en-US" sz="1400" dirty="0">
                <a:solidFill>
                  <a:srgbClr val="738BA3"/>
                </a:solidFill>
                <a:latin typeface="함초롬돋움" pitchFamily="34" charset="0"/>
                <a:ea typeface="함초롬돋움" pitchFamily="34" charset="-122"/>
                <a:cs typeface="함초롬돋움" pitchFamily="34" charset="-120"/>
              </a:rPr>
              <a:t>1회 정보 수집 시간</a:t>
            </a:r>
            <a:endParaRPr lang="en-US" sz="1400" dirty="0"/>
          </a:p>
        </p:txBody>
      </p:sp>
      <p:sp>
        <p:nvSpPr>
          <p:cNvPr id="44" name="Text 42"/>
          <p:cNvSpPr txBox="1"/>
          <p:nvPr/>
        </p:nvSpPr>
        <p:spPr>
          <a:xfrm>
            <a:off x="6291072" y="5650992"/>
            <a:ext cx="2514600" cy="292608"/>
          </a:xfrm>
          <a:prstGeom prst="rect">
            <a:avLst/>
          </a:prstGeom>
          <a:noFill/>
          <a:ln/>
        </p:spPr>
        <p:txBody>
          <a:bodyPr wrap="square" lIns="0" tIns="0" rIns="0" bIns="0" rtlCol="0" anchor="t"/>
          <a:lstStyle/>
          <a:p>
            <a:pPr indent="0" marL="0">
              <a:buNone/>
            </a:pPr>
            <a:r>
              <a:rPr lang="en-US" sz="1700" b="1" dirty="0">
                <a:solidFill>
                  <a:srgbClr val="4FD1BC"/>
                </a:solidFill>
                <a:latin typeface="함초롬돋움" pitchFamily="34" charset="0"/>
                <a:ea typeface="함초롬돋움" pitchFamily="34" charset="-122"/>
                <a:cs typeface="함초롬돋움" pitchFamily="34" charset="-120"/>
              </a:rPr>
              <a:t>[실제 측정값 입력]</a:t>
            </a:r>
            <a:endParaRPr lang="en-US" sz="1700" dirty="0"/>
          </a:p>
        </p:txBody>
      </p:sp>
      <p:sp>
        <p:nvSpPr>
          <p:cNvPr id="45" name="Text 43"/>
          <p:cNvSpPr txBox="1"/>
          <p:nvPr/>
        </p:nvSpPr>
        <p:spPr>
          <a:xfrm>
            <a:off x="8906256" y="5358384"/>
            <a:ext cx="2468880" cy="256032"/>
          </a:xfrm>
          <a:prstGeom prst="rect">
            <a:avLst/>
          </a:prstGeom>
          <a:noFill/>
          <a:ln/>
        </p:spPr>
        <p:txBody>
          <a:bodyPr wrap="square" lIns="0" tIns="0" rIns="0" bIns="0" rtlCol="0" anchor="t"/>
          <a:lstStyle/>
          <a:p>
            <a:pPr indent="0" marL="0">
              <a:buNone/>
            </a:pPr>
            <a:r>
              <a:rPr lang="en-US" sz="1400" dirty="0">
                <a:solidFill>
                  <a:srgbClr val="738BA3"/>
                </a:solidFill>
                <a:latin typeface="함초롬돋움" pitchFamily="34" charset="0"/>
                <a:ea typeface="함초롬돋움" pitchFamily="34" charset="-122"/>
                <a:cs typeface="함초롬돋움" pitchFamily="34" charset="-120"/>
              </a:rPr>
              <a:t>보고자료 작성 시간</a:t>
            </a:r>
            <a:endParaRPr lang="en-US" sz="1400" dirty="0"/>
          </a:p>
        </p:txBody>
      </p:sp>
      <p:sp>
        <p:nvSpPr>
          <p:cNvPr id="46" name="Text 44"/>
          <p:cNvSpPr txBox="1"/>
          <p:nvPr/>
        </p:nvSpPr>
        <p:spPr>
          <a:xfrm>
            <a:off x="8906256" y="5650992"/>
            <a:ext cx="2514600" cy="292608"/>
          </a:xfrm>
          <a:prstGeom prst="rect">
            <a:avLst/>
          </a:prstGeom>
          <a:noFill/>
          <a:ln/>
        </p:spPr>
        <p:txBody>
          <a:bodyPr wrap="square" lIns="0" tIns="0" rIns="0" bIns="0" rtlCol="0" anchor="t"/>
          <a:lstStyle/>
          <a:p>
            <a:pPr indent="0" marL="0">
              <a:buNone/>
            </a:pPr>
            <a:r>
              <a:rPr lang="en-US" sz="1700" b="1" dirty="0">
                <a:solidFill>
                  <a:srgbClr val="4FD1BC"/>
                </a:solidFill>
                <a:latin typeface="함초롬돋움" pitchFamily="34" charset="0"/>
                <a:ea typeface="함초롬돋움" pitchFamily="34" charset="-122"/>
                <a:cs typeface="함초롬돋움" pitchFamily="34" charset="-120"/>
              </a:rPr>
              <a:t>[실제 측정값 입력]</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indent="0" marL="0">
              <a:buNone/>
            </a:pPr>
            <a:r>
              <a:rPr lang="en-US" sz="3200" b="1" dirty="0">
                <a:solidFill>
                  <a:srgbClr val="0B2545"/>
                </a:solidFill>
                <a:latin typeface="함초롬돋움" pitchFamily="34" charset="0"/>
                <a:ea typeface="함초롬돋움" pitchFamily="34" charset="-122"/>
                <a:cs typeface="함초롬돋움" pitchFamily="34" charset="-120"/>
              </a:rPr>
              <a:t>문제를 바라본 관점과 가설</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indent="0" marL="0">
              <a:buNone/>
            </a:pPr>
            <a:r>
              <a:rPr lang="en-US" sz="1800" dirty="0">
                <a:solidFill>
                  <a:srgbClr val="5A6B7C"/>
                </a:solidFill>
                <a:latin typeface="함초롬돋움" pitchFamily="34" charset="0"/>
                <a:ea typeface="함초롬돋움" pitchFamily="34" charset="-122"/>
                <a:cs typeface="함초롬돋움" pitchFamily="34" charset="-120"/>
              </a:rPr>
              <a:t>정보 수집 시간과 의미 해석 시간을 함께 줄여야 한다고 보았습니다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algn="r" indent="0" marL="0">
              <a:buNone/>
            </a:pPr>
            <a:r>
              <a:rPr lang="en-US" sz="1300" dirty="0">
                <a:solidFill>
                  <a:srgbClr val="8B9BAA"/>
                </a:solidFill>
                <a:latin typeface="함초롬돋움" pitchFamily="34" charset="0"/>
                <a:ea typeface="함초롬돋움" pitchFamily="34" charset="-122"/>
                <a:cs typeface="함초롬돋움" pitchFamily="34" charset="-120"/>
              </a:rPr>
              <a:t>04</a:t>
            </a:r>
            <a:endParaRPr lang="en-US" sz="1300" dirty="0"/>
          </a:p>
        </p:txBody>
      </p:sp>
      <p:sp>
        <p:nvSpPr>
          <p:cNvPr id="6" name="Text 4"/>
          <p:cNvSpPr txBox="1"/>
          <p:nvPr/>
        </p:nvSpPr>
        <p:spPr>
          <a:xfrm>
            <a:off x="731520" y="1993392"/>
            <a:ext cx="2194560" cy="274320"/>
          </a:xfrm>
          <a:prstGeom prst="rect">
            <a:avLst/>
          </a:prstGeom>
          <a:noFill/>
          <a:ln/>
        </p:spPr>
        <p:txBody>
          <a:bodyPr wrap="square" lIns="0" tIns="0" rIns="0" bIns="0" rtlCol="0" anchor="t"/>
          <a:lstStyle/>
          <a:p>
            <a:pPr indent="0" marL="0">
              <a:buNone/>
            </a:pPr>
            <a:r>
              <a:rPr lang="en-US" sz="1800" b="1" dirty="0">
                <a:solidFill>
                  <a:srgbClr val="0B2545"/>
                </a:solidFill>
                <a:latin typeface="함초롬돋움" pitchFamily="34" charset="0"/>
                <a:ea typeface="함초롬돋움" pitchFamily="34" charset="-122"/>
                <a:cs typeface="함초롬돋움" pitchFamily="34" charset="-120"/>
              </a:rPr>
              <a:t>분석 기준</a:t>
            </a:r>
            <a:endParaRPr lang="en-US" sz="1800" dirty="0"/>
          </a:p>
        </p:txBody>
      </p:sp>
      <p:sp>
        <p:nvSpPr>
          <p:cNvPr id="7" name="Shape 5"/>
          <p:cNvSpPr/>
          <p:nvPr/>
        </p:nvSpPr>
        <p:spPr>
          <a:xfrm>
            <a:off x="731520" y="2487168"/>
            <a:ext cx="109728" cy="109728"/>
          </a:xfrm>
          <a:prstGeom prst="ellipse">
            <a:avLst/>
          </a:prstGeom>
          <a:solidFill>
            <a:srgbClr val="00A88F"/>
          </a:solidFill>
          <a:ln w="12700">
            <a:solidFill>
              <a:srgbClr val="00A88F"/>
            </a:solidFill>
            <a:prstDash val="solid"/>
          </a:ln>
        </p:spPr>
      </p:sp>
      <p:sp>
        <p:nvSpPr>
          <p:cNvPr id="8" name="Text 6"/>
          <p:cNvSpPr txBox="1"/>
          <p:nvPr/>
        </p:nvSpPr>
        <p:spPr>
          <a:xfrm>
            <a:off x="987552" y="2377440"/>
            <a:ext cx="1783080" cy="292608"/>
          </a:xfrm>
          <a:prstGeom prst="rect">
            <a:avLst/>
          </a:prstGeom>
          <a:noFill/>
          <a:ln/>
        </p:spPr>
        <p:txBody>
          <a:bodyPr wrap="square" lIns="0" tIns="0" rIns="0" bIns="0" rtlCol="0" anchor="t"/>
          <a:lstStyle/>
          <a:p>
            <a:pPr indent="0" marL="0">
              <a:buNone/>
            </a:pPr>
            <a:r>
              <a:rPr lang="en-US" sz="1800" b="1" dirty="0">
                <a:solidFill>
                  <a:srgbClr val="143A63"/>
                </a:solidFill>
                <a:latin typeface="함초롬돋움" pitchFamily="34" charset="0"/>
                <a:ea typeface="함초롬돋움" pitchFamily="34" charset="-122"/>
                <a:cs typeface="함초롬돋움" pitchFamily="34" charset="-120"/>
              </a:rPr>
              <a:t>적시성</a:t>
            </a:r>
            <a:endParaRPr lang="en-US" sz="1800" dirty="0"/>
          </a:p>
        </p:txBody>
      </p:sp>
      <p:sp>
        <p:nvSpPr>
          <p:cNvPr id="9" name="Text 7"/>
          <p:cNvSpPr txBox="1"/>
          <p:nvPr/>
        </p:nvSpPr>
        <p:spPr>
          <a:xfrm>
            <a:off x="2834640" y="2377440"/>
            <a:ext cx="3383280" cy="292608"/>
          </a:xfrm>
          <a:prstGeom prst="rect">
            <a:avLst/>
          </a:prstGeom>
          <a:noFill/>
          <a:ln/>
        </p:spPr>
        <p:txBody>
          <a:bodyPr wrap="square" lIns="0" tIns="0" rIns="0" bIns="0" rtlCol="0" anchor="t"/>
          <a:lstStyle/>
          <a:p>
            <a:pPr indent="0" marL="0">
              <a:buNone/>
            </a:pPr>
            <a:r>
              <a:rPr lang="en-US" sz="1700" dirty="0">
                <a:solidFill>
                  <a:srgbClr val="5A6B7C"/>
                </a:solidFill>
                <a:latin typeface="함초롬돋움" pitchFamily="34" charset="0"/>
                <a:ea typeface="함초롬돋움" pitchFamily="34" charset="-122"/>
                <a:cs typeface="함초롬돋움" pitchFamily="34" charset="-120"/>
              </a:rPr>
              <a:t>얼마나 빨리 발견하는가</a:t>
            </a:r>
            <a:endParaRPr lang="en-US" sz="1700" dirty="0"/>
          </a:p>
        </p:txBody>
      </p:sp>
      <p:sp>
        <p:nvSpPr>
          <p:cNvPr id="10" name="Shape 8"/>
          <p:cNvSpPr/>
          <p:nvPr/>
        </p:nvSpPr>
        <p:spPr>
          <a:xfrm>
            <a:off x="731520" y="2999232"/>
            <a:ext cx="109728" cy="109728"/>
          </a:xfrm>
          <a:prstGeom prst="ellipse">
            <a:avLst/>
          </a:prstGeom>
          <a:solidFill>
            <a:srgbClr val="00A88F"/>
          </a:solidFill>
          <a:ln w="12700">
            <a:solidFill>
              <a:srgbClr val="00A88F"/>
            </a:solidFill>
            <a:prstDash val="solid"/>
          </a:ln>
        </p:spPr>
      </p:sp>
      <p:sp>
        <p:nvSpPr>
          <p:cNvPr id="11" name="Text 9"/>
          <p:cNvSpPr txBox="1"/>
          <p:nvPr/>
        </p:nvSpPr>
        <p:spPr>
          <a:xfrm>
            <a:off x="987552" y="2889504"/>
            <a:ext cx="1783080" cy="292608"/>
          </a:xfrm>
          <a:prstGeom prst="rect">
            <a:avLst/>
          </a:prstGeom>
          <a:noFill/>
          <a:ln/>
        </p:spPr>
        <p:txBody>
          <a:bodyPr wrap="square" lIns="0" tIns="0" rIns="0" bIns="0" rtlCol="0" anchor="t"/>
          <a:lstStyle/>
          <a:p>
            <a:pPr indent="0" marL="0">
              <a:buNone/>
            </a:pPr>
            <a:r>
              <a:rPr lang="en-US" sz="1800" b="1" dirty="0">
                <a:solidFill>
                  <a:srgbClr val="143A63"/>
                </a:solidFill>
                <a:latin typeface="함초롬돋움" pitchFamily="34" charset="0"/>
                <a:ea typeface="함초롬돋움" pitchFamily="34" charset="-122"/>
                <a:cs typeface="함초롬돋움" pitchFamily="34" charset="-120"/>
              </a:rPr>
              <a:t>중요도</a:t>
            </a:r>
            <a:endParaRPr lang="en-US" sz="1800" dirty="0"/>
          </a:p>
        </p:txBody>
      </p:sp>
      <p:sp>
        <p:nvSpPr>
          <p:cNvPr id="12" name="Text 10"/>
          <p:cNvSpPr txBox="1"/>
          <p:nvPr/>
        </p:nvSpPr>
        <p:spPr>
          <a:xfrm>
            <a:off x="2834640" y="2889504"/>
            <a:ext cx="3383280" cy="292608"/>
          </a:xfrm>
          <a:prstGeom prst="rect">
            <a:avLst/>
          </a:prstGeom>
          <a:noFill/>
          <a:ln/>
        </p:spPr>
        <p:txBody>
          <a:bodyPr wrap="square" lIns="0" tIns="0" rIns="0" bIns="0" rtlCol="0" anchor="t"/>
          <a:lstStyle/>
          <a:p>
            <a:pPr indent="0" marL="0">
              <a:buNone/>
            </a:pPr>
            <a:r>
              <a:rPr lang="en-US" sz="1700" dirty="0">
                <a:solidFill>
                  <a:srgbClr val="5A6B7C"/>
                </a:solidFill>
                <a:latin typeface="함초롬돋움" pitchFamily="34" charset="0"/>
                <a:ea typeface="함초롬돋움" pitchFamily="34" charset="-122"/>
                <a:cs typeface="함초롬돋움" pitchFamily="34" charset="-120"/>
              </a:rPr>
              <a:t>무엇을 먼저 볼 것인가</a:t>
            </a:r>
            <a:endParaRPr lang="en-US" sz="1700" dirty="0"/>
          </a:p>
        </p:txBody>
      </p:sp>
      <p:sp>
        <p:nvSpPr>
          <p:cNvPr id="13" name="Shape 11"/>
          <p:cNvSpPr/>
          <p:nvPr/>
        </p:nvSpPr>
        <p:spPr>
          <a:xfrm>
            <a:off x="731520" y="3511296"/>
            <a:ext cx="109728" cy="109728"/>
          </a:xfrm>
          <a:prstGeom prst="ellipse">
            <a:avLst/>
          </a:prstGeom>
          <a:solidFill>
            <a:srgbClr val="00A88F"/>
          </a:solidFill>
          <a:ln w="12700">
            <a:solidFill>
              <a:srgbClr val="00A88F"/>
            </a:solidFill>
            <a:prstDash val="solid"/>
          </a:ln>
        </p:spPr>
      </p:sp>
      <p:sp>
        <p:nvSpPr>
          <p:cNvPr id="14" name="Text 12"/>
          <p:cNvSpPr txBox="1"/>
          <p:nvPr/>
        </p:nvSpPr>
        <p:spPr>
          <a:xfrm>
            <a:off x="987552" y="3401568"/>
            <a:ext cx="1783080" cy="292608"/>
          </a:xfrm>
          <a:prstGeom prst="rect">
            <a:avLst/>
          </a:prstGeom>
          <a:noFill/>
          <a:ln/>
        </p:spPr>
        <p:txBody>
          <a:bodyPr wrap="square" lIns="0" tIns="0" rIns="0" bIns="0" rtlCol="0" anchor="t"/>
          <a:lstStyle/>
          <a:p>
            <a:pPr indent="0" marL="0">
              <a:buNone/>
            </a:pPr>
            <a:r>
              <a:rPr lang="en-US" sz="1800" b="1" dirty="0">
                <a:solidFill>
                  <a:srgbClr val="143A63"/>
                </a:solidFill>
                <a:latin typeface="함초롬돋움" pitchFamily="34" charset="0"/>
                <a:ea typeface="함초롬돋움" pitchFamily="34" charset="-122"/>
                <a:cs typeface="함초롬돋움" pitchFamily="34" charset="-120"/>
              </a:rPr>
              <a:t>사업 연관성</a:t>
            </a:r>
            <a:endParaRPr lang="en-US" sz="1800" dirty="0"/>
          </a:p>
        </p:txBody>
      </p:sp>
      <p:sp>
        <p:nvSpPr>
          <p:cNvPr id="15" name="Text 13"/>
          <p:cNvSpPr txBox="1"/>
          <p:nvPr/>
        </p:nvSpPr>
        <p:spPr>
          <a:xfrm>
            <a:off x="2834640" y="3401568"/>
            <a:ext cx="3383280" cy="292608"/>
          </a:xfrm>
          <a:prstGeom prst="rect">
            <a:avLst/>
          </a:prstGeom>
          <a:noFill/>
          <a:ln/>
        </p:spPr>
        <p:txBody>
          <a:bodyPr wrap="square" lIns="0" tIns="0" rIns="0" bIns="0" rtlCol="0" anchor="t"/>
          <a:lstStyle/>
          <a:p>
            <a:pPr indent="0" marL="0">
              <a:buNone/>
            </a:pPr>
            <a:r>
              <a:rPr lang="en-US" sz="1700" dirty="0">
                <a:solidFill>
                  <a:srgbClr val="5A6B7C"/>
                </a:solidFill>
                <a:latin typeface="함초롬돋움" pitchFamily="34" charset="0"/>
                <a:ea typeface="함초롬돋움" pitchFamily="34" charset="-122"/>
                <a:cs typeface="함초롬돋움" pitchFamily="34" charset="-120"/>
              </a:rPr>
              <a:t>회사에 어떤 영향을 주는가</a:t>
            </a:r>
            <a:endParaRPr lang="en-US" sz="1700" dirty="0"/>
          </a:p>
        </p:txBody>
      </p:sp>
      <p:sp>
        <p:nvSpPr>
          <p:cNvPr id="16" name="Shape 14"/>
          <p:cNvSpPr/>
          <p:nvPr/>
        </p:nvSpPr>
        <p:spPr>
          <a:xfrm>
            <a:off x="731520" y="4023360"/>
            <a:ext cx="109728" cy="109728"/>
          </a:xfrm>
          <a:prstGeom prst="ellipse">
            <a:avLst/>
          </a:prstGeom>
          <a:solidFill>
            <a:srgbClr val="00A88F"/>
          </a:solidFill>
          <a:ln w="12700">
            <a:solidFill>
              <a:srgbClr val="00A88F"/>
            </a:solidFill>
            <a:prstDash val="solid"/>
          </a:ln>
        </p:spPr>
      </p:sp>
      <p:sp>
        <p:nvSpPr>
          <p:cNvPr id="17" name="Text 15"/>
          <p:cNvSpPr txBox="1"/>
          <p:nvPr/>
        </p:nvSpPr>
        <p:spPr>
          <a:xfrm>
            <a:off x="987552" y="3913632"/>
            <a:ext cx="1783080" cy="292608"/>
          </a:xfrm>
          <a:prstGeom prst="rect">
            <a:avLst/>
          </a:prstGeom>
          <a:noFill/>
          <a:ln/>
        </p:spPr>
        <p:txBody>
          <a:bodyPr wrap="square" lIns="0" tIns="0" rIns="0" bIns="0" rtlCol="0" anchor="t"/>
          <a:lstStyle/>
          <a:p>
            <a:pPr indent="0" marL="0">
              <a:buNone/>
            </a:pPr>
            <a:r>
              <a:rPr lang="en-US" sz="1800" b="1" dirty="0">
                <a:solidFill>
                  <a:srgbClr val="143A63"/>
                </a:solidFill>
                <a:latin typeface="함초롬돋움" pitchFamily="34" charset="0"/>
                <a:ea typeface="함초롬돋움" pitchFamily="34" charset="-122"/>
                <a:cs typeface="함초롬돋움" pitchFamily="34" charset="-120"/>
              </a:rPr>
              <a:t>근거 확인성</a:t>
            </a:r>
            <a:endParaRPr lang="en-US" sz="1800" dirty="0"/>
          </a:p>
        </p:txBody>
      </p:sp>
      <p:sp>
        <p:nvSpPr>
          <p:cNvPr id="18" name="Text 16"/>
          <p:cNvSpPr txBox="1"/>
          <p:nvPr/>
        </p:nvSpPr>
        <p:spPr>
          <a:xfrm>
            <a:off x="2834640" y="3913632"/>
            <a:ext cx="3383280" cy="292608"/>
          </a:xfrm>
          <a:prstGeom prst="rect">
            <a:avLst/>
          </a:prstGeom>
          <a:noFill/>
          <a:ln/>
        </p:spPr>
        <p:txBody>
          <a:bodyPr wrap="square" lIns="0" tIns="0" rIns="0" bIns="0" rtlCol="0" anchor="t"/>
          <a:lstStyle/>
          <a:p>
            <a:pPr indent="0" marL="0">
              <a:buNone/>
            </a:pPr>
            <a:r>
              <a:rPr lang="en-US" sz="1700" dirty="0">
                <a:solidFill>
                  <a:srgbClr val="5A6B7C"/>
                </a:solidFill>
                <a:latin typeface="함초롬돋움" pitchFamily="34" charset="0"/>
                <a:ea typeface="함초롬돋움" pitchFamily="34" charset="-122"/>
                <a:cs typeface="함초롬돋움" pitchFamily="34" charset="-120"/>
              </a:rPr>
              <a:t>원문에서 검증할 수 있는가</a:t>
            </a:r>
            <a:endParaRPr lang="en-US" sz="1700" dirty="0"/>
          </a:p>
        </p:txBody>
      </p:sp>
      <p:sp>
        <p:nvSpPr>
          <p:cNvPr id="19" name="Shape 17"/>
          <p:cNvSpPr/>
          <p:nvPr/>
        </p:nvSpPr>
        <p:spPr>
          <a:xfrm>
            <a:off x="6492240" y="1938528"/>
            <a:ext cx="4965192" cy="2615184"/>
          </a:xfrm>
          <a:prstGeom prst="roundRect">
            <a:avLst>
              <a:gd name="adj" fmla="val 1748"/>
            </a:avLst>
          </a:prstGeom>
          <a:solidFill>
            <a:srgbClr val="FFFFFF"/>
          </a:solidFill>
          <a:ln w="12700">
            <a:solidFill>
              <a:srgbClr val="D2DEEA"/>
            </a:solidFill>
            <a:prstDash val="solid"/>
          </a:ln>
        </p:spPr>
      </p:sp>
      <p:sp>
        <p:nvSpPr>
          <p:cNvPr id="20" name="Text 18"/>
          <p:cNvSpPr txBox="1"/>
          <p:nvPr/>
        </p:nvSpPr>
        <p:spPr>
          <a:xfrm>
            <a:off x="6766560" y="2121408"/>
            <a:ext cx="4389120" cy="274320"/>
          </a:xfrm>
          <a:prstGeom prst="rect">
            <a:avLst/>
          </a:prstGeom>
          <a:noFill/>
          <a:ln/>
        </p:spPr>
        <p:txBody>
          <a:bodyPr wrap="square" lIns="0" tIns="0" rIns="0" bIns="0" rtlCol="0" anchor="t"/>
          <a:lstStyle/>
          <a:p>
            <a:pPr indent="0" marL="0">
              <a:buNone/>
            </a:pPr>
            <a:r>
              <a:rPr lang="en-US" sz="1800" b="1" dirty="0">
                <a:solidFill>
                  <a:srgbClr val="0B2545"/>
                </a:solidFill>
                <a:latin typeface="함초롬돋움" pitchFamily="34" charset="0"/>
                <a:ea typeface="함초롬돋움" pitchFamily="34" charset="-122"/>
                <a:cs typeface="함초롬돋움" pitchFamily="34" charset="-120"/>
              </a:rPr>
              <a:t>AI가 정리해야 할 질문</a:t>
            </a:r>
            <a:endParaRPr lang="en-US" sz="1800" dirty="0"/>
          </a:p>
        </p:txBody>
      </p:sp>
      <p:sp>
        <p:nvSpPr>
          <p:cNvPr id="21" name="Text 19"/>
          <p:cNvSpPr txBox="1"/>
          <p:nvPr/>
        </p:nvSpPr>
        <p:spPr>
          <a:xfrm>
            <a:off x="6766560" y="2505456"/>
            <a:ext cx="4434840" cy="292608"/>
          </a:xfrm>
          <a:prstGeom prst="rect">
            <a:avLst/>
          </a:prstGeom>
          <a:noFill/>
          <a:ln/>
        </p:spPr>
        <p:txBody>
          <a:bodyPr wrap="square" lIns="0" tIns="0" rIns="0" bIns="0" rtlCol="0" anchor="t"/>
          <a:lstStyle/>
          <a:p>
            <a:pPr indent="0" marL="0">
              <a:buNone/>
            </a:pPr>
            <a:r>
              <a:rPr lang="en-US" sz="1700" dirty="0">
                <a:solidFill>
                  <a:srgbClr val="16273A"/>
                </a:solidFill>
                <a:latin typeface="함초롬돋움" pitchFamily="34" charset="0"/>
                <a:ea typeface="함초롬돋움" pitchFamily="34" charset="-122"/>
                <a:cs typeface="함초롬돋움" pitchFamily="34" charset="-120"/>
              </a:rPr>
              <a:t>무슨 변화가 발생했는가</a:t>
            </a:r>
            <a:endParaRPr lang="en-US" sz="1700" dirty="0"/>
          </a:p>
        </p:txBody>
      </p:sp>
      <p:sp>
        <p:nvSpPr>
          <p:cNvPr id="22" name="Text 20"/>
          <p:cNvSpPr txBox="1"/>
          <p:nvPr/>
        </p:nvSpPr>
        <p:spPr>
          <a:xfrm>
            <a:off x="6766560" y="2834640"/>
            <a:ext cx="4434840" cy="292608"/>
          </a:xfrm>
          <a:prstGeom prst="rect">
            <a:avLst/>
          </a:prstGeom>
          <a:noFill/>
          <a:ln/>
        </p:spPr>
        <p:txBody>
          <a:bodyPr wrap="square" lIns="0" tIns="0" rIns="0" bIns="0" rtlCol="0" anchor="t"/>
          <a:lstStyle/>
          <a:p>
            <a:pPr indent="0" marL="0">
              <a:buNone/>
            </a:pPr>
            <a:r>
              <a:rPr lang="en-US" sz="1700" dirty="0">
                <a:solidFill>
                  <a:srgbClr val="16273A"/>
                </a:solidFill>
                <a:latin typeface="함초롬돋움" pitchFamily="34" charset="0"/>
                <a:ea typeface="함초롬돋움" pitchFamily="34" charset="-122"/>
                <a:cs typeface="함초롬돋움" pitchFamily="34" charset="-120"/>
              </a:rPr>
              <a:t>왜 중요한가</a:t>
            </a:r>
            <a:endParaRPr lang="en-US" sz="1700" dirty="0"/>
          </a:p>
        </p:txBody>
      </p:sp>
      <p:sp>
        <p:nvSpPr>
          <p:cNvPr id="23" name="Text 21"/>
          <p:cNvSpPr txBox="1"/>
          <p:nvPr/>
        </p:nvSpPr>
        <p:spPr>
          <a:xfrm>
            <a:off x="6766560" y="3163824"/>
            <a:ext cx="4434840" cy="292608"/>
          </a:xfrm>
          <a:prstGeom prst="rect">
            <a:avLst/>
          </a:prstGeom>
          <a:noFill/>
          <a:ln/>
        </p:spPr>
        <p:txBody>
          <a:bodyPr wrap="square" lIns="0" tIns="0" rIns="0" bIns="0" rtlCol="0" anchor="t"/>
          <a:lstStyle/>
          <a:p>
            <a:pPr indent="0" marL="0">
              <a:buNone/>
            </a:pPr>
            <a:r>
              <a:rPr lang="en-US" sz="1700" dirty="0">
                <a:solidFill>
                  <a:srgbClr val="16273A"/>
                </a:solidFill>
                <a:latin typeface="함초롬돋움" pitchFamily="34" charset="0"/>
                <a:ea typeface="함초롬돋움" pitchFamily="34" charset="-122"/>
                <a:cs typeface="함초롬돋움" pitchFamily="34" charset="-120"/>
              </a:rPr>
              <a:t>회사에 어떤 영향을 줄 수 있는가</a:t>
            </a:r>
            <a:endParaRPr lang="en-US" sz="1700" dirty="0"/>
          </a:p>
        </p:txBody>
      </p:sp>
      <p:sp>
        <p:nvSpPr>
          <p:cNvPr id="24" name="Text 22"/>
          <p:cNvSpPr txBox="1"/>
          <p:nvPr/>
        </p:nvSpPr>
        <p:spPr>
          <a:xfrm>
            <a:off x="6766560" y="3493008"/>
            <a:ext cx="4434840" cy="292608"/>
          </a:xfrm>
          <a:prstGeom prst="rect">
            <a:avLst/>
          </a:prstGeom>
          <a:noFill/>
          <a:ln/>
        </p:spPr>
        <p:txBody>
          <a:bodyPr wrap="square" lIns="0" tIns="0" rIns="0" bIns="0" rtlCol="0" anchor="t"/>
          <a:lstStyle/>
          <a:p>
            <a:pPr indent="0" marL="0">
              <a:buNone/>
            </a:pPr>
            <a:r>
              <a:rPr lang="en-US" sz="1700" dirty="0">
                <a:solidFill>
                  <a:srgbClr val="16273A"/>
                </a:solidFill>
                <a:latin typeface="함초롬돋움" pitchFamily="34" charset="0"/>
                <a:ea typeface="함초롬돋움" pitchFamily="34" charset="-122"/>
                <a:cs typeface="함초롬돋움" pitchFamily="34" charset="-120"/>
              </a:rPr>
              <a:t>무엇을 추가로 확인해야 하는가</a:t>
            </a:r>
            <a:endParaRPr lang="en-US" sz="1700" dirty="0"/>
          </a:p>
        </p:txBody>
      </p:sp>
      <p:sp>
        <p:nvSpPr>
          <p:cNvPr id="25" name="Text 23"/>
          <p:cNvSpPr txBox="1"/>
          <p:nvPr/>
        </p:nvSpPr>
        <p:spPr>
          <a:xfrm>
            <a:off x="6766560" y="3822192"/>
            <a:ext cx="4434840" cy="292608"/>
          </a:xfrm>
          <a:prstGeom prst="rect">
            <a:avLst/>
          </a:prstGeom>
          <a:noFill/>
          <a:ln/>
        </p:spPr>
        <p:txBody>
          <a:bodyPr wrap="square" lIns="0" tIns="0" rIns="0" bIns="0" rtlCol="0" anchor="t"/>
          <a:lstStyle/>
          <a:p>
            <a:pPr indent="0" marL="0">
              <a:buNone/>
            </a:pPr>
            <a:r>
              <a:rPr lang="en-US" sz="1700" dirty="0">
                <a:solidFill>
                  <a:srgbClr val="16273A"/>
                </a:solidFill>
                <a:latin typeface="함초롬돋움" pitchFamily="34" charset="0"/>
                <a:ea typeface="함초롬돋움" pitchFamily="34" charset="-122"/>
                <a:cs typeface="함초롬돋움" pitchFamily="34" charset="-120"/>
              </a:rPr>
              <a:t>어떤 대응을 검토할 수 있는가</a:t>
            </a:r>
            <a:endParaRPr lang="en-US" sz="1700" dirty="0"/>
          </a:p>
        </p:txBody>
      </p:sp>
      <p:sp>
        <p:nvSpPr>
          <p:cNvPr id="26" name="Text 24"/>
          <p:cNvSpPr txBox="1"/>
          <p:nvPr/>
        </p:nvSpPr>
        <p:spPr>
          <a:xfrm>
            <a:off x="6766560" y="4151376"/>
            <a:ext cx="4434840" cy="292608"/>
          </a:xfrm>
          <a:prstGeom prst="rect">
            <a:avLst/>
          </a:prstGeom>
          <a:noFill/>
          <a:ln/>
        </p:spPr>
        <p:txBody>
          <a:bodyPr wrap="square" lIns="0" tIns="0" rIns="0" bIns="0" rtlCol="0" anchor="t"/>
          <a:lstStyle/>
          <a:p>
            <a:pPr indent="0" marL="0">
              <a:buNone/>
            </a:pPr>
            <a:r>
              <a:rPr lang="en-US" sz="1700" dirty="0">
                <a:solidFill>
                  <a:srgbClr val="16273A"/>
                </a:solidFill>
                <a:latin typeface="함초롬돋움" pitchFamily="34" charset="0"/>
                <a:ea typeface="함초롬돋움" pitchFamily="34" charset="-122"/>
                <a:cs typeface="함초롬돋움" pitchFamily="34" charset="-120"/>
              </a:rPr>
              <a:t>판단의 원문 근거는 무엇인가</a:t>
            </a:r>
            <a:endParaRPr lang="en-US" sz="1700" dirty="0"/>
          </a:p>
        </p:txBody>
      </p:sp>
      <p:sp>
        <p:nvSpPr>
          <p:cNvPr id="27" name="Shape 25"/>
          <p:cNvSpPr/>
          <p:nvPr/>
        </p:nvSpPr>
        <p:spPr>
          <a:xfrm>
            <a:off x="731520" y="4681728"/>
            <a:ext cx="10728655" cy="896112"/>
          </a:xfrm>
          <a:prstGeom prst="rect">
            <a:avLst/>
          </a:prstGeom>
          <a:solidFill>
            <a:srgbClr val="0B2545"/>
          </a:solidFill>
          <a:ln w="12700">
            <a:solidFill>
              <a:srgbClr val="333333"/>
            </a:solidFill>
            <a:prstDash val="solid"/>
          </a:ln>
        </p:spPr>
      </p:sp>
      <p:sp>
        <p:nvSpPr>
          <p:cNvPr id="28" name="Text 26"/>
          <p:cNvSpPr txBox="1"/>
          <p:nvPr/>
        </p:nvSpPr>
        <p:spPr>
          <a:xfrm>
            <a:off x="1060704" y="4919472"/>
            <a:ext cx="1554480" cy="292608"/>
          </a:xfrm>
          <a:prstGeom prst="rect">
            <a:avLst/>
          </a:prstGeom>
          <a:noFill/>
          <a:ln/>
        </p:spPr>
        <p:txBody>
          <a:bodyPr wrap="square" lIns="0" tIns="0" rIns="0" bIns="0" rtlCol="0" anchor="t"/>
          <a:lstStyle/>
          <a:p>
            <a:pPr indent="0" marL="0">
              <a:buNone/>
            </a:pPr>
            <a:r>
              <a:rPr lang="en-US" sz="1600" b="1" dirty="0">
                <a:solidFill>
                  <a:srgbClr val="4FD1BC"/>
                </a:solidFill>
                <a:latin typeface="함초롬돋움" pitchFamily="34" charset="0"/>
                <a:ea typeface="함초롬돋움" pitchFamily="34" charset="-122"/>
                <a:cs typeface="함초롬돋움" pitchFamily="34" charset="-120"/>
              </a:rPr>
              <a:t>핵심 가설</a:t>
            </a:r>
            <a:endParaRPr lang="en-US" sz="1600" dirty="0"/>
          </a:p>
        </p:txBody>
      </p:sp>
      <p:sp>
        <p:nvSpPr>
          <p:cNvPr id="29" name="Text 27"/>
          <p:cNvSpPr txBox="1"/>
          <p:nvPr/>
        </p:nvSpPr>
        <p:spPr>
          <a:xfrm>
            <a:off x="2688336" y="4864608"/>
            <a:ext cx="8503920" cy="566928"/>
          </a:xfrm>
          <a:prstGeom prst="rect">
            <a:avLst/>
          </a:prstGeom>
          <a:noFill/>
          <a:ln/>
        </p:spPr>
        <p:txBody>
          <a:bodyPr wrap="square" lIns="0" tIns="0" rIns="0" bIns="0" rtlCol="0" anchor="t"/>
          <a:lstStyle/>
          <a:p>
            <a:pPr indent="0" marL="0">
              <a:lnSpc>
                <a:spcPts val="2700"/>
              </a:lnSpc>
              <a:buNone/>
            </a:pPr>
            <a:r>
              <a:rPr lang="en-US" sz="1800" b="1" dirty="0">
                <a:solidFill>
                  <a:srgbClr val="FFFFFF"/>
                </a:solidFill>
                <a:latin typeface="함초롬돋움" pitchFamily="34" charset="0"/>
                <a:ea typeface="함초롬돋움" pitchFamily="34" charset="-122"/>
                <a:cs typeface="함초롬돋움" pitchFamily="34" charset="-120"/>
              </a:rPr>
              <a:t>자동으로 수집하고 AI가 중요도 · 사업 영향 · 대응 방향을 함께 제시하면, 경영진의 판단 시간을 줄일 수 있다.</a:t>
            </a:r>
            <a:endParaRPr lang="en-US" sz="1800" dirty="0"/>
          </a:p>
        </p:txBody>
      </p:sp>
      <p:sp>
        <p:nvSpPr>
          <p:cNvPr id="30" name="Shape 28"/>
          <p:cNvSpPr/>
          <p:nvPr/>
        </p:nvSpPr>
        <p:spPr>
          <a:xfrm>
            <a:off x="731520" y="5724144"/>
            <a:ext cx="2487168" cy="585216"/>
          </a:xfrm>
          <a:prstGeom prst="roundRect">
            <a:avLst>
              <a:gd name="adj" fmla="val 7813"/>
            </a:avLst>
          </a:prstGeom>
          <a:solidFill>
            <a:srgbClr val="FFFFFF"/>
          </a:solidFill>
          <a:ln w="12700">
            <a:solidFill>
              <a:srgbClr val="D2DEEA"/>
            </a:solidFill>
            <a:prstDash val="solid"/>
          </a:ln>
        </p:spPr>
      </p:sp>
      <p:sp>
        <p:nvSpPr>
          <p:cNvPr id="31" name="Text 29"/>
          <p:cNvSpPr txBox="1"/>
          <p:nvPr/>
        </p:nvSpPr>
        <p:spPr>
          <a:xfrm>
            <a:off x="822960" y="5888736"/>
            <a:ext cx="2304288" cy="274320"/>
          </a:xfrm>
          <a:prstGeom prst="rect">
            <a:avLst/>
          </a:prstGeom>
          <a:noFill/>
          <a:ln/>
        </p:spPr>
        <p:txBody>
          <a:bodyPr wrap="square" lIns="0" tIns="0" rIns="0" bIns="0" rtlCol="0" anchor="t"/>
          <a:lstStyle/>
          <a:p>
            <a:pPr algn="ctr" indent="0" marL="0">
              <a:buNone/>
            </a:pPr>
            <a:r>
              <a:rPr lang="en-US" sz="1700" b="1" dirty="0">
                <a:solidFill>
                  <a:srgbClr val="143A63"/>
                </a:solidFill>
                <a:latin typeface="함초롬돋움" pitchFamily="34" charset="0"/>
                <a:ea typeface="함초롬돋움" pitchFamily="34" charset="-122"/>
                <a:cs typeface="함초롬돋움" pitchFamily="34" charset="-120"/>
              </a:rPr>
              <a:t>정보 수집</a:t>
            </a:r>
            <a:endParaRPr lang="en-US" sz="1700" dirty="0"/>
          </a:p>
        </p:txBody>
      </p:sp>
      <p:sp>
        <p:nvSpPr>
          <p:cNvPr id="32" name="Shape 30"/>
          <p:cNvSpPr/>
          <p:nvPr/>
        </p:nvSpPr>
        <p:spPr>
          <a:xfrm>
            <a:off x="3218688" y="6016752"/>
            <a:ext cx="256032" cy="0"/>
          </a:xfrm>
          <a:prstGeom prst="line">
            <a:avLst/>
          </a:prstGeom>
          <a:noFill/>
          <a:ln w="19050">
            <a:solidFill>
              <a:srgbClr val="6BA6DE"/>
            </a:solidFill>
            <a:prstDash val="solid"/>
          </a:ln>
        </p:spPr>
      </p:sp>
      <p:sp>
        <p:nvSpPr>
          <p:cNvPr id="33" name="Shape 31"/>
          <p:cNvSpPr/>
          <p:nvPr/>
        </p:nvSpPr>
        <p:spPr>
          <a:xfrm>
            <a:off x="3474720" y="5724144"/>
            <a:ext cx="2487168" cy="585216"/>
          </a:xfrm>
          <a:prstGeom prst="roundRect">
            <a:avLst>
              <a:gd name="adj" fmla="val 7813"/>
            </a:avLst>
          </a:prstGeom>
          <a:solidFill>
            <a:srgbClr val="FFFFFF"/>
          </a:solidFill>
          <a:ln w="12700">
            <a:solidFill>
              <a:srgbClr val="D2DEEA"/>
            </a:solidFill>
            <a:prstDash val="solid"/>
          </a:ln>
        </p:spPr>
      </p:sp>
      <p:sp>
        <p:nvSpPr>
          <p:cNvPr id="34" name="Text 32"/>
          <p:cNvSpPr txBox="1"/>
          <p:nvPr/>
        </p:nvSpPr>
        <p:spPr>
          <a:xfrm>
            <a:off x="3566160" y="5888736"/>
            <a:ext cx="2304288" cy="274320"/>
          </a:xfrm>
          <a:prstGeom prst="rect">
            <a:avLst/>
          </a:prstGeom>
          <a:noFill/>
          <a:ln/>
        </p:spPr>
        <p:txBody>
          <a:bodyPr wrap="square" lIns="0" tIns="0" rIns="0" bIns="0" rtlCol="0" anchor="t"/>
          <a:lstStyle/>
          <a:p>
            <a:pPr algn="ctr" indent="0" marL="0">
              <a:buNone/>
            </a:pPr>
            <a:r>
              <a:rPr lang="en-US" sz="1700" b="1" dirty="0">
                <a:solidFill>
                  <a:srgbClr val="143A63"/>
                </a:solidFill>
                <a:latin typeface="함초롬돋움" pitchFamily="34" charset="0"/>
                <a:ea typeface="함초롬돋움" pitchFamily="34" charset="-122"/>
                <a:cs typeface="함초롬돋움" pitchFamily="34" charset="-120"/>
              </a:rPr>
              <a:t>중요 신호 식별</a:t>
            </a:r>
            <a:endParaRPr lang="en-US" sz="1700" dirty="0"/>
          </a:p>
        </p:txBody>
      </p:sp>
      <p:sp>
        <p:nvSpPr>
          <p:cNvPr id="35" name="Shape 33"/>
          <p:cNvSpPr/>
          <p:nvPr/>
        </p:nvSpPr>
        <p:spPr>
          <a:xfrm>
            <a:off x="5961888" y="6016752"/>
            <a:ext cx="256032" cy="0"/>
          </a:xfrm>
          <a:prstGeom prst="line">
            <a:avLst/>
          </a:prstGeom>
          <a:noFill/>
          <a:ln w="19050">
            <a:solidFill>
              <a:srgbClr val="6BA6DE"/>
            </a:solidFill>
            <a:prstDash val="solid"/>
          </a:ln>
        </p:spPr>
      </p:sp>
      <p:sp>
        <p:nvSpPr>
          <p:cNvPr id="36" name="Shape 34"/>
          <p:cNvSpPr/>
          <p:nvPr/>
        </p:nvSpPr>
        <p:spPr>
          <a:xfrm>
            <a:off x="6217920" y="5724144"/>
            <a:ext cx="2487168" cy="585216"/>
          </a:xfrm>
          <a:prstGeom prst="roundRect">
            <a:avLst>
              <a:gd name="adj" fmla="val 7813"/>
            </a:avLst>
          </a:prstGeom>
          <a:solidFill>
            <a:srgbClr val="FFFFFF"/>
          </a:solidFill>
          <a:ln w="12700">
            <a:solidFill>
              <a:srgbClr val="D2DEEA"/>
            </a:solidFill>
            <a:prstDash val="solid"/>
          </a:ln>
        </p:spPr>
      </p:sp>
      <p:sp>
        <p:nvSpPr>
          <p:cNvPr id="37" name="Text 35"/>
          <p:cNvSpPr txBox="1"/>
          <p:nvPr/>
        </p:nvSpPr>
        <p:spPr>
          <a:xfrm>
            <a:off x="6309360" y="5888736"/>
            <a:ext cx="2304288" cy="274320"/>
          </a:xfrm>
          <a:prstGeom prst="rect">
            <a:avLst/>
          </a:prstGeom>
          <a:noFill/>
          <a:ln/>
        </p:spPr>
        <p:txBody>
          <a:bodyPr wrap="square" lIns="0" tIns="0" rIns="0" bIns="0" rtlCol="0" anchor="t"/>
          <a:lstStyle/>
          <a:p>
            <a:pPr algn="ctr" indent="0" marL="0">
              <a:buNone/>
            </a:pPr>
            <a:r>
              <a:rPr lang="en-US" sz="1700" b="1" dirty="0">
                <a:solidFill>
                  <a:srgbClr val="143A63"/>
                </a:solidFill>
                <a:latin typeface="함초롬돋움" pitchFamily="34" charset="0"/>
                <a:ea typeface="함초롬돋움" pitchFamily="34" charset="-122"/>
                <a:cs typeface="함초롬돋움" pitchFamily="34" charset="-120"/>
              </a:rPr>
              <a:t>임플리케이션 도출</a:t>
            </a:r>
            <a:endParaRPr lang="en-US" sz="1700" dirty="0"/>
          </a:p>
        </p:txBody>
      </p:sp>
      <p:sp>
        <p:nvSpPr>
          <p:cNvPr id="38" name="Shape 36"/>
          <p:cNvSpPr/>
          <p:nvPr/>
        </p:nvSpPr>
        <p:spPr>
          <a:xfrm>
            <a:off x="8705088" y="6016752"/>
            <a:ext cx="256032" cy="0"/>
          </a:xfrm>
          <a:prstGeom prst="line">
            <a:avLst/>
          </a:prstGeom>
          <a:noFill/>
          <a:ln w="19050">
            <a:solidFill>
              <a:srgbClr val="6BA6DE"/>
            </a:solidFill>
            <a:prstDash val="solid"/>
          </a:ln>
        </p:spPr>
      </p:sp>
      <p:sp>
        <p:nvSpPr>
          <p:cNvPr id="39" name="Shape 37"/>
          <p:cNvSpPr/>
          <p:nvPr/>
        </p:nvSpPr>
        <p:spPr>
          <a:xfrm>
            <a:off x="8961120" y="5724144"/>
            <a:ext cx="2487168" cy="585216"/>
          </a:xfrm>
          <a:prstGeom prst="roundRect">
            <a:avLst>
              <a:gd name="adj" fmla="val 7813"/>
            </a:avLst>
          </a:prstGeom>
          <a:solidFill>
            <a:srgbClr val="E4F4F1"/>
          </a:solidFill>
          <a:ln w="12700">
            <a:solidFill>
              <a:srgbClr val="00A88F"/>
            </a:solidFill>
            <a:prstDash val="solid"/>
          </a:ln>
        </p:spPr>
      </p:sp>
      <p:sp>
        <p:nvSpPr>
          <p:cNvPr id="40" name="Text 38"/>
          <p:cNvSpPr txBox="1"/>
          <p:nvPr/>
        </p:nvSpPr>
        <p:spPr>
          <a:xfrm>
            <a:off x="9052560" y="5888736"/>
            <a:ext cx="2304288" cy="274320"/>
          </a:xfrm>
          <a:prstGeom prst="rect">
            <a:avLst/>
          </a:prstGeom>
          <a:noFill/>
          <a:ln/>
        </p:spPr>
        <p:txBody>
          <a:bodyPr wrap="square" lIns="0" tIns="0" rIns="0" bIns="0" rtlCol="0" anchor="t"/>
          <a:lstStyle/>
          <a:p>
            <a:pPr algn="ctr" indent="0" marL="0">
              <a:buNone/>
            </a:pPr>
            <a:r>
              <a:rPr lang="en-US" sz="1700" b="1" dirty="0">
                <a:solidFill>
                  <a:srgbClr val="00A88F"/>
                </a:solidFill>
                <a:latin typeface="함초롬돋움" pitchFamily="34" charset="0"/>
                <a:ea typeface="함초롬돋움" pitchFamily="34" charset="-122"/>
                <a:cs typeface="함초롬돋움" pitchFamily="34" charset="-120"/>
              </a:rPr>
              <a:t>경영진 판단 지원</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indent="0" marL="0">
              <a:buNone/>
            </a:pPr>
            <a:r>
              <a:rPr lang="en-US" sz="3200" b="1" dirty="0">
                <a:solidFill>
                  <a:srgbClr val="0B2545"/>
                </a:solidFill>
                <a:latin typeface="함초롬돋움" pitchFamily="34" charset="0"/>
                <a:ea typeface="함초롬돋움" pitchFamily="34" charset="-122"/>
                <a:cs typeface="함초롬돋움" pitchFamily="34" charset="-120"/>
              </a:rPr>
              <a:t>FUTURE:M RADAR 시스템 구성</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indent="0" marL="0">
              <a:buNone/>
            </a:pPr>
            <a:r>
              <a:rPr lang="en-US" sz="1800" dirty="0">
                <a:solidFill>
                  <a:srgbClr val="5A6B7C"/>
                </a:solidFill>
                <a:latin typeface="함초롬돋움" pitchFamily="34" charset="0"/>
                <a:ea typeface="함초롬돋움" pitchFamily="34" charset="-122"/>
                <a:cs typeface="함초롬돋움" pitchFamily="34" charset="-120"/>
              </a:rPr>
              <a:t>분산된 산업 데이터를 하나의 판단 흐름으로 연결했습니다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algn="r" indent="0" marL="0">
              <a:buNone/>
            </a:pPr>
            <a:r>
              <a:rPr lang="en-US" sz="1300" dirty="0">
                <a:solidFill>
                  <a:srgbClr val="8B9BAA"/>
                </a:solidFill>
                <a:latin typeface="함초롬돋움" pitchFamily="34" charset="0"/>
                <a:ea typeface="함초롬돋움" pitchFamily="34" charset="-122"/>
                <a:cs typeface="함초롬돋움" pitchFamily="34" charset="-120"/>
              </a:rPr>
              <a:t>05</a:t>
            </a:r>
            <a:endParaRPr lang="en-US" sz="1300" dirty="0"/>
          </a:p>
        </p:txBody>
      </p:sp>
      <p:sp>
        <p:nvSpPr>
          <p:cNvPr id="6" name="Shape 4"/>
          <p:cNvSpPr/>
          <p:nvPr/>
        </p:nvSpPr>
        <p:spPr>
          <a:xfrm>
            <a:off x="731520" y="1938528"/>
            <a:ext cx="3328416" cy="2743200"/>
          </a:xfrm>
          <a:prstGeom prst="roundRect">
            <a:avLst>
              <a:gd name="adj" fmla="val 1667"/>
            </a:avLst>
          </a:prstGeom>
          <a:solidFill>
            <a:srgbClr val="FFFFFF"/>
          </a:solidFill>
          <a:ln w="12700">
            <a:solidFill>
              <a:srgbClr val="D2DEEA"/>
            </a:solidFill>
            <a:prstDash val="solid"/>
          </a:ln>
        </p:spPr>
      </p:sp>
      <p:sp>
        <p:nvSpPr>
          <p:cNvPr id="7" name="Text 5"/>
          <p:cNvSpPr txBox="1"/>
          <p:nvPr/>
        </p:nvSpPr>
        <p:spPr>
          <a:xfrm>
            <a:off x="969264" y="2139696"/>
            <a:ext cx="2871216" cy="310896"/>
          </a:xfrm>
          <a:prstGeom prst="rect">
            <a:avLst/>
          </a:prstGeom>
          <a:noFill/>
          <a:ln/>
        </p:spPr>
        <p:txBody>
          <a:bodyPr wrap="square" lIns="0" tIns="0" rIns="0" bIns="0" rtlCol="0" anchor="t"/>
          <a:lstStyle/>
          <a:p>
            <a:pPr indent="0" marL="0">
              <a:buNone/>
            </a:pPr>
            <a:r>
              <a:rPr lang="en-US" sz="2000" b="1" dirty="0">
                <a:solidFill>
                  <a:srgbClr val="0B2545"/>
                </a:solidFill>
                <a:latin typeface="함초롬돋움" pitchFamily="34" charset="0"/>
                <a:ea typeface="함초롬돋움" pitchFamily="34" charset="-122"/>
                <a:cs typeface="함초롬돋움" pitchFamily="34" charset="-120"/>
              </a:rPr>
              <a:t>데이터 수집</a:t>
            </a:r>
            <a:endParaRPr lang="en-US" sz="2000" dirty="0"/>
          </a:p>
        </p:txBody>
      </p:sp>
      <p:sp>
        <p:nvSpPr>
          <p:cNvPr id="8" name="Shape 6"/>
          <p:cNvSpPr/>
          <p:nvPr/>
        </p:nvSpPr>
        <p:spPr>
          <a:xfrm>
            <a:off x="969264" y="2523744"/>
            <a:ext cx="2852928" cy="16459"/>
          </a:xfrm>
          <a:prstGeom prst="rect">
            <a:avLst/>
          </a:prstGeom>
          <a:solidFill>
            <a:srgbClr val="D2DEEA"/>
          </a:solidFill>
          <a:ln w="12700">
            <a:solidFill>
              <a:srgbClr val="D2DEEA"/>
            </a:solidFill>
            <a:prstDash val="solid"/>
          </a:ln>
        </p:spPr>
      </p:sp>
      <p:sp>
        <p:nvSpPr>
          <p:cNvPr id="9" name="Shape 7"/>
          <p:cNvSpPr/>
          <p:nvPr/>
        </p:nvSpPr>
        <p:spPr>
          <a:xfrm>
            <a:off x="969264" y="2761488"/>
            <a:ext cx="91440" cy="91440"/>
          </a:xfrm>
          <a:prstGeom prst="ellipse">
            <a:avLst/>
          </a:prstGeom>
          <a:solidFill>
            <a:srgbClr val="00A88F"/>
          </a:solidFill>
          <a:ln w="12700">
            <a:solidFill>
              <a:srgbClr val="00A88F"/>
            </a:solidFill>
            <a:prstDash val="solid"/>
          </a:ln>
        </p:spPr>
      </p:sp>
      <p:sp>
        <p:nvSpPr>
          <p:cNvPr id="10" name="Text 8"/>
          <p:cNvSpPr txBox="1"/>
          <p:nvPr/>
        </p:nvSpPr>
        <p:spPr>
          <a:xfrm>
            <a:off x="1170432" y="2670048"/>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16273A"/>
                </a:solidFill>
                <a:latin typeface="함초롬돋움" pitchFamily="34" charset="0"/>
                <a:ea typeface="함초롬돋움" pitchFamily="34" charset="-122"/>
                <a:cs typeface="함초롬돋움" pitchFamily="34" charset="-120"/>
              </a:rPr>
              <a:t>DART 공시 · 재무정보</a:t>
            </a:r>
            <a:endParaRPr lang="en-US" sz="1500" dirty="0"/>
          </a:p>
        </p:txBody>
      </p:sp>
      <p:sp>
        <p:nvSpPr>
          <p:cNvPr id="11" name="Shape 9"/>
          <p:cNvSpPr/>
          <p:nvPr/>
        </p:nvSpPr>
        <p:spPr>
          <a:xfrm>
            <a:off x="969264" y="3145536"/>
            <a:ext cx="91440" cy="91440"/>
          </a:xfrm>
          <a:prstGeom prst="ellipse">
            <a:avLst/>
          </a:prstGeom>
          <a:solidFill>
            <a:srgbClr val="00A88F"/>
          </a:solidFill>
          <a:ln w="12700">
            <a:solidFill>
              <a:srgbClr val="00A88F"/>
            </a:solidFill>
            <a:prstDash val="solid"/>
          </a:ln>
        </p:spPr>
      </p:sp>
      <p:sp>
        <p:nvSpPr>
          <p:cNvPr id="12" name="Text 10"/>
          <p:cNvSpPr txBox="1"/>
          <p:nvPr/>
        </p:nvSpPr>
        <p:spPr>
          <a:xfrm>
            <a:off x="1170432" y="3054096"/>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16273A"/>
                </a:solidFill>
                <a:latin typeface="함초롬돋움" pitchFamily="34" charset="0"/>
                <a:ea typeface="함초롬돋움" pitchFamily="34" charset="-122"/>
                <a:cs typeface="함초롬돋움" pitchFamily="34" charset="-120"/>
              </a:rPr>
              <a:t>산업 · 기업 뉴스</a:t>
            </a:r>
            <a:endParaRPr lang="en-US" sz="1500" dirty="0"/>
          </a:p>
        </p:txBody>
      </p:sp>
      <p:sp>
        <p:nvSpPr>
          <p:cNvPr id="13" name="Shape 11"/>
          <p:cNvSpPr/>
          <p:nvPr/>
        </p:nvSpPr>
        <p:spPr>
          <a:xfrm>
            <a:off x="969264" y="3529584"/>
            <a:ext cx="91440" cy="91440"/>
          </a:xfrm>
          <a:prstGeom prst="ellipse">
            <a:avLst/>
          </a:prstGeom>
          <a:solidFill>
            <a:srgbClr val="00A88F"/>
          </a:solidFill>
          <a:ln w="12700">
            <a:solidFill>
              <a:srgbClr val="00A88F"/>
            </a:solidFill>
            <a:prstDash val="solid"/>
          </a:ln>
        </p:spPr>
      </p:sp>
      <p:sp>
        <p:nvSpPr>
          <p:cNvPr id="14" name="Text 12"/>
          <p:cNvSpPr txBox="1"/>
          <p:nvPr/>
        </p:nvSpPr>
        <p:spPr>
          <a:xfrm>
            <a:off x="1170432" y="3438144"/>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16273A"/>
                </a:solidFill>
                <a:latin typeface="함초롬돋움" pitchFamily="34" charset="0"/>
                <a:ea typeface="함초롬돋움" pitchFamily="34" charset="-122"/>
                <a:cs typeface="함초롬돋움" pitchFamily="34" charset="-120"/>
              </a:rPr>
              <a:t>주가 정보</a:t>
            </a:r>
            <a:endParaRPr lang="en-US" sz="1500" dirty="0"/>
          </a:p>
        </p:txBody>
      </p:sp>
      <p:sp>
        <p:nvSpPr>
          <p:cNvPr id="15" name="Shape 13"/>
          <p:cNvSpPr/>
          <p:nvPr/>
        </p:nvSpPr>
        <p:spPr>
          <a:xfrm>
            <a:off x="969264" y="3913632"/>
            <a:ext cx="91440" cy="91440"/>
          </a:xfrm>
          <a:prstGeom prst="ellipse">
            <a:avLst/>
          </a:prstGeom>
          <a:solidFill>
            <a:srgbClr val="00A88F"/>
          </a:solidFill>
          <a:ln w="12700">
            <a:solidFill>
              <a:srgbClr val="00A88F"/>
            </a:solidFill>
            <a:prstDash val="solid"/>
          </a:ln>
        </p:spPr>
      </p:sp>
      <p:sp>
        <p:nvSpPr>
          <p:cNvPr id="16" name="Text 14"/>
          <p:cNvSpPr txBox="1"/>
          <p:nvPr/>
        </p:nvSpPr>
        <p:spPr>
          <a:xfrm>
            <a:off x="1170432" y="3822192"/>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16273A"/>
                </a:solidFill>
                <a:latin typeface="함초롬돋움" pitchFamily="34" charset="0"/>
                <a:ea typeface="함초롬돋움" pitchFamily="34" charset="-122"/>
                <a:cs typeface="함초롬돋움" pitchFamily="34" charset="-120"/>
              </a:rPr>
              <a:t>리튬 · 니켈 · 코발트 · 망간</a:t>
            </a:r>
            <a:endParaRPr lang="en-US" sz="1500" dirty="0"/>
          </a:p>
        </p:txBody>
      </p:sp>
      <p:sp>
        <p:nvSpPr>
          <p:cNvPr id="17" name="Shape 15"/>
          <p:cNvSpPr/>
          <p:nvPr/>
        </p:nvSpPr>
        <p:spPr>
          <a:xfrm>
            <a:off x="969264" y="4297680"/>
            <a:ext cx="91440" cy="91440"/>
          </a:xfrm>
          <a:prstGeom prst="ellipse">
            <a:avLst/>
          </a:prstGeom>
          <a:solidFill>
            <a:srgbClr val="00A88F"/>
          </a:solidFill>
          <a:ln w="12700">
            <a:solidFill>
              <a:srgbClr val="00A88F"/>
            </a:solidFill>
            <a:prstDash val="solid"/>
          </a:ln>
        </p:spPr>
      </p:sp>
      <p:sp>
        <p:nvSpPr>
          <p:cNvPr id="18" name="Text 16"/>
          <p:cNvSpPr txBox="1"/>
          <p:nvPr/>
        </p:nvSpPr>
        <p:spPr>
          <a:xfrm>
            <a:off x="1170432" y="4206240"/>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16273A"/>
                </a:solidFill>
                <a:latin typeface="함초롬돋움" pitchFamily="34" charset="0"/>
                <a:ea typeface="함초롬돋움" pitchFamily="34" charset="-122"/>
                <a:cs typeface="함초롬돋움" pitchFamily="34" charset="-120"/>
              </a:rPr>
              <a:t>원 · 달러 환율</a:t>
            </a:r>
            <a:endParaRPr lang="en-US" sz="1500" dirty="0"/>
          </a:p>
        </p:txBody>
      </p:sp>
      <p:sp>
        <p:nvSpPr>
          <p:cNvPr id="19" name="Shape 17"/>
          <p:cNvSpPr/>
          <p:nvPr/>
        </p:nvSpPr>
        <p:spPr>
          <a:xfrm>
            <a:off x="4059936" y="3310128"/>
            <a:ext cx="384048" cy="0"/>
          </a:xfrm>
          <a:prstGeom prst="line">
            <a:avLst/>
          </a:prstGeom>
          <a:noFill/>
          <a:ln w="19050">
            <a:solidFill>
              <a:srgbClr val="6BA6DE"/>
            </a:solidFill>
            <a:prstDash val="solid"/>
          </a:ln>
        </p:spPr>
      </p:sp>
      <p:sp>
        <p:nvSpPr>
          <p:cNvPr id="20" name="Shape 18"/>
          <p:cNvSpPr/>
          <p:nvPr/>
        </p:nvSpPr>
        <p:spPr>
          <a:xfrm>
            <a:off x="4443984" y="1938528"/>
            <a:ext cx="3328416" cy="2743200"/>
          </a:xfrm>
          <a:prstGeom prst="roundRect">
            <a:avLst>
              <a:gd name="adj" fmla="val 1667"/>
            </a:avLst>
          </a:prstGeom>
          <a:solidFill>
            <a:srgbClr val="0B2545"/>
          </a:solidFill>
          <a:ln w="12700">
            <a:solidFill>
              <a:srgbClr val="333333"/>
            </a:solidFill>
            <a:prstDash val="solid"/>
          </a:ln>
        </p:spPr>
      </p:sp>
      <p:sp>
        <p:nvSpPr>
          <p:cNvPr id="21" name="Text 19"/>
          <p:cNvSpPr txBox="1"/>
          <p:nvPr/>
        </p:nvSpPr>
        <p:spPr>
          <a:xfrm>
            <a:off x="4681728" y="2139696"/>
            <a:ext cx="2871216" cy="310896"/>
          </a:xfrm>
          <a:prstGeom prst="rect">
            <a:avLst/>
          </a:prstGeom>
          <a:noFill/>
          <a:ln/>
        </p:spPr>
        <p:txBody>
          <a:bodyPr wrap="square" lIns="0" tIns="0" rIns="0" bIns="0" rtlCol="0" anchor="t"/>
          <a:lstStyle/>
          <a:p>
            <a:pPr indent="0" marL="0">
              <a:buNone/>
            </a:pPr>
            <a:r>
              <a:rPr lang="en-US" sz="2000" b="1" dirty="0">
                <a:solidFill>
                  <a:srgbClr val="FFFFFF"/>
                </a:solidFill>
                <a:latin typeface="함초롬돋움" pitchFamily="34" charset="0"/>
                <a:ea typeface="함초롬돋움" pitchFamily="34" charset="-122"/>
                <a:cs typeface="함초롬돋움" pitchFamily="34" charset="-120"/>
              </a:rPr>
              <a:t>분석 및 저장</a:t>
            </a:r>
            <a:endParaRPr lang="en-US" sz="2000" dirty="0"/>
          </a:p>
        </p:txBody>
      </p:sp>
      <p:sp>
        <p:nvSpPr>
          <p:cNvPr id="22" name="Shape 20"/>
          <p:cNvSpPr/>
          <p:nvPr/>
        </p:nvSpPr>
        <p:spPr>
          <a:xfrm>
            <a:off x="4681728" y="2523744"/>
            <a:ext cx="2852928" cy="16459"/>
          </a:xfrm>
          <a:prstGeom prst="rect">
            <a:avLst/>
          </a:prstGeom>
          <a:solidFill>
            <a:srgbClr val="1E5286"/>
          </a:solidFill>
          <a:ln w="12700">
            <a:solidFill>
              <a:srgbClr val="1E5286"/>
            </a:solidFill>
            <a:prstDash val="solid"/>
          </a:ln>
        </p:spPr>
      </p:sp>
      <p:sp>
        <p:nvSpPr>
          <p:cNvPr id="23" name="Shape 21"/>
          <p:cNvSpPr/>
          <p:nvPr/>
        </p:nvSpPr>
        <p:spPr>
          <a:xfrm>
            <a:off x="4681728" y="2761488"/>
            <a:ext cx="91440" cy="91440"/>
          </a:xfrm>
          <a:prstGeom prst="ellipse">
            <a:avLst/>
          </a:prstGeom>
          <a:solidFill>
            <a:srgbClr val="4FD1BC"/>
          </a:solidFill>
          <a:ln w="12700">
            <a:solidFill>
              <a:srgbClr val="4FD1BC"/>
            </a:solidFill>
            <a:prstDash val="solid"/>
          </a:ln>
        </p:spPr>
      </p:sp>
      <p:sp>
        <p:nvSpPr>
          <p:cNvPr id="24" name="Text 22"/>
          <p:cNvSpPr txBox="1"/>
          <p:nvPr/>
        </p:nvSpPr>
        <p:spPr>
          <a:xfrm>
            <a:off x="4882896" y="2670048"/>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A8C0D6"/>
                </a:solidFill>
                <a:latin typeface="함초롬돋움" pitchFamily="34" charset="0"/>
                <a:ea typeface="함초롬돋움" pitchFamily="34" charset="-122"/>
                <a:cs typeface="함초롬돋움" pitchFamily="34" charset="-120"/>
              </a:rPr>
              <a:t>수집 데이터 형식 통일</a:t>
            </a:r>
            <a:endParaRPr lang="en-US" sz="1500" dirty="0"/>
          </a:p>
        </p:txBody>
      </p:sp>
      <p:sp>
        <p:nvSpPr>
          <p:cNvPr id="25" name="Shape 23"/>
          <p:cNvSpPr/>
          <p:nvPr/>
        </p:nvSpPr>
        <p:spPr>
          <a:xfrm>
            <a:off x="4681728" y="3145536"/>
            <a:ext cx="91440" cy="91440"/>
          </a:xfrm>
          <a:prstGeom prst="ellipse">
            <a:avLst/>
          </a:prstGeom>
          <a:solidFill>
            <a:srgbClr val="4FD1BC"/>
          </a:solidFill>
          <a:ln w="12700">
            <a:solidFill>
              <a:srgbClr val="4FD1BC"/>
            </a:solidFill>
            <a:prstDash val="solid"/>
          </a:ln>
        </p:spPr>
      </p:sp>
      <p:sp>
        <p:nvSpPr>
          <p:cNvPr id="26" name="Text 24"/>
          <p:cNvSpPr txBox="1"/>
          <p:nvPr/>
        </p:nvSpPr>
        <p:spPr>
          <a:xfrm>
            <a:off x="4882896" y="3054096"/>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A8C0D6"/>
                </a:solidFill>
                <a:latin typeface="함초롬돋움" pitchFamily="34" charset="0"/>
                <a:ea typeface="함초롬돋움" pitchFamily="34" charset="-122"/>
                <a:cs typeface="함초롬돋움" pitchFamily="34" charset="-120"/>
              </a:rPr>
              <a:t>기업 · 주제별 분류</a:t>
            </a:r>
            <a:endParaRPr lang="en-US" sz="1500" dirty="0"/>
          </a:p>
        </p:txBody>
      </p:sp>
      <p:sp>
        <p:nvSpPr>
          <p:cNvPr id="27" name="Shape 25"/>
          <p:cNvSpPr/>
          <p:nvPr/>
        </p:nvSpPr>
        <p:spPr>
          <a:xfrm>
            <a:off x="4681728" y="3529584"/>
            <a:ext cx="91440" cy="91440"/>
          </a:xfrm>
          <a:prstGeom prst="ellipse">
            <a:avLst/>
          </a:prstGeom>
          <a:solidFill>
            <a:srgbClr val="4FD1BC"/>
          </a:solidFill>
          <a:ln w="12700">
            <a:solidFill>
              <a:srgbClr val="4FD1BC"/>
            </a:solidFill>
            <a:prstDash val="solid"/>
          </a:ln>
        </p:spPr>
      </p:sp>
      <p:sp>
        <p:nvSpPr>
          <p:cNvPr id="28" name="Text 26"/>
          <p:cNvSpPr txBox="1"/>
          <p:nvPr/>
        </p:nvSpPr>
        <p:spPr>
          <a:xfrm>
            <a:off x="4882896" y="3438144"/>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A8C0D6"/>
                </a:solidFill>
                <a:latin typeface="함초롬돋움" pitchFamily="34" charset="0"/>
                <a:ea typeface="함초롬돋움" pitchFamily="34" charset="-122"/>
                <a:cs typeface="함초롬돋움" pitchFamily="34" charset="-120"/>
              </a:rPr>
              <a:t>중요도와 위험 · 기회 분석</a:t>
            </a:r>
            <a:endParaRPr lang="en-US" sz="1500" dirty="0"/>
          </a:p>
        </p:txBody>
      </p:sp>
      <p:sp>
        <p:nvSpPr>
          <p:cNvPr id="29" name="Shape 27"/>
          <p:cNvSpPr/>
          <p:nvPr/>
        </p:nvSpPr>
        <p:spPr>
          <a:xfrm>
            <a:off x="4681728" y="3913632"/>
            <a:ext cx="91440" cy="91440"/>
          </a:xfrm>
          <a:prstGeom prst="ellipse">
            <a:avLst/>
          </a:prstGeom>
          <a:solidFill>
            <a:srgbClr val="4FD1BC"/>
          </a:solidFill>
          <a:ln w="12700">
            <a:solidFill>
              <a:srgbClr val="4FD1BC"/>
            </a:solidFill>
            <a:prstDash val="solid"/>
          </a:ln>
        </p:spPr>
      </p:sp>
      <p:sp>
        <p:nvSpPr>
          <p:cNvPr id="30" name="Text 28"/>
          <p:cNvSpPr txBox="1"/>
          <p:nvPr/>
        </p:nvSpPr>
        <p:spPr>
          <a:xfrm>
            <a:off x="4882896" y="3822192"/>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A8C0D6"/>
                </a:solidFill>
                <a:latin typeface="함초롬돋움" pitchFamily="34" charset="0"/>
                <a:ea typeface="함초롬돋움" pitchFamily="34" charset="-122"/>
                <a:cs typeface="함초롬돋움" pitchFamily="34" charset="-120"/>
              </a:rPr>
              <a:t>AI 브리핑과 임플리케이션 생성</a:t>
            </a:r>
            <a:endParaRPr lang="en-US" sz="1500" dirty="0"/>
          </a:p>
        </p:txBody>
      </p:sp>
      <p:sp>
        <p:nvSpPr>
          <p:cNvPr id="31" name="Shape 29"/>
          <p:cNvSpPr/>
          <p:nvPr/>
        </p:nvSpPr>
        <p:spPr>
          <a:xfrm>
            <a:off x="4681728" y="4297680"/>
            <a:ext cx="91440" cy="91440"/>
          </a:xfrm>
          <a:prstGeom prst="ellipse">
            <a:avLst/>
          </a:prstGeom>
          <a:solidFill>
            <a:srgbClr val="4FD1BC"/>
          </a:solidFill>
          <a:ln w="12700">
            <a:solidFill>
              <a:srgbClr val="4FD1BC"/>
            </a:solidFill>
            <a:prstDash val="solid"/>
          </a:ln>
        </p:spPr>
      </p:sp>
      <p:sp>
        <p:nvSpPr>
          <p:cNvPr id="32" name="Text 30"/>
          <p:cNvSpPr txBox="1"/>
          <p:nvPr/>
        </p:nvSpPr>
        <p:spPr>
          <a:xfrm>
            <a:off x="4882896" y="4206240"/>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A8C0D6"/>
                </a:solidFill>
                <a:latin typeface="함초롬돋움" pitchFamily="34" charset="0"/>
                <a:ea typeface="함초롬돋움" pitchFamily="34" charset="-122"/>
                <a:cs typeface="함초롬돋움" pitchFamily="34" charset="-120"/>
              </a:rPr>
              <a:t>가격 이력 · 알림 이력 저장</a:t>
            </a:r>
            <a:endParaRPr lang="en-US" sz="1500" dirty="0"/>
          </a:p>
        </p:txBody>
      </p:sp>
      <p:sp>
        <p:nvSpPr>
          <p:cNvPr id="33" name="Shape 31"/>
          <p:cNvSpPr/>
          <p:nvPr/>
        </p:nvSpPr>
        <p:spPr>
          <a:xfrm>
            <a:off x="7772400" y="3310128"/>
            <a:ext cx="384048" cy="0"/>
          </a:xfrm>
          <a:prstGeom prst="line">
            <a:avLst/>
          </a:prstGeom>
          <a:noFill/>
          <a:ln w="19050">
            <a:solidFill>
              <a:srgbClr val="6BA6DE"/>
            </a:solidFill>
            <a:prstDash val="solid"/>
          </a:ln>
        </p:spPr>
      </p:sp>
      <p:sp>
        <p:nvSpPr>
          <p:cNvPr id="34" name="Shape 32"/>
          <p:cNvSpPr/>
          <p:nvPr/>
        </p:nvSpPr>
        <p:spPr>
          <a:xfrm>
            <a:off x="8156448" y="1938528"/>
            <a:ext cx="3328416" cy="2743200"/>
          </a:xfrm>
          <a:prstGeom prst="roundRect">
            <a:avLst>
              <a:gd name="adj" fmla="val 1667"/>
            </a:avLst>
          </a:prstGeom>
          <a:solidFill>
            <a:srgbClr val="FFFFFF"/>
          </a:solidFill>
          <a:ln w="12700">
            <a:solidFill>
              <a:srgbClr val="D2DEEA"/>
            </a:solidFill>
            <a:prstDash val="solid"/>
          </a:ln>
        </p:spPr>
      </p:sp>
      <p:sp>
        <p:nvSpPr>
          <p:cNvPr id="35" name="Text 33"/>
          <p:cNvSpPr txBox="1"/>
          <p:nvPr/>
        </p:nvSpPr>
        <p:spPr>
          <a:xfrm>
            <a:off x="8394192" y="2139696"/>
            <a:ext cx="2871216" cy="310896"/>
          </a:xfrm>
          <a:prstGeom prst="rect">
            <a:avLst/>
          </a:prstGeom>
          <a:noFill/>
          <a:ln/>
        </p:spPr>
        <p:txBody>
          <a:bodyPr wrap="square" lIns="0" tIns="0" rIns="0" bIns="0" rtlCol="0" anchor="t"/>
          <a:lstStyle/>
          <a:p>
            <a:pPr indent="0" marL="0">
              <a:buNone/>
            </a:pPr>
            <a:r>
              <a:rPr lang="en-US" sz="2000" b="1" dirty="0">
                <a:solidFill>
                  <a:srgbClr val="0B2545"/>
                </a:solidFill>
                <a:latin typeface="함초롬돋움" pitchFamily="34" charset="0"/>
                <a:ea typeface="함초롬돋움" pitchFamily="34" charset="-122"/>
                <a:cs typeface="함초롬돋움" pitchFamily="34" charset="-120"/>
              </a:rPr>
              <a:t>경영진 활용</a:t>
            </a:r>
            <a:endParaRPr lang="en-US" sz="2000" dirty="0"/>
          </a:p>
        </p:txBody>
      </p:sp>
      <p:sp>
        <p:nvSpPr>
          <p:cNvPr id="36" name="Shape 34"/>
          <p:cNvSpPr/>
          <p:nvPr/>
        </p:nvSpPr>
        <p:spPr>
          <a:xfrm>
            <a:off x="8394192" y="2523744"/>
            <a:ext cx="2852928" cy="16459"/>
          </a:xfrm>
          <a:prstGeom prst="rect">
            <a:avLst/>
          </a:prstGeom>
          <a:solidFill>
            <a:srgbClr val="D2DEEA"/>
          </a:solidFill>
          <a:ln w="12700">
            <a:solidFill>
              <a:srgbClr val="D2DEEA"/>
            </a:solidFill>
            <a:prstDash val="solid"/>
          </a:ln>
        </p:spPr>
      </p:sp>
      <p:sp>
        <p:nvSpPr>
          <p:cNvPr id="37" name="Shape 35"/>
          <p:cNvSpPr/>
          <p:nvPr/>
        </p:nvSpPr>
        <p:spPr>
          <a:xfrm>
            <a:off x="8394192" y="2761488"/>
            <a:ext cx="91440" cy="91440"/>
          </a:xfrm>
          <a:prstGeom prst="ellipse">
            <a:avLst/>
          </a:prstGeom>
          <a:solidFill>
            <a:srgbClr val="00A88F"/>
          </a:solidFill>
          <a:ln w="12700">
            <a:solidFill>
              <a:srgbClr val="00A88F"/>
            </a:solidFill>
            <a:prstDash val="solid"/>
          </a:ln>
        </p:spPr>
      </p:sp>
      <p:sp>
        <p:nvSpPr>
          <p:cNvPr id="38" name="Text 36"/>
          <p:cNvSpPr txBox="1"/>
          <p:nvPr/>
        </p:nvSpPr>
        <p:spPr>
          <a:xfrm>
            <a:off x="8595360" y="2670048"/>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16273A"/>
                </a:solidFill>
                <a:latin typeface="함초롬돋움" pitchFamily="34" charset="0"/>
                <a:ea typeface="함초롬돋움" pitchFamily="34" charset="-122"/>
                <a:cs typeface="함초롬돋움" pitchFamily="34" charset="-120"/>
              </a:rPr>
              <a:t>산업 인텔리전스 대시보드</a:t>
            </a:r>
            <a:endParaRPr lang="en-US" sz="1500" dirty="0"/>
          </a:p>
        </p:txBody>
      </p:sp>
      <p:sp>
        <p:nvSpPr>
          <p:cNvPr id="39" name="Shape 37"/>
          <p:cNvSpPr/>
          <p:nvPr/>
        </p:nvSpPr>
        <p:spPr>
          <a:xfrm>
            <a:off x="8394192" y="3145536"/>
            <a:ext cx="91440" cy="91440"/>
          </a:xfrm>
          <a:prstGeom prst="ellipse">
            <a:avLst/>
          </a:prstGeom>
          <a:solidFill>
            <a:srgbClr val="00A88F"/>
          </a:solidFill>
          <a:ln w="12700">
            <a:solidFill>
              <a:srgbClr val="00A88F"/>
            </a:solidFill>
            <a:prstDash val="solid"/>
          </a:ln>
        </p:spPr>
      </p:sp>
      <p:sp>
        <p:nvSpPr>
          <p:cNvPr id="40" name="Text 38"/>
          <p:cNvSpPr txBox="1"/>
          <p:nvPr/>
        </p:nvSpPr>
        <p:spPr>
          <a:xfrm>
            <a:off x="8595360" y="3054096"/>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16273A"/>
                </a:solidFill>
                <a:latin typeface="함초롬돋움" pitchFamily="34" charset="0"/>
                <a:ea typeface="함초롬돋움" pitchFamily="34" charset="-122"/>
                <a:cs typeface="함초롬돋움" pitchFamily="34" charset="-120"/>
              </a:rPr>
              <a:t>경쟁사 신호 히트맵</a:t>
            </a:r>
            <a:endParaRPr lang="en-US" sz="1500" dirty="0"/>
          </a:p>
        </p:txBody>
      </p:sp>
      <p:sp>
        <p:nvSpPr>
          <p:cNvPr id="41" name="Shape 39"/>
          <p:cNvSpPr/>
          <p:nvPr/>
        </p:nvSpPr>
        <p:spPr>
          <a:xfrm>
            <a:off x="8394192" y="3529584"/>
            <a:ext cx="91440" cy="91440"/>
          </a:xfrm>
          <a:prstGeom prst="ellipse">
            <a:avLst/>
          </a:prstGeom>
          <a:solidFill>
            <a:srgbClr val="00A88F"/>
          </a:solidFill>
          <a:ln w="12700">
            <a:solidFill>
              <a:srgbClr val="00A88F"/>
            </a:solidFill>
            <a:prstDash val="solid"/>
          </a:ln>
        </p:spPr>
      </p:sp>
      <p:sp>
        <p:nvSpPr>
          <p:cNvPr id="42" name="Text 40"/>
          <p:cNvSpPr txBox="1"/>
          <p:nvPr/>
        </p:nvSpPr>
        <p:spPr>
          <a:xfrm>
            <a:off x="8595360" y="3438144"/>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16273A"/>
                </a:solidFill>
                <a:latin typeface="함초롬돋움" pitchFamily="34" charset="0"/>
                <a:ea typeface="함초롬돋움" pitchFamily="34" charset="-122"/>
                <a:cs typeface="함초롬돋움" pitchFamily="34" charset="-120"/>
              </a:rPr>
              <a:t>재무 · 주가 분석</a:t>
            </a:r>
            <a:endParaRPr lang="en-US" sz="1500" dirty="0"/>
          </a:p>
        </p:txBody>
      </p:sp>
      <p:sp>
        <p:nvSpPr>
          <p:cNvPr id="43" name="Shape 41"/>
          <p:cNvSpPr/>
          <p:nvPr/>
        </p:nvSpPr>
        <p:spPr>
          <a:xfrm>
            <a:off x="8394192" y="3913632"/>
            <a:ext cx="91440" cy="91440"/>
          </a:xfrm>
          <a:prstGeom prst="ellipse">
            <a:avLst/>
          </a:prstGeom>
          <a:solidFill>
            <a:srgbClr val="00A88F"/>
          </a:solidFill>
          <a:ln w="12700">
            <a:solidFill>
              <a:srgbClr val="00A88F"/>
            </a:solidFill>
            <a:prstDash val="solid"/>
          </a:ln>
        </p:spPr>
      </p:sp>
      <p:sp>
        <p:nvSpPr>
          <p:cNvPr id="44" name="Text 42"/>
          <p:cNvSpPr txBox="1"/>
          <p:nvPr/>
        </p:nvSpPr>
        <p:spPr>
          <a:xfrm>
            <a:off x="8595360" y="3822192"/>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16273A"/>
                </a:solidFill>
                <a:latin typeface="함초롬돋움" pitchFamily="34" charset="0"/>
                <a:ea typeface="함초롬돋움" pitchFamily="34" charset="-122"/>
                <a:cs typeface="함초롬돋움" pitchFamily="34" charset="-120"/>
              </a:rPr>
              <a:t>원자재 가격 분석</a:t>
            </a:r>
            <a:endParaRPr lang="en-US" sz="1500" dirty="0"/>
          </a:p>
        </p:txBody>
      </p:sp>
      <p:sp>
        <p:nvSpPr>
          <p:cNvPr id="45" name="Shape 43"/>
          <p:cNvSpPr/>
          <p:nvPr/>
        </p:nvSpPr>
        <p:spPr>
          <a:xfrm>
            <a:off x="8394192" y="4297680"/>
            <a:ext cx="91440" cy="91440"/>
          </a:xfrm>
          <a:prstGeom prst="ellipse">
            <a:avLst/>
          </a:prstGeom>
          <a:solidFill>
            <a:srgbClr val="00A88F"/>
          </a:solidFill>
          <a:ln w="12700">
            <a:solidFill>
              <a:srgbClr val="00A88F"/>
            </a:solidFill>
            <a:prstDash val="solid"/>
          </a:ln>
        </p:spPr>
      </p:sp>
      <p:sp>
        <p:nvSpPr>
          <p:cNvPr id="46" name="Text 44"/>
          <p:cNvSpPr txBox="1"/>
          <p:nvPr/>
        </p:nvSpPr>
        <p:spPr>
          <a:xfrm>
            <a:off x="8595360" y="4206240"/>
            <a:ext cx="2670048" cy="329184"/>
          </a:xfrm>
          <a:prstGeom prst="rect">
            <a:avLst/>
          </a:prstGeom>
          <a:noFill/>
          <a:ln/>
        </p:spPr>
        <p:txBody>
          <a:bodyPr wrap="square" lIns="0" tIns="0" rIns="0" bIns="0" rtlCol="0" anchor="t"/>
          <a:lstStyle/>
          <a:p>
            <a:pPr indent="0" marL="0">
              <a:lnSpc>
                <a:spcPts val="1800"/>
              </a:lnSpc>
              <a:buNone/>
            </a:pPr>
            <a:r>
              <a:rPr lang="en-US" sz="1500" dirty="0">
                <a:solidFill>
                  <a:srgbClr val="16273A"/>
                </a:solidFill>
                <a:latin typeface="함초롬돋움" pitchFamily="34" charset="0"/>
                <a:ea typeface="함초롬돋움" pitchFamily="34" charset="-122"/>
                <a:cs typeface="함초롬돋움" pitchFamily="34" charset="-120"/>
              </a:rPr>
              <a:t>중요 공시 자동 알림</a:t>
            </a:r>
            <a:endParaRPr lang="en-US" sz="1500" dirty="0"/>
          </a:p>
        </p:txBody>
      </p:sp>
      <p:sp>
        <p:nvSpPr>
          <p:cNvPr id="47" name="Text 45"/>
          <p:cNvSpPr txBox="1"/>
          <p:nvPr/>
        </p:nvSpPr>
        <p:spPr>
          <a:xfrm>
            <a:off x="731520" y="4882896"/>
            <a:ext cx="4572000" cy="274320"/>
          </a:xfrm>
          <a:prstGeom prst="rect">
            <a:avLst/>
          </a:prstGeom>
          <a:noFill/>
          <a:ln/>
        </p:spPr>
        <p:txBody>
          <a:bodyPr wrap="square" lIns="0" tIns="0" rIns="0" bIns="0" rtlCol="0" anchor="t"/>
          <a:lstStyle/>
          <a:p>
            <a:pPr indent="0" marL="0">
              <a:buNone/>
            </a:pPr>
            <a:r>
              <a:rPr lang="en-US" sz="1800" b="1" dirty="0">
                <a:solidFill>
                  <a:srgbClr val="0B2545"/>
                </a:solidFill>
                <a:latin typeface="함초롬돋움" pitchFamily="34" charset="0"/>
                <a:ea typeface="함초롬돋움" pitchFamily="34" charset="-122"/>
                <a:cs typeface="함초롬돋움" pitchFamily="34" charset="-120"/>
              </a:rPr>
              <a:t>사용 기술과 해결한 문제</a:t>
            </a:r>
            <a:endParaRPr lang="en-US" sz="1800" dirty="0"/>
          </a:p>
        </p:txBody>
      </p:sp>
      <p:sp>
        <p:nvSpPr>
          <p:cNvPr id="48" name="Shape 46"/>
          <p:cNvSpPr/>
          <p:nvPr/>
        </p:nvSpPr>
        <p:spPr>
          <a:xfrm>
            <a:off x="731520" y="5248656"/>
            <a:ext cx="2048256" cy="877824"/>
          </a:xfrm>
          <a:prstGeom prst="roundRect">
            <a:avLst>
              <a:gd name="adj" fmla="val 5208"/>
            </a:avLst>
          </a:prstGeom>
          <a:solidFill>
            <a:srgbClr val="FFFFFF"/>
          </a:solidFill>
          <a:ln w="12700">
            <a:solidFill>
              <a:srgbClr val="D2DEEA"/>
            </a:solidFill>
            <a:prstDash val="solid"/>
          </a:ln>
        </p:spPr>
      </p:sp>
      <p:sp>
        <p:nvSpPr>
          <p:cNvPr id="49" name="Text 47"/>
          <p:cNvSpPr txBox="1"/>
          <p:nvPr/>
        </p:nvSpPr>
        <p:spPr>
          <a:xfrm>
            <a:off x="859536" y="5394960"/>
            <a:ext cx="1828800" cy="256032"/>
          </a:xfrm>
          <a:prstGeom prst="rect">
            <a:avLst/>
          </a:prstGeom>
          <a:noFill/>
          <a:ln/>
        </p:spPr>
        <p:txBody>
          <a:bodyPr wrap="square" lIns="0" tIns="0" rIns="0" bIns="0" rtlCol="0" anchor="t"/>
          <a:lstStyle/>
          <a:p>
            <a:pPr indent="0" marL="0">
              <a:buNone/>
            </a:pPr>
            <a:r>
              <a:rPr lang="en-US" sz="1500" b="1" dirty="0">
                <a:solidFill>
                  <a:srgbClr val="1E6FBF"/>
                </a:solidFill>
                <a:latin typeface="함초롬돋움" pitchFamily="34" charset="0"/>
                <a:ea typeface="함초롬돋움" pitchFamily="34" charset="-122"/>
                <a:cs typeface="함초롬돋움" pitchFamily="34" charset="-120"/>
              </a:rPr>
              <a:t>React · Vite</a:t>
            </a:r>
            <a:endParaRPr lang="en-US" sz="1500" dirty="0"/>
          </a:p>
        </p:txBody>
      </p:sp>
      <p:sp>
        <p:nvSpPr>
          <p:cNvPr id="50" name="Text 48"/>
          <p:cNvSpPr txBox="1"/>
          <p:nvPr/>
        </p:nvSpPr>
        <p:spPr>
          <a:xfrm>
            <a:off x="859536" y="5669280"/>
            <a:ext cx="1847088" cy="384048"/>
          </a:xfrm>
          <a:prstGeom prst="rect">
            <a:avLst/>
          </a:prstGeom>
          <a:noFill/>
          <a:ln/>
        </p:spPr>
        <p:txBody>
          <a:bodyPr wrap="square" lIns="0" tIns="0" rIns="0" bIns="0" rtlCol="0" anchor="t"/>
          <a:lstStyle/>
          <a:p>
            <a:pPr indent="0" marL="0">
              <a:lnSpc>
                <a:spcPts val="1600"/>
              </a:lnSpc>
              <a:buNone/>
            </a:pPr>
            <a:r>
              <a:rPr lang="en-US" sz="1300" dirty="0">
                <a:solidFill>
                  <a:srgbClr val="5A6B7C"/>
                </a:solidFill>
                <a:latin typeface="함초롬돋움" pitchFamily="34" charset="0"/>
                <a:ea typeface="함초롬돋움" pitchFamily="34" charset="-122"/>
                <a:cs typeface="함초롬돋움" pitchFamily="34" charset="-120"/>
              </a:rPr>
              <a:t>여러 화면을 한 흐름으로 연결</a:t>
            </a:r>
            <a:endParaRPr lang="en-US" sz="1300" dirty="0"/>
          </a:p>
        </p:txBody>
      </p:sp>
      <p:sp>
        <p:nvSpPr>
          <p:cNvPr id="51" name="Shape 49"/>
          <p:cNvSpPr/>
          <p:nvPr/>
        </p:nvSpPr>
        <p:spPr>
          <a:xfrm>
            <a:off x="2898648" y="5248656"/>
            <a:ext cx="2048256" cy="877824"/>
          </a:xfrm>
          <a:prstGeom prst="roundRect">
            <a:avLst>
              <a:gd name="adj" fmla="val 5208"/>
            </a:avLst>
          </a:prstGeom>
          <a:solidFill>
            <a:srgbClr val="FFFFFF"/>
          </a:solidFill>
          <a:ln w="12700">
            <a:solidFill>
              <a:srgbClr val="D2DEEA"/>
            </a:solidFill>
            <a:prstDash val="solid"/>
          </a:ln>
        </p:spPr>
      </p:sp>
      <p:sp>
        <p:nvSpPr>
          <p:cNvPr id="52" name="Text 50"/>
          <p:cNvSpPr txBox="1"/>
          <p:nvPr/>
        </p:nvSpPr>
        <p:spPr>
          <a:xfrm>
            <a:off x="3026664" y="5394960"/>
            <a:ext cx="1828800" cy="256032"/>
          </a:xfrm>
          <a:prstGeom prst="rect">
            <a:avLst/>
          </a:prstGeom>
          <a:noFill/>
          <a:ln/>
        </p:spPr>
        <p:txBody>
          <a:bodyPr wrap="square" lIns="0" tIns="0" rIns="0" bIns="0" rtlCol="0" anchor="t"/>
          <a:lstStyle/>
          <a:p>
            <a:pPr indent="0" marL="0">
              <a:buNone/>
            </a:pPr>
            <a:r>
              <a:rPr lang="en-US" sz="1500" b="1" dirty="0">
                <a:solidFill>
                  <a:srgbClr val="1E6FBF"/>
                </a:solidFill>
                <a:latin typeface="함초롬돋움" pitchFamily="34" charset="0"/>
                <a:ea typeface="함초롬돋움" pitchFamily="34" charset="-122"/>
                <a:cs typeface="함초롬돋움" pitchFamily="34" charset="-120"/>
              </a:rPr>
              <a:t>FastAPI</a:t>
            </a:r>
            <a:endParaRPr lang="en-US" sz="1500" dirty="0"/>
          </a:p>
        </p:txBody>
      </p:sp>
      <p:sp>
        <p:nvSpPr>
          <p:cNvPr id="53" name="Text 51"/>
          <p:cNvSpPr txBox="1"/>
          <p:nvPr/>
        </p:nvSpPr>
        <p:spPr>
          <a:xfrm>
            <a:off x="3026664" y="5669280"/>
            <a:ext cx="1847088" cy="384048"/>
          </a:xfrm>
          <a:prstGeom prst="rect">
            <a:avLst/>
          </a:prstGeom>
          <a:noFill/>
          <a:ln/>
        </p:spPr>
        <p:txBody>
          <a:bodyPr wrap="square" lIns="0" tIns="0" rIns="0" bIns="0" rtlCol="0" anchor="t"/>
          <a:lstStyle/>
          <a:p>
            <a:pPr indent="0" marL="0">
              <a:lnSpc>
                <a:spcPts val="1600"/>
              </a:lnSpc>
              <a:buNone/>
            </a:pPr>
            <a:r>
              <a:rPr lang="en-US" sz="1300" dirty="0">
                <a:solidFill>
                  <a:srgbClr val="5A6B7C"/>
                </a:solidFill>
                <a:latin typeface="함초롬돋움" pitchFamily="34" charset="0"/>
                <a:ea typeface="함초롬돋움" pitchFamily="34" charset="-122"/>
                <a:cs typeface="함초롬돋움" pitchFamily="34" charset="-120"/>
              </a:rPr>
              <a:t>여러 출처를 동시에 수집</a:t>
            </a:r>
            <a:endParaRPr lang="en-US" sz="1300" dirty="0"/>
          </a:p>
        </p:txBody>
      </p:sp>
      <p:sp>
        <p:nvSpPr>
          <p:cNvPr id="54" name="Shape 52"/>
          <p:cNvSpPr/>
          <p:nvPr/>
        </p:nvSpPr>
        <p:spPr>
          <a:xfrm>
            <a:off x="5065776" y="5248656"/>
            <a:ext cx="2048256" cy="877824"/>
          </a:xfrm>
          <a:prstGeom prst="roundRect">
            <a:avLst>
              <a:gd name="adj" fmla="val 5208"/>
            </a:avLst>
          </a:prstGeom>
          <a:solidFill>
            <a:srgbClr val="FFFFFF"/>
          </a:solidFill>
          <a:ln w="12700">
            <a:solidFill>
              <a:srgbClr val="D2DEEA"/>
            </a:solidFill>
            <a:prstDash val="solid"/>
          </a:ln>
        </p:spPr>
      </p:sp>
      <p:sp>
        <p:nvSpPr>
          <p:cNvPr id="55" name="Text 53"/>
          <p:cNvSpPr txBox="1"/>
          <p:nvPr/>
        </p:nvSpPr>
        <p:spPr>
          <a:xfrm>
            <a:off x="5193792" y="5394960"/>
            <a:ext cx="1828800" cy="256032"/>
          </a:xfrm>
          <a:prstGeom prst="rect">
            <a:avLst/>
          </a:prstGeom>
          <a:noFill/>
          <a:ln/>
        </p:spPr>
        <p:txBody>
          <a:bodyPr wrap="square" lIns="0" tIns="0" rIns="0" bIns="0" rtlCol="0" anchor="t"/>
          <a:lstStyle/>
          <a:p>
            <a:pPr indent="0" marL="0">
              <a:buNone/>
            </a:pPr>
            <a:r>
              <a:rPr lang="en-US" sz="1500" b="1" dirty="0">
                <a:solidFill>
                  <a:srgbClr val="1E6FBF"/>
                </a:solidFill>
                <a:latin typeface="함초롬돋움" pitchFamily="34" charset="0"/>
                <a:ea typeface="함초롬돋움" pitchFamily="34" charset="-122"/>
                <a:cs typeface="함초롬돋움" pitchFamily="34" charset="-120"/>
              </a:rPr>
              <a:t>Gemini · OpenAI</a:t>
            </a:r>
            <a:endParaRPr lang="en-US" sz="1500" dirty="0"/>
          </a:p>
        </p:txBody>
      </p:sp>
      <p:sp>
        <p:nvSpPr>
          <p:cNvPr id="56" name="Text 54"/>
          <p:cNvSpPr txBox="1"/>
          <p:nvPr/>
        </p:nvSpPr>
        <p:spPr>
          <a:xfrm>
            <a:off x="5193792" y="5669280"/>
            <a:ext cx="1847088" cy="384048"/>
          </a:xfrm>
          <a:prstGeom prst="rect">
            <a:avLst/>
          </a:prstGeom>
          <a:noFill/>
          <a:ln/>
        </p:spPr>
        <p:txBody>
          <a:bodyPr wrap="square" lIns="0" tIns="0" rIns="0" bIns="0" rtlCol="0" anchor="t"/>
          <a:lstStyle/>
          <a:p>
            <a:pPr indent="0" marL="0">
              <a:lnSpc>
                <a:spcPts val="1600"/>
              </a:lnSpc>
              <a:buNone/>
            </a:pPr>
            <a:r>
              <a:rPr lang="en-US" sz="1300" dirty="0">
                <a:solidFill>
                  <a:srgbClr val="5A6B7C"/>
                </a:solidFill>
                <a:latin typeface="함초롬돋움" pitchFamily="34" charset="0"/>
                <a:ea typeface="함초롬돋움" pitchFamily="34" charset="-122"/>
                <a:cs typeface="함초롬돋움" pitchFamily="34" charset="-120"/>
              </a:rPr>
              <a:t>사업 임플리케이션 생성</a:t>
            </a:r>
            <a:endParaRPr lang="en-US" sz="1300" dirty="0"/>
          </a:p>
        </p:txBody>
      </p:sp>
      <p:sp>
        <p:nvSpPr>
          <p:cNvPr id="57" name="Shape 55"/>
          <p:cNvSpPr/>
          <p:nvPr/>
        </p:nvSpPr>
        <p:spPr>
          <a:xfrm>
            <a:off x="7232904" y="5248656"/>
            <a:ext cx="2048256" cy="877824"/>
          </a:xfrm>
          <a:prstGeom prst="roundRect">
            <a:avLst>
              <a:gd name="adj" fmla="val 5208"/>
            </a:avLst>
          </a:prstGeom>
          <a:solidFill>
            <a:srgbClr val="FFFFFF"/>
          </a:solidFill>
          <a:ln w="12700">
            <a:solidFill>
              <a:srgbClr val="D2DEEA"/>
            </a:solidFill>
            <a:prstDash val="solid"/>
          </a:ln>
        </p:spPr>
      </p:sp>
      <p:sp>
        <p:nvSpPr>
          <p:cNvPr id="58" name="Text 56"/>
          <p:cNvSpPr txBox="1"/>
          <p:nvPr/>
        </p:nvSpPr>
        <p:spPr>
          <a:xfrm>
            <a:off x="7360920" y="5394960"/>
            <a:ext cx="1828800" cy="256032"/>
          </a:xfrm>
          <a:prstGeom prst="rect">
            <a:avLst/>
          </a:prstGeom>
          <a:noFill/>
          <a:ln/>
        </p:spPr>
        <p:txBody>
          <a:bodyPr wrap="square" lIns="0" tIns="0" rIns="0" bIns="0" rtlCol="0" anchor="t"/>
          <a:lstStyle/>
          <a:p>
            <a:pPr indent="0" marL="0">
              <a:buNone/>
            </a:pPr>
            <a:r>
              <a:rPr lang="en-US" sz="1500" b="1" dirty="0">
                <a:solidFill>
                  <a:srgbClr val="1E6FBF"/>
                </a:solidFill>
                <a:latin typeface="함초롬돋움" pitchFamily="34" charset="0"/>
                <a:ea typeface="함초롬돋움" pitchFamily="34" charset="-122"/>
                <a:cs typeface="함초롬돋움" pitchFamily="34" charset="-120"/>
              </a:rPr>
              <a:t>SQLite</a:t>
            </a:r>
            <a:endParaRPr lang="en-US" sz="1500" dirty="0"/>
          </a:p>
        </p:txBody>
      </p:sp>
      <p:sp>
        <p:nvSpPr>
          <p:cNvPr id="59" name="Text 57"/>
          <p:cNvSpPr txBox="1"/>
          <p:nvPr/>
        </p:nvSpPr>
        <p:spPr>
          <a:xfrm>
            <a:off x="7360920" y="5669280"/>
            <a:ext cx="1847088" cy="384048"/>
          </a:xfrm>
          <a:prstGeom prst="rect">
            <a:avLst/>
          </a:prstGeom>
          <a:noFill/>
          <a:ln/>
        </p:spPr>
        <p:txBody>
          <a:bodyPr wrap="square" lIns="0" tIns="0" rIns="0" bIns="0" rtlCol="0" anchor="t"/>
          <a:lstStyle/>
          <a:p>
            <a:pPr indent="0" marL="0">
              <a:lnSpc>
                <a:spcPts val="1600"/>
              </a:lnSpc>
              <a:buNone/>
            </a:pPr>
            <a:r>
              <a:rPr lang="en-US" sz="1300" dirty="0">
                <a:solidFill>
                  <a:srgbClr val="5A6B7C"/>
                </a:solidFill>
                <a:latin typeface="함초롬돋움" pitchFamily="34" charset="0"/>
                <a:ea typeface="함초롬돋움" pitchFamily="34" charset="-122"/>
                <a:cs typeface="함초롬돋움" pitchFamily="34" charset="-120"/>
              </a:rPr>
              <a:t>가격 · 알림 이력 보관</a:t>
            </a:r>
            <a:endParaRPr lang="en-US" sz="1300" dirty="0"/>
          </a:p>
        </p:txBody>
      </p:sp>
      <p:sp>
        <p:nvSpPr>
          <p:cNvPr id="60" name="Shape 58"/>
          <p:cNvSpPr/>
          <p:nvPr/>
        </p:nvSpPr>
        <p:spPr>
          <a:xfrm>
            <a:off x="9400032" y="5248656"/>
            <a:ext cx="2048256" cy="877824"/>
          </a:xfrm>
          <a:prstGeom prst="roundRect">
            <a:avLst>
              <a:gd name="adj" fmla="val 5208"/>
            </a:avLst>
          </a:prstGeom>
          <a:solidFill>
            <a:srgbClr val="FFFFFF"/>
          </a:solidFill>
          <a:ln w="12700">
            <a:solidFill>
              <a:srgbClr val="D2DEEA"/>
            </a:solidFill>
            <a:prstDash val="solid"/>
          </a:ln>
        </p:spPr>
      </p:sp>
      <p:sp>
        <p:nvSpPr>
          <p:cNvPr id="61" name="Text 59"/>
          <p:cNvSpPr txBox="1"/>
          <p:nvPr/>
        </p:nvSpPr>
        <p:spPr>
          <a:xfrm>
            <a:off x="9528048" y="5394960"/>
            <a:ext cx="1828800" cy="256032"/>
          </a:xfrm>
          <a:prstGeom prst="rect">
            <a:avLst/>
          </a:prstGeom>
          <a:noFill/>
          <a:ln/>
        </p:spPr>
        <p:txBody>
          <a:bodyPr wrap="square" lIns="0" tIns="0" rIns="0" bIns="0" rtlCol="0" anchor="t"/>
          <a:lstStyle/>
          <a:p>
            <a:pPr indent="0" marL="0">
              <a:buNone/>
            </a:pPr>
            <a:r>
              <a:rPr lang="en-US" sz="1500" b="1" dirty="0">
                <a:solidFill>
                  <a:srgbClr val="1E6FBF"/>
                </a:solidFill>
                <a:latin typeface="함초롬돋움" pitchFamily="34" charset="0"/>
                <a:ea typeface="함초롬돋움" pitchFamily="34" charset="-122"/>
                <a:cs typeface="함초롬돋움" pitchFamily="34" charset="-120"/>
              </a:rPr>
              <a:t>Telegram · 이메일</a:t>
            </a:r>
            <a:endParaRPr lang="en-US" sz="1500" dirty="0"/>
          </a:p>
        </p:txBody>
      </p:sp>
      <p:sp>
        <p:nvSpPr>
          <p:cNvPr id="62" name="Text 60"/>
          <p:cNvSpPr txBox="1"/>
          <p:nvPr/>
        </p:nvSpPr>
        <p:spPr>
          <a:xfrm>
            <a:off x="9528048" y="5669280"/>
            <a:ext cx="1847088" cy="384048"/>
          </a:xfrm>
          <a:prstGeom prst="rect">
            <a:avLst/>
          </a:prstGeom>
          <a:noFill/>
          <a:ln/>
        </p:spPr>
        <p:txBody>
          <a:bodyPr wrap="square" lIns="0" tIns="0" rIns="0" bIns="0" rtlCol="0" anchor="t"/>
          <a:lstStyle/>
          <a:p>
            <a:pPr indent="0" marL="0">
              <a:lnSpc>
                <a:spcPts val="1600"/>
              </a:lnSpc>
              <a:buNone/>
            </a:pPr>
            <a:r>
              <a:rPr lang="en-US" sz="1300" dirty="0">
                <a:solidFill>
                  <a:srgbClr val="5A6B7C"/>
                </a:solidFill>
                <a:latin typeface="함초롬돋움" pitchFamily="34" charset="0"/>
                <a:ea typeface="함초롬돋움" pitchFamily="34" charset="-122"/>
                <a:cs typeface="함초롬돋움" pitchFamily="34" charset="-120"/>
              </a:rPr>
              <a:t>중요 변화를 먼저 전달</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indent="0" marL="0">
              <a:buNone/>
            </a:pPr>
            <a:r>
              <a:rPr lang="en-US" sz="3200" b="1" dirty="0">
                <a:solidFill>
                  <a:srgbClr val="0B2545"/>
                </a:solidFill>
                <a:latin typeface="함초롬돋움" pitchFamily="34" charset="0"/>
                <a:ea typeface="함초롬돋움" pitchFamily="34" charset="-122"/>
                <a:cs typeface="함초롬돋움" pitchFamily="34" charset="-120"/>
              </a:rPr>
              <a:t>구현 과정의 시행착오와 피드백</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indent="0" marL="0">
              <a:buNone/>
            </a:pPr>
            <a:r>
              <a:rPr lang="en-US" sz="1800" dirty="0">
                <a:solidFill>
                  <a:srgbClr val="5A6B7C"/>
                </a:solidFill>
                <a:latin typeface="함초롬돋움" pitchFamily="34" charset="0"/>
                <a:ea typeface="함초롬돋움" pitchFamily="34" charset="-122"/>
                <a:cs typeface="함초롬돋움" pitchFamily="34" charset="-120"/>
              </a:rPr>
              <a:t>데이터 신뢰성과 실제 사용 흐름을 개선하며 시스템의 방향이 구체화됐습니다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algn="r" indent="0" marL="0">
              <a:buNone/>
            </a:pPr>
            <a:r>
              <a:rPr lang="en-US" sz="1300" dirty="0">
                <a:solidFill>
                  <a:srgbClr val="8B9BAA"/>
                </a:solidFill>
                <a:latin typeface="함초롬돋움" pitchFamily="34" charset="0"/>
                <a:ea typeface="함초롬돋움" pitchFamily="34" charset="-122"/>
                <a:cs typeface="함초롬돋움" pitchFamily="34" charset="-120"/>
              </a:rPr>
              <a:t>06</a:t>
            </a:r>
            <a:endParaRPr lang="en-US" sz="1300" dirty="0"/>
          </a:p>
        </p:txBody>
      </p:sp>
      <p:sp>
        <p:nvSpPr>
          <p:cNvPr id="6" name="Text 4"/>
          <p:cNvSpPr txBox="1"/>
          <p:nvPr/>
        </p:nvSpPr>
        <p:spPr>
          <a:xfrm>
            <a:off x="731520" y="1938528"/>
            <a:ext cx="1280160" cy="256032"/>
          </a:xfrm>
          <a:prstGeom prst="rect">
            <a:avLst/>
          </a:prstGeom>
          <a:noFill/>
          <a:ln/>
        </p:spPr>
        <p:txBody>
          <a:bodyPr wrap="square" lIns="0" tIns="0" rIns="0" bIns="0" rtlCol="0" anchor="t"/>
          <a:lstStyle/>
          <a:p>
            <a:pPr indent="0" marL="0">
              <a:buNone/>
            </a:pPr>
            <a:r>
              <a:rPr lang="en-US" sz="1400" b="1" dirty="0">
                <a:solidFill>
                  <a:srgbClr val="00A88F"/>
                </a:solidFill>
                <a:latin typeface="함초롬돋움" pitchFamily="34" charset="0"/>
                <a:ea typeface="함초롬돋움" pitchFamily="34" charset="-122"/>
                <a:cs typeface="함초롬돋움" pitchFamily="34" charset="-120"/>
              </a:rPr>
              <a:t>사례 1</a:t>
            </a:r>
            <a:endParaRPr lang="en-US" sz="1400" dirty="0"/>
          </a:p>
        </p:txBody>
      </p:sp>
      <p:sp>
        <p:nvSpPr>
          <p:cNvPr id="7" name="Text 5"/>
          <p:cNvSpPr txBox="1"/>
          <p:nvPr/>
        </p:nvSpPr>
        <p:spPr>
          <a:xfrm>
            <a:off x="731520" y="2212848"/>
            <a:ext cx="3328416" cy="310896"/>
          </a:xfrm>
          <a:prstGeom prst="rect">
            <a:avLst/>
          </a:prstGeom>
          <a:noFill/>
          <a:ln/>
        </p:spPr>
        <p:txBody>
          <a:bodyPr wrap="square" lIns="0" tIns="0" rIns="0" bIns="0" rtlCol="0" anchor="t"/>
          <a:lstStyle/>
          <a:p>
            <a:pPr indent="0" marL="0">
              <a:buNone/>
            </a:pPr>
            <a:r>
              <a:rPr lang="en-US" sz="1900" b="1" dirty="0">
                <a:solidFill>
                  <a:srgbClr val="0B2545"/>
                </a:solidFill>
                <a:latin typeface="함초롬돋움" pitchFamily="34" charset="0"/>
                <a:ea typeface="함초롬돋움" pitchFamily="34" charset="-122"/>
                <a:cs typeface="함초롬돋움" pitchFamily="34" charset="-120"/>
              </a:rPr>
              <a:t>외부 데이터 수집 실패</a:t>
            </a:r>
            <a:endParaRPr lang="en-US" sz="1900" dirty="0"/>
          </a:p>
        </p:txBody>
      </p:sp>
      <p:sp>
        <p:nvSpPr>
          <p:cNvPr id="8" name="Shape 6"/>
          <p:cNvSpPr/>
          <p:nvPr/>
        </p:nvSpPr>
        <p:spPr>
          <a:xfrm>
            <a:off x="731520" y="2651760"/>
            <a:ext cx="3328416" cy="914400"/>
          </a:xfrm>
          <a:prstGeom prst="roundRect">
            <a:avLst>
              <a:gd name="adj" fmla="val 5000"/>
            </a:avLst>
          </a:prstGeom>
          <a:solidFill>
            <a:srgbClr val="FAEEED"/>
          </a:solidFill>
          <a:ln w="12700">
            <a:solidFill>
              <a:srgbClr val="EBD2CF"/>
            </a:solidFill>
            <a:prstDash val="solid"/>
          </a:ln>
        </p:spPr>
      </p:sp>
      <p:sp>
        <p:nvSpPr>
          <p:cNvPr id="9" name="Text 7"/>
          <p:cNvSpPr txBox="1"/>
          <p:nvPr/>
        </p:nvSpPr>
        <p:spPr>
          <a:xfrm>
            <a:off x="914400" y="2761488"/>
            <a:ext cx="1828800" cy="237744"/>
          </a:xfrm>
          <a:prstGeom prst="rect">
            <a:avLst/>
          </a:prstGeom>
          <a:noFill/>
          <a:ln/>
        </p:spPr>
        <p:txBody>
          <a:bodyPr wrap="square" lIns="0" tIns="0" rIns="0" bIns="0" rtlCol="0" anchor="t"/>
          <a:lstStyle/>
          <a:p>
            <a:pPr indent="0" marL="0">
              <a:buNone/>
            </a:pPr>
            <a:r>
              <a:rPr lang="en-US" sz="1300" b="1" dirty="0">
                <a:solidFill>
                  <a:srgbClr val="B4483F"/>
                </a:solidFill>
                <a:latin typeface="함초롬돋움" pitchFamily="34" charset="0"/>
                <a:ea typeface="함초롬돋움" pitchFamily="34" charset="-122"/>
                <a:cs typeface="함초롬돋움" pitchFamily="34" charset="-120"/>
              </a:rPr>
              <a:t>초기 문제</a:t>
            </a:r>
            <a:endParaRPr lang="en-US" sz="1300" dirty="0"/>
          </a:p>
        </p:txBody>
      </p:sp>
      <p:sp>
        <p:nvSpPr>
          <p:cNvPr id="10" name="Text 8"/>
          <p:cNvSpPr txBox="1"/>
          <p:nvPr/>
        </p:nvSpPr>
        <p:spPr>
          <a:xfrm>
            <a:off x="914400" y="3017520"/>
            <a:ext cx="2962656" cy="457200"/>
          </a:xfrm>
          <a:prstGeom prst="rect">
            <a:avLst/>
          </a:prstGeom>
          <a:noFill/>
          <a:ln/>
        </p:spPr>
        <p:txBody>
          <a:bodyPr wrap="square" lIns="0" tIns="0" rIns="0" bIns="0" rtlCol="0" anchor="t"/>
          <a:lstStyle/>
          <a:p>
            <a:pPr indent="0" marL="0">
              <a:lnSpc>
                <a:spcPts val="1700"/>
              </a:lnSpc>
              <a:buNone/>
            </a:pPr>
            <a:r>
              <a:rPr lang="en-US" sz="1400" dirty="0">
                <a:solidFill>
                  <a:srgbClr val="16273A"/>
                </a:solidFill>
                <a:latin typeface="함초롬돋움" pitchFamily="34" charset="0"/>
                <a:ea typeface="함초롬돋움" pitchFamily="34" charset="-122"/>
                <a:cs typeface="함초롬돋움" pitchFamily="34" charset="-120"/>
              </a:rPr>
              <a:t>응답 구조가 일정하지 않고, 외부 장애가 화면 오류로 이어짐</a:t>
            </a:r>
            <a:endParaRPr lang="en-US" sz="1400" dirty="0"/>
          </a:p>
        </p:txBody>
      </p:sp>
      <p:sp>
        <p:nvSpPr>
          <p:cNvPr id="11" name="Shape 9"/>
          <p:cNvSpPr/>
          <p:nvPr/>
        </p:nvSpPr>
        <p:spPr>
          <a:xfrm>
            <a:off x="2395728" y="3566160"/>
            <a:ext cx="0" cy="256032"/>
          </a:xfrm>
          <a:prstGeom prst="line">
            <a:avLst/>
          </a:prstGeom>
          <a:noFill/>
          <a:ln w="19050">
            <a:solidFill>
              <a:srgbClr val="6BA6DE"/>
            </a:solidFill>
            <a:prstDash val="solid"/>
          </a:ln>
        </p:spPr>
      </p:sp>
      <p:sp>
        <p:nvSpPr>
          <p:cNvPr id="12" name="Shape 10"/>
          <p:cNvSpPr/>
          <p:nvPr/>
        </p:nvSpPr>
        <p:spPr>
          <a:xfrm>
            <a:off x="731520" y="3822192"/>
            <a:ext cx="3328416" cy="1152144"/>
          </a:xfrm>
          <a:prstGeom prst="roundRect">
            <a:avLst>
              <a:gd name="adj" fmla="val 3968"/>
            </a:avLst>
          </a:prstGeom>
          <a:solidFill>
            <a:srgbClr val="E9F1F9"/>
          </a:solidFill>
          <a:ln w="12700">
            <a:solidFill>
              <a:srgbClr val="C9DCEE"/>
            </a:solidFill>
            <a:prstDash val="solid"/>
          </a:ln>
        </p:spPr>
      </p:sp>
      <p:sp>
        <p:nvSpPr>
          <p:cNvPr id="13" name="Text 11"/>
          <p:cNvSpPr txBox="1"/>
          <p:nvPr/>
        </p:nvSpPr>
        <p:spPr>
          <a:xfrm>
            <a:off x="914400" y="3931920"/>
            <a:ext cx="1828800" cy="237744"/>
          </a:xfrm>
          <a:prstGeom prst="rect">
            <a:avLst/>
          </a:prstGeom>
          <a:noFill/>
          <a:ln/>
        </p:spPr>
        <p:txBody>
          <a:bodyPr wrap="square" lIns="0" tIns="0" rIns="0" bIns="0" rtlCol="0" anchor="t"/>
          <a:lstStyle/>
          <a:p>
            <a:pPr indent="0" marL="0">
              <a:buNone/>
            </a:pPr>
            <a:r>
              <a:rPr lang="en-US" sz="1300" b="1" dirty="0">
                <a:solidFill>
                  <a:srgbClr val="1E6FBF"/>
                </a:solidFill>
                <a:latin typeface="함초롬돋움" pitchFamily="34" charset="0"/>
                <a:ea typeface="함초롬돋움" pitchFamily="34" charset="-122"/>
                <a:cs typeface="함초롬돋움" pitchFamily="34" charset="-120"/>
              </a:rPr>
              <a:t>개선</a:t>
            </a:r>
            <a:endParaRPr lang="en-US" sz="1300" dirty="0"/>
          </a:p>
        </p:txBody>
      </p:sp>
      <p:sp>
        <p:nvSpPr>
          <p:cNvPr id="14" name="Text 12"/>
          <p:cNvSpPr txBox="1"/>
          <p:nvPr/>
        </p:nvSpPr>
        <p:spPr>
          <a:xfrm>
            <a:off x="914400" y="4187952"/>
            <a:ext cx="2962656" cy="694944"/>
          </a:xfrm>
          <a:prstGeom prst="rect">
            <a:avLst/>
          </a:prstGeom>
          <a:noFill/>
          <a:ln/>
        </p:spPr>
        <p:txBody>
          <a:bodyPr wrap="square" lIns="0" tIns="0" rIns="0" bIns="0" rtlCol="0" anchor="t"/>
          <a:lstStyle/>
          <a:p>
            <a:pPr indent="0" marL="0">
              <a:lnSpc>
                <a:spcPts val="1700"/>
              </a:lnSpc>
              <a:buNone/>
            </a:pPr>
            <a:r>
              <a:rPr lang="en-US" sz="1400" dirty="0">
                <a:solidFill>
                  <a:srgbClr val="143A63"/>
                </a:solidFill>
                <a:latin typeface="함초롬돋움" pitchFamily="34" charset="0"/>
                <a:ea typeface="함초롬돋움" pitchFamily="34" charset="-122"/>
                <a:cs typeface="함초롬돋움" pitchFamily="34" charset="-120"/>
              </a:rPr>
              <a:t>마지막 정상값 유지 · 오류 상태와 수집 시각 표시</a:t>
            </a:r>
            <a:endParaRPr lang="en-US" sz="1400" dirty="0"/>
          </a:p>
        </p:txBody>
      </p:sp>
      <p:sp>
        <p:nvSpPr>
          <p:cNvPr id="15" name="Shape 13"/>
          <p:cNvSpPr/>
          <p:nvPr/>
        </p:nvSpPr>
        <p:spPr>
          <a:xfrm>
            <a:off x="2395728" y="4974336"/>
            <a:ext cx="0" cy="256032"/>
          </a:xfrm>
          <a:prstGeom prst="line">
            <a:avLst/>
          </a:prstGeom>
          <a:noFill/>
          <a:ln w="19050">
            <a:solidFill>
              <a:srgbClr val="6BA6DE"/>
            </a:solidFill>
            <a:prstDash val="solid"/>
          </a:ln>
        </p:spPr>
      </p:sp>
      <p:sp>
        <p:nvSpPr>
          <p:cNvPr id="16" name="Shape 14"/>
          <p:cNvSpPr/>
          <p:nvPr/>
        </p:nvSpPr>
        <p:spPr>
          <a:xfrm>
            <a:off x="731520" y="5230368"/>
            <a:ext cx="3328416" cy="914400"/>
          </a:xfrm>
          <a:prstGeom prst="roundRect">
            <a:avLst>
              <a:gd name="adj" fmla="val 5000"/>
            </a:avLst>
          </a:prstGeom>
          <a:solidFill>
            <a:srgbClr val="E4F4F1"/>
          </a:solidFill>
          <a:ln w="12700">
            <a:solidFill>
              <a:srgbClr val="00A88F"/>
            </a:solidFill>
            <a:prstDash val="solid"/>
          </a:ln>
        </p:spPr>
      </p:sp>
      <p:sp>
        <p:nvSpPr>
          <p:cNvPr id="17" name="Text 15"/>
          <p:cNvSpPr txBox="1"/>
          <p:nvPr/>
        </p:nvSpPr>
        <p:spPr>
          <a:xfrm>
            <a:off x="914400" y="5340096"/>
            <a:ext cx="1828800" cy="237744"/>
          </a:xfrm>
          <a:prstGeom prst="rect">
            <a:avLst/>
          </a:prstGeom>
          <a:noFill/>
          <a:ln/>
        </p:spPr>
        <p:txBody>
          <a:bodyPr wrap="square" lIns="0" tIns="0" rIns="0" bIns="0" rtlCol="0" anchor="t"/>
          <a:lstStyle/>
          <a:p>
            <a:pPr indent="0" marL="0">
              <a:buNone/>
            </a:pPr>
            <a:r>
              <a:rPr lang="en-US" sz="1300" b="1" dirty="0">
                <a:solidFill>
                  <a:srgbClr val="00A88F"/>
                </a:solidFill>
                <a:latin typeface="함초롬돋움" pitchFamily="34" charset="0"/>
                <a:ea typeface="함초롬돋움" pitchFamily="34" charset="-122"/>
                <a:cs typeface="함초롬돋움" pitchFamily="34" charset="-120"/>
              </a:rPr>
              <a:t>학습</a:t>
            </a:r>
            <a:endParaRPr lang="en-US" sz="1300" dirty="0"/>
          </a:p>
        </p:txBody>
      </p:sp>
      <p:sp>
        <p:nvSpPr>
          <p:cNvPr id="18" name="Text 16"/>
          <p:cNvSpPr txBox="1"/>
          <p:nvPr/>
        </p:nvSpPr>
        <p:spPr>
          <a:xfrm>
            <a:off x="914400" y="5596128"/>
            <a:ext cx="2962656" cy="457200"/>
          </a:xfrm>
          <a:prstGeom prst="rect">
            <a:avLst/>
          </a:prstGeom>
          <a:noFill/>
          <a:ln/>
        </p:spPr>
        <p:txBody>
          <a:bodyPr wrap="square" lIns="0" tIns="0" rIns="0" bIns="0" rtlCol="0" anchor="t"/>
          <a:lstStyle/>
          <a:p>
            <a:pPr indent="0" marL="0">
              <a:lnSpc>
                <a:spcPts val="1700"/>
              </a:lnSpc>
              <a:buNone/>
            </a:pPr>
            <a:r>
              <a:rPr lang="en-US" sz="1400" b="1" dirty="0">
                <a:solidFill>
                  <a:srgbClr val="0B2545"/>
                </a:solidFill>
                <a:latin typeface="함초롬돋움" pitchFamily="34" charset="0"/>
                <a:ea typeface="함초롬돋움" pitchFamily="34" charset="-122"/>
                <a:cs typeface="함초롬돋움" pitchFamily="34" charset="-120"/>
              </a:rPr>
              <a:t>정상 수집만큼 실패 상황을 다루는 설계가 중요했다</a:t>
            </a:r>
            <a:endParaRPr lang="en-US" sz="1400" dirty="0"/>
          </a:p>
        </p:txBody>
      </p:sp>
      <p:sp>
        <p:nvSpPr>
          <p:cNvPr id="19" name="Text 17"/>
          <p:cNvSpPr txBox="1"/>
          <p:nvPr/>
        </p:nvSpPr>
        <p:spPr>
          <a:xfrm>
            <a:off x="4443984" y="1938528"/>
            <a:ext cx="1280160" cy="256032"/>
          </a:xfrm>
          <a:prstGeom prst="rect">
            <a:avLst/>
          </a:prstGeom>
          <a:noFill/>
          <a:ln/>
        </p:spPr>
        <p:txBody>
          <a:bodyPr wrap="square" lIns="0" tIns="0" rIns="0" bIns="0" rtlCol="0" anchor="t"/>
          <a:lstStyle/>
          <a:p>
            <a:pPr indent="0" marL="0">
              <a:buNone/>
            </a:pPr>
            <a:r>
              <a:rPr lang="en-US" sz="1400" b="1" dirty="0">
                <a:solidFill>
                  <a:srgbClr val="00A88F"/>
                </a:solidFill>
                <a:latin typeface="함초롬돋움" pitchFamily="34" charset="0"/>
                <a:ea typeface="함초롬돋움" pitchFamily="34" charset="-122"/>
                <a:cs typeface="함초롬돋움" pitchFamily="34" charset="-120"/>
              </a:rPr>
              <a:t>사례 2</a:t>
            </a:r>
            <a:endParaRPr lang="en-US" sz="1400" dirty="0"/>
          </a:p>
        </p:txBody>
      </p:sp>
      <p:sp>
        <p:nvSpPr>
          <p:cNvPr id="20" name="Text 18"/>
          <p:cNvSpPr txBox="1"/>
          <p:nvPr/>
        </p:nvSpPr>
        <p:spPr>
          <a:xfrm>
            <a:off x="4443984" y="2212848"/>
            <a:ext cx="3328416" cy="310896"/>
          </a:xfrm>
          <a:prstGeom prst="rect">
            <a:avLst/>
          </a:prstGeom>
          <a:noFill/>
          <a:ln/>
        </p:spPr>
        <p:txBody>
          <a:bodyPr wrap="square" lIns="0" tIns="0" rIns="0" bIns="0" rtlCol="0" anchor="t"/>
          <a:lstStyle/>
          <a:p>
            <a:pPr indent="0" marL="0">
              <a:buNone/>
            </a:pPr>
            <a:r>
              <a:rPr lang="en-US" sz="1900" b="1" dirty="0">
                <a:solidFill>
                  <a:srgbClr val="0B2545"/>
                </a:solidFill>
                <a:latin typeface="함초롬돋움" pitchFamily="34" charset="0"/>
                <a:ea typeface="함초롬돋움" pitchFamily="34" charset="-122"/>
                <a:cs typeface="함초롬돋움" pitchFamily="34" charset="-120"/>
              </a:rPr>
              <a:t>AI 결과의 신뢰성</a:t>
            </a:r>
            <a:endParaRPr lang="en-US" sz="1900" dirty="0"/>
          </a:p>
        </p:txBody>
      </p:sp>
      <p:sp>
        <p:nvSpPr>
          <p:cNvPr id="21" name="Shape 19"/>
          <p:cNvSpPr/>
          <p:nvPr/>
        </p:nvSpPr>
        <p:spPr>
          <a:xfrm>
            <a:off x="4443984" y="2651760"/>
            <a:ext cx="3328416" cy="914400"/>
          </a:xfrm>
          <a:prstGeom prst="roundRect">
            <a:avLst>
              <a:gd name="adj" fmla="val 5000"/>
            </a:avLst>
          </a:prstGeom>
          <a:solidFill>
            <a:srgbClr val="FAEEED"/>
          </a:solidFill>
          <a:ln w="12700">
            <a:solidFill>
              <a:srgbClr val="EBD2CF"/>
            </a:solidFill>
            <a:prstDash val="solid"/>
          </a:ln>
        </p:spPr>
      </p:sp>
      <p:sp>
        <p:nvSpPr>
          <p:cNvPr id="22" name="Text 20"/>
          <p:cNvSpPr txBox="1"/>
          <p:nvPr/>
        </p:nvSpPr>
        <p:spPr>
          <a:xfrm>
            <a:off x="4626864" y="2761488"/>
            <a:ext cx="1828800" cy="237744"/>
          </a:xfrm>
          <a:prstGeom prst="rect">
            <a:avLst/>
          </a:prstGeom>
          <a:noFill/>
          <a:ln/>
        </p:spPr>
        <p:txBody>
          <a:bodyPr wrap="square" lIns="0" tIns="0" rIns="0" bIns="0" rtlCol="0" anchor="t"/>
          <a:lstStyle/>
          <a:p>
            <a:pPr indent="0" marL="0">
              <a:buNone/>
            </a:pPr>
            <a:r>
              <a:rPr lang="en-US" sz="1300" b="1" dirty="0">
                <a:solidFill>
                  <a:srgbClr val="B4483F"/>
                </a:solidFill>
                <a:latin typeface="함초롬돋움" pitchFamily="34" charset="0"/>
                <a:ea typeface="함초롬돋움" pitchFamily="34" charset="-122"/>
                <a:cs typeface="함초롬돋움" pitchFamily="34" charset="-120"/>
              </a:rPr>
              <a:t>초기 문제</a:t>
            </a:r>
            <a:endParaRPr lang="en-US" sz="1300" dirty="0"/>
          </a:p>
        </p:txBody>
      </p:sp>
      <p:sp>
        <p:nvSpPr>
          <p:cNvPr id="23" name="Text 21"/>
          <p:cNvSpPr txBox="1"/>
          <p:nvPr/>
        </p:nvSpPr>
        <p:spPr>
          <a:xfrm>
            <a:off x="4626864" y="3017520"/>
            <a:ext cx="2962656" cy="457200"/>
          </a:xfrm>
          <a:prstGeom prst="rect">
            <a:avLst/>
          </a:prstGeom>
          <a:noFill/>
          <a:ln/>
        </p:spPr>
        <p:txBody>
          <a:bodyPr wrap="square" lIns="0" tIns="0" rIns="0" bIns="0" rtlCol="0" anchor="t"/>
          <a:lstStyle/>
          <a:p>
            <a:pPr indent="0" marL="0">
              <a:lnSpc>
                <a:spcPts val="1700"/>
              </a:lnSpc>
              <a:buNone/>
            </a:pPr>
            <a:r>
              <a:rPr lang="en-US" sz="1400" dirty="0">
                <a:solidFill>
                  <a:srgbClr val="16273A"/>
                </a:solidFill>
                <a:latin typeface="함초롬돋움" pitchFamily="34" charset="0"/>
                <a:ea typeface="함초롬돋움" pitchFamily="34" charset="-122"/>
                <a:cs typeface="함초롬돋움" pitchFamily="34" charset="-120"/>
              </a:rPr>
              <a:t>결과만 보여주면 사실 검증이 어렵고, 사실과 추론이 섞일 수 있음</a:t>
            </a:r>
            <a:endParaRPr lang="en-US" sz="1400" dirty="0"/>
          </a:p>
        </p:txBody>
      </p:sp>
      <p:sp>
        <p:nvSpPr>
          <p:cNvPr id="24" name="Shape 22"/>
          <p:cNvSpPr/>
          <p:nvPr/>
        </p:nvSpPr>
        <p:spPr>
          <a:xfrm>
            <a:off x="6108192" y="3566160"/>
            <a:ext cx="0" cy="256032"/>
          </a:xfrm>
          <a:prstGeom prst="line">
            <a:avLst/>
          </a:prstGeom>
          <a:noFill/>
          <a:ln w="19050">
            <a:solidFill>
              <a:srgbClr val="6BA6DE"/>
            </a:solidFill>
            <a:prstDash val="solid"/>
          </a:ln>
        </p:spPr>
      </p:sp>
      <p:sp>
        <p:nvSpPr>
          <p:cNvPr id="25" name="Shape 23"/>
          <p:cNvSpPr/>
          <p:nvPr/>
        </p:nvSpPr>
        <p:spPr>
          <a:xfrm>
            <a:off x="4443984" y="3822192"/>
            <a:ext cx="3328416" cy="1152144"/>
          </a:xfrm>
          <a:prstGeom prst="roundRect">
            <a:avLst>
              <a:gd name="adj" fmla="val 3968"/>
            </a:avLst>
          </a:prstGeom>
          <a:solidFill>
            <a:srgbClr val="E9F1F9"/>
          </a:solidFill>
          <a:ln w="12700">
            <a:solidFill>
              <a:srgbClr val="C9DCEE"/>
            </a:solidFill>
            <a:prstDash val="solid"/>
          </a:ln>
        </p:spPr>
      </p:sp>
      <p:sp>
        <p:nvSpPr>
          <p:cNvPr id="26" name="Text 24"/>
          <p:cNvSpPr txBox="1"/>
          <p:nvPr/>
        </p:nvSpPr>
        <p:spPr>
          <a:xfrm>
            <a:off x="4626864" y="3931920"/>
            <a:ext cx="1828800" cy="237744"/>
          </a:xfrm>
          <a:prstGeom prst="rect">
            <a:avLst/>
          </a:prstGeom>
          <a:noFill/>
          <a:ln/>
        </p:spPr>
        <p:txBody>
          <a:bodyPr wrap="square" lIns="0" tIns="0" rIns="0" bIns="0" rtlCol="0" anchor="t"/>
          <a:lstStyle/>
          <a:p>
            <a:pPr indent="0" marL="0">
              <a:buNone/>
            </a:pPr>
            <a:r>
              <a:rPr lang="en-US" sz="1300" b="1" dirty="0">
                <a:solidFill>
                  <a:srgbClr val="1E6FBF"/>
                </a:solidFill>
                <a:latin typeface="함초롬돋움" pitchFamily="34" charset="0"/>
                <a:ea typeface="함초롬돋움" pitchFamily="34" charset="-122"/>
                <a:cs typeface="함초롬돋움" pitchFamily="34" charset="-120"/>
              </a:rPr>
              <a:t>개선</a:t>
            </a:r>
            <a:endParaRPr lang="en-US" sz="1300" dirty="0"/>
          </a:p>
        </p:txBody>
      </p:sp>
      <p:sp>
        <p:nvSpPr>
          <p:cNvPr id="27" name="Text 25"/>
          <p:cNvSpPr txBox="1"/>
          <p:nvPr/>
        </p:nvSpPr>
        <p:spPr>
          <a:xfrm>
            <a:off x="4626864" y="4187952"/>
            <a:ext cx="2962656" cy="694944"/>
          </a:xfrm>
          <a:prstGeom prst="rect">
            <a:avLst/>
          </a:prstGeom>
          <a:noFill/>
          <a:ln/>
        </p:spPr>
        <p:txBody>
          <a:bodyPr wrap="square" lIns="0" tIns="0" rIns="0" bIns="0" rtlCol="0" anchor="t"/>
          <a:lstStyle/>
          <a:p>
            <a:pPr indent="0" marL="0">
              <a:lnSpc>
                <a:spcPts val="1700"/>
              </a:lnSpc>
              <a:buNone/>
            </a:pPr>
            <a:r>
              <a:rPr lang="en-US" sz="1400" dirty="0">
                <a:solidFill>
                  <a:srgbClr val="143A63"/>
                </a:solidFill>
                <a:latin typeface="함초롬돋움" pitchFamily="34" charset="0"/>
                <a:ea typeface="함초롬돋움" pitchFamily="34" charset="-122"/>
                <a:cs typeface="함초롬돋움" pitchFamily="34" charset="-120"/>
              </a:rPr>
              <a:t>원문 링크 제공 · 분석 근거 함께 표시</a:t>
            </a:r>
            <a:endParaRPr lang="en-US" sz="1400" dirty="0"/>
          </a:p>
        </p:txBody>
      </p:sp>
      <p:sp>
        <p:nvSpPr>
          <p:cNvPr id="28" name="Shape 26"/>
          <p:cNvSpPr/>
          <p:nvPr/>
        </p:nvSpPr>
        <p:spPr>
          <a:xfrm>
            <a:off x="6108192" y="4974336"/>
            <a:ext cx="0" cy="256032"/>
          </a:xfrm>
          <a:prstGeom prst="line">
            <a:avLst/>
          </a:prstGeom>
          <a:noFill/>
          <a:ln w="19050">
            <a:solidFill>
              <a:srgbClr val="6BA6DE"/>
            </a:solidFill>
            <a:prstDash val="solid"/>
          </a:ln>
        </p:spPr>
      </p:sp>
      <p:sp>
        <p:nvSpPr>
          <p:cNvPr id="29" name="Shape 27"/>
          <p:cNvSpPr/>
          <p:nvPr/>
        </p:nvSpPr>
        <p:spPr>
          <a:xfrm>
            <a:off x="4443984" y="5230368"/>
            <a:ext cx="3328416" cy="914400"/>
          </a:xfrm>
          <a:prstGeom prst="roundRect">
            <a:avLst>
              <a:gd name="adj" fmla="val 5000"/>
            </a:avLst>
          </a:prstGeom>
          <a:solidFill>
            <a:srgbClr val="E4F4F1"/>
          </a:solidFill>
          <a:ln w="12700">
            <a:solidFill>
              <a:srgbClr val="00A88F"/>
            </a:solidFill>
            <a:prstDash val="solid"/>
          </a:ln>
        </p:spPr>
      </p:sp>
      <p:sp>
        <p:nvSpPr>
          <p:cNvPr id="30" name="Text 28"/>
          <p:cNvSpPr txBox="1"/>
          <p:nvPr/>
        </p:nvSpPr>
        <p:spPr>
          <a:xfrm>
            <a:off x="4626864" y="5340096"/>
            <a:ext cx="1828800" cy="237744"/>
          </a:xfrm>
          <a:prstGeom prst="rect">
            <a:avLst/>
          </a:prstGeom>
          <a:noFill/>
          <a:ln/>
        </p:spPr>
        <p:txBody>
          <a:bodyPr wrap="square" lIns="0" tIns="0" rIns="0" bIns="0" rtlCol="0" anchor="t"/>
          <a:lstStyle/>
          <a:p>
            <a:pPr indent="0" marL="0">
              <a:buNone/>
            </a:pPr>
            <a:r>
              <a:rPr lang="en-US" sz="1300" b="1" dirty="0">
                <a:solidFill>
                  <a:srgbClr val="00A88F"/>
                </a:solidFill>
                <a:latin typeface="함초롬돋움" pitchFamily="34" charset="0"/>
                <a:ea typeface="함초롬돋움" pitchFamily="34" charset="-122"/>
                <a:cs typeface="함초롬돋움" pitchFamily="34" charset="-120"/>
              </a:rPr>
              <a:t>학습</a:t>
            </a:r>
            <a:endParaRPr lang="en-US" sz="1300" dirty="0"/>
          </a:p>
        </p:txBody>
      </p:sp>
      <p:sp>
        <p:nvSpPr>
          <p:cNvPr id="31" name="Text 29"/>
          <p:cNvSpPr txBox="1"/>
          <p:nvPr/>
        </p:nvSpPr>
        <p:spPr>
          <a:xfrm>
            <a:off x="4626864" y="5596128"/>
            <a:ext cx="2962656" cy="457200"/>
          </a:xfrm>
          <a:prstGeom prst="rect">
            <a:avLst/>
          </a:prstGeom>
          <a:noFill/>
          <a:ln/>
        </p:spPr>
        <p:txBody>
          <a:bodyPr wrap="square" lIns="0" tIns="0" rIns="0" bIns="0" rtlCol="0" anchor="t"/>
          <a:lstStyle/>
          <a:p>
            <a:pPr indent="0" marL="0">
              <a:lnSpc>
                <a:spcPts val="1700"/>
              </a:lnSpc>
              <a:buNone/>
            </a:pPr>
            <a:r>
              <a:rPr lang="en-US" sz="1400" b="1" dirty="0">
                <a:solidFill>
                  <a:srgbClr val="0B2545"/>
                </a:solidFill>
                <a:latin typeface="함초롬돋움" pitchFamily="34" charset="0"/>
                <a:ea typeface="함초롬돋움" pitchFamily="34" charset="-122"/>
                <a:cs typeface="함초롬돋움" pitchFamily="34" charset="-120"/>
              </a:rPr>
              <a:t>AI는 판단을 대신하지 않고 검토 시간을 줄인다</a:t>
            </a:r>
            <a:endParaRPr lang="en-US" sz="1400" dirty="0"/>
          </a:p>
        </p:txBody>
      </p:sp>
      <p:sp>
        <p:nvSpPr>
          <p:cNvPr id="32" name="Text 30"/>
          <p:cNvSpPr txBox="1"/>
          <p:nvPr/>
        </p:nvSpPr>
        <p:spPr>
          <a:xfrm>
            <a:off x="8156448" y="1938528"/>
            <a:ext cx="1280160" cy="256032"/>
          </a:xfrm>
          <a:prstGeom prst="rect">
            <a:avLst/>
          </a:prstGeom>
          <a:noFill/>
          <a:ln/>
        </p:spPr>
        <p:txBody>
          <a:bodyPr wrap="square" lIns="0" tIns="0" rIns="0" bIns="0" rtlCol="0" anchor="t"/>
          <a:lstStyle/>
          <a:p>
            <a:pPr indent="0" marL="0">
              <a:buNone/>
            </a:pPr>
            <a:r>
              <a:rPr lang="en-US" sz="1400" b="1" dirty="0">
                <a:solidFill>
                  <a:srgbClr val="00A88F"/>
                </a:solidFill>
                <a:latin typeface="함초롬돋움" pitchFamily="34" charset="0"/>
                <a:ea typeface="함초롬돋움" pitchFamily="34" charset="-122"/>
                <a:cs typeface="함초롬돋움" pitchFamily="34" charset="-120"/>
              </a:rPr>
              <a:t>사례 3</a:t>
            </a:r>
            <a:endParaRPr lang="en-US" sz="1400" dirty="0"/>
          </a:p>
        </p:txBody>
      </p:sp>
      <p:sp>
        <p:nvSpPr>
          <p:cNvPr id="33" name="Text 31"/>
          <p:cNvSpPr txBox="1"/>
          <p:nvPr/>
        </p:nvSpPr>
        <p:spPr>
          <a:xfrm>
            <a:off x="8156448" y="2212848"/>
            <a:ext cx="3328416" cy="310896"/>
          </a:xfrm>
          <a:prstGeom prst="rect">
            <a:avLst/>
          </a:prstGeom>
          <a:noFill/>
          <a:ln/>
        </p:spPr>
        <p:txBody>
          <a:bodyPr wrap="square" lIns="0" tIns="0" rIns="0" bIns="0" rtlCol="0" anchor="t"/>
          <a:lstStyle/>
          <a:p>
            <a:pPr indent="0" marL="0">
              <a:buNone/>
            </a:pPr>
            <a:r>
              <a:rPr lang="en-US" sz="1900" b="1" dirty="0">
                <a:solidFill>
                  <a:srgbClr val="0B2545"/>
                </a:solidFill>
                <a:latin typeface="함초롬돋움" pitchFamily="34" charset="0"/>
                <a:ea typeface="함초롬돋움" pitchFamily="34" charset="-122"/>
                <a:cs typeface="함초롬돋움" pitchFamily="34" charset="-120"/>
              </a:rPr>
              <a:t>사용자 화면 피드백</a:t>
            </a:r>
            <a:endParaRPr lang="en-US" sz="1900" dirty="0"/>
          </a:p>
        </p:txBody>
      </p:sp>
      <p:sp>
        <p:nvSpPr>
          <p:cNvPr id="34" name="Shape 32"/>
          <p:cNvSpPr/>
          <p:nvPr/>
        </p:nvSpPr>
        <p:spPr>
          <a:xfrm>
            <a:off x="8156448" y="2651760"/>
            <a:ext cx="3328416" cy="914400"/>
          </a:xfrm>
          <a:prstGeom prst="roundRect">
            <a:avLst>
              <a:gd name="adj" fmla="val 5000"/>
            </a:avLst>
          </a:prstGeom>
          <a:solidFill>
            <a:srgbClr val="FAEEED"/>
          </a:solidFill>
          <a:ln w="12700">
            <a:solidFill>
              <a:srgbClr val="EBD2CF"/>
            </a:solidFill>
            <a:prstDash val="solid"/>
          </a:ln>
        </p:spPr>
      </p:sp>
      <p:sp>
        <p:nvSpPr>
          <p:cNvPr id="35" name="Text 33"/>
          <p:cNvSpPr txBox="1"/>
          <p:nvPr/>
        </p:nvSpPr>
        <p:spPr>
          <a:xfrm>
            <a:off x="8339328" y="2761488"/>
            <a:ext cx="1828800" cy="237744"/>
          </a:xfrm>
          <a:prstGeom prst="rect">
            <a:avLst/>
          </a:prstGeom>
          <a:noFill/>
          <a:ln/>
        </p:spPr>
        <p:txBody>
          <a:bodyPr wrap="square" lIns="0" tIns="0" rIns="0" bIns="0" rtlCol="0" anchor="t"/>
          <a:lstStyle/>
          <a:p>
            <a:pPr indent="0" marL="0">
              <a:buNone/>
            </a:pPr>
            <a:r>
              <a:rPr lang="en-US" sz="1300" b="1" dirty="0">
                <a:solidFill>
                  <a:srgbClr val="B4483F"/>
                </a:solidFill>
                <a:latin typeface="함초롬돋움" pitchFamily="34" charset="0"/>
                <a:ea typeface="함초롬돋움" pitchFamily="34" charset="-122"/>
                <a:cs typeface="함초롬돋움" pitchFamily="34" charset="-120"/>
              </a:rPr>
              <a:t>초기 문제</a:t>
            </a:r>
            <a:endParaRPr lang="en-US" sz="1300" dirty="0"/>
          </a:p>
        </p:txBody>
      </p:sp>
      <p:sp>
        <p:nvSpPr>
          <p:cNvPr id="36" name="Text 34"/>
          <p:cNvSpPr txBox="1"/>
          <p:nvPr/>
        </p:nvSpPr>
        <p:spPr>
          <a:xfrm>
            <a:off x="8339328" y="3017520"/>
            <a:ext cx="2962656" cy="457200"/>
          </a:xfrm>
          <a:prstGeom prst="rect">
            <a:avLst/>
          </a:prstGeom>
          <a:noFill/>
          <a:ln/>
        </p:spPr>
        <p:txBody>
          <a:bodyPr wrap="square" lIns="0" tIns="0" rIns="0" bIns="0" rtlCol="0" anchor="t"/>
          <a:lstStyle/>
          <a:p>
            <a:pPr indent="0" marL="0">
              <a:lnSpc>
                <a:spcPts val="1700"/>
              </a:lnSpc>
              <a:buNone/>
            </a:pPr>
            <a:r>
              <a:rPr lang="en-US" sz="1400" dirty="0">
                <a:solidFill>
                  <a:srgbClr val="16273A"/>
                </a:solidFill>
                <a:latin typeface="함초롬돋움" pitchFamily="34" charset="0"/>
                <a:ea typeface="함초롬돋움" pitchFamily="34" charset="-122"/>
                <a:cs typeface="함초롬돋움" pitchFamily="34" charset="-120"/>
              </a:rPr>
              <a:t>정보와 장식이 많아 핵심에 집중하기 어렵다는 의견</a:t>
            </a:r>
            <a:endParaRPr lang="en-US" sz="1400" dirty="0"/>
          </a:p>
        </p:txBody>
      </p:sp>
      <p:sp>
        <p:nvSpPr>
          <p:cNvPr id="37" name="Shape 35"/>
          <p:cNvSpPr/>
          <p:nvPr/>
        </p:nvSpPr>
        <p:spPr>
          <a:xfrm>
            <a:off x="9820656" y="3566160"/>
            <a:ext cx="0" cy="256032"/>
          </a:xfrm>
          <a:prstGeom prst="line">
            <a:avLst/>
          </a:prstGeom>
          <a:noFill/>
          <a:ln w="19050">
            <a:solidFill>
              <a:srgbClr val="6BA6DE"/>
            </a:solidFill>
            <a:prstDash val="solid"/>
          </a:ln>
        </p:spPr>
      </p:sp>
      <p:sp>
        <p:nvSpPr>
          <p:cNvPr id="38" name="Shape 36"/>
          <p:cNvSpPr/>
          <p:nvPr/>
        </p:nvSpPr>
        <p:spPr>
          <a:xfrm>
            <a:off x="8156448" y="3822192"/>
            <a:ext cx="3328416" cy="1152144"/>
          </a:xfrm>
          <a:prstGeom prst="roundRect">
            <a:avLst>
              <a:gd name="adj" fmla="val 3968"/>
            </a:avLst>
          </a:prstGeom>
          <a:solidFill>
            <a:srgbClr val="E9F1F9"/>
          </a:solidFill>
          <a:ln w="12700">
            <a:solidFill>
              <a:srgbClr val="C9DCEE"/>
            </a:solidFill>
            <a:prstDash val="solid"/>
          </a:ln>
        </p:spPr>
      </p:sp>
      <p:sp>
        <p:nvSpPr>
          <p:cNvPr id="39" name="Text 37"/>
          <p:cNvSpPr txBox="1"/>
          <p:nvPr/>
        </p:nvSpPr>
        <p:spPr>
          <a:xfrm>
            <a:off x="8339328" y="3931920"/>
            <a:ext cx="1828800" cy="237744"/>
          </a:xfrm>
          <a:prstGeom prst="rect">
            <a:avLst/>
          </a:prstGeom>
          <a:noFill/>
          <a:ln/>
        </p:spPr>
        <p:txBody>
          <a:bodyPr wrap="square" lIns="0" tIns="0" rIns="0" bIns="0" rtlCol="0" anchor="t"/>
          <a:lstStyle/>
          <a:p>
            <a:pPr indent="0" marL="0">
              <a:buNone/>
            </a:pPr>
            <a:r>
              <a:rPr lang="en-US" sz="1300" b="1" dirty="0">
                <a:solidFill>
                  <a:srgbClr val="1E6FBF"/>
                </a:solidFill>
                <a:latin typeface="함초롬돋움" pitchFamily="34" charset="0"/>
                <a:ea typeface="함초롬돋움" pitchFamily="34" charset="-122"/>
                <a:cs typeface="함초롬돋움" pitchFamily="34" charset="-120"/>
              </a:rPr>
              <a:t>개선</a:t>
            </a:r>
            <a:endParaRPr lang="en-US" sz="1300" dirty="0"/>
          </a:p>
        </p:txBody>
      </p:sp>
      <p:sp>
        <p:nvSpPr>
          <p:cNvPr id="40" name="Text 38"/>
          <p:cNvSpPr txBox="1"/>
          <p:nvPr/>
        </p:nvSpPr>
        <p:spPr>
          <a:xfrm>
            <a:off x="8339328" y="4187952"/>
            <a:ext cx="2962656" cy="694944"/>
          </a:xfrm>
          <a:prstGeom prst="rect">
            <a:avLst/>
          </a:prstGeom>
          <a:noFill/>
          <a:ln/>
        </p:spPr>
        <p:txBody>
          <a:bodyPr wrap="square" lIns="0" tIns="0" rIns="0" bIns="0" rtlCol="0" anchor="t"/>
          <a:lstStyle/>
          <a:p>
            <a:pPr indent="0" marL="0">
              <a:lnSpc>
                <a:spcPts val="1700"/>
              </a:lnSpc>
              <a:buNone/>
            </a:pPr>
            <a:r>
              <a:rPr lang="en-US" sz="1400" dirty="0">
                <a:solidFill>
                  <a:srgbClr val="143A63"/>
                </a:solidFill>
                <a:latin typeface="함초롬돋움" pitchFamily="34" charset="0"/>
                <a:ea typeface="함초롬돋움" pitchFamily="34" charset="-122"/>
                <a:cs typeface="함초롬돋움" pitchFamily="34" charset="-120"/>
              </a:rPr>
              <a:t>불필요한 배너 · 버튼 제거 · 핵심 정보를 상단 배치</a:t>
            </a:r>
            <a:endParaRPr lang="en-US" sz="1400" dirty="0"/>
          </a:p>
        </p:txBody>
      </p:sp>
      <p:sp>
        <p:nvSpPr>
          <p:cNvPr id="41" name="Shape 39"/>
          <p:cNvSpPr/>
          <p:nvPr/>
        </p:nvSpPr>
        <p:spPr>
          <a:xfrm>
            <a:off x="9820656" y="4974336"/>
            <a:ext cx="0" cy="256032"/>
          </a:xfrm>
          <a:prstGeom prst="line">
            <a:avLst/>
          </a:prstGeom>
          <a:noFill/>
          <a:ln w="19050">
            <a:solidFill>
              <a:srgbClr val="6BA6DE"/>
            </a:solidFill>
            <a:prstDash val="solid"/>
          </a:ln>
        </p:spPr>
      </p:sp>
      <p:sp>
        <p:nvSpPr>
          <p:cNvPr id="42" name="Shape 40"/>
          <p:cNvSpPr/>
          <p:nvPr/>
        </p:nvSpPr>
        <p:spPr>
          <a:xfrm>
            <a:off x="8156448" y="5230368"/>
            <a:ext cx="3328416" cy="914400"/>
          </a:xfrm>
          <a:prstGeom prst="roundRect">
            <a:avLst>
              <a:gd name="adj" fmla="val 5000"/>
            </a:avLst>
          </a:prstGeom>
          <a:solidFill>
            <a:srgbClr val="E4F4F1"/>
          </a:solidFill>
          <a:ln w="12700">
            <a:solidFill>
              <a:srgbClr val="00A88F"/>
            </a:solidFill>
            <a:prstDash val="solid"/>
          </a:ln>
        </p:spPr>
      </p:sp>
      <p:sp>
        <p:nvSpPr>
          <p:cNvPr id="43" name="Text 41"/>
          <p:cNvSpPr txBox="1"/>
          <p:nvPr/>
        </p:nvSpPr>
        <p:spPr>
          <a:xfrm>
            <a:off x="8339328" y="5340096"/>
            <a:ext cx="1828800" cy="237744"/>
          </a:xfrm>
          <a:prstGeom prst="rect">
            <a:avLst/>
          </a:prstGeom>
          <a:noFill/>
          <a:ln/>
        </p:spPr>
        <p:txBody>
          <a:bodyPr wrap="square" lIns="0" tIns="0" rIns="0" bIns="0" rtlCol="0" anchor="t"/>
          <a:lstStyle/>
          <a:p>
            <a:pPr indent="0" marL="0">
              <a:buNone/>
            </a:pPr>
            <a:r>
              <a:rPr lang="en-US" sz="1300" b="1" dirty="0">
                <a:solidFill>
                  <a:srgbClr val="00A88F"/>
                </a:solidFill>
                <a:latin typeface="함초롬돋움" pitchFamily="34" charset="0"/>
                <a:ea typeface="함초롬돋움" pitchFamily="34" charset="-122"/>
                <a:cs typeface="함초롬돋움" pitchFamily="34" charset="-120"/>
              </a:rPr>
              <a:t>학습</a:t>
            </a:r>
            <a:endParaRPr lang="en-US" sz="1300" dirty="0"/>
          </a:p>
        </p:txBody>
      </p:sp>
      <p:sp>
        <p:nvSpPr>
          <p:cNvPr id="44" name="Text 42"/>
          <p:cNvSpPr txBox="1"/>
          <p:nvPr/>
        </p:nvSpPr>
        <p:spPr>
          <a:xfrm>
            <a:off x="8339328" y="5596128"/>
            <a:ext cx="2962656" cy="457200"/>
          </a:xfrm>
          <a:prstGeom prst="rect">
            <a:avLst/>
          </a:prstGeom>
          <a:noFill/>
          <a:ln/>
        </p:spPr>
        <p:txBody>
          <a:bodyPr wrap="square" lIns="0" tIns="0" rIns="0" bIns="0" rtlCol="0" anchor="t"/>
          <a:lstStyle/>
          <a:p>
            <a:pPr indent="0" marL="0">
              <a:lnSpc>
                <a:spcPts val="1700"/>
              </a:lnSpc>
              <a:buNone/>
            </a:pPr>
            <a:r>
              <a:rPr lang="en-US" sz="1400" b="1" dirty="0">
                <a:solidFill>
                  <a:srgbClr val="0B2545"/>
                </a:solidFill>
                <a:latin typeface="함초롬돋움" pitchFamily="34" charset="0"/>
                <a:ea typeface="함초롬돋움" pitchFamily="34" charset="-122"/>
                <a:cs typeface="함초롬돋움" pitchFamily="34" charset="-120"/>
              </a:rPr>
              <a:t>덜어내는 것도 중요한 개선이었다</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indent="0" marL="0">
              <a:buNone/>
            </a:pPr>
            <a:r>
              <a:rPr lang="en-US" sz="3200" b="1" dirty="0">
                <a:solidFill>
                  <a:srgbClr val="0B2545"/>
                </a:solidFill>
                <a:latin typeface="함초롬돋움" pitchFamily="34" charset="0"/>
                <a:ea typeface="함초롬돋움" pitchFamily="34" charset="-122"/>
                <a:cs typeface="함초롬돋움" pitchFamily="34" charset="-120"/>
              </a:rPr>
              <a:t>시장 신호 발견부터 임플리케이션 확인까지</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indent="0" marL="0">
              <a:buNone/>
            </a:pPr>
            <a:r>
              <a:rPr lang="en-US" sz="1800" dirty="0">
                <a:solidFill>
                  <a:srgbClr val="5A6B7C"/>
                </a:solidFill>
                <a:latin typeface="함초롬돋움" pitchFamily="34" charset="0"/>
                <a:ea typeface="함초롬돋움" pitchFamily="34" charset="-122"/>
                <a:cs typeface="함초롬돋움" pitchFamily="34" charset="-120"/>
              </a:rPr>
              <a:t>여러 사이트를 이동하지 않고 한 흐름에서 변화와 사업적 의미를 확인합니다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algn="r" indent="0" marL="0">
              <a:buNone/>
            </a:pPr>
            <a:r>
              <a:rPr lang="en-US" sz="1300" dirty="0">
                <a:solidFill>
                  <a:srgbClr val="8B9BAA"/>
                </a:solidFill>
                <a:latin typeface="함초롬돋움" pitchFamily="34" charset="0"/>
                <a:ea typeface="함초롬돋움" pitchFamily="34" charset="-122"/>
                <a:cs typeface="함초롬돋움" pitchFamily="34" charset="-120"/>
              </a:rPr>
              <a:t>07</a:t>
            </a:r>
            <a:endParaRPr lang="en-US" sz="1300" dirty="0"/>
          </a:p>
        </p:txBody>
      </p:sp>
      <p:sp>
        <p:nvSpPr>
          <p:cNvPr id="6" name="Shape 4"/>
          <p:cNvSpPr/>
          <p:nvPr/>
        </p:nvSpPr>
        <p:spPr>
          <a:xfrm>
            <a:off x="704088" y="2075688"/>
            <a:ext cx="6821424" cy="3861511"/>
          </a:xfrm>
          <a:prstGeom prst="rect">
            <a:avLst/>
          </a:prstGeom>
          <a:solidFill>
            <a:srgbClr val="0B2545"/>
          </a:solidFill>
          <a:ln w="12700">
            <a:solidFill>
              <a:srgbClr val="0B2545"/>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31520" y="2103120"/>
            <a:ext cx="6766560" cy="3806647"/>
          </a:xfrm>
          <a:prstGeom prst="rect">
            <a:avLst/>
          </a:prstGeom>
        </p:spPr>
      </p:pic>
      <p:sp>
        <p:nvSpPr>
          <p:cNvPr id="8" name="Text 5"/>
          <p:cNvSpPr txBox="1"/>
          <p:nvPr/>
        </p:nvSpPr>
        <p:spPr>
          <a:xfrm>
            <a:off x="731520" y="5980176"/>
            <a:ext cx="6766560" cy="256032"/>
          </a:xfrm>
          <a:prstGeom prst="rect">
            <a:avLst/>
          </a:prstGeom>
          <a:noFill/>
          <a:ln/>
        </p:spPr>
        <p:txBody>
          <a:bodyPr wrap="square" lIns="0" tIns="0" rIns="0" bIns="0" rtlCol="0" anchor="t"/>
          <a:lstStyle/>
          <a:p>
            <a:pPr indent="0" marL="0">
              <a:buNone/>
            </a:pPr>
            <a:r>
              <a:rPr lang="en-US" sz="1350" dirty="0">
                <a:solidFill>
                  <a:srgbClr val="8B9BAA"/>
                </a:solidFill>
                <a:latin typeface="함초롬돋움" pitchFamily="34" charset="0"/>
                <a:ea typeface="함초롬돋움" pitchFamily="34" charset="-122"/>
                <a:cs typeface="함초롬돋움" pitchFamily="34" charset="-120"/>
              </a:rPr>
              <a:t>실제 화면 시연 · 30초 (재생 버튼을 눌러 시작)</a:t>
            </a:r>
            <a:endParaRPr lang="en-US" sz="1350" dirty="0"/>
          </a:p>
        </p:txBody>
      </p:sp>
      <p:sp>
        <p:nvSpPr>
          <p:cNvPr id="9" name="Text 6"/>
          <p:cNvSpPr txBox="1"/>
          <p:nvPr/>
        </p:nvSpPr>
        <p:spPr>
          <a:xfrm>
            <a:off x="7799832" y="2084832"/>
            <a:ext cx="3657600" cy="292608"/>
          </a:xfrm>
          <a:prstGeom prst="rect">
            <a:avLst/>
          </a:prstGeom>
          <a:noFill/>
          <a:ln/>
        </p:spPr>
        <p:txBody>
          <a:bodyPr wrap="square" lIns="0" tIns="0" rIns="0" bIns="0" rtlCol="0" anchor="t"/>
          <a:lstStyle/>
          <a:p>
            <a:pPr indent="0" marL="0">
              <a:buNone/>
            </a:pPr>
            <a:r>
              <a:rPr lang="en-US" sz="1800" b="1" dirty="0">
                <a:solidFill>
                  <a:srgbClr val="0B2545"/>
                </a:solidFill>
                <a:latin typeface="함초롬돋움" pitchFamily="34" charset="0"/>
                <a:ea typeface="함초롬돋움" pitchFamily="34" charset="-122"/>
                <a:cs typeface="함초롬돋움" pitchFamily="34" charset="-120"/>
              </a:rPr>
              <a:t>사용 흐름</a:t>
            </a:r>
            <a:endParaRPr lang="en-US" sz="1800" dirty="0"/>
          </a:p>
        </p:txBody>
      </p:sp>
      <p:sp>
        <p:nvSpPr>
          <p:cNvPr id="10" name="Shape 7"/>
          <p:cNvSpPr/>
          <p:nvPr/>
        </p:nvSpPr>
        <p:spPr>
          <a:xfrm>
            <a:off x="7799832" y="2487168"/>
            <a:ext cx="3657600" cy="402336"/>
          </a:xfrm>
          <a:prstGeom prst="roundRect">
            <a:avLst>
              <a:gd name="adj" fmla="val 11364"/>
            </a:avLst>
          </a:prstGeom>
          <a:solidFill>
            <a:srgbClr val="FFFFFF"/>
          </a:solidFill>
          <a:ln w="12700">
            <a:solidFill>
              <a:srgbClr val="D2DEEA"/>
            </a:solidFill>
            <a:prstDash val="solid"/>
          </a:ln>
        </p:spPr>
      </p:sp>
      <p:sp>
        <p:nvSpPr>
          <p:cNvPr id="11" name="Text 8"/>
          <p:cNvSpPr txBox="1"/>
          <p:nvPr/>
        </p:nvSpPr>
        <p:spPr>
          <a:xfrm>
            <a:off x="7964424" y="2569464"/>
            <a:ext cx="274320" cy="237744"/>
          </a:xfrm>
          <a:prstGeom prst="rect">
            <a:avLst/>
          </a:prstGeom>
          <a:noFill/>
          <a:ln/>
        </p:spPr>
        <p:txBody>
          <a:bodyPr wrap="square" lIns="0" tIns="0" rIns="0" bIns="0" rtlCol="0" anchor="t"/>
          <a:lstStyle/>
          <a:p>
            <a:pPr indent="0" marL="0">
              <a:buNone/>
            </a:pPr>
            <a:r>
              <a:rPr lang="en-US" sz="1300" b="1" dirty="0">
                <a:solidFill>
                  <a:srgbClr val="1E6FBF"/>
                </a:solidFill>
                <a:latin typeface="함초롬돋움" pitchFamily="34" charset="0"/>
                <a:ea typeface="함초롬돋움" pitchFamily="34" charset="-122"/>
                <a:cs typeface="함초롬돋움" pitchFamily="34" charset="-120"/>
              </a:rPr>
              <a:t>1</a:t>
            </a:r>
            <a:endParaRPr lang="en-US" sz="1300" dirty="0"/>
          </a:p>
        </p:txBody>
      </p:sp>
      <p:sp>
        <p:nvSpPr>
          <p:cNvPr id="12" name="Text 9"/>
          <p:cNvSpPr txBox="1"/>
          <p:nvPr/>
        </p:nvSpPr>
        <p:spPr>
          <a:xfrm>
            <a:off x="8275320" y="2560320"/>
            <a:ext cx="3017520" cy="256032"/>
          </a:xfrm>
          <a:prstGeom prst="rect">
            <a:avLst/>
          </a:prstGeom>
          <a:noFill/>
          <a:ln/>
        </p:spPr>
        <p:txBody>
          <a:bodyPr wrap="square" lIns="0" tIns="0" rIns="0" bIns="0" rtlCol="0" anchor="t"/>
          <a:lstStyle/>
          <a:p>
            <a:pPr indent="0" marL="0">
              <a:buNone/>
            </a:pPr>
            <a:r>
              <a:rPr lang="en-US" sz="1450" b="1" dirty="0">
                <a:solidFill>
                  <a:srgbClr val="16273A"/>
                </a:solidFill>
                <a:latin typeface="함초롬돋움" pitchFamily="34" charset="0"/>
                <a:ea typeface="함초롬돋움" pitchFamily="34" charset="-122"/>
                <a:cs typeface="함초롬돋움" pitchFamily="34" charset="-120"/>
              </a:rPr>
              <a:t>모니터링 기업 선택</a:t>
            </a:r>
            <a:endParaRPr lang="en-US" sz="1450" dirty="0"/>
          </a:p>
        </p:txBody>
      </p:sp>
      <p:sp>
        <p:nvSpPr>
          <p:cNvPr id="13" name="Shape 10"/>
          <p:cNvSpPr/>
          <p:nvPr/>
        </p:nvSpPr>
        <p:spPr>
          <a:xfrm>
            <a:off x="9628632" y="2889504"/>
            <a:ext cx="0" cy="73152"/>
          </a:xfrm>
          <a:prstGeom prst="line">
            <a:avLst/>
          </a:prstGeom>
          <a:noFill/>
          <a:ln w="19050">
            <a:solidFill>
              <a:srgbClr val="6BA6DE"/>
            </a:solidFill>
            <a:prstDash val="solid"/>
          </a:ln>
        </p:spPr>
      </p:sp>
      <p:sp>
        <p:nvSpPr>
          <p:cNvPr id="14" name="Shape 11"/>
          <p:cNvSpPr/>
          <p:nvPr/>
        </p:nvSpPr>
        <p:spPr>
          <a:xfrm>
            <a:off x="7799832" y="2962656"/>
            <a:ext cx="3657600" cy="402336"/>
          </a:xfrm>
          <a:prstGeom prst="roundRect">
            <a:avLst>
              <a:gd name="adj" fmla="val 11364"/>
            </a:avLst>
          </a:prstGeom>
          <a:solidFill>
            <a:srgbClr val="FFFFFF"/>
          </a:solidFill>
          <a:ln w="12700">
            <a:solidFill>
              <a:srgbClr val="D2DEEA"/>
            </a:solidFill>
            <a:prstDash val="solid"/>
          </a:ln>
        </p:spPr>
      </p:sp>
      <p:sp>
        <p:nvSpPr>
          <p:cNvPr id="15" name="Text 12"/>
          <p:cNvSpPr txBox="1"/>
          <p:nvPr/>
        </p:nvSpPr>
        <p:spPr>
          <a:xfrm>
            <a:off x="7964424" y="3044952"/>
            <a:ext cx="274320" cy="237744"/>
          </a:xfrm>
          <a:prstGeom prst="rect">
            <a:avLst/>
          </a:prstGeom>
          <a:noFill/>
          <a:ln/>
        </p:spPr>
        <p:txBody>
          <a:bodyPr wrap="square" lIns="0" tIns="0" rIns="0" bIns="0" rtlCol="0" anchor="t"/>
          <a:lstStyle/>
          <a:p>
            <a:pPr indent="0" marL="0">
              <a:buNone/>
            </a:pPr>
            <a:r>
              <a:rPr lang="en-US" sz="1300" b="1" dirty="0">
                <a:solidFill>
                  <a:srgbClr val="1E6FBF"/>
                </a:solidFill>
                <a:latin typeface="함초롬돋움" pitchFamily="34" charset="0"/>
                <a:ea typeface="함초롬돋움" pitchFamily="34" charset="-122"/>
                <a:cs typeface="함초롬돋움" pitchFamily="34" charset="-120"/>
              </a:rPr>
              <a:t>2</a:t>
            </a:r>
            <a:endParaRPr lang="en-US" sz="1300" dirty="0"/>
          </a:p>
        </p:txBody>
      </p:sp>
      <p:sp>
        <p:nvSpPr>
          <p:cNvPr id="16" name="Text 13"/>
          <p:cNvSpPr txBox="1"/>
          <p:nvPr/>
        </p:nvSpPr>
        <p:spPr>
          <a:xfrm>
            <a:off x="8275320" y="3035808"/>
            <a:ext cx="3017520" cy="256032"/>
          </a:xfrm>
          <a:prstGeom prst="rect">
            <a:avLst/>
          </a:prstGeom>
          <a:noFill/>
          <a:ln/>
        </p:spPr>
        <p:txBody>
          <a:bodyPr wrap="square" lIns="0" tIns="0" rIns="0" bIns="0" rtlCol="0" anchor="t"/>
          <a:lstStyle/>
          <a:p>
            <a:pPr indent="0" marL="0">
              <a:buNone/>
            </a:pPr>
            <a:r>
              <a:rPr lang="en-US" sz="1450" b="1" dirty="0">
                <a:solidFill>
                  <a:srgbClr val="16273A"/>
                </a:solidFill>
                <a:latin typeface="함초롬돋움" pitchFamily="34" charset="0"/>
                <a:ea typeface="함초롬돋움" pitchFamily="34" charset="-122"/>
                <a:cs typeface="함초롬돋움" pitchFamily="34" charset="-120"/>
              </a:rPr>
              <a:t>공시 · 뉴스 확인</a:t>
            </a:r>
            <a:endParaRPr lang="en-US" sz="1450" dirty="0"/>
          </a:p>
        </p:txBody>
      </p:sp>
      <p:sp>
        <p:nvSpPr>
          <p:cNvPr id="17" name="Shape 14"/>
          <p:cNvSpPr/>
          <p:nvPr/>
        </p:nvSpPr>
        <p:spPr>
          <a:xfrm>
            <a:off x="9628632" y="3364992"/>
            <a:ext cx="0" cy="73152"/>
          </a:xfrm>
          <a:prstGeom prst="line">
            <a:avLst/>
          </a:prstGeom>
          <a:noFill/>
          <a:ln w="19050">
            <a:solidFill>
              <a:srgbClr val="6BA6DE"/>
            </a:solidFill>
            <a:prstDash val="solid"/>
          </a:ln>
        </p:spPr>
      </p:sp>
      <p:sp>
        <p:nvSpPr>
          <p:cNvPr id="18" name="Shape 15"/>
          <p:cNvSpPr/>
          <p:nvPr/>
        </p:nvSpPr>
        <p:spPr>
          <a:xfrm>
            <a:off x="7799832" y="3438144"/>
            <a:ext cx="3657600" cy="402336"/>
          </a:xfrm>
          <a:prstGeom prst="roundRect">
            <a:avLst>
              <a:gd name="adj" fmla="val 11364"/>
            </a:avLst>
          </a:prstGeom>
          <a:solidFill>
            <a:srgbClr val="FFFFFF"/>
          </a:solidFill>
          <a:ln w="12700">
            <a:solidFill>
              <a:srgbClr val="D2DEEA"/>
            </a:solidFill>
            <a:prstDash val="solid"/>
          </a:ln>
        </p:spPr>
      </p:sp>
      <p:sp>
        <p:nvSpPr>
          <p:cNvPr id="19" name="Text 16"/>
          <p:cNvSpPr txBox="1"/>
          <p:nvPr/>
        </p:nvSpPr>
        <p:spPr>
          <a:xfrm>
            <a:off x="7964424" y="3520440"/>
            <a:ext cx="274320" cy="237744"/>
          </a:xfrm>
          <a:prstGeom prst="rect">
            <a:avLst/>
          </a:prstGeom>
          <a:noFill/>
          <a:ln/>
        </p:spPr>
        <p:txBody>
          <a:bodyPr wrap="square" lIns="0" tIns="0" rIns="0" bIns="0" rtlCol="0" anchor="t"/>
          <a:lstStyle/>
          <a:p>
            <a:pPr indent="0" marL="0">
              <a:buNone/>
            </a:pPr>
            <a:r>
              <a:rPr lang="en-US" sz="1300" b="1" dirty="0">
                <a:solidFill>
                  <a:srgbClr val="1E6FBF"/>
                </a:solidFill>
                <a:latin typeface="함초롬돋움" pitchFamily="34" charset="0"/>
                <a:ea typeface="함초롬돋움" pitchFamily="34" charset="-122"/>
                <a:cs typeface="함초롬돋움" pitchFamily="34" charset="-120"/>
              </a:rPr>
              <a:t>3</a:t>
            </a:r>
            <a:endParaRPr lang="en-US" sz="1300" dirty="0"/>
          </a:p>
        </p:txBody>
      </p:sp>
      <p:sp>
        <p:nvSpPr>
          <p:cNvPr id="20" name="Text 17"/>
          <p:cNvSpPr txBox="1"/>
          <p:nvPr/>
        </p:nvSpPr>
        <p:spPr>
          <a:xfrm>
            <a:off x="8275320" y="3511296"/>
            <a:ext cx="3017520" cy="256032"/>
          </a:xfrm>
          <a:prstGeom prst="rect">
            <a:avLst/>
          </a:prstGeom>
          <a:noFill/>
          <a:ln/>
        </p:spPr>
        <p:txBody>
          <a:bodyPr wrap="square" lIns="0" tIns="0" rIns="0" bIns="0" rtlCol="0" anchor="t"/>
          <a:lstStyle/>
          <a:p>
            <a:pPr indent="0" marL="0">
              <a:buNone/>
            </a:pPr>
            <a:r>
              <a:rPr lang="en-US" sz="1450" b="1" dirty="0">
                <a:solidFill>
                  <a:srgbClr val="16273A"/>
                </a:solidFill>
                <a:latin typeface="함초롬돋움" pitchFamily="34" charset="0"/>
                <a:ea typeface="함초롬돋움" pitchFamily="34" charset="-122"/>
                <a:cs typeface="함초롬돋움" pitchFamily="34" charset="-120"/>
              </a:rPr>
              <a:t>히트맵에서 위험 확인</a:t>
            </a:r>
            <a:endParaRPr lang="en-US" sz="1450" dirty="0"/>
          </a:p>
        </p:txBody>
      </p:sp>
      <p:sp>
        <p:nvSpPr>
          <p:cNvPr id="21" name="Shape 18"/>
          <p:cNvSpPr/>
          <p:nvPr/>
        </p:nvSpPr>
        <p:spPr>
          <a:xfrm>
            <a:off x="9628632" y="3840480"/>
            <a:ext cx="0" cy="73152"/>
          </a:xfrm>
          <a:prstGeom prst="line">
            <a:avLst/>
          </a:prstGeom>
          <a:noFill/>
          <a:ln w="19050">
            <a:solidFill>
              <a:srgbClr val="6BA6DE"/>
            </a:solidFill>
            <a:prstDash val="solid"/>
          </a:ln>
        </p:spPr>
      </p:sp>
      <p:sp>
        <p:nvSpPr>
          <p:cNvPr id="22" name="Shape 19"/>
          <p:cNvSpPr/>
          <p:nvPr/>
        </p:nvSpPr>
        <p:spPr>
          <a:xfrm>
            <a:off x="7799832" y="3913632"/>
            <a:ext cx="3657600" cy="402336"/>
          </a:xfrm>
          <a:prstGeom prst="roundRect">
            <a:avLst>
              <a:gd name="adj" fmla="val 11364"/>
            </a:avLst>
          </a:prstGeom>
          <a:solidFill>
            <a:srgbClr val="FFFFFF"/>
          </a:solidFill>
          <a:ln w="12700">
            <a:solidFill>
              <a:srgbClr val="D2DEEA"/>
            </a:solidFill>
            <a:prstDash val="solid"/>
          </a:ln>
        </p:spPr>
      </p:sp>
      <p:sp>
        <p:nvSpPr>
          <p:cNvPr id="23" name="Text 20"/>
          <p:cNvSpPr txBox="1"/>
          <p:nvPr/>
        </p:nvSpPr>
        <p:spPr>
          <a:xfrm>
            <a:off x="7964424" y="3995928"/>
            <a:ext cx="274320" cy="237744"/>
          </a:xfrm>
          <a:prstGeom prst="rect">
            <a:avLst/>
          </a:prstGeom>
          <a:noFill/>
          <a:ln/>
        </p:spPr>
        <p:txBody>
          <a:bodyPr wrap="square" lIns="0" tIns="0" rIns="0" bIns="0" rtlCol="0" anchor="t"/>
          <a:lstStyle/>
          <a:p>
            <a:pPr indent="0" marL="0">
              <a:buNone/>
            </a:pPr>
            <a:r>
              <a:rPr lang="en-US" sz="1300" b="1" dirty="0">
                <a:solidFill>
                  <a:srgbClr val="1E6FBF"/>
                </a:solidFill>
                <a:latin typeface="함초롬돋움" pitchFamily="34" charset="0"/>
                <a:ea typeface="함초롬돋움" pitchFamily="34" charset="-122"/>
                <a:cs typeface="함초롬돋움" pitchFamily="34" charset="-120"/>
              </a:rPr>
              <a:t>4</a:t>
            </a:r>
            <a:endParaRPr lang="en-US" sz="1300" dirty="0"/>
          </a:p>
        </p:txBody>
      </p:sp>
      <p:sp>
        <p:nvSpPr>
          <p:cNvPr id="24" name="Text 21"/>
          <p:cNvSpPr txBox="1"/>
          <p:nvPr/>
        </p:nvSpPr>
        <p:spPr>
          <a:xfrm>
            <a:off x="8275320" y="3986784"/>
            <a:ext cx="3017520" cy="256032"/>
          </a:xfrm>
          <a:prstGeom prst="rect">
            <a:avLst/>
          </a:prstGeom>
          <a:noFill/>
          <a:ln/>
        </p:spPr>
        <p:txBody>
          <a:bodyPr wrap="square" lIns="0" tIns="0" rIns="0" bIns="0" rtlCol="0" anchor="t"/>
          <a:lstStyle/>
          <a:p>
            <a:pPr indent="0" marL="0">
              <a:buNone/>
            </a:pPr>
            <a:r>
              <a:rPr lang="en-US" sz="1450" b="1" dirty="0">
                <a:solidFill>
                  <a:srgbClr val="16273A"/>
                </a:solidFill>
                <a:latin typeface="함초롬돋움" pitchFamily="34" charset="0"/>
                <a:ea typeface="함초롬돋움" pitchFamily="34" charset="-122"/>
                <a:cs typeface="함초롬돋움" pitchFamily="34" charset="-120"/>
              </a:rPr>
              <a:t>AI 임플리케이션 확인</a:t>
            </a:r>
            <a:endParaRPr lang="en-US" sz="1450" dirty="0"/>
          </a:p>
        </p:txBody>
      </p:sp>
      <p:sp>
        <p:nvSpPr>
          <p:cNvPr id="25" name="Shape 22"/>
          <p:cNvSpPr/>
          <p:nvPr/>
        </p:nvSpPr>
        <p:spPr>
          <a:xfrm>
            <a:off x="9628632" y="4315968"/>
            <a:ext cx="0" cy="73152"/>
          </a:xfrm>
          <a:prstGeom prst="line">
            <a:avLst/>
          </a:prstGeom>
          <a:noFill/>
          <a:ln w="19050">
            <a:solidFill>
              <a:srgbClr val="6BA6DE"/>
            </a:solidFill>
            <a:prstDash val="solid"/>
          </a:ln>
        </p:spPr>
      </p:sp>
      <p:sp>
        <p:nvSpPr>
          <p:cNvPr id="26" name="Shape 23"/>
          <p:cNvSpPr/>
          <p:nvPr/>
        </p:nvSpPr>
        <p:spPr>
          <a:xfrm>
            <a:off x="7799832" y="4389120"/>
            <a:ext cx="3657600" cy="402336"/>
          </a:xfrm>
          <a:prstGeom prst="roundRect">
            <a:avLst>
              <a:gd name="adj" fmla="val 11364"/>
            </a:avLst>
          </a:prstGeom>
          <a:solidFill>
            <a:srgbClr val="E4F4F1"/>
          </a:solidFill>
          <a:ln w="12700">
            <a:solidFill>
              <a:srgbClr val="00A88F"/>
            </a:solidFill>
            <a:prstDash val="solid"/>
          </a:ln>
        </p:spPr>
      </p:sp>
      <p:sp>
        <p:nvSpPr>
          <p:cNvPr id="27" name="Text 24"/>
          <p:cNvSpPr txBox="1"/>
          <p:nvPr/>
        </p:nvSpPr>
        <p:spPr>
          <a:xfrm>
            <a:off x="7964424" y="4471416"/>
            <a:ext cx="274320" cy="237744"/>
          </a:xfrm>
          <a:prstGeom prst="rect">
            <a:avLst/>
          </a:prstGeom>
          <a:noFill/>
          <a:ln/>
        </p:spPr>
        <p:txBody>
          <a:bodyPr wrap="square" lIns="0" tIns="0" rIns="0" bIns="0" rtlCol="0" anchor="t"/>
          <a:lstStyle/>
          <a:p>
            <a:pPr indent="0" marL="0">
              <a:buNone/>
            </a:pPr>
            <a:r>
              <a:rPr lang="en-US" sz="1300" b="1" dirty="0">
                <a:solidFill>
                  <a:srgbClr val="00A88F"/>
                </a:solidFill>
                <a:latin typeface="함초롬돋움" pitchFamily="34" charset="0"/>
                <a:ea typeface="함초롬돋움" pitchFamily="34" charset="-122"/>
                <a:cs typeface="함초롬돋움" pitchFamily="34" charset="-120"/>
              </a:rPr>
              <a:t>5</a:t>
            </a:r>
            <a:endParaRPr lang="en-US" sz="1300" dirty="0"/>
          </a:p>
        </p:txBody>
      </p:sp>
      <p:sp>
        <p:nvSpPr>
          <p:cNvPr id="28" name="Text 25"/>
          <p:cNvSpPr txBox="1"/>
          <p:nvPr/>
        </p:nvSpPr>
        <p:spPr>
          <a:xfrm>
            <a:off x="8275320" y="4462272"/>
            <a:ext cx="3017520" cy="256032"/>
          </a:xfrm>
          <a:prstGeom prst="rect">
            <a:avLst/>
          </a:prstGeom>
          <a:noFill/>
          <a:ln/>
        </p:spPr>
        <p:txBody>
          <a:bodyPr wrap="square" lIns="0" tIns="0" rIns="0" bIns="0" rtlCol="0" anchor="t"/>
          <a:lstStyle/>
          <a:p>
            <a:pPr indent="0" marL="0">
              <a:buNone/>
            </a:pPr>
            <a:r>
              <a:rPr lang="en-US" sz="1450" b="1" dirty="0">
                <a:solidFill>
                  <a:srgbClr val="007A68"/>
                </a:solidFill>
                <a:latin typeface="함초롬돋움" pitchFamily="34" charset="0"/>
                <a:ea typeface="함초롬돋움" pitchFamily="34" charset="-122"/>
                <a:cs typeface="함초롬돋움" pitchFamily="34" charset="-120"/>
              </a:rPr>
              <a:t>원문에서 근거 검증</a:t>
            </a:r>
            <a:endParaRPr lang="en-US" sz="1450" dirty="0"/>
          </a:p>
        </p:txBody>
      </p:sp>
      <p:sp>
        <p:nvSpPr>
          <p:cNvPr id="29" name="Shape 26"/>
          <p:cNvSpPr/>
          <p:nvPr/>
        </p:nvSpPr>
        <p:spPr>
          <a:xfrm>
            <a:off x="7799832" y="4956048"/>
            <a:ext cx="3657600" cy="16459"/>
          </a:xfrm>
          <a:prstGeom prst="rect">
            <a:avLst/>
          </a:prstGeom>
          <a:solidFill>
            <a:srgbClr val="D2DEEA"/>
          </a:solidFill>
          <a:ln w="12700">
            <a:solidFill>
              <a:srgbClr val="D2DEEA"/>
            </a:solidFill>
            <a:prstDash val="solid"/>
          </a:ln>
        </p:spPr>
      </p:sp>
      <p:sp>
        <p:nvSpPr>
          <p:cNvPr id="30" name="Shape 27"/>
          <p:cNvSpPr/>
          <p:nvPr/>
        </p:nvSpPr>
        <p:spPr>
          <a:xfrm>
            <a:off x="7799832" y="5212080"/>
            <a:ext cx="100584" cy="100584"/>
          </a:xfrm>
          <a:prstGeom prst="ellipse">
            <a:avLst/>
          </a:prstGeom>
          <a:solidFill>
            <a:srgbClr val="00A88F"/>
          </a:solidFill>
          <a:ln w="12700">
            <a:solidFill>
              <a:srgbClr val="00A88F"/>
            </a:solidFill>
            <a:prstDash val="solid"/>
          </a:ln>
        </p:spPr>
      </p:sp>
      <p:sp>
        <p:nvSpPr>
          <p:cNvPr id="31" name="Text 28"/>
          <p:cNvSpPr txBox="1"/>
          <p:nvPr/>
        </p:nvSpPr>
        <p:spPr>
          <a:xfrm>
            <a:off x="8037576" y="5120640"/>
            <a:ext cx="3419856" cy="292608"/>
          </a:xfrm>
          <a:prstGeom prst="rect">
            <a:avLst/>
          </a:prstGeom>
          <a:noFill/>
          <a:ln/>
        </p:spPr>
        <p:txBody>
          <a:bodyPr wrap="square" lIns="0" tIns="0" rIns="0" bIns="0" rtlCol="0" anchor="t"/>
          <a:lstStyle/>
          <a:p>
            <a:pPr indent="0" marL="0">
              <a:buNone/>
            </a:pPr>
            <a:r>
              <a:rPr lang="en-US" sz="1500" b="1" dirty="0">
                <a:solidFill>
                  <a:srgbClr val="143A63"/>
                </a:solidFill>
                <a:latin typeface="함초롬돋움" pitchFamily="34" charset="0"/>
                <a:ea typeface="함초롬돋움" pitchFamily="34" charset="-122"/>
                <a:cs typeface="함초롬돋움" pitchFamily="34" charset="-120"/>
              </a:rPr>
              <a:t>중요한 시장 신호를 먼저 확인</a:t>
            </a:r>
            <a:endParaRPr lang="en-US" sz="1500" dirty="0"/>
          </a:p>
        </p:txBody>
      </p:sp>
      <p:sp>
        <p:nvSpPr>
          <p:cNvPr id="32" name="Shape 29"/>
          <p:cNvSpPr/>
          <p:nvPr/>
        </p:nvSpPr>
        <p:spPr>
          <a:xfrm>
            <a:off x="7799832" y="5596128"/>
            <a:ext cx="100584" cy="100584"/>
          </a:xfrm>
          <a:prstGeom prst="ellipse">
            <a:avLst/>
          </a:prstGeom>
          <a:solidFill>
            <a:srgbClr val="00A88F"/>
          </a:solidFill>
          <a:ln w="12700">
            <a:solidFill>
              <a:srgbClr val="00A88F"/>
            </a:solidFill>
            <a:prstDash val="solid"/>
          </a:ln>
        </p:spPr>
      </p:sp>
      <p:sp>
        <p:nvSpPr>
          <p:cNvPr id="33" name="Text 30"/>
          <p:cNvSpPr txBox="1"/>
          <p:nvPr/>
        </p:nvSpPr>
        <p:spPr>
          <a:xfrm>
            <a:off x="8037576" y="5504688"/>
            <a:ext cx="3419856" cy="292608"/>
          </a:xfrm>
          <a:prstGeom prst="rect">
            <a:avLst/>
          </a:prstGeom>
          <a:noFill/>
          <a:ln/>
        </p:spPr>
        <p:txBody>
          <a:bodyPr wrap="square" lIns="0" tIns="0" rIns="0" bIns="0" rtlCol="0" anchor="t"/>
          <a:lstStyle/>
          <a:p>
            <a:pPr indent="0" marL="0">
              <a:buNone/>
            </a:pPr>
            <a:r>
              <a:rPr lang="en-US" sz="1500" b="1" dirty="0">
                <a:solidFill>
                  <a:srgbClr val="143A63"/>
                </a:solidFill>
                <a:latin typeface="함초롬돋움" pitchFamily="34" charset="0"/>
                <a:ea typeface="함초롬돋움" pitchFamily="34" charset="-122"/>
                <a:cs typeface="함초롬돋움" pitchFamily="34" charset="-120"/>
              </a:rPr>
              <a:t>AI로 사업 영향과 대응 방향 검토</a:t>
            </a:r>
            <a:endParaRPr lang="en-US" sz="1500" dirty="0"/>
          </a:p>
        </p:txBody>
      </p:sp>
      <p:sp>
        <p:nvSpPr>
          <p:cNvPr id="34" name="Shape 31"/>
          <p:cNvSpPr/>
          <p:nvPr/>
        </p:nvSpPr>
        <p:spPr>
          <a:xfrm>
            <a:off x="7799832" y="5980176"/>
            <a:ext cx="100584" cy="100584"/>
          </a:xfrm>
          <a:prstGeom prst="ellipse">
            <a:avLst/>
          </a:prstGeom>
          <a:solidFill>
            <a:srgbClr val="00A88F"/>
          </a:solidFill>
          <a:ln w="12700">
            <a:solidFill>
              <a:srgbClr val="00A88F"/>
            </a:solidFill>
            <a:prstDash val="solid"/>
          </a:ln>
        </p:spPr>
      </p:sp>
      <p:sp>
        <p:nvSpPr>
          <p:cNvPr id="35" name="Text 32"/>
          <p:cNvSpPr txBox="1"/>
          <p:nvPr/>
        </p:nvSpPr>
        <p:spPr>
          <a:xfrm>
            <a:off x="8037576" y="5888736"/>
            <a:ext cx="3419856" cy="292608"/>
          </a:xfrm>
          <a:prstGeom prst="rect">
            <a:avLst/>
          </a:prstGeom>
          <a:noFill/>
          <a:ln/>
        </p:spPr>
        <p:txBody>
          <a:bodyPr wrap="square" lIns="0" tIns="0" rIns="0" bIns="0" rtlCol="0" anchor="t"/>
          <a:lstStyle/>
          <a:p>
            <a:pPr indent="0" marL="0">
              <a:buNone/>
            </a:pPr>
            <a:r>
              <a:rPr lang="en-US" sz="1500" b="1" dirty="0">
                <a:solidFill>
                  <a:srgbClr val="143A63"/>
                </a:solidFill>
                <a:latin typeface="함초롬돋움" pitchFamily="34" charset="0"/>
                <a:ea typeface="함초롬돋움" pitchFamily="34" charset="-122"/>
                <a:cs typeface="함초롬돋움" pitchFamily="34" charset="-120"/>
              </a:rPr>
              <a:t>공시 · 뉴스 원문에서 근거 검증</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indent="0" marL="0">
              <a:buNone/>
            </a:pPr>
            <a:r>
              <a:rPr lang="en-US" sz="3200" b="1" dirty="0">
                <a:solidFill>
                  <a:srgbClr val="0B2545"/>
                </a:solidFill>
                <a:latin typeface="함초롬돋움" pitchFamily="34" charset="0"/>
                <a:ea typeface="함초롬돋움" pitchFamily="34" charset="-122"/>
                <a:cs typeface="함초롬돋움" pitchFamily="34" charset="-120"/>
              </a:rPr>
              <a:t>기대 효과와 성장 경험</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indent="0" marL="0">
              <a:buNone/>
            </a:pPr>
            <a:r>
              <a:rPr lang="en-US" sz="1800" dirty="0">
                <a:solidFill>
                  <a:srgbClr val="5A6B7C"/>
                </a:solidFill>
                <a:latin typeface="함초롬돋움" pitchFamily="34" charset="0"/>
                <a:ea typeface="함초롬돋움" pitchFamily="34" charset="-122"/>
                <a:cs typeface="함초롬돋움" pitchFamily="34" charset="-120"/>
              </a:rPr>
              <a:t>정보 확인 시간을 줄이고 경영진이 판단에 집중할 수 있는 기반을 만들었습니다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algn="r" indent="0" marL="0">
              <a:buNone/>
            </a:pPr>
            <a:r>
              <a:rPr lang="en-US" sz="1300" dirty="0">
                <a:solidFill>
                  <a:srgbClr val="8B9BAA"/>
                </a:solidFill>
                <a:latin typeface="함초롬돋움" pitchFamily="34" charset="0"/>
                <a:ea typeface="함초롬돋움" pitchFamily="34" charset="-122"/>
                <a:cs typeface="함초롬돋움" pitchFamily="34" charset="-120"/>
              </a:rPr>
              <a:t>08</a:t>
            </a:r>
            <a:endParaRPr lang="en-US" sz="1300" dirty="0"/>
          </a:p>
        </p:txBody>
      </p:sp>
      <p:sp>
        <p:nvSpPr>
          <p:cNvPr id="6" name="Text 4"/>
          <p:cNvSpPr txBox="1"/>
          <p:nvPr/>
        </p:nvSpPr>
        <p:spPr>
          <a:xfrm>
            <a:off x="731520" y="1901952"/>
            <a:ext cx="2743200" cy="292608"/>
          </a:xfrm>
          <a:prstGeom prst="rect">
            <a:avLst/>
          </a:prstGeom>
          <a:noFill/>
          <a:ln/>
        </p:spPr>
        <p:txBody>
          <a:bodyPr wrap="square" lIns="0" tIns="0" rIns="0" bIns="0" rtlCol="0" anchor="t"/>
          <a:lstStyle/>
          <a:p>
            <a:pPr indent="0" marL="0">
              <a:buNone/>
            </a:pPr>
            <a:r>
              <a:rPr lang="en-US" sz="1900" b="1" dirty="0">
                <a:solidFill>
                  <a:srgbClr val="0B2545"/>
                </a:solidFill>
                <a:latin typeface="함초롬돋움" pitchFamily="34" charset="0"/>
                <a:ea typeface="함초롬돋움" pitchFamily="34" charset="-122"/>
                <a:cs typeface="함초롬돋움" pitchFamily="34" charset="-120"/>
              </a:rPr>
              <a:t>정량적 효과</a:t>
            </a:r>
            <a:endParaRPr lang="en-US" sz="1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2267712"/>
          <a:ext cx="10728655" cy="914400"/>
        </p:xfrm>
        <a:graphic>
          <a:graphicData uri="http://schemas.openxmlformats.org/drawingml/2006/table">
            <a:tbl>
              <a:tblPr/>
              <a:tblGrid>
                <a:gridCol w="3044952"/>
                <a:gridCol w="2560320"/>
                <a:gridCol w="2560320"/>
                <a:gridCol w="2560320"/>
              </a:tblGrid>
              <a:tr h="384048">
                <a:tc>
                  <a:txBody>
                    <a:bodyPr/>
                    <a:lstStyle/>
                    <a:p>
                      <a:pPr algn="ctr" indent="0" marL="0">
                        <a:buNone/>
                      </a:pPr>
                      <a:r>
                        <a:rPr lang="en-US" sz="1500" b="1" dirty="0">
                          <a:solidFill>
                            <a:srgbClr val="FFFFFF"/>
                          </a:solidFill>
                          <a:latin typeface="함초롬돋움" pitchFamily="34" charset="0"/>
                          <a:ea typeface="함초롬돋움" pitchFamily="34" charset="-122"/>
                          <a:cs typeface="함초롬돋움" pitchFamily="34" charset="-120"/>
                        </a:rPr>
                        <a:t>측정 항목</a:t>
                      </a:r>
                      <a:endParaRPr lang="en-US" sz="15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0B2545"/>
                    </a:solidFill>
                  </a:tcPr>
                </a:tc>
                <a:tc>
                  <a:txBody>
                    <a:bodyPr/>
                    <a:lstStyle/>
                    <a:p>
                      <a:pPr algn="ctr" indent="0" marL="0">
                        <a:buNone/>
                      </a:pPr>
                      <a:r>
                        <a:rPr lang="en-US" sz="1500" b="1" dirty="0">
                          <a:solidFill>
                            <a:srgbClr val="FFFFFF"/>
                          </a:solidFill>
                          <a:latin typeface="함초롬돋움" pitchFamily="34" charset="0"/>
                          <a:ea typeface="함초롬돋움" pitchFamily="34" charset="-122"/>
                          <a:cs typeface="함초롬돋움" pitchFamily="34" charset="-120"/>
                        </a:rPr>
                        <a:t>기존 방식</a:t>
                      </a:r>
                      <a:endParaRPr lang="en-US" sz="15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0B2545"/>
                    </a:solidFill>
                  </a:tcPr>
                </a:tc>
                <a:tc>
                  <a:txBody>
                    <a:bodyPr/>
                    <a:lstStyle/>
                    <a:p>
                      <a:pPr algn="ctr" indent="0" marL="0">
                        <a:buNone/>
                      </a:pPr>
                      <a:r>
                        <a:rPr lang="en-US" sz="1500" b="1" dirty="0">
                          <a:solidFill>
                            <a:srgbClr val="FFFFFF"/>
                          </a:solidFill>
                          <a:latin typeface="함초롬돋움" pitchFamily="34" charset="0"/>
                          <a:ea typeface="함초롬돋움" pitchFamily="34" charset="-122"/>
                          <a:cs typeface="함초롬돋움" pitchFamily="34" charset="-120"/>
                        </a:rPr>
                        <a:t>FUTURE:M RADAR</a:t>
                      </a:r>
                      <a:endParaRPr lang="en-US" sz="15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0B2545"/>
                    </a:solidFill>
                  </a:tcPr>
                </a:tc>
                <a:tc>
                  <a:txBody>
                    <a:bodyPr/>
                    <a:lstStyle/>
                    <a:p>
                      <a:pPr algn="ctr" indent="0" marL="0">
                        <a:buNone/>
                      </a:pPr>
                      <a:r>
                        <a:rPr lang="en-US" sz="1500" b="1" dirty="0">
                          <a:solidFill>
                            <a:srgbClr val="FFFFFF"/>
                          </a:solidFill>
                          <a:latin typeface="함초롬돋움" pitchFamily="34" charset="0"/>
                          <a:ea typeface="함초롬돋움" pitchFamily="34" charset="-122"/>
                          <a:cs typeface="함초롬돋움" pitchFamily="34" charset="-120"/>
                        </a:rPr>
                        <a:t>변화</a:t>
                      </a:r>
                      <a:endParaRPr lang="en-US" sz="15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0B2545"/>
                    </a:solidFill>
                  </a:tcPr>
                </a:tc>
              </a:tr>
              <a:tr h="384048">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1회 정보 수집 시간</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[실제 측정값 입력]</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[실제 측정값 입력]</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[실제 측정값 입력]</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확인해야 하는 사이트 수</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[실제 측정값 입력]</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[실제 측정값 입력]</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[실제 측정값 입력]</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주요 정보 요약 시간</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[실제 측정값 입력]</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[실제 측정값 입력]</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[실제 측정값 입력]</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정보 발견부터 공유까지</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[실제 측정값 입력]</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[실제 측정값 입력]</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73A"/>
                          </a:solidFill>
                          <a:latin typeface="함초롬돋움" pitchFamily="34" charset="0"/>
                          <a:ea typeface="함초롬돋움" pitchFamily="34" charset="-122"/>
                          <a:cs typeface="함초롬돋움" pitchFamily="34" charset="-120"/>
                        </a:rPr>
                        <a:t>[실제 측정값 입력]</a:t>
                      </a:r>
                      <a:endParaRPr lang="en-US" sz="1400" dirty="0">
                        <a:latin typeface="함초롬돋움" charset="0"/>
                        <a:ea typeface="함초롬돋움" charset="0"/>
                        <a:cs typeface="함초롬돋움" charset="0"/>
                      </a:endParaRPr>
                    </a:p>
                  </a:txBody>
                  <a:tcPr marL="91440" marR="91440" marT="45720" marB="45720" anchor="ctr">
                    <a:lnL w="12700" cap="flat" cmpd="sng" algn="ctr">
                      <a:solidFill>
                        <a:srgbClr val="D2DEEA"/>
                      </a:solidFill>
                      <a:prstDash val="solid"/>
                      <a:round/>
                      <a:headEnd type="none" w="med" len="med"/>
                      <a:tailEnd type="none" w="med" len="med"/>
                    </a:lnL>
                    <a:lnR w="12700" cap="flat" cmpd="sng" algn="ctr">
                      <a:solidFill>
                        <a:srgbClr val="D2DEEA"/>
                      </a:solidFill>
                      <a:prstDash val="solid"/>
                      <a:round/>
                      <a:headEnd type="none" w="med" len="med"/>
                      <a:tailEnd type="none" w="med" len="med"/>
                    </a:lnR>
                    <a:lnT w="12700" cap="flat" cmpd="sng" algn="ctr">
                      <a:solidFill>
                        <a:srgbClr val="D2DEEA"/>
                      </a:solidFill>
                      <a:prstDash val="solid"/>
                      <a:round/>
                      <a:headEnd type="none" w="med" len="med"/>
                      <a:tailEnd type="none" w="med" len="med"/>
                    </a:lnT>
                    <a:lnB w="12700" cap="flat" cmpd="sng" algn="ctr">
                      <a:solidFill>
                        <a:srgbClr val="D2DEEA"/>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731520" y="4315968"/>
            <a:ext cx="10728655" cy="274320"/>
          </a:xfrm>
          <a:prstGeom prst="rect">
            <a:avLst/>
          </a:prstGeom>
          <a:noFill/>
          <a:ln/>
        </p:spPr>
        <p:txBody>
          <a:bodyPr wrap="square" lIns="0" tIns="0" rIns="0" bIns="0" rtlCol="0" anchor="t"/>
          <a:lstStyle/>
          <a:p>
            <a:pPr indent="0" marL="0">
              <a:buNone/>
            </a:pPr>
            <a:r>
              <a:rPr lang="en-US" sz="1400" dirty="0">
                <a:solidFill>
                  <a:srgbClr val="8B9BAA"/>
                </a:solidFill>
                <a:latin typeface="함초롬돋움" pitchFamily="34" charset="0"/>
                <a:ea typeface="함초롬돋움" pitchFamily="34" charset="-122"/>
                <a:cs typeface="함초롬돋움" pitchFamily="34" charset="-120"/>
              </a:rPr>
              <a:t>수치는 실제 업무 기준으로 측정한 뒤 채워 넣습니다. 확인되지 않은 값은 표기하지 않았습니다.</a:t>
            </a:r>
            <a:endParaRPr lang="en-US" sz="1400" dirty="0"/>
          </a:p>
        </p:txBody>
      </p:sp>
      <p:sp>
        <p:nvSpPr>
          <p:cNvPr id="9" name="Text 6"/>
          <p:cNvSpPr txBox="1"/>
          <p:nvPr/>
        </p:nvSpPr>
        <p:spPr>
          <a:xfrm>
            <a:off x="731520" y="4718304"/>
            <a:ext cx="2743200" cy="292608"/>
          </a:xfrm>
          <a:prstGeom prst="rect">
            <a:avLst/>
          </a:prstGeom>
          <a:noFill/>
          <a:ln/>
        </p:spPr>
        <p:txBody>
          <a:bodyPr wrap="square" lIns="0" tIns="0" rIns="0" bIns="0" rtlCol="0" anchor="t"/>
          <a:lstStyle/>
          <a:p>
            <a:pPr indent="0" marL="0">
              <a:buNone/>
            </a:pPr>
            <a:r>
              <a:rPr lang="en-US" sz="1900" b="1" dirty="0">
                <a:solidFill>
                  <a:srgbClr val="0B2545"/>
                </a:solidFill>
                <a:latin typeface="함초롬돋움" pitchFamily="34" charset="0"/>
                <a:ea typeface="함초롬돋움" pitchFamily="34" charset="-122"/>
                <a:cs typeface="함초롬돋움" pitchFamily="34" charset="-120"/>
              </a:rPr>
              <a:t>정성적 효과</a:t>
            </a:r>
            <a:endParaRPr lang="en-US" sz="1900" dirty="0"/>
          </a:p>
        </p:txBody>
      </p:sp>
      <p:sp>
        <p:nvSpPr>
          <p:cNvPr id="10" name="Shape 7"/>
          <p:cNvSpPr/>
          <p:nvPr/>
        </p:nvSpPr>
        <p:spPr>
          <a:xfrm>
            <a:off x="731520" y="5212080"/>
            <a:ext cx="100584" cy="100584"/>
          </a:xfrm>
          <a:prstGeom prst="ellipse">
            <a:avLst/>
          </a:prstGeom>
          <a:solidFill>
            <a:srgbClr val="00A88F"/>
          </a:solidFill>
          <a:ln w="12700">
            <a:solidFill>
              <a:srgbClr val="00A88F"/>
            </a:solidFill>
            <a:prstDash val="solid"/>
          </a:ln>
        </p:spPr>
      </p:sp>
      <p:sp>
        <p:nvSpPr>
          <p:cNvPr id="11" name="Text 8"/>
          <p:cNvSpPr txBox="1"/>
          <p:nvPr/>
        </p:nvSpPr>
        <p:spPr>
          <a:xfrm>
            <a:off x="969264" y="5120640"/>
            <a:ext cx="4846320" cy="292608"/>
          </a:xfrm>
          <a:prstGeom prst="rect">
            <a:avLst/>
          </a:prstGeom>
          <a:noFill/>
          <a:ln/>
        </p:spPr>
        <p:txBody>
          <a:bodyPr wrap="square" lIns="0" tIns="0" rIns="0" bIns="0" rtlCol="0" anchor="t"/>
          <a:lstStyle/>
          <a:p>
            <a:pPr indent="0" marL="0">
              <a:buNone/>
            </a:pPr>
            <a:r>
              <a:rPr lang="en-US" sz="1700" dirty="0">
                <a:solidFill>
                  <a:srgbClr val="16273A"/>
                </a:solidFill>
                <a:latin typeface="함초롬돋움" pitchFamily="34" charset="0"/>
                <a:ea typeface="함초롬돋움" pitchFamily="34" charset="-122"/>
                <a:cs typeface="함초롬돋움" pitchFamily="34" charset="-120"/>
              </a:rPr>
              <a:t>경쟁사와 시장 변화의 조기 발견</a:t>
            </a:r>
            <a:endParaRPr lang="en-US" sz="1700" dirty="0"/>
          </a:p>
        </p:txBody>
      </p:sp>
      <p:sp>
        <p:nvSpPr>
          <p:cNvPr id="12" name="Shape 9"/>
          <p:cNvSpPr/>
          <p:nvPr/>
        </p:nvSpPr>
        <p:spPr>
          <a:xfrm>
            <a:off x="731520" y="5541264"/>
            <a:ext cx="100584" cy="100584"/>
          </a:xfrm>
          <a:prstGeom prst="ellipse">
            <a:avLst/>
          </a:prstGeom>
          <a:solidFill>
            <a:srgbClr val="00A88F"/>
          </a:solidFill>
          <a:ln w="12700">
            <a:solidFill>
              <a:srgbClr val="00A88F"/>
            </a:solidFill>
            <a:prstDash val="solid"/>
          </a:ln>
        </p:spPr>
      </p:sp>
      <p:sp>
        <p:nvSpPr>
          <p:cNvPr id="13" name="Text 10"/>
          <p:cNvSpPr txBox="1"/>
          <p:nvPr/>
        </p:nvSpPr>
        <p:spPr>
          <a:xfrm>
            <a:off x="969264" y="5449824"/>
            <a:ext cx="4846320" cy="292608"/>
          </a:xfrm>
          <a:prstGeom prst="rect">
            <a:avLst/>
          </a:prstGeom>
          <a:noFill/>
          <a:ln/>
        </p:spPr>
        <p:txBody>
          <a:bodyPr wrap="square" lIns="0" tIns="0" rIns="0" bIns="0" rtlCol="0" anchor="t"/>
          <a:lstStyle/>
          <a:p>
            <a:pPr indent="0" marL="0">
              <a:buNone/>
            </a:pPr>
            <a:r>
              <a:rPr lang="en-US" sz="1700" dirty="0">
                <a:solidFill>
                  <a:srgbClr val="16273A"/>
                </a:solidFill>
                <a:latin typeface="함초롬돋움" pitchFamily="34" charset="0"/>
                <a:ea typeface="함초롬돋움" pitchFamily="34" charset="-122"/>
                <a:cs typeface="함초롬돋움" pitchFamily="34" charset="-120"/>
              </a:rPr>
              <a:t>수집과 정리보다 판단에 집중</a:t>
            </a:r>
            <a:endParaRPr lang="en-US" sz="1700" dirty="0"/>
          </a:p>
        </p:txBody>
      </p:sp>
      <p:sp>
        <p:nvSpPr>
          <p:cNvPr id="14" name="Shape 11"/>
          <p:cNvSpPr/>
          <p:nvPr/>
        </p:nvSpPr>
        <p:spPr>
          <a:xfrm>
            <a:off x="731520" y="5870448"/>
            <a:ext cx="100584" cy="100584"/>
          </a:xfrm>
          <a:prstGeom prst="ellipse">
            <a:avLst/>
          </a:prstGeom>
          <a:solidFill>
            <a:srgbClr val="00A88F"/>
          </a:solidFill>
          <a:ln w="12700">
            <a:solidFill>
              <a:srgbClr val="00A88F"/>
            </a:solidFill>
            <a:prstDash val="solid"/>
          </a:ln>
        </p:spPr>
      </p:sp>
      <p:sp>
        <p:nvSpPr>
          <p:cNvPr id="15" name="Text 12"/>
          <p:cNvSpPr txBox="1"/>
          <p:nvPr/>
        </p:nvSpPr>
        <p:spPr>
          <a:xfrm>
            <a:off x="969264" y="5779008"/>
            <a:ext cx="4846320" cy="292608"/>
          </a:xfrm>
          <a:prstGeom prst="rect">
            <a:avLst/>
          </a:prstGeom>
          <a:noFill/>
          <a:ln/>
        </p:spPr>
        <p:txBody>
          <a:bodyPr wrap="square" lIns="0" tIns="0" rIns="0" bIns="0" rtlCol="0" anchor="t"/>
          <a:lstStyle/>
          <a:p>
            <a:pPr indent="0" marL="0">
              <a:buNone/>
            </a:pPr>
            <a:r>
              <a:rPr lang="en-US" sz="1700" dirty="0">
                <a:solidFill>
                  <a:srgbClr val="16273A"/>
                </a:solidFill>
                <a:latin typeface="함초롬돋움" pitchFamily="34" charset="0"/>
                <a:ea typeface="함초롬돋움" pitchFamily="34" charset="-122"/>
                <a:cs typeface="함초롬돋움" pitchFamily="34" charset="-120"/>
              </a:rPr>
              <a:t>위험과 기회를 일관된 기준으로 검토</a:t>
            </a:r>
            <a:endParaRPr lang="en-US" sz="1700" dirty="0"/>
          </a:p>
        </p:txBody>
      </p:sp>
      <p:sp>
        <p:nvSpPr>
          <p:cNvPr id="16" name="Shape 13"/>
          <p:cNvSpPr/>
          <p:nvPr/>
        </p:nvSpPr>
        <p:spPr>
          <a:xfrm>
            <a:off x="731520" y="6199632"/>
            <a:ext cx="100584" cy="100584"/>
          </a:xfrm>
          <a:prstGeom prst="ellipse">
            <a:avLst/>
          </a:prstGeom>
          <a:solidFill>
            <a:srgbClr val="00A88F"/>
          </a:solidFill>
          <a:ln w="12700">
            <a:solidFill>
              <a:srgbClr val="00A88F"/>
            </a:solidFill>
            <a:prstDash val="solid"/>
          </a:ln>
        </p:spPr>
      </p:sp>
      <p:sp>
        <p:nvSpPr>
          <p:cNvPr id="17" name="Text 14"/>
          <p:cNvSpPr txBox="1"/>
          <p:nvPr/>
        </p:nvSpPr>
        <p:spPr>
          <a:xfrm>
            <a:off x="969264" y="6108192"/>
            <a:ext cx="4846320" cy="292608"/>
          </a:xfrm>
          <a:prstGeom prst="rect">
            <a:avLst/>
          </a:prstGeom>
          <a:noFill/>
          <a:ln/>
        </p:spPr>
        <p:txBody>
          <a:bodyPr wrap="square" lIns="0" tIns="0" rIns="0" bIns="0" rtlCol="0" anchor="t"/>
          <a:lstStyle/>
          <a:p>
            <a:pPr indent="0" marL="0">
              <a:buNone/>
            </a:pPr>
            <a:r>
              <a:rPr lang="en-US" sz="1700" dirty="0">
                <a:solidFill>
                  <a:srgbClr val="16273A"/>
                </a:solidFill>
                <a:latin typeface="함초롬돋움" pitchFamily="34" charset="0"/>
                <a:ea typeface="함초롬돋움" pitchFamily="34" charset="-122"/>
                <a:cs typeface="함초롬돋움" pitchFamily="34" charset="-120"/>
              </a:rPr>
              <a:t>원문 근거를 통한 AI 결과 검증</a:t>
            </a:r>
            <a:endParaRPr lang="en-US" sz="1700" dirty="0"/>
          </a:p>
        </p:txBody>
      </p:sp>
      <p:sp>
        <p:nvSpPr>
          <p:cNvPr id="18" name="Shape 15"/>
          <p:cNvSpPr/>
          <p:nvPr/>
        </p:nvSpPr>
        <p:spPr>
          <a:xfrm>
            <a:off x="6126480" y="4626864"/>
            <a:ext cx="5330952" cy="1572768"/>
          </a:xfrm>
          <a:prstGeom prst="rect">
            <a:avLst/>
          </a:prstGeom>
          <a:solidFill>
            <a:srgbClr val="0B2545"/>
          </a:solidFill>
          <a:ln w="12700">
            <a:solidFill>
              <a:srgbClr val="333333"/>
            </a:solidFill>
            <a:prstDash val="solid"/>
          </a:ln>
        </p:spPr>
      </p:sp>
      <p:sp>
        <p:nvSpPr>
          <p:cNvPr id="19" name="Text 16"/>
          <p:cNvSpPr txBox="1"/>
          <p:nvPr/>
        </p:nvSpPr>
        <p:spPr>
          <a:xfrm>
            <a:off x="6400800" y="4773168"/>
            <a:ext cx="1828800" cy="274320"/>
          </a:xfrm>
          <a:prstGeom prst="rect">
            <a:avLst/>
          </a:prstGeom>
          <a:noFill/>
          <a:ln/>
        </p:spPr>
        <p:txBody>
          <a:bodyPr wrap="square" lIns="0" tIns="0" rIns="0" bIns="0" rtlCol="0" anchor="t"/>
          <a:lstStyle/>
          <a:p>
            <a:pPr indent="0" marL="0">
              <a:buNone/>
            </a:pPr>
            <a:r>
              <a:rPr lang="en-US" sz="1600" b="1" dirty="0">
                <a:solidFill>
                  <a:srgbClr val="4FD1BC"/>
                </a:solidFill>
                <a:latin typeface="함초롬돋움" pitchFamily="34" charset="0"/>
                <a:ea typeface="함초롬돋움" pitchFamily="34" charset="-122"/>
                <a:cs typeface="함초롬돋움" pitchFamily="34" charset="-120"/>
              </a:rPr>
              <a:t>회고</a:t>
            </a:r>
            <a:endParaRPr lang="en-US" sz="1600" dirty="0"/>
          </a:p>
        </p:txBody>
      </p:sp>
      <p:sp>
        <p:nvSpPr>
          <p:cNvPr id="20" name="Text 17"/>
          <p:cNvSpPr txBox="1"/>
          <p:nvPr/>
        </p:nvSpPr>
        <p:spPr>
          <a:xfrm>
            <a:off x="6400800" y="5084064"/>
            <a:ext cx="4782312" cy="768096"/>
          </a:xfrm>
          <a:prstGeom prst="rect">
            <a:avLst/>
          </a:prstGeom>
          <a:noFill/>
          <a:ln/>
        </p:spPr>
        <p:txBody>
          <a:bodyPr wrap="square" lIns="0" tIns="0" rIns="0" bIns="0" rtlCol="0" anchor="t"/>
          <a:lstStyle/>
          <a:p>
            <a:pPr indent="0" marL="0">
              <a:lnSpc>
                <a:spcPts val="2000"/>
              </a:lnSpc>
              <a:buNone/>
            </a:pPr>
            <a:r>
              <a:rPr lang="en-US" sz="1400" dirty="0">
                <a:solidFill>
                  <a:srgbClr val="FFFFFF"/>
                </a:solidFill>
                <a:latin typeface="함초롬돋움" pitchFamily="34" charset="0"/>
                <a:ea typeface="함초롬돋움" pitchFamily="34" charset="-122"/>
                <a:cs typeface="함초롬돋움" pitchFamily="34" charset="-120"/>
              </a:rPr>
              <a:t>처음에는 정보를 많이 보여주는 것이 좋은 시스템이라고 생각했습니다. 경영진에게 필요한 것은 정보의 양보다, 무엇을 봐야 하고 어떤 의미인지 빠르게 이해할 수 있는 구조였습니다.</a:t>
            </a:r>
            <a:endParaRPr lang="en-US" sz="1400" dirty="0"/>
          </a:p>
        </p:txBody>
      </p:sp>
      <p:sp>
        <p:nvSpPr>
          <p:cNvPr id="21" name="Text 18"/>
          <p:cNvSpPr txBox="1"/>
          <p:nvPr/>
        </p:nvSpPr>
        <p:spPr>
          <a:xfrm>
            <a:off x="6400800" y="5888736"/>
            <a:ext cx="4782312" cy="237744"/>
          </a:xfrm>
          <a:prstGeom prst="rect">
            <a:avLst/>
          </a:prstGeom>
          <a:noFill/>
          <a:ln/>
        </p:spPr>
        <p:txBody>
          <a:bodyPr wrap="square" lIns="0" tIns="0" rIns="0" bIns="0" rtlCol="0" anchor="t"/>
          <a:lstStyle/>
          <a:p>
            <a:pPr indent="0" marL="0">
              <a:buNone/>
            </a:pPr>
            <a:r>
              <a:rPr lang="en-US" sz="1300" b="1" dirty="0">
                <a:solidFill>
                  <a:srgbClr val="4FD1BC"/>
                </a:solidFill>
                <a:latin typeface="함초롬돋움" pitchFamily="34" charset="0"/>
                <a:ea typeface="함초롬돋움" pitchFamily="34" charset="-122"/>
                <a:cs typeface="함초롬돋움" pitchFamily="34" charset="-120"/>
              </a:rPr>
              <a:t>더 빠르고 근거 있게 판단하도록 돕는 것이 목표입니다.</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indent="0" marL="0">
              <a:buNone/>
            </a:pPr>
            <a:r>
              <a:rPr lang="en-US" sz="3200" b="1" dirty="0">
                <a:solidFill>
                  <a:srgbClr val="0B2545"/>
                </a:solidFill>
                <a:latin typeface="함초롬돋움" pitchFamily="34" charset="0"/>
                <a:ea typeface="함초롬돋움" pitchFamily="34" charset="-122"/>
                <a:cs typeface="함초롬돋움" pitchFamily="34" charset="-120"/>
              </a:rPr>
              <a:t>부록 · 상세 기술 구성</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indent="0" marL="0">
              <a:buNone/>
            </a:pPr>
            <a:r>
              <a:rPr lang="en-US" sz="1800" dirty="0">
                <a:solidFill>
                  <a:srgbClr val="5A6B7C"/>
                </a:solidFill>
                <a:latin typeface="함초롬돋움" pitchFamily="34" charset="0"/>
                <a:ea typeface="함초롬돋움" pitchFamily="34" charset="-122"/>
                <a:cs typeface="함초롬돋움" pitchFamily="34" charset="-120"/>
              </a:rPr>
              <a:t>질의응답에서 기술 구현 질문이 있을 때 사용합니다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algn="r" indent="0" marL="0">
              <a:buNone/>
            </a:pPr>
            <a:r>
              <a:rPr lang="en-US" sz="1300" dirty="0">
                <a:solidFill>
                  <a:srgbClr val="8B9BAA"/>
                </a:solidFill>
                <a:latin typeface="함초롬돋움" pitchFamily="34" charset="0"/>
                <a:ea typeface="함초롬돋움" pitchFamily="34" charset="-122"/>
                <a:cs typeface="함초롬돋움" pitchFamily="34" charset="-120"/>
              </a:rPr>
              <a:t>09</a:t>
            </a:r>
            <a:endParaRPr lang="en-US" sz="1300" dirty="0"/>
          </a:p>
        </p:txBody>
      </p:sp>
      <p:sp>
        <p:nvSpPr>
          <p:cNvPr id="6" name="Shape 4"/>
          <p:cNvSpPr/>
          <p:nvPr/>
        </p:nvSpPr>
        <p:spPr>
          <a:xfrm>
            <a:off x="731520" y="1956816"/>
            <a:ext cx="3328416" cy="2011680"/>
          </a:xfrm>
          <a:prstGeom prst="roundRect">
            <a:avLst>
              <a:gd name="adj" fmla="val 2273"/>
            </a:avLst>
          </a:prstGeom>
          <a:solidFill>
            <a:srgbClr val="FFFFFF"/>
          </a:solidFill>
          <a:ln w="12700">
            <a:solidFill>
              <a:srgbClr val="D2DEEA"/>
            </a:solidFill>
            <a:prstDash val="solid"/>
          </a:ln>
        </p:spPr>
      </p:sp>
      <p:sp>
        <p:nvSpPr>
          <p:cNvPr id="7" name="Text 5"/>
          <p:cNvSpPr txBox="1"/>
          <p:nvPr/>
        </p:nvSpPr>
        <p:spPr>
          <a:xfrm>
            <a:off x="950976" y="2139696"/>
            <a:ext cx="2907792" cy="292608"/>
          </a:xfrm>
          <a:prstGeom prst="rect">
            <a:avLst/>
          </a:prstGeom>
          <a:noFill/>
          <a:ln/>
        </p:spPr>
        <p:txBody>
          <a:bodyPr wrap="square" lIns="0" tIns="0" rIns="0" bIns="0" rtlCol="0" anchor="t"/>
          <a:lstStyle/>
          <a:p>
            <a:pPr indent="0" marL="0">
              <a:buNone/>
            </a:pPr>
            <a:r>
              <a:rPr lang="en-US" sz="1700" b="1" dirty="0">
                <a:solidFill>
                  <a:srgbClr val="0B2545"/>
                </a:solidFill>
                <a:latin typeface="함초롬돋움" pitchFamily="34" charset="0"/>
                <a:ea typeface="함초롬돋움" pitchFamily="34" charset="-122"/>
                <a:cs typeface="함초롬돋움" pitchFamily="34" charset="-120"/>
              </a:rPr>
              <a:t>프론트엔드 · 백엔드</a:t>
            </a:r>
            <a:endParaRPr lang="en-US" sz="1700" dirty="0"/>
          </a:p>
        </p:txBody>
      </p:sp>
      <p:sp>
        <p:nvSpPr>
          <p:cNvPr id="8" name="Shape 6"/>
          <p:cNvSpPr/>
          <p:nvPr/>
        </p:nvSpPr>
        <p:spPr>
          <a:xfrm>
            <a:off x="950976" y="2487168"/>
            <a:ext cx="2889504" cy="16459"/>
          </a:xfrm>
          <a:prstGeom prst="rect">
            <a:avLst/>
          </a:prstGeom>
          <a:solidFill>
            <a:srgbClr val="D2DEEA"/>
          </a:solidFill>
          <a:ln w="12700">
            <a:solidFill>
              <a:srgbClr val="D2DEEA"/>
            </a:solidFill>
            <a:prstDash val="solid"/>
          </a:ln>
        </p:spPr>
      </p:sp>
      <p:sp>
        <p:nvSpPr>
          <p:cNvPr id="9" name="Shape 7"/>
          <p:cNvSpPr/>
          <p:nvPr/>
        </p:nvSpPr>
        <p:spPr>
          <a:xfrm>
            <a:off x="950976" y="2651760"/>
            <a:ext cx="82296" cy="82296"/>
          </a:xfrm>
          <a:prstGeom prst="ellipse">
            <a:avLst/>
          </a:prstGeom>
          <a:solidFill>
            <a:srgbClr val="1E6FBF"/>
          </a:solidFill>
          <a:ln w="12700">
            <a:solidFill>
              <a:srgbClr val="1E6FBF"/>
            </a:solidFill>
            <a:prstDash val="solid"/>
          </a:ln>
        </p:spPr>
      </p:sp>
      <p:sp>
        <p:nvSpPr>
          <p:cNvPr id="10" name="Text 8"/>
          <p:cNvSpPr txBox="1"/>
          <p:nvPr/>
        </p:nvSpPr>
        <p:spPr>
          <a:xfrm>
            <a:off x="1133856" y="257860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React · Vite 기반 단일 페이지</a:t>
            </a:r>
            <a:endParaRPr lang="en-US" sz="1400" dirty="0"/>
          </a:p>
        </p:txBody>
      </p:sp>
      <p:sp>
        <p:nvSpPr>
          <p:cNvPr id="11" name="Shape 9"/>
          <p:cNvSpPr/>
          <p:nvPr/>
        </p:nvSpPr>
        <p:spPr>
          <a:xfrm>
            <a:off x="950976" y="2926080"/>
            <a:ext cx="82296" cy="82296"/>
          </a:xfrm>
          <a:prstGeom prst="ellipse">
            <a:avLst/>
          </a:prstGeom>
          <a:solidFill>
            <a:srgbClr val="1E6FBF"/>
          </a:solidFill>
          <a:ln w="12700">
            <a:solidFill>
              <a:srgbClr val="1E6FBF"/>
            </a:solidFill>
            <a:prstDash val="solid"/>
          </a:ln>
        </p:spPr>
      </p:sp>
      <p:sp>
        <p:nvSpPr>
          <p:cNvPr id="12" name="Text 10"/>
          <p:cNvSpPr txBox="1"/>
          <p:nvPr/>
        </p:nvSpPr>
        <p:spPr>
          <a:xfrm>
            <a:off x="1133856" y="285292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FastAPI 기반 REST API</a:t>
            </a:r>
            <a:endParaRPr lang="en-US" sz="1400" dirty="0"/>
          </a:p>
        </p:txBody>
      </p:sp>
      <p:sp>
        <p:nvSpPr>
          <p:cNvPr id="13" name="Shape 11"/>
          <p:cNvSpPr/>
          <p:nvPr/>
        </p:nvSpPr>
        <p:spPr>
          <a:xfrm>
            <a:off x="950976" y="3200400"/>
            <a:ext cx="82296" cy="82296"/>
          </a:xfrm>
          <a:prstGeom prst="ellipse">
            <a:avLst/>
          </a:prstGeom>
          <a:solidFill>
            <a:srgbClr val="1E6FBF"/>
          </a:solidFill>
          <a:ln w="12700">
            <a:solidFill>
              <a:srgbClr val="1E6FBF"/>
            </a:solidFill>
            <a:prstDash val="solid"/>
          </a:ln>
        </p:spPr>
      </p:sp>
      <p:sp>
        <p:nvSpPr>
          <p:cNvPr id="14" name="Text 12"/>
          <p:cNvSpPr txBox="1"/>
          <p:nvPr/>
        </p:nvSpPr>
        <p:spPr>
          <a:xfrm>
            <a:off x="1133856" y="312724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화면과 데이터 처리를 분리</a:t>
            </a:r>
            <a:endParaRPr lang="en-US" sz="1400" dirty="0"/>
          </a:p>
        </p:txBody>
      </p:sp>
      <p:sp>
        <p:nvSpPr>
          <p:cNvPr id="15" name="Shape 13"/>
          <p:cNvSpPr/>
          <p:nvPr/>
        </p:nvSpPr>
        <p:spPr>
          <a:xfrm>
            <a:off x="4443984" y="1956816"/>
            <a:ext cx="3328416" cy="2011680"/>
          </a:xfrm>
          <a:prstGeom prst="roundRect">
            <a:avLst>
              <a:gd name="adj" fmla="val 2273"/>
            </a:avLst>
          </a:prstGeom>
          <a:solidFill>
            <a:srgbClr val="FFFFFF"/>
          </a:solidFill>
          <a:ln w="12700">
            <a:solidFill>
              <a:srgbClr val="D2DEEA"/>
            </a:solidFill>
            <a:prstDash val="solid"/>
          </a:ln>
        </p:spPr>
      </p:sp>
      <p:sp>
        <p:nvSpPr>
          <p:cNvPr id="16" name="Text 14"/>
          <p:cNvSpPr txBox="1"/>
          <p:nvPr/>
        </p:nvSpPr>
        <p:spPr>
          <a:xfrm>
            <a:off x="4663440" y="2139696"/>
            <a:ext cx="2907792" cy="292608"/>
          </a:xfrm>
          <a:prstGeom prst="rect">
            <a:avLst/>
          </a:prstGeom>
          <a:noFill/>
          <a:ln/>
        </p:spPr>
        <p:txBody>
          <a:bodyPr wrap="square" lIns="0" tIns="0" rIns="0" bIns="0" rtlCol="0" anchor="t"/>
          <a:lstStyle/>
          <a:p>
            <a:pPr indent="0" marL="0">
              <a:buNone/>
            </a:pPr>
            <a:r>
              <a:rPr lang="en-US" sz="1700" b="1" dirty="0">
                <a:solidFill>
                  <a:srgbClr val="0B2545"/>
                </a:solidFill>
                <a:latin typeface="함초롬돋움" pitchFamily="34" charset="0"/>
                <a:ea typeface="함초롬돋움" pitchFamily="34" charset="-122"/>
                <a:cs typeface="함초롬돋움" pitchFamily="34" charset="-120"/>
              </a:rPr>
              <a:t>외부 데이터 출처</a:t>
            </a:r>
            <a:endParaRPr lang="en-US" sz="1700" dirty="0"/>
          </a:p>
        </p:txBody>
      </p:sp>
      <p:sp>
        <p:nvSpPr>
          <p:cNvPr id="17" name="Shape 15"/>
          <p:cNvSpPr/>
          <p:nvPr/>
        </p:nvSpPr>
        <p:spPr>
          <a:xfrm>
            <a:off x="4663440" y="2487168"/>
            <a:ext cx="2889504" cy="16459"/>
          </a:xfrm>
          <a:prstGeom prst="rect">
            <a:avLst/>
          </a:prstGeom>
          <a:solidFill>
            <a:srgbClr val="D2DEEA"/>
          </a:solidFill>
          <a:ln w="12700">
            <a:solidFill>
              <a:srgbClr val="D2DEEA"/>
            </a:solidFill>
            <a:prstDash val="solid"/>
          </a:ln>
        </p:spPr>
      </p:sp>
      <p:sp>
        <p:nvSpPr>
          <p:cNvPr id="18" name="Shape 16"/>
          <p:cNvSpPr/>
          <p:nvPr/>
        </p:nvSpPr>
        <p:spPr>
          <a:xfrm>
            <a:off x="4663440" y="2651760"/>
            <a:ext cx="82296" cy="82296"/>
          </a:xfrm>
          <a:prstGeom prst="ellipse">
            <a:avLst/>
          </a:prstGeom>
          <a:solidFill>
            <a:srgbClr val="1E6FBF"/>
          </a:solidFill>
          <a:ln w="12700">
            <a:solidFill>
              <a:srgbClr val="1E6FBF"/>
            </a:solidFill>
            <a:prstDash val="solid"/>
          </a:ln>
        </p:spPr>
      </p:sp>
      <p:sp>
        <p:nvSpPr>
          <p:cNvPr id="19" name="Text 17"/>
          <p:cNvSpPr txBox="1"/>
          <p:nvPr/>
        </p:nvSpPr>
        <p:spPr>
          <a:xfrm>
            <a:off x="4846320" y="257860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DART 전자공시 · 재무제표</a:t>
            </a:r>
            <a:endParaRPr lang="en-US" sz="1400" dirty="0"/>
          </a:p>
        </p:txBody>
      </p:sp>
      <p:sp>
        <p:nvSpPr>
          <p:cNvPr id="20" name="Shape 18"/>
          <p:cNvSpPr/>
          <p:nvPr/>
        </p:nvSpPr>
        <p:spPr>
          <a:xfrm>
            <a:off x="4663440" y="2926080"/>
            <a:ext cx="82296" cy="82296"/>
          </a:xfrm>
          <a:prstGeom prst="ellipse">
            <a:avLst/>
          </a:prstGeom>
          <a:solidFill>
            <a:srgbClr val="1E6FBF"/>
          </a:solidFill>
          <a:ln w="12700">
            <a:solidFill>
              <a:srgbClr val="1E6FBF"/>
            </a:solidFill>
            <a:prstDash val="solid"/>
          </a:ln>
        </p:spPr>
      </p:sp>
      <p:sp>
        <p:nvSpPr>
          <p:cNvPr id="21" name="Text 19"/>
          <p:cNvSpPr txBox="1"/>
          <p:nvPr/>
        </p:nvSpPr>
        <p:spPr>
          <a:xfrm>
            <a:off x="4846320" y="285292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뉴스 RSS</a:t>
            </a:r>
            <a:endParaRPr lang="en-US" sz="1400" dirty="0"/>
          </a:p>
        </p:txBody>
      </p:sp>
      <p:sp>
        <p:nvSpPr>
          <p:cNvPr id="22" name="Shape 20"/>
          <p:cNvSpPr/>
          <p:nvPr/>
        </p:nvSpPr>
        <p:spPr>
          <a:xfrm>
            <a:off x="4663440" y="3200400"/>
            <a:ext cx="82296" cy="82296"/>
          </a:xfrm>
          <a:prstGeom prst="ellipse">
            <a:avLst/>
          </a:prstGeom>
          <a:solidFill>
            <a:srgbClr val="1E6FBF"/>
          </a:solidFill>
          <a:ln w="12700">
            <a:solidFill>
              <a:srgbClr val="1E6FBF"/>
            </a:solidFill>
            <a:prstDash val="solid"/>
          </a:ln>
        </p:spPr>
      </p:sp>
      <p:sp>
        <p:nvSpPr>
          <p:cNvPr id="23" name="Text 21"/>
          <p:cNvSpPr txBox="1"/>
          <p:nvPr/>
        </p:nvSpPr>
        <p:spPr>
          <a:xfrm>
            <a:off x="4846320" y="312724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금융 시세 · 환율</a:t>
            </a:r>
            <a:endParaRPr lang="en-US" sz="1400" dirty="0"/>
          </a:p>
        </p:txBody>
      </p:sp>
      <p:sp>
        <p:nvSpPr>
          <p:cNvPr id="24" name="Shape 22"/>
          <p:cNvSpPr/>
          <p:nvPr/>
        </p:nvSpPr>
        <p:spPr>
          <a:xfrm>
            <a:off x="4663440" y="3474720"/>
            <a:ext cx="82296" cy="82296"/>
          </a:xfrm>
          <a:prstGeom prst="ellipse">
            <a:avLst/>
          </a:prstGeom>
          <a:solidFill>
            <a:srgbClr val="1E6FBF"/>
          </a:solidFill>
          <a:ln w="12700">
            <a:solidFill>
              <a:srgbClr val="1E6FBF"/>
            </a:solidFill>
            <a:prstDash val="solid"/>
          </a:ln>
        </p:spPr>
      </p:sp>
      <p:sp>
        <p:nvSpPr>
          <p:cNvPr id="25" name="Text 23"/>
          <p:cNvSpPr txBox="1"/>
          <p:nvPr/>
        </p:nvSpPr>
        <p:spPr>
          <a:xfrm>
            <a:off x="4846320" y="340156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원자재 가격</a:t>
            </a:r>
            <a:endParaRPr lang="en-US" sz="1400" dirty="0"/>
          </a:p>
        </p:txBody>
      </p:sp>
      <p:sp>
        <p:nvSpPr>
          <p:cNvPr id="26" name="Shape 24"/>
          <p:cNvSpPr/>
          <p:nvPr/>
        </p:nvSpPr>
        <p:spPr>
          <a:xfrm>
            <a:off x="8156448" y="1956816"/>
            <a:ext cx="3328416" cy="2011680"/>
          </a:xfrm>
          <a:prstGeom prst="roundRect">
            <a:avLst>
              <a:gd name="adj" fmla="val 2273"/>
            </a:avLst>
          </a:prstGeom>
          <a:solidFill>
            <a:srgbClr val="FFFFFF"/>
          </a:solidFill>
          <a:ln w="12700">
            <a:solidFill>
              <a:srgbClr val="D2DEEA"/>
            </a:solidFill>
            <a:prstDash val="solid"/>
          </a:ln>
        </p:spPr>
      </p:sp>
      <p:sp>
        <p:nvSpPr>
          <p:cNvPr id="27" name="Text 25"/>
          <p:cNvSpPr txBox="1"/>
          <p:nvPr/>
        </p:nvSpPr>
        <p:spPr>
          <a:xfrm>
            <a:off x="8375904" y="2139696"/>
            <a:ext cx="2907792" cy="292608"/>
          </a:xfrm>
          <a:prstGeom prst="rect">
            <a:avLst/>
          </a:prstGeom>
          <a:noFill/>
          <a:ln/>
        </p:spPr>
        <p:txBody>
          <a:bodyPr wrap="square" lIns="0" tIns="0" rIns="0" bIns="0" rtlCol="0" anchor="t"/>
          <a:lstStyle/>
          <a:p>
            <a:pPr indent="0" marL="0">
              <a:buNone/>
            </a:pPr>
            <a:r>
              <a:rPr lang="en-US" sz="1700" b="1" dirty="0">
                <a:solidFill>
                  <a:srgbClr val="0B2545"/>
                </a:solidFill>
                <a:latin typeface="함초롬돋움" pitchFamily="34" charset="0"/>
                <a:ea typeface="함초롬돋움" pitchFamily="34" charset="-122"/>
                <a:cs typeface="함초롬돋움" pitchFamily="34" charset="-120"/>
              </a:rPr>
              <a:t>주요 API 기능</a:t>
            </a:r>
            <a:endParaRPr lang="en-US" sz="1700" dirty="0"/>
          </a:p>
        </p:txBody>
      </p:sp>
      <p:sp>
        <p:nvSpPr>
          <p:cNvPr id="28" name="Shape 26"/>
          <p:cNvSpPr/>
          <p:nvPr/>
        </p:nvSpPr>
        <p:spPr>
          <a:xfrm>
            <a:off x="8375904" y="2487168"/>
            <a:ext cx="2889504" cy="16459"/>
          </a:xfrm>
          <a:prstGeom prst="rect">
            <a:avLst/>
          </a:prstGeom>
          <a:solidFill>
            <a:srgbClr val="D2DEEA"/>
          </a:solidFill>
          <a:ln w="12700">
            <a:solidFill>
              <a:srgbClr val="D2DEEA"/>
            </a:solidFill>
            <a:prstDash val="solid"/>
          </a:ln>
        </p:spPr>
      </p:sp>
      <p:sp>
        <p:nvSpPr>
          <p:cNvPr id="29" name="Shape 27"/>
          <p:cNvSpPr/>
          <p:nvPr/>
        </p:nvSpPr>
        <p:spPr>
          <a:xfrm>
            <a:off x="8375904" y="2651760"/>
            <a:ext cx="82296" cy="82296"/>
          </a:xfrm>
          <a:prstGeom prst="ellipse">
            <a:avLst/>
          </a:prstGeom>
          <a:solidFill>
            <a:srgbClr val="1E6FBF"/>
          </a:solidFill>
          <a:ln w="12700">
            <a:solidFill>
              <a:srgbClr val="1E6FBF"/>
            </a:solidFill>
            <a:prstDash val="solid"/>
          </a:ln>
        </p:spPr>
      </p:sp>
      <p:sp>
        <p:nvSpPr>
          <p:cNvPr id="30" name="Text 28"/>
          <p:cNvSpPr txBox="1"/>
          <p:nvPr/>
        </p:nvSpPr>
        <p:spPr>
          <a:xfrm>
            <a:off x="8558784" y="257860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기업별 공시 · 뉴스 통합 조회</a:t>
            </a:r>
            <a:endParaRPr lang="en-US" sz="1400" dirty="0"/>
          </a:p>
        </p:txBody>
      </p:sp>
      <p:sp>
        <p:nvSpPr>
          <p:cNvPr id="31" name="Shape 29"/>
          <p:cNvSpPr/>
          <p:nvPr/>
        </p:nvSpPr>
        <p:spPr>
          <a:xfrm>
            <a:off x="8375904" y="2926080"/>
            <a:ext cx="82296" cy="82296"/>
          </a:xfrm>
          <a:prstGeom prst="ellipse">
            <a:avLst/>
          </a:prstGeom>
          <a:solidFill>
            <a:srgbClr val="1E6FBF"/>
          </a:solidFill>
          <a:ln w="12700">
            <a:solidFill>
              <a:srgbClr val="1E6FBF"/>
            </a:solidFill>
            <a:prstDash val="solid"/>
          </a:ln>
        </p:spPr>
      </p:sp>
      <p:sp>
        <p:nvSpPr>
          <p:cNvPr id="32" name="Text 30"/>
          <p:cNvSpPr txBox="1"/>
          <p:nvPr/>
        </p:nvSpPr>
        <p:spPr>
          <a:xfrm>
            <a:off x="8558784" y="285292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재무 · 주가 분석</a:t>
            </a:r>
            <a:endParaRPr lang="en-US" sz="1400" dirty="0"/>
          </a:p>
        </p:txBody>
      </p:sp>
      <p:sp>
        <p:nvSpPr>
          <p:cNvPr id="33" name="Shape 31"/>
          <p:cNvSpPr/>
          <p:nvPr/>
        </p:nvSpPr>
        <p:spPr>
          <a:xfrm>
            <a:off x="8375904" y="3200400"/>
            <a:ext cx="82296" cy="82296"/>
          </a:xfrm>
          <a:prstGeom prst="ellipse">
            <a:avLst/>
          </a:prstGeom>
          <a:solidFill>
            <a:srgbClr val="1E6FBF"/>
          </a:solidFill>
          <a:ln w="12700">
            <a:solidFill>
              <a:srgbClr val="1E6FBF"/>
            </a:solidFill>
            <a:prstDash val="solid"/>
          </a:ln>
        </p:spPr>
      </p:sp>
      <p:sp>
        <p:nvSpPr>
          <p:cNvPr id="34" name="Text 32"/>
          <p:cNvSpPr txBox="1"/>
          <p:nvPr/>
        </p:nvSpPr>
        <p:spPr>
          <a:xfrm>
            <a:off x="8558784" y="312724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원자재 가격 조회</a:t>
            </a:r>
            <a:endParaRPr lang="en-US" sz="1400" dirty="0"/>
          </a:p>
        </p:txBody>
      </p:sp>
      <p:sp>
        <p:nvSpPr>
          <p:cNvPr id="35" name="Shape 33"/>
          <p:cNvSpPr/>
          <p:nvPr/>
        </p:nvSpPr>
        <p:spPr>
          <a:xfrm>
            <a:off x="8375904" y="3474720"/>
            <a:ext cx="82296" cy="82296"/>
          </a:xfrm>
          <a:prstGeom prst="ellipse">
            <a:avLst/>
          </a:prstGeom>
          <a:solidFill>
            <a:srgbClr val="1E6FBF"/>
          </a:solidFill>
          <a:ln w="12700">
            <a:solidFill>
              <a:srgbClr val="1E6FBF"/>
            </a:solidFill>
            <a:prstDash val="solid"/>
          </a:ln>
        </p:spPr>
      </p:sp>
      <p:sp>
        <p:nvSpPr>
          <p:cNvPr id="36" name="Text 34"/>
          <p:cNvSpPr txBox="1"/>
          <p:nvPr/>
        </p:nvSpPr>
        <p:spPr>
          <a:xfrm>
            <a:off x="8558784" y="340156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AI 분석 요청</a:t>
            </a:r>
            <a:endParaRPr lang="en-US" sz="1400" dirty="0"/>
          </a:p>
        </p:txBody>
      </p:sp>
      <p:sp>
        <p:nvSpPr>
          <p:cNvPr id="37" name="Shape 35"/>
          <p:cNvSpPr/>
          <p:nvPr/>
        </p:nvSpPr>
        <p:spPr>
          <a:xfrm>
            <a:off x="8375904" y="3749040"/>
            <a:ext cx="82296" cy="82296"/>
          </a:xfrm>
          <a:prstGeom prst="ellipse">
            <a:avLst/>
          </a:prstGeom>
          <a:solidFill>
            <a:srgbClr val="1E6FBF"/>
          </a:solidFill>
          <a:ln w="12700">
            <a:solidFill>
              <a:srgbClr val="1E6FBF"/>
            </a:solidFill>
            <a:prstDash val="solid"/>
          </a:ln>
        </p:spPr>
      </p:sp>
      <p:sp>
        <p:nvSpPr>
          <p:cNvPr id="38" name="Text 36"/>
          <p:cNvSpPr txBox="1"/>
          <p:nvPr/>
        </p:nvSpPr>
        <p:spPr>
          <a:xfrm>
            <a:off x="8558784" y="367588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알림 수신자 관리</a:t>
            </a:r>
            <a:endParaRPr lang="en-US" sz="1400" dirty="0"/>
          </a:p>
        </p:txBody>
      </p:sp>
      <p:sp>
        <p:nvSpPr>
          <p:cNvPr id="39" name="Shape 37"/>
          <p:cNvSpPr/>
          <p:nvPr/>
        </p:nvSpPr>
        <p:spPr>
          <a:xfrm>
            <a:off x="731520" y="4151376"/>
            <a:ext cx="3328416" cy="2011680"/>
          </a:xfrm>
          <a:prstGeom prst="roundRect">
            <a:avLst>
              <a:gd name="adj" fmla="val 2273"/>
            </a:avLst>
          </a:prstGeom>
          <a:solidFill>
            <a:srgbClr val="FFFFFF"/>
          </a:solidFill>
          <a:ln w="12700">
            <a:solidFill>
              <a:srgbClr val="D2DEEA"/>
            </a:solidFill>
            <a:prstDash val="solid"/>
          </a:ln>
        </p:spPr>
      </p:sp>
      <p:sp>
        <p:nvSpPr>
          <p:cNvPr id="40" name="Text 38"/>
          <p:cNvSpPr txBox="1"/>
          <p:nvPr/>
        </p:nvSpPr>
        <p:spPr>
          <a:xfrm>
            <a:off x="950976" y="4334256"/>
            <a:ext cx="2907792" cy="292608"/>
          </a:xfrm>
          <a:prstGeom prst="rect">
            <a:avLst/>
          </a:prstGeom>
          <a:noFill/>
          <a:ln/>
        </p:spPr>
        <p:txBody>
          <a:bodyPr wrap="square" lIns="0" tIns="0" rIns="0" bIns="0" rtlCol="0" anchor="t"/>
          <a:lstStyle/>
          <a:p>
            <a:pPr indent="0" marL="0">
              <a:buNone/>
            </a:pPr>
            <a:r>
              <a:rPr lang="en-US" sz="1700" b="1" dirty="0">
                <a:solidFill>
                  <a:srgbClr val="0B2545"/>
                </a:solidFill>
                <a:latin typeface="함초롬돋움" pitchFamily="34" charset="0"/>
                <a:ea typeface="함초롬돋움" pitchFamily="34" charset="-122"/>
                <a:cs typeface="함초롬돋움" pitchFamily="34" charset="-120"/>
              </a:rPr>
              <a:t>데이터 저장</a:t>
            </a:r>
            <a:endParaRPr lang="en-US" sz="1700" dirty="0"/>
          </a:p>
        </p:txBody>
      </p:sp>
      <p:sp>
        <p:nvSpPr>
          <p:cNvPr id="41" name="Shape 39"/>
          <p:cNvSpPr/>
          <p:nvPr/>
        </p:nvSpPr>
        <p:spPr>
          <a:xfrm>
            <a:off x="950976" y="4681728"/>
            <a:ext cx="2889504" cy="16459"/>
          </a:xfrm>
          <a:prstGeom prst="rect">
            <a:avLst/>
          </a:prstGeom>
          <a:solidFill>
            <a:srgbClr val="D2DEEA"/>
          </a:solidFill>
          <a:ln w="12700">
            <a:solidFill>
              <a:srgbClr val="D2DEEA"/>
            </a:solidFill>
            <a:prstDash val="solid"/>
          </a:ln>
        </p:spPr>
      </p:sp>
      <p:sp>
        <p:nvSpPr>
          <p:cNvPr id="42" name="Shape 40"/>
          <p:cNvSpPr/>
          <p:nvPr/>
        </p:nvSpPr>
        <p:spPr>
          <a:xfrm>
            <a:off x="950976" y="4846320"/>
            <a:ext cx="82296" cy="82296"/>
          </a:xfrm>
          <a:prstGeom prst="ellipse">
            <a:avLst/>
          </a:prstGeom>
          <a:solidFill>
            <a:srgbClr val="1E6FBF"/>
          </a:solidFill>
          <a:ln w="12700">
            <a:solidFill>
              <a:srgbClr val="1E6FBF"/>
            </a:solidFill>
            <a:prstDash val="solid"/>
          </a:ln>
        </p:spPr>
      </p:sp>
      <p:sp>
        <p:nvSpPr>
          <p:cNvPr id="43" name="Text 41"/>
          <p:cNvSpPr txBox="1"/>
          <p:nvPr/>
        </p:nvSpPr>
        <p:spPr>
          <a:xfrm>
            <a:off x="1133856" y="477316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SQLite 사용</a:t>
            </a:r>
            <a:endParaRPr lang="en-US" sz="1400" dirty="0"/>
          </a:p>
        </p:txBody>
      </p:sp>
      <p:sp>
        <p:nvSpPr>
          <p:cNvPr id="44" name="Shape 42"/>
          <p:cNvSpPr/>
          <p:nvPr/>
        </p:nvSpPr>
        <p:spPr>
          <a:xfrm>
            <a:off x="950976" y="5120640"/>
            <a:ext cx="82296" cy="82296"/>
          </a:xfrm>
          <a:prstGeom prst="ellipse">
            <a:avLst/>
          </a:prstGeom>
          <a:solidFill>
            <a:srgbClr val="1E6FBF"/>
          </a:solidFill>
          <a:ln w="12700">
            <a:solidFill>
              <a:srgbClr val="1E6FBF"/>
            </a:solidFill>
            <a:prstDash val="solid"/>
          </a:ln>
        </p:spPr>
      </p:sp>
      <p:sp>
        <p:nvSpPr>
          <p:cNvPr id="45" name="Text 43"/>
          <p:cNvSpPr txBox="1"/>
          <p:nvPr/>
        </p:nvSpPr>
        <p:spPr>
          <a:xfrm>
            <a:off x="1133856" y="504748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원자재 가격 이력 보관</a:t>
            </a:r>
            <a:endParaRPr lang="en-US" sz="1400" dirty="0"/>
          </a:p>
        </p:txBody>
      </p:sp>
      <p:sp>
        <p:nvSpPr>
          <p:cNvPr id="46" name="Shape 44"/>
          <p:cNvSpPr/>
          <p:nvPr/>
        </p:nvSpPr>
        <p:spPr>
          <a:xfrm>
            <a:off x="950976" y="5394960"/>
            <a:ext cx="82296" cy="82296"/>
          </a:xfrm>
          <a:prstGeom prst="ellipse">
            <a:avLst/>
          </a:prstGeom>
          <a:solidFill>
            <a:srgbClr val="1E6FBF"/>
          </a:solidFill>
          <a:ln w="12700">
            <a:solidFill>
              <a:srgbClr val="1E6FBF"/>
            </a:solidFill>
            <a:prstDash val="solid"/>
          </a:ln>
        </p:spPr>
      </p:sp>
      <p:sp>
        <p:nvSpPr>
          <p:cNvPr id="47" name="Text 45"/>
          <p:cNvSpPr txBox="1"/>
          <p:nvPr/>
        </p:nvSpPr>
        <p:spPr>
          <a:xfrm>
            <a:off x="1133856" y="532180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알림 발송 이력 보관</a:t>
            </a:r>
            <a:endParaRPr lang="en-US" sz="1400" dirty="0"/>
          </a:p>
        </p:txBody>
      </p:sp>
      <p:sp>
        <p:nvSpPr>
          <p:cNvPr id="48" name="Shape 46"/>
          <p:cNvSpPr/>
          <p:nvPr/>
        </p:nvSpPr>
        <p:spPr>
          <a:xfrm>
            <a:off x="950976" y="5669280"/>
            <a:ext cx="82296" cy="82296"/>
          </a:xfrm>
          <a:prstGeom prst="ellipse">
            <a:avLst/>
          </a:prstGeom>
          <a:solidFill>
            <a:srgbClr val="1E6FBF"/>
          </a:solidFill>
          <a:ln w="12700">
            <a:solidFill>
              <a:srgbClr val="1E6FBF"/>
            </a:solidFill>
            <a:prstDash val="solid"/>
          </a:ln>
        </p:spPr>
      </p:sp>
      <p:sp>
        <p:nvSpPr>
          <p:cNvPr id="49" name="Text 47"/>
          <p:cNvSpPr txBox="1"/>
          <p:nvPr/>
        </p:nvSpPr>
        <p:spPr>
          <a:xfrm>
            <a:off x="1133856" y="559612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발송 이력으로 중복 발송 차단</a:t>
            </a:r>
            <a:endParaRPr lang="en-US" sz="1400" dirty="0"/>
          </a:p>
        </p:txBody>
      </p:sp>
      <p:sp>
        <p:nvSpPr>
          <p:cNvPr id="50" name="Shape 48"/>
          <p:cNvSpPr/>
          <p:nvPr/>
        </p:nvSpPr>
        <p:spPr>
          <a:xfrm>
            <a:off x="4443984" y="4151376"/>
            <a:ext cx="3328416" cy="2011680"/>
          </a:xfrm>
          <a:prstGeom prst="roundRect">
            <a:avLst>
              <a:gd name="adj" fmla="val 2273"/>
            </a:avLst>
          </a:prstGeom>
          <a:solidFill>
            <a:srgbClr val="FFFFFF"/>
          </a:solidFill>
          <a:ln w="12700">
            <a:solidFill>
              <a:srgbClr val="D2DEEA"/>
            </a:solidFill>
            <a:prstDash val="solid"/>
          </a:ln>
        </p:spPr>
      </p:sp>
      <p:sp>
        <p:nvSpPr>
          <p:cNvPr id="51" name="Text 49"/>
          <p:cNvSpPr txBox="1"/>
          <p:nvPr/>
        </p:nvSpPr>
        <p:spPr>
          <a:xfrm>
            <a:off x="4663440" y="4334256"/>
            <a:ext cx="2907792" cy="292608"/>
          </a:xfrm>
          <a:prstGeom prst="rect">
            <a:avLst/>
          </a:prstGeom>
          <a:noFill/>
          <a:ln/>
        </p:spPr>
        <p:txBody>
          <a:bodyPr wrap="square" lIns="0" tIns="0" rIns="0" bIns="0" rtlCol="0" anchor="t"/>
          <a:lstStyle/>
          <a:p>
            <a:pPr indent="0" marL="0">
              <a:buNone/>
            </a:pPr>
            <a:r>
              <a:rPr lang="en-US" sz="1700" b="1" dirty="0">
                <a:solidFill>
                  <a:srgbClr val="0B2545"/>
                </a:solidFill>
                <a:latin typeface="함초롬돋움" pitchFamily="34" charset="0"/>
                <a:ea typeface="함초롬돋움" pitchFamily="34" charset="-122"/>
                <a:cs typeface="함초롬돋움" pitchFamily="34" charset="-120"/>
              </a:rPr>
              <a:t>AI 처리</a:t>
            </a:r>
            <a:endParaRPr lang="en-US" sz="1700" dirty="0"/>
          </a:p>
        </p:txBody>
      </p:sp>
      <p:sp>
        <p:nvSpPr>
          <p:cNvPr id="52" name="Shape 50"/>
          <p:cNvSpPr/>
          <p:nvPr/>
        </p:nvSpPr>
        <p:spPr>
          <a:xfrm>
            <a:off x="4663440" y="4681728"/>
            <a:ext cx="2889504" cy="16459"/>
          </a:xfrm>
          <a:prstGeom prst="rect">
            <a:avLst/>
          </a:prstGeom>
          <a:solidFill>
            <a:srgbClr val="D2DEEA"/>
          </a:solidFill>
          <a:ln w="12700">
            <a:solidFill>
              <a:srgbClr val="D2DEEA"/>
            </a:solidFill>
            <a:prstDash val="solid"/>
          </a:ln>
        </p:spPr>
      </p:sp>
      <p:sp>
        <p:nvSpPr>
          <p:cNvPr id="53" name="Shape 51"/>
          <p:cNvSpPr/>
          <p:nvPr/>
        </p:nvSpPr>
        <p:spPr>
          <a:xfrm>
            <a:off x="4663440" y="4846320"/>
            <a:ext cx="82296" cy="82296"/>
          </a:xfrm>
          <a:prstGeom prst="ellipse">
            <a:avLst/>
          </a:prstGeom>
          <a:solidFill>
            <a:srgbClr val="1E6FBF"/>
          </a:solidFill>
          <a:ln w="12700">
            <a:solidFill>
              <a:srgbClr val="1E6FBF"/>
            </a:solidFill>
            <a:prstDash val="solid"/>
          </a:ln>
        </p:spPr>
      </p:sp>
      <p:sp>
        <p:nvSpPr>
          <p:cNvPr id="54" name="Text 52"/>
          <p:cNvSpPr txBox="1"/>
          <p:nvPr/>
        </p:nvSpPr>
        <p:spPr>
          <a:xfrm>
            <a:off x="4846320" y="477316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Gemini 우선 호출</a:t>
            </a:r>
            <a:endParaRPr lang="en-US" sz="1400" dirty="0"/>
          </a:p>
        </p:txBody>
      </p:sp>
      <p:sp>
        <p:nvSpPr>
          <p:cNvPr id="55" name="Shape 53"/>
          <p:cNvSpPr/>
          <p:nvPr/>
        </p:nvSpPr>
        <p:spPr>
          <a:xfrm>
            <a:off x="4663440" y="5120640"/>
            <a:ext cx="82296" cy="82296"/>
          </a:xfrm>
          <a:prstGeom prst="ellipse">
            <a:avLst/>
          </a:prstGeom>
          <a:solidFill>
            <a:srgbClr val="1E6FBF"/>
          </a:solidFill>
          <a:ln w="12700">
            <a:solidFill>
              <a:srgbClr val="1E6FBF"/>
            </a:solidFill>
            <a:prstDash val="solid"/>
          </a:ln>
        </p:spPr>
      </p:sp>
      <p:sp>
        <p:nvSpPr>
          <p:cNvPr id="56" name="Text 54"/>
          <p:cNvSpPr txBox="1"/>
          <p:nvPr/>
        </p:nvSpPr>
        <p:spPr>
          <a:xfrm>
            <a:off x="4846320" y="504748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실패 시 OpenAI로 대체</a:t>
            </a:r>
            <a:endParaRPr lang="en-US" sz="1400" dirty="0"/>
          </a:p>
        </p:txBody>
      </p:sp>
      <p:sp>
        <p:nvSpPr>
          <p:cNvPr id="57" name="Shape 55"/>
          <p:cNvSpPr/>
          <p:nvPr/>
        </p:nvSpPr>
        <p:spPr>
          <a:xfrm>
            <a:off x="4663440" y="5394960"/>
            <a:ext cx="82296" cy="82296"/>
          </a:xfrm>
          <a:prstGeom prst="ellipse">
            <a:avLst/>
          </a:prstGeom>
          <a:solidFill>
            <a:srgbClr val="1E6FBF"/>
          </a:solidFill>
          <a:ln w="12700">
            <a:solidFill>
              <a:srgbClr val="1E6FBF"/>
            </a:solidFill>
            <a:prstDash val="solid"/>
          </a:ln>
        </p:spPr>
      </p:sp>
      <p:sp>
        <p:nvSpPr>
          <p:cNvPr id="58" name="Text 56"/>
          <p:cNvSpPr txBox="1"/>
          <p:nvPr/>
        </p:nvSpPr>
        <p:spPr>
          <a:xfrm>
            <a:off x="4846320" y="532180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응답 형식을 고정해 검증</a:t>
            </a:r>
            <a:endParaRPr lang="en-US" sz="1400" dirty="0"/>
          </a:p>
        </p:txBody>
      </p:sp>
      <p:sp>
        <p:nvSpPr>
          <p:cNvPr id="59" name="Shape 57"/>
          <p:cNvSpPr/>
          <p:nvPr/>
        </p:nvSpPr>
        <p:spPr>
          <a:xfrm>
            <a:off x="4663440" y="5669280"/>
            <a:ext cx="82296" cy="82296"/>
          </a:xfrm>
          <a:prstGeom prst="ellipse">
            <a:avLst/>
          </a:prstGeom>
          <a:solidFill>
            <a:srgbClr val="1E6FBF"/>
          </a:solidFill>
          <a:ln w="12700">
            <a:solidFill>
              <a:srgbClr val="1E6FBF"/>
            </a:solidFill>
            <a:prstDash val="solid"/>
          </a:ln>
        </p:spPr>
      </p:sp>
      <p:sp>
        <p:nvSpPr>
          <p:cNvPr id="60" name="Text 58"/>
          <p:cNvSpPr txBox="1"/>
          <p:nvPr/>
        </p:nvSpPr>
        <p:spPr>
          <a:xfrm>
            <a:off x="4846320" y="559612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미설정 시 기본 결과 반환</a:t>
            </a:r>
            <a:endParaRPr lang="en-US" sz="1400" dirty="0"/>
          </a:p>
        </p:txBody>
      </p:sp>
      <p:sp>
        <p:nvSpPr>
          <p:cNvPr id="61" name="Shape 59"/>
          <p:cNvSpPr/>
          <p:nvPr/>
        </p:nvSpPr>
        <p:spPr>
          <a:xfrm>
            <a:off x="8156448" y="4151376"/>
            <a:ext cx="3328416" cy="2011680"/>
          </a:xfrm>
          <a:prstGeom prst="roundRect">
            <a:avLst>
              <a:gd name="adj" fmla="val 2273"/>
            </a:avLst>
          </a:prstGeom>
          <a:solidFill>
            <a:srgbClr val="FFFFFF"/>
          </a:solidFill>
          <a:ln w="12700">
            <a:solidFill>
              <a:srgbClr val="D2DEEA"/>
            </a:solidFill>
            <a:prstDash val="solid"/>
          </a:ln>
        </p:spPr>
      </p:sp>
      <p:sp>
        <p:nvSpPr>
          <p:cNvPr id="62" name="Text 60"/>
          <p:cNvSpPr txBox="1"/>
          <p:nvPr/>
        </p:nvSpPr>
        <p:spPr>
          <a:xfrm>
            <a:off x="8375904" y="4334256"/>
            <a:ext cx="2907792" cy="292608"/>
          </a:xfrm>
          <a:prstGeom prst="rect">
            <a:avLst/>
          </a:prstGeom>
          <a:noFill/>
          <a:ln/>
        </p:spPr>
        <p:txBody>
          <a:bodyPr wrap="square" lIns="0" tIns="0" rIns="0" bIns="0" rtlCol="0" anchor="t"/>
          <a:lstStyle/>
          <a:p>
            <a:pPr indent="0" marL="0">
              <a:buNone/>
            </a:pPr>
            <a:r>
              <a:rPr lang="en-US" sz="1700" b="1" dirty="0">
                <a:solidFill>
                  <a:srgbClr val="0B2545"/>
                </a:solidFill>
                <a:latin typeface="함초롬돋움" pitchFamily="34" charset="0"/>
                <a:ea typeface="함초롬돋움" pitchFamily="34" charset="-122"/>
                <a:cs typeface="함초롬돋움" pitchFamily="34" charset="-120"/>
              </a:rPr>
              <a:t>알림 처리</a:t>
            </a:r>
            <a:endParaRPr lang="en-US" sz="1700" dirty="0"/>
          </a:p>
        </p:txBody>
      </p:sp>
      <p:sp>
        <p:nvSpPr>
          <p:cNvPr id="63" name="Shape 61"/>
          <p:cNvSpPr/>
          <p:nvPr/>
        </p:nvSpPr>
        <p:spPr>
          <a:xfrm>
            <a:off x="8375904" y="4681728"/>
            <a:ext cx="2889504" cy="16459"/>
          </a:xfrm>
          <a:prstGeom prst="rect">
            <a:avLst/>
          </a:prstGeom>
          <a:solidFill>
            <a:srgbClr val="D2DEEA"/>
          </a:solidFill>
          <a:ln w="12700">
            <a:solidFill>
              <a:srgbClr val="D2DEEA"/>
            </a:solidFill>
            <a:prstDash val="solid"/>
          </a:ln>
        </p:spPr>
      </p:sp>
      <p:sp>
        <p:nvSpPr>
          <p:cNvPr id="64" name="Shape 62"/>
          <p:cNvSpPr/>
          <p:nvPr/>
        </p:nvSpPr>
        <p:spPr>
          <a:xfrm>
            <a:off x="8375904" y="4846320"/>
            <a:ext cx="82296" cy="82296"/>
          </a:xfrm>
          <a:prstGeom prst="ellipse">
            <a:avLst/>
          </a:prstGeom>
          <a:solidFill>
            <a:srgbClr val="1E6FBF"/>
          </a:solidFill>
          <a:ln w="12700">
            <a:solidFill>
              <a:srgbClr val="1E6FBF"/>
            </a:solidFill>
            <a:prstDash val="solid"/>
          </a:ln>
        </p:spPr>
      </p:sp>
      <p:sp>
        <p:nvSpPr>
          <p:cNvPr id="65" name="Text 63"/>
          <p:cNvSpPr txBox="1"/>
          <p:nvPr/>
        </p:nvSpPr>
        <p:spPr>
          <a:xfrm>
            <a:off x="8558784" y="477316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주요 공시 유형 규칙으로 선별</a:t>
            </a:r>
            <a:endParaRPr lang="en-US" sz="1400" dirty="0"/>
          </a:p>
        </p:txBody>
      </p:sp>
      <p:sp>
        <p:nvSpPr>
          <p:cNvPr id="66" name="Shape 64"/>
          <p:cNvSpPr/>
          <p:nvPr/>
        </p:nvSpPr>
        <p:spPr>
          <a:xfrm>
            <a:off x="8375904" y="5120640"/>
            <a:ext cx="82296" cy="82296"/>
          </a:xfrm>
          <a:prstGeom prst="ellipse">
            <a:avLst/>
          </a:prstGeom>
          <a:solidFill>
            <a:srgbClr val="1E6FBF"/>
          </a:solidFill>
          <a:ln w="12700">
            <a:solidFill>
              <a:srgbClr val="1E6FBF"/>
            </a:solidFill>
            <a:prstDash val="solid"/>
          </a:ln>
        </p:spPr>
      </p:sp>
      <p:sp>
        <p:nvSpPr>
          <p:cNvPr id="67" name="Text 65"/>
          <p:cNvSpPr txBox="1"/>
          <p:nvPr/>
        </p:nvSpPr>
        <p:spPr>
          <a:xfrm>
            <a:off x="8558784" y="504748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Telegram · 이메일 동시 발송</a:t>
            </a:r>
            <a:endParaRPr lang="en-US" sz="1400" dirty="0"/>
          </a:p>
        </p:txBody>
      </p:sp>
      <p:sp>
        <p:nvSpPr>
          <p:cNvPr id="68" name="Shape 66"/>
          <p:cNvSpPr/>
          <p:nvPr/>
        </p:nvSpPr>
        <p:spPr>
          <a:xfrm>
            <a:off x="8375904" y="5394960"/>
            <a:ext cx="82296" cy="82296"/>
          </a:xfrm>
          <a:prstGeom prst="ellipse">
            <a:avLst/>
          </a:prstGeom>
          <a:solidFill>
            <a:srgbClr val="1E6FBF"/>
          </a:solidFill>
          <a:ln w="12700">
            <a:solidFill>
              <a:srgbClr val="1E6FBF"/>
            </a:solidFill>
            <a:prstDash val="solid"/>
          </a:ln>
        </p:spPr>
      </p:sp>
      <p:sp>
        <p:nvSpPr>
          <p:cNvPr id="69" name="Text 67"/>
          <p:cNvSpPr txBox="1"/>
          <p:nvPr/>
        </p:nvSpPr>
        <p:spPr>
          <a:xfrm>
            <a:off x="8558784" y="532180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수신자별 채널 설정</a:t>
            </a:r>
            <a:endParaRPr lang="en-US" sz="1400" dirty="0"/>
          </a:p>
        </p:txBody>
      </p:sp>
      <p:sp>
        <p:nvSpPr>
          <p:cNvPr id="70" name="Shape 68"/>
          <p:cNvSpPr/>
          <p:nvPr/>
        </p:nvSpPr>
        <p:spPr>
          <a:xfrm>
            <a:off x="8375904" y="5669280"/>
            <a:ext cx="82296" cy="82296"/>
          </a:xfrm>
          <a:prstGeom prst="ellipse">
            <a:avLst/>
          </a:prstGeom>
          <a:solidFill>
            <a:srgbClr val="1E6FBF"/>
          </a:solidFill>
          <a:ln w="12700">
            <a:solidFill>
              <a:srgbClr val="1E6FBF"/>
            </a:solidFill>
            <a:prstDash val="solid"/>
          </a:ln>
        </p:spPr>
      </p:sp>
      <p:sp>
        <p:nvSpPr>
          <p:cNvPr id="71" name="Text 69"/>
          <p:cNvSpPr txBox="1"/>
          <p:nvPr/>
        </p:nvSpPr>
        <p:spPr>
          <a:xfrm>
            <a:off x="8558784" y="5596128"/>
            <a:ext cx="2724912" cy="256032"/>
          </a:xfrm>
          <a:prstGeom prst="rect">
            <a:avLst/>
          </a:prstGeom>
          <a:noFill/>
          <a:ln/>
        </p:spPr>
        <p:txBody>
          <a:bodyPr wrap="square" lIns="0" tIns="0" rIns="0" bIns="0" rtlCol="0" anchor="t"/>
          <a:lstStyle/>
          <a:p>
            <a:pPr indent="0" marL="0">
              <a:buNone/>
            </a:pPr>
            <a:r>
              <a:rPr lang="en-US" sz="1400" dirty="0">
                <a:solidFill>
                  <a:srgbClr val="16273A"/>
                </a:solidFill>
                <a:latin typeface="함초롬돋움" pitchFamily="34" charset="0"/>
                <a:ea typeface="함초롬돋움" pitchFamily="34" charset="-122"/>
                <a:cs typeface="함초롬돋움" pitchFamily="34" charset="-120"/>
              </a:rPr>
              <a:t>관리자 화면에서 직접 관리</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indent="0" marL="0">
              <a:buNone/>
            </a:pPr>
            <a:r>
              <a:rPr lang="en-US" sz="3200" b="1" dirty="0">
                <a:solidFill>
                  <a:srgbClr val="0B2545"/>
                </a:solidFill>
                <a:latin typeface="함초롬돋움" pitchFamily="34" charset="0"/>
                <a:ea typeface="함초롬돋움" pitchFamily="34" charset="-122"/>
                <a:cs typeface="함초롬돋움" pitchFamily="34" charset="-120"/>
              </a:rPr>
              <a:t>부록 · 한계와 향후 검증</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indent="0" marL="0">
              <a:buNone/>
            </a:pPr>
            <a:r>
              <a:rPr lang="en-US" sz="1800" dirty="0">
                <a:solidFill>
                  <a:srgbClr val="5A6B7C"/>
                </a:solidFill>
                <a:latin typeface="함초롬돋움" pitchFamily="34" charset="0"/>
                <a:ea typeface="함초롬돋움" pitchFamily="34" charset="-122"/>
                <a:cs typeface="함초롬돋움" pitchFamily="34" charset="-120"/>
              </a:rPr>
              <a:t>질의응답에서 정확도 · 신뢰성 · 보안 · 향후 계획 질문이 있을 때 사용합니다</a:t>
            </a:r>
            <a:endParaRPr lang="en-US" sz="1800" dirty="0"/>
          </a:p>
        </p:txBody>
      </p:sp>
      <p:sp>
        <p:nvSpPr>
          <p:cNvPr id="5" name="Text 3"/>
          <p:cNvSpPr txBox="1"/>
          <p:nvPr/>
        </p:nvSpPr>
        <p:spPr>
          <a:xfrm>
            <a:off x="10545775" y="6355080"/>
            <a:ext cx="914400" cy="274320"/>
          </a:xfrm>
          <a:prstGeom prst="rect">
            <a:avLst/>
          </a:prstGeom>
          <a:noFill/>
          <a:ln/>
        </p:spPr>
        <p:txBody>
          <a:bodyPr wrap="square" lIns="0" tIns="0" rIns="0" bIns="0" rtlCol="0" anchor="t"/>
          <a:lstStyle/>
          <a:p>
            <a:pPr algn="r" indent="0" marL="0">
              <a:buNone/>
            </a:pPr>
            <a:r>
              <a:rPr lang="en-US" sz="1300" dirty="0">
                <a:solidFill>
                  <a:srgbClr val="8B9BAA"/>
                </a:solidFill>
                <a:latin typeface="함초롬돋움" pitchFamily="34" charset="0"/>
                <a:ea typeface="함초롬돋움" pitchFamily="34" charset="-122"/>
                <a:cs typeface="함초롬돋움" pitchFamily="34" charset="-120"/>
              </a:rPr>
              <a:t>10</a:t>
            </a:r>
            <a:endParaRPr lang="en-US" sz="1300" dirty="0"/>
          </a:p>
        </p:txBody>
      </p:sp>
      <p:sp>
        <p:nvSpPr>
          <p:cNvPr id="6" name="Text 4"/>
          <p:cNvSpPr txBox="1"/>
          <p:nvPr/>
        </p:nvSpPr>
        <p:spPr>
          <a:xfrm>
            <a:off x="731520" y="2011680"/>
            <a:ext cx="2743200" cy="292608"/>
          </a:xfrm>
          <a:prstGeom prst="rect">
            <a:avLst/>
          </a:prstGeom>
          <a:noFill/>
          <a:ln/>
        </p:spPr>
        <p:txBody>
          <a:bodyPr wrap="square" lIns="0" tIns="0" rIns="0" bIns="0" rtlCol="0" anchor="t"/>
          <a:lstStyle/>
          <a:p>
            <a:pPr indent="0" marL="0">
              <a:buNone/>
            </a:pPr>
            <a:r>
              <a:rPr lang="en-US" sz="2000" b="1" dirty="0">
                <a:solidFill>
                  <a:srgbClr val="0B2545"/>
                </a:solidFill>
                <a:latin typeface="함초롬돋움" pitchFamily="34" charset="0"/>
                <a:ea typeface="함초롬돋움" pitchFamily="34" charset="-122"/>
                <a:cs typeface="함초롬돋움" pitchFamily="34" charset="-120"/>
              </a:rPr>
              <a:t>현재 한계</a:t>
            </a:r>
            <a:endParaRPr lang="en-US" sz="2000" dirty="0"/>
          </a:p>
        </p:txBody>
      </p:sp>
      <p:sp>
        <p:nvSpPr>
          <p:cNvPr id="7" name="Shape 5"/>
          <p:cNvSpPr/>
          <p:nvPr/>
        </p:nvSpPr>
        <p:spPr>
          <a:xfrm>
            <a:off x="731520" y="2450592"/>
            <a:ext cx="5230368" cy="768096"/>
          </a:xfrm>
          <a:prstGeom prst="roundRect">
            <a:avLst>
              <a:gd name="adj" fmla="val 5952"/>
            </a:avLst>
          </a:prstGeom>
          <a:solidFill>
            <a:srgbClr val="FFFFFF"/>
          </a:solidFill>
          <a:ln w="12700">
            <a:solidFill>
              <a:srgbClr val="D2DEEA"/>
            </a:solidFill>
            <a:prstDash val="solid"/>
          </a:ln>
        </p:spPr>
      </p:sp>
      <p:sp>
        <p:nvSpPr>
          <p:cNvPr id="8" name="Shape 6"/>
          <p:cNvSpPr/>
          <p:nvPr/>
        </p:nvSpPr>
        <p:spPr>
          <a:xfrm>
            <a:off x="950976" y="2633472"/>
            <a:ext cx="100584" cy="100584"/>
          </a:xfrm>
          <a:prstGeom prst="ellipse">
            <a:avLst/>
          </a:prstGeom>
          <a:solidFill>
            <a:srgbClr val="B4483F"/>
          </a:solidFill>
          <a:ln w="12700">
            <a:solidFill>
              <a:srgbClr val="B4483F"/>
            </a:solidFill>
            <a:prstDash val="solid"/>
          </a:ln>
        </p:spPr>
      </p:sp>
      <p:sp>
        <p:nvSpPr>
          <p:cNvPr id="9" name="Text 7"/>
          <p:cNvSpPr txBox="1"/>
          <p:nvPr/>
        </p:nvSpPr>
        <p:spPr>
          <a:xfrm>
            <a:off x="1170432" y="2560320"/>
            <a:ext cx="4663440" cy="274320"/>
          </a:xfrm>
          <a:prstGeom prst="rect">
            <a:avLst/>
          </a:prstGeom>
          <a:noFill/>
          <a:ln/>
        </p:spPr>
        <p:txBody>
          <a:bodyPr wrap="square" lIns="0" tIns="0" rIns="0" bIns="0" rtlCol="0" anchor="t"/>
          <a:lstStyle/>
          <a:p>
            <a:pPr indent="0" marL="0">
              <a:buNone/>
            </a:pPr>
            <a:r>
              <a:rPr lang="en-US" sz="1600" b="1" dirty="0">
                <a:solidFill>
                  <a:srgbClr val="143A63"/>
                </a:solidFill>
                <a:latin typeface="함초롬돋움" pitchFamily="34" charset="0"/>
                <a:ea typeface="함초롬돋움" pitchFamily="34" charset="-122"/>
                <a:cs typeface="함초롬돋움" pitchFamily="34" charset="-120"/>
              </a:rPr>
              <a:t>외부 데이터 구조 변경 가능성</a:t>
            </a:r>
            <a:endParaRPr lang="en-US" sz="1600" dirty="0"/>
          </a:p>
        </p:txBody>
      </p:sp>
      <p:sp>
        <p:nvSpPr>
          <p:cNvPr id="10" name="Text 8"/>
          <p:cNvSpPr txBox="1"/>
          <p:nvPr/>
        </p:nvSpPr>
        <p:spPr>
          <a:xfrm>
            <a:off x="1170432" y="2852928"/>
            <a:ext cx="4663440" cy="256032"/>
          </a:xfrm>
          <a:prstGeom prst="rect">
            <a:avLst/>
          </a:prstGeom>
          <a:noFill/>
          <a:ln/>
        </p:spPr>
        <p:txBody>
          <a:bodyPr wrap="square" lIns="0" tIns="0" rIns="0" bIns="0" rtlCol="0" anchor="t"/>
          <a:lstStyle/>
          <a:p>
            <a:pPr indent="0" marL="0">
              <a:buNone/>
            </a:pPr>
            <a:r>
              <a:rPr lang="en-US" sz="1400" dirty="0">
                <a:solidFill>
                  <a:srgbClr val="5A6B7C"/>
                </a:solidFill>
                <a:latin typeface="함초롬돋움" pitchFamily="34" charset="0"/>
                <a:ea typeface="함초롬돋움" pitchFamily="34" charset="-122"/>
                <a:cs typeface="함초롬돋움" pitchFamily="34" charset="-120"/>
              </a:rPr>
              <a:t>출처 사이트가 개편되면 수집이 중단될 수 있다</a:t>
            </a:r>
            <a:endParaRPr lang="en-US" sz="1400" dirty="0"/>
          </a:p>
        </p:txBody>
      </p:sp>
      <p:sp>
        <p:nvSpPr>
          <p:cNvPr id="11" name="Shape 9"/>
          <p:cNvSpPr/>
          <p:nvPr/>
        </p:nvSpPr>
        <p:spPr>
          <a:xfrm>
            <a:off x="731520" y="3346704"/>
            <a:ext cx="5230368" cy="768096"/>
          </a:xfrm>
          <a:prstGeom prst="roundRect">
            <a:avLst>
              <a:gd name="adj" fmla="val 5952"/>
            </a:avLst>
          </a:prstGeom>
          <a:solidFill>
            <a:srgbClr val="FFFFFF"/>
          </a:solidFill>
          <a:ln w="12700">
            <a:solidFill>
              <a:srgbClr val="D2DEEA"/>
            </a:solidFill>
            <a:prstDash val="solid"/>
          </a:ln>
        </p:spPr>
      </p:sp>
      <p:sp>
        <p:nvSpPr>
          <p:cNvPr id="12" name="Shape 10"/>
          <p:cNvSpPr/>
          <p:nvPr/>
        </p:nvSpPr>
        <p:spPr>
          <a:xfrm>
            <a:off x="950976" y="3529584"/>
            <a:ext cx="100584" cy="100584"/>
          </a:xfrm>
          <a:prstGeom prst="ellipse">
            <a:avLst/>
          </a:prstGeom>
          <a:solidFill>
            <a:srgbClr val="B4483F"/>
          </a:solidFill>
          <a:ln w="12700">
            <a:solidFill>
              <a:srgbClr val="B4483F"/>
            </a:solidFill>
            <a:prstDash val="solid"/>
          </a:ln>
        </p:spPr>
      </p:sp>
      <p:sp>
        <p:nvSpPr>
          <p:cNvPr id="13" name="Text 11"/>
          <p:cNvSpPr txBox="1"/>
          <p:nvPr/>
        </p:nvSpPr>
        <p:spPr>
          <a:xfrm>
            <a:off x="1170432" y="3456432"/>
            <a:ext cx="4663440" cy="274320"/>
          </a:xfrm>
          <a:prstGeom prst="rect">
            <a:avLst/>
          </a:prstGeom>
          <a:noFill/>
          <a:ln/>
        </p:spPr>
        <p:txBody>
          <a:bodyPr wrap="square" lIns="0" tIns="0" rIns="0" bIns="0" rtlCol="0" anchor="t"/>
          <a:lstStyle/>
          <a:p>
            <a:pPr indent="0" marL="0">
              <a:buNone/>
            </a:pPr>
            <a:r>
              <a:rPr lang="en-US" sz="1600" b="1" dirty="0">
                <a:solidFill>
                  <a:srgbClr val="143A63"/>
                </a:solidFill>
                <a:latin typeface="함초롬돋움" pitchFamily="34" charset="0"/>
                <a:ea typeface="함초롬돋움" pitchFamily="34" charset="-122"/>
                <a:cs typeface="함초롬돋움" pitchFamily="34" charset="-120"/>
              </a:rPr>
              <a:t>AI 분석 결과의 오류 가능성</a:t>
            </a:r>
            <a:endParaRPr lang="en-US" sz="1600" dirty="0"/>
          </a:p>
        </p:txBody>
      </p:sp>
      <p:sp>
        <p:nvSpPr>
          <p:cNvPr id="14" name="Text 12"/>
          <p:cNvSpPr txBox="1"/>
          <p:nvPr/>
        </p:nvSpPr>
        <p:spPr>
          <a:xfrm>
            <a:off x="1170432" y="3749040"/>
            <a:ext cx="4663440" cy="256032"/>
          </a:xfrm>
          <a:prstGeom prst="rect">
            <a:avLst/>
          </a:prstGeom>
          <a:noFill/>
          <a:ln/>
        </p:spPr>
        <p:txBody>
          <a:bodyPr wrap="square" lIns="0" tIns="0" rIns="0" bIns="0" rtlCol="0" anchor="t"/>
          <a:lstStyle/>
          <a:p>
            <a:pPr indent="0" marL="0">
              <a:buNone/>
            </a:pPr>
            <a:r>
              <a:rPr lang="en-US" sz="1400" dirty="0">
                <a:solidFill>
                  <a:srgbClr val="5A6B7C"/>
                </a:solidFill>
                <a:latin typeface="함초롬돋움" pitchFamily="34" charset="0"/>
                <a:ea typeface="함초롬돋움" pitchFamily="34" charset="-122"/>
                <a:cs typeface="함초롬돋움" pitchFamily="34" charset="-120"/>
              </a:rPr>
              <a:t>사실과 추론이 섞일 수 있어 원문 확인이 필요하다</a:t>
            </a:r>
            <a:endParaRPr lang="en-US" sz="1400" dirty="0"/>
          </a:p>
        </p:txBody>
      </p:sp>
      <p:sp>
        <p:nvSpPr>
          <p:cNvPr id="15" name="Shape 13"/>
          <p:cNvSpPr/>
          <p:nvPr/>
        </p:nvSpPr>
        <p:spPr>
          <a:xfrm>
            <a:off x="731520" y="4242816"/>
            <a:ext cx="5230368" cy="768096"/>
          </a:xfrm>
          <a:prstGeom prst="roundRect">
            <a:avLst>
              <a:gd name="adj" fmla="val 5952"/>
            </a:avLst>
          </a:prstGeom>
          <a:solidFill>
            <a:srgbClr val="FFFFFF"/>
          </a:solidFill>
          <a:ln w="12700">
            <a:solidFill>
              <a:srgbClr val="D2DEEA"/>
            </a:solidFill>
            <a:prstDash val="solid"/>
          </a:ln>
        </p:spPr>
      </p:sp>
      <p:sp>
        <p:nvSpPr>
          <p:cNvPr id="16" name="Shape 14"/>
          <p:cNvSpPr/>
          <p:nvPr/>
        </p:nvSpPr>
        <p:spPr>
          <a:xfrm>
            <a:off x="950976" y="4425696"/>
            <a:ext cx="100584" cy="100584"/>
          </a:xfrm>
          <a:prstGeom prst="ellipse">
            <a:avLst/>
          </a:prstGeom>
          <a:solidFill>
            <a:srgbClr val="B4483F"/>
          </a:solidFill>
          <a:ln w="12700">
            <a:solidFill>
              <a:srgbClr val="B4483F"/>
            </a:solidFill>
            <a:prstDash val="solid"/>
          </a:ln>
        </p:spPr>
      </p:sp>
      <p:sp>
        <p:nvSpPr>
          <p:cNvPr id="17" name="Text 15"/>
          <p:cNvSpPr txBox="1"/>
          <p:nvPr/>
        </p:nvSpPr>
        <p:spPr>
          <a:xfrm>
            <a:off x="1170432" y="4352544"/>
            <a:ext cx="4663440" cy="274320"/>
          </a:xfrm>
          <a:prstGeom prst="rect">
            <a:avLst/>
          </a:prstGeom>
          <a:noFill/>
          <a:ln/>
        </p:spPr>
        <p:txBody>
          <a:bodyPr wrap="square" lIns="0" tIns="0" rIns="0" bIns="0" rtlCol="0" anchor="t"/>
          <a:lstStyle/>
          <a:p>
            <a:pPr indent="0" marL="0">
              <a:buNone/>
            </a:pPr>
            <a:r>
              <a:rPr lang="en-US" sz="1600" b="1" dirty="0">
                <a:solidFill>
                  <a:srgbClr val="143A63"/>
                </a:solidFill>
                <a:latin typeface="함초롬돋움" pitchFamily="34" charset="0"/>
                <a:ea typeface="함초롬돋움" pitchFamily="34" charset="-122"/>
                <a:cs typeface="함초롬돋움" pitchFamily="34" charset="-120"/>
              </a:rPr>
              <a:t>장기 검증 부족</a:t>
            </a:r>
            <a:endParaRPr lang="en-US" sz="1600" dirty="0"/>
          </a:p>
        </p:txBody>
      </p:sp>
      <p:sp>
        <p:nvSpPr>
          <p:cNvPr id="18" name="Text 16"/>
          <p:cNvSpPr txBox="1"/>
          <p:nvPr/>
        </p:nvSpPr>
        <p:spPr>
          <a:xfrm>
            <a:off x="1170432" y="4645152"/>
            <a:ext cx="4663440" cy="256032"/>
          </a:xfrm>
          <a:prstGeom prst="rect">
            <a:avLst/>
          </a:prstGeom>
          <a:noFill/>
          <a:ln/>
        </p:spPr>
        <p:txBody>
          <a:bodyPr wrap="square" lIns="0" tIns="0" rIns="0" bIns="0" rtlCol="0" anchor="t"/>
          <a:lstStyle/>
          <a:p>
            <a:pPr indent="0" marL="0">
              <a:buNone/>
            </a:pPr>
            <a:r>
              <a:rPr lang="en-US" sz="1400" dirty="0">
                <a:solidFill>
                  <a:srgbClr val="5A6B7C"/>
                </a:solidFill>
                <a:latin typeface="함초롬돋움" pitchFamily="34" charset="0"/>
                <a:ea typeface="함초롬돋움" pitchFamily="34" charset="-122"/>
                <a:cs typeface="함초롬돋움" pitchFamily="34" charset="-120"/>
              </a:rPr>
              <a:t>실제 사용자를 통한 효과 검증이 아직 이뤄지지 않았다</a:t>
            </a:r>
            <a:endParaRPr lang="en-US" sz="1400" dirty="0"/>
          </a:p>
        </p:txBody>
      </p:sp>
      <p:sp>
        <p:nvSpPr>
          <p:cNvPr id="19" name="Shape 17"/>
          <p:cNvSpPr/>
          <p:nvPr/>
        </p:nvSpPr>
        <p:spPr>
          <a:xfrm>
            <a:off x="731520" y="5138928"/>
            <a:ext cx="5230368" cy="768096"/>
          </a:xfrm>
          <a:prstGeom prst="roundRect">
            <a:avLst>
              <a:gd name="adj" fmla="val 5952"/>
            </a:avLst>
          </a:prstGeom>
          <a:solidFill>
            <a:srgbClr val="FFFFFF"/>
          </a:solidFill>
          <a:ln w="12700">
            <a:solidFill>
              <a:srgbClr val="D2DEEA"/>
            </a:solidFill>
            <a:prstDash val="solid"/>
          </a:ln>
        </p:spPr>
      </p:sp>
      <p:sp>
        <p:nvSpPr>
          <p:cNvPr id="20" name="Shape 18"/>
          <p:cNvSpPr/>
          <p:nvPr/>
        </p:nvSpPr>
        <p:spPr>
          <a:xfrm>
            <a:off x="950976" y="5321808"/>
            <a:ext cx="100584" cy="100584"/>
          </a:xfrm>
          <a:prstGeom prst="ellipse">
            <a:avLst/>
          </a:prstGeom>
          <a:solidFill>
            <a:srgbClr val="B4483F"/>
          </a:solidFill>
          <a:ln w="12700">
            <a:solidFill>
              <a:srgbClr val="B4483F"/>
            </a:solidFill>
            <a:prstDash val="solid"/>
          </a:ln>
        </p:spPr>
      </p:sp>
      <p:sp>
        <p:nvSpPr>
          <p:cNvPr id="21" name="Text 19"/>
          <p:cNvSpPr txBox="1"/>
          <p:nvPr/>
        </p:nvSpPr>
        <p:spPr>
          <a:xfrm>
            <a:off x="1170432" y="5248656"/>
            <a:ext cx="4663440" cy="274320"/>
          </a:xfrm>
          <a:prstGeom prst="rect">
            <a:avLst/>
          </a:prstGeom>
          <a:noFill/>
          <a:ln/>
        </p:spPr>
        <p:txBody>
          <a:bodyPr wrap="square" lIns="0" tIns="0" rIns="0" bIns="0" rtlCol="0" anchor="t"/>
          <a:lstStyle/>
          <a:p>
            <a:pPr indent="0" marL="0">
              <a:buNone/>
            </a:pPr>
            <a:r>
              <a:rPr lang="en-US" sz="1600" b="1" dirty="0">
                <a:solidFill>
                  <a:srgbClr val="143A63"/>
                </a:solidFill>
                <a:latin typeface="함초롬돋움" pitchFamily="34" charset="0"/>
                <a:ea typeface="함초롬돋움" pitchFamily="34" charset="-122"/>
                <a:cs typeface="함초롬돋움" pitchFamily="34" charset="-120"/>
              </a:rPr>
              <a:t>보안과 접근 권한</a:t>
            </a:r>
            <a:endParaRPr lang="en-US" sz="1600" dirty="0"/>
          </a:p>
        </p:txBody>
      </p:sp>
      <p:sp>
        <p:nvSpPr>
          <p:cNvPr id="22" name="Text 20"/>
          <p:cNvSpPr txBox="1"/>
          <p:nvPr/>
        </p:nvSpPr>
        <p:spPr>
          <a:xfrm>
            <a:off x="1170432" y="5541264"/>
            <a:ext cx="4663440" cy="256032"/>
          </a:xfrm>
          <a:prstGeom prst="rect">
            <a:avLst/>
          </a:prstGeom>
          <a:noFill/>
          <a:ln/>
        </p:spPr>
        <p:txBody>
          <a:bodyPr wrap="square" lIns="0" tIns="0" rIns="0" bIns="0" rtlCol="0" anchor="t"/>
          <a:lstStyle/>
          <a:p>
            <a:pPr indent="0" marL="0">
              <a:buNone/>
            </a:pPr>
            <a:r>
              <a:rPr lang="en-US" sz="1400" dirty="0">
                <a:solidFill>
                  <a:srgbClr val="5A6B7C"/>
                </a:solidFill>
                <a:latin typeface="함초롬돋움" pitchFamily="34" charset="0"/>
                <a:ea typeface="함초롬돋움" pitchFamily="34" charset="-122"/>
                <a:cs typeface="함초롬돋움" pitchFamily="34" charset="-120"/>
              </a:rPr>
              <a:t>사내 운영 시 데이터 접근 권한 설계가 필요하다</a:t>
            </a:r>
            <a:endParaRPr lang="en-US" sz="1400" dirty="0"/>
          </a:p>
        </p:txBody>
      </p:sp>
      <p:sp>
        <p:nvSpPr>
          <p:cNvPr id="23" name="Text 21"/>
          <p:cNvSpPr txBox="1"/>
          <p:nvPr/>
        </p:nvSpPr>
        <p:spPr>
          <a:xfrm>
            <a:off x="6336792" y="2011680"/>
            <a:ext cx="3657600" cy="292608"/>
          </a:xfrm>
          <a:prstGeom prst="rect">
            <a:avLst/>
          </a:prstGeom>
          <a:noFill/>
          <a:ln/>
        </p:spPr>
        <p:txBody>
          <a:bodyPr wrap="square" lIns="0" tIns="0" rIns="0" bIns="0" rtlCol="0" anchor="t"/>
          <a:lstStyle/>
          <a:p>
            <a:pPr indent="0" marL="0">
              <a:buNone/>
            </a:pPr>
            <a:r>
              <a:rPr lang="en-US" sz="2000" b="1" dirty="0">
                <a:solidFill>
                  <a:srgbClr val="0B2545"/>
                </a:solidFill>
                <a:latin typeface="함초롬돋움" pitchFamily="34" charset="0"/>
                <a:ea typeface="함초롬돋움" pitchFamily="34" charset="-122"/>
                <a:cs typeface="함초롬돋움" pitchFamily="34" charset="-120"/>
              </a:rPr>
              <a:t>향후 검증과 개선</a:t>
            </a:r>
            <a:endParaRPr lang="en-US" sz="2000" dirty="0"/>
          </a:p>
        </p:txBody>
      </p:sp>
      <p:sp>
        <p:nvSpPr>
          <p:cNvPr id="24" name="Shape 22"/>
          <p:cNvSpPr/>
          <p:nvPr/>
        </p:nvSpPr>
        <p:spPr>
          <a:xfrm>
            <a:off x="6336792" y="2450592"/>
            <a:ext cx="5120640" cy="768096"/>
          </a:xfrm>
          <a:prstGeom prst="roundRect">
            <a:avLst>
              <a:gd name="adj" fmla="val 5952"/>
            </a:avLst>
          </a:prstGeom>
          <a:solidFill>
            <a:srgbClr val="FFFFFF"/>
          </a:solidFill>
          <a:ln w="12700">
            <a:solidFill>
              <a:srgbClr val="D2DEEA"/>
            </a:solidFill>
            <a:prstDash val="solid"/>
          </a:ln>
        </p:spPr>
      </p:sp>
      <p:sp>
        <p:nvSpPr>
          <p:cNvPr id="25" name="Shape 23"/>
          <p:cNvSpPr/>
          <p:nvPr/>
        </p:nvSpPr>
        <p:spPr>
          <a:xfrm>
            <a:off x="6556248" y="2633472"/>
            <a:ext cx="100584" cy="100584"/>
          </a:xfrm>
          <a:prstGeom prst="ellipse">
            <a:avLst/>
          </a:prstGeom>
          <a:solidFill>
            <a:srgbClr val="00A88F"/>
          </a:solidFill>
          <a:ln w="12700">
            <a:solidFill>
              <a:srgbClr val="00A88F"/>
            </a:solidFill>
            <a:prstDash val="solid"/>
          </a:ln>
        </p:spPr>
      </p:sp>
      <p:sp>
        <p:nvSpPr>
          <p:cNvPr id="26" name="Text 24"/>
          <p:cNvSpPr txBox="1"/>
          <p:nvPr/>
        </p:nvSpPr>
        <p:spPr>
          <a:xfrm>
            <a:off x="6775704" y="2560320"/>
            <a:ext cx="4572000" cy="274320"/>
          </a:xfrm>
          <a:prstGeom prst="rect">
            <a:avLst/>
          </a:prstGeom>
          <a:noFill/>
          <a:ln/>
        </p:spPr>
        <p:txBody>
          <a:bodyPr wrap="square" lIns="0" tIns="0" rIns="0" bIns="0" rtlCol="0" anchor="t"/>
          <a:lstStyle/>
          <a:p>
            <a:pPr indent="0" marL="0">
              <a:buNone/>
            </a:pPr>
            <a:r>
              <a:rPr lang="en-US" sz="1600" b="1" dirty="0">
                <a:solidFill>
                  <a:srgbClr val="143A63"/>
                </a:solidFill>
                <a:latin typeface="함초롬돋움" pitchFamily="34" charset="0"/>
                <a:ea typeface="함초롬돋움" pitchFamily="34" charset="-122"/>
                <a:cs typeface="함초롬돋움" pitchFamily="34" charset="-120"/>
              </a:rPr>
              <a:t>임플리케이션 평가 기준 마련</a:t>
            </a:r>
            <a:endParaRPr lang="en-US" sz="1600" dirty="0"/>
          </a:p>
        </p:txBody>
      </p:sp>
      <p:sp>
        <p:nvSpPr>
          <p:cNvPr id="27" name="Text 25"/>
          <p:cNvSpPr txBox="1"/>
          <p:nvPr/>
        </p:nvSpPr>
        <p:spPr>
          <a:xfrm>
            <a:off x="6775704" y="2852928"/>
            <a:ext cx="4572000" cy="256032"/>
          </a:xfrm>
          <a:prstGeom prst="rect">
            <a:avLst/>
          </a:prstGeom>
          <a:noFill/>
          <a:ln/>
        </p:spPr>
        <p:txBody>
          <a:bodyPr wrap="square" lIns="0" tIns="0" rIns="0" bIns="0" rtlCol="0" anchor="t"/>
          <a:lstStyle/>
          <a:p>
            <a:pPr indent="0" marL="0">
              <a:buNone/>
            </a:pPr>
            <a:r>
              <a:rPr lang="en-US" sz="1400" dirty="0">
                <a:solidFill>
                  <a:srgbClr val="5A6B7C"/>
                </a:solidFill>
                <a:latin typeface="함초롬돋움" pitchFamily="34" charset="0"/>
                <a:ea typeface="함초롬돋움" pitchFamily="34" charset="-122"/>
                <a:cs typeface="함초롬돋움" pitchFamily="34" charset="-120"/>
              </a:rPr>
              <a:t>정확도를 판단할 평가 데이터셋을 구축한다</a:t>
            </a:r>
            <a:endParaRPr lang="en-US" sz="1400" dirty="0"/>
          </a:p>
        </p:txBody>
      </p:sp>
      <p:sp>
        <p:nvSpPr>
          <p:cNvPr id="28" name="Shape 26"/>
          <p:cNvSpPr/>
          <p:nvPr/>
        </p:nvSpPr>
        <p:spPr>
          <a:xfrm>
            <a:off x="6336792" y="3346704"/>
            <a:ext cx="5120640" cy="768096"/>
          </a:xfrm>
          <a:prstGeom prst="roundRect">
            <a:avLst>
              <a:gd name="adj" fmla="val 5952"/>
            </a:avLst>
          </a:prstGeom>
          <a:solidFill>
            <a:srgbClr val="FFFFFF"/>
          </a:solidFill>
          <a:ln w="12700">
            <a:solidFill>
              <a:srgbClr val="D2DEEA"/>
            </a:solidFill>
            <a:prstDash val="solid"/>
          </a:ln>
        </p:spPr>
      </p:sp>
      <p:sp>
        <p:nvSpPr>
          <p:cNvPr id="29" name="Shape 27"/>
          <p:cNvSpPr/>
          <p:nvPr/>
        </p:nvSpPr>
        <p:spPr>
          <a:xfrm>
            <a:off x="6556248" y="3529584"/>
            <a:ext cx="100584" cy="100584"/>
          </a:xfrm>
          <a:prstGeom prst="ellipse">
            <a:avLst/>
          </a:prstGeom>
          <a:solidFill>
            <a:srgbClr val="00A88F"/>
          </a:solidFill>
          <a:ln w="12700">
            <a:solidFill>
              <a:srgbClr val="00A88F"/>
            </a:solidFill>
            <a:prstDash val="solid"/>
          </a:ln>
        </p:spPr>
      </p:sp>
      <p:sp>
        <p:nvSpPr>
          <p:cNvPr id="30" name="Text 28"/>
          <p:cNvSpPr txBox="1"/>
          <p:nvPr/>
        </p:nvSpPr>
        <p:spPr>
          <a:xfrm>
            <a:off x="6775704" y="3456432"/>
            <a:ext cx="4572000" cy="274320"/>
          </a:xfrm>
          <a:prstGeom prst="rect">
            <a:avLst/>
          </a:prstGeom>
          <a:noFill/>
          <a:ln/>
        </p:spPr>
        <p:txBody>
          <a:bodyPr wrap="square" lIns="0" tIns="0" rIns="0" bIns="0" rtlCol="0" anchor="t"/>
          <a:lstStyle/>
          <a:p>
            <a:pPr indent="0" marL="0">
              <a:buNone/>
            </a:pPr>
            <a:r>
              <a:rPr lang="en-US" sz="1600" b="1" dirty="0">
                <a:solidFill>
                  <a:srgbClr val="143A63"/>
                </a:solidFill>
                <a:latin typeface="함초롬돋움" pitchFamily="34" charset="0"/>
                <a:ea typeface="함초롬돋움" pitchFamily="34" charset="-122"/>
                <a:cs typeface="함초롬돋움" pitchFamily="34" charset="-120"/>
              </a:rPr>
              <a:t>사용자별 기준 설정</a:t>
            </a:r>
            <a:endParaRPr lang="en-US" sz="1600" dirty="0"/>
          </a:p>
        </p:txBody>
      </p:sp>
      <p:sp>
        <p:nvSpPr>
          <p:cNvPr id="31" name="Text 29"/>
          <p:cNvSpPr txBox="1"/>
          <p:nvPr/>
        </p:nvSpPr>
        <p:spPr>
          <a:xfrm>
            <a:off x="6775704" y="3749040"/>
            <a:ext cx="4572000" cy="256032"/>
          </a:xfrm>
          <a:prstGeom prst="rect">
            <a:avLst/>
          </a:prstGeom>
          <a:noFill/>
          <a:ln/>
        </p:spPr>
        <p:txBody>
          <a:bodyPr wrap="square" lIns="0" tIns="0" rIns="0" bIns="0" rtlCol="0" anchor="t"/>
          <a:lstStyle/>
          <a:p>
            <a:pPr indent="0" marL="0">
              <a:buNone/>
            </a:pPr>
            <a:r>
              <a:rPr lang="en-US" sz="1400" dirty="0">
                <a:solidFill>
                  <a:srgbClr val="5A6B7C"/>
                </a:solidFill>
                <a:latin typeface="함초롬돋움" pitchFamily="34" charset="0"/>
                <a:ea typeface="함초롬돋움" pitchFamily="34" charset="-122"/>
                <a:cs typeface="함초롬돋움" pitchFamily="34" charset="-120"/>
              </a:rPr>
              <a:t>관심 기업과 위험 기준을 사용자가 직접 정한다</a:t>
            </a:r>
            <a:endParaRPr lang="en-US" sz="1400" dirty="0"/>
          </a:p>
        </p:txBody>
      </p:sp>
      <p:sp>
        <p:nvSpPr>
          <p:cNvPr id="32" name="Shape 30"/>
          <p:cNvSpPr/>
          <p:nvPr/>
        </p:nvSpPr>
        <p:spPr>
          <a:xfrm>
            <a:off x="6336792" y="4242816"/>
            <a:ext cx="5120640" cy="768096"/>
          </a:xfrm>
          <a:prstGeom prst="roundRect">
            <a:avLst>
              <a:gd name="adj" fmla="val 5952"/>
            </a:avLst>
          </a:prstGeom>
          <a:solidFill>
            <a:srgbClr val="FFFFFF"/>
          </a:solidFill>
          <a:ln w="12700">
            <a:solidFill>
              <a:srgbClr val="D2DEEA"/>
            </a:solidFill>
            <a:prstDash val="solid"/>
          </a:ln>
        </p:spPr>
      </p:sp>
      <p:sp>
        <p:nvSpPr>
          <p:cNvPr id="33" name="Shape 31"/>
          <p:cNvSpPr/>
          <p:nvPr/>
        </p:nvSpPr>
        <p:spPr>
          <a:xfrm>
            <a:off x="6556248" y="4425696"/>
            <a:ext cx="100584" cy="100584"/>
          </a:xfrm>
          <a:prstGeom prst="ellipse">
            <a:avLst/>
          </a:prstGeom>
          <a:solidFill>
            <a:srgbClr val="00A88F"/>
          </a:solidFill>
          <a:ln w="12700">
            <a:solidFill>
              <a:srgbClr val="00A88F"/>
            </a:solidFill>
            <a:prstDash val="solid"/>
          </a:ln>
        </p:spPr>
      </p:sp>
      <p:sp>
        <p:nvSpPr>
          <p:cNvPr id="34" name="Text 32"/>
          <p:cNvSpPr txBox="1"/>
          <p:nvPr/>
        </p:nvSpPr>
        <p:spPr>
          <a:xfrm>
            <a:off x="6775704" y="4352544"/>
            <a:ext cx="4572000" cy="274320"/>
          </a:xfrm>
          <a:prstGeom prst="rect">
            <a:avLst/>
          </a:prstGeom>
          <a:noFill/>
          <a:ln/>
        </p:spPr>
        <p:txBody>
          <a:bodyPr wrap="square" lIns="0" tIns="0" rIns="0" bIns="0" rtlCol="0" anchor="t"/>
          <a:lstStyle/>
          <a:p>
            <a:pPr indent="0" marL="0">
              <a:buNone/>
            </a:pPr>
            <a:r>
              <a:rPr lang="en-US" sz="1600" b="1" dirty="0">
                <a:solidFill>
                  <a:srgbClr val="143A63"/>
                </a:solidFill>
                <a:latin typeface="함초롬돋움" pitchFamily="34" charset="0"/>
                <a:ea typeface="함초롬돋움" pitchFamily="34" charset="-122"/>
                <a:cs typeface="함초롬돋움" pitchFamily="34" charset="-120"/>
              </a:rPr>
              <a:t>시간 단축 효과 측정</a:t>
            </a:r>
            <a:endParaRPr lang="en-US" sz="1600" dirty="0"/>
          </a:p>
        </p:txBody>
      </p:sp>
      <p:sp>
        <p:nvSpPr>
          <p:cNvPr id="35" name="Text 33"/>
          <p:cNvSpPr txBox="1"/>
          <p:nvPr/>
        </p:nvSpPr>
        <p:spPr>
          <a:xfrm>
            <a:off x="6775704" y="4645152"/>
            <a:ext cx="4572000" cy="256032"/>
          </a:xfrm>
          <a:prstGeom prst="rect">
            <a:avLst/>
          </a:prstGeom>
          <a:noFill/>
          <a:ln/>
        </p:spPr>
        <p:txBody>
          <a:bodyPr wrap="square" lIns="0" tIns="0" rIns="0" bIns="0" rtlCol="0" anchor="t"/>
          <a:lstStyle/>
          <a:p>
            <a:pPr indent="0" marL="0">
              <a:buNone/>
            </a:pPr>
            <a:r>
              <a:rPr lang="en-US" sz="1400" dirty="0">
                <a:solidFill>
                  <a:srgbClr val="5A6B7C"/>
                </a:solidFill>
                <a:latin typeface="함초롬돋움" pitchFamily="34" charset="0"/>
                <a:ea typeface="함초롬돋움" pitchFamily="34" charset="-122"/>
                <a:cs typeface="함초롬돋움" pitchFamily="34" charset="-120"/>
              </a:rPr>
              <a:t>실제 사용자를 대상으로 전후 시간을 측정한다</a:t>
            </a:r>
            <a:endParaRPr lang="en-US" sz="1400" dirty="0"/>
          </a:p>
        </p:txBody>
      </p:sp>
      <p:sp>
        <p:nvSpPr>
          <p:cNvPr id="36" name="Shape 34"/>
          <p:cNvSpPr/>
          <p:nvPr/>
        </p:nvSpPr>
        <p:spPr>
          <a:xfrm>
            <a:off x="6336792" y="5138928"/>
            <a:ext cx="5120640" cy="768096"/>
          </a:xfrm>
          <a:prstGeom prst="roundRect">
            <a:avLst>
              <a:gd name="adj" fmla="val 5952"/>
            </a:avLst>
          </a:prstGeom>
          <a:solidFill>
            <a:srgbClr val="FFFFFF"/>
          </a:solidFill>
          <a:ln w="12700">
            <a:solidFill>
              <a:srgbClr val="D2DEEA"/>
            </a:solidFill>
            <a:prstDash val="solid"/>
          </a:ln>
        </p:spPr>
      </p:sp>
      <p:sp>
        <p:nvSpPr>
          <p:cNvPr id="37" name="Shape 35"/>
          <p:cNvSpPr/>
          <p:nvPr/>
        </p:nvSpPr>
        <p:spPr>
          <a:xfrm>
            <a:off x="6556248" y="5321808"/>
            <a:ext cx="100584" cy="100584"/>
          </a:xfrm>
          <a:prstGeom prst="ellipse">
            <a:avLst/>
          </a:prstGeom>
          <a:solidFill>
            <a:srgbClr val="00A88F"/>
          </a:solidFill>
          <a:ln w="12700">
            <a:solidFill>
              <a:srgbClr val="00A88F"/>
            </a:solidFill>
            <a:prstDash val="solid"/>
          </a:ln>
        </p:spPr>
      </p:sp>
      <p:sp>
        <p:nvSpPr>
          <p:cNvPr id="38" name="Text 36"/>
          <p:cNvSpPr txBox="1"/>
          <p:nvPr/>
        </p:nvSpPr>
        <p:spPr>
          <a:xfrm>
            <a:off x="6775704" y="5248656"/>
            <a:ext cx="4572000" cy="274320"/>
          </a:xfrm>
          <a:prstGeom prst="rect">
            <a:avLst/>
          </a:prstGeom>
          <a:noFill/>
          <a:ln/>
        </p:spPr>
        <p:txBody>
          <a:bodyPr wrap="square" lIns="0" tIns="0" rIns="0" bIns="0" rtlCol="0" anchor="t"/>
          <a:lstStyle/>
          <a:p>
            <a:pPr indent="0" marL="0">
              <a:buNone/>
            </a:pPr>
            <a:r>
              <a:rPr lang="en-US" sz="1600" b="1" dirty="0">
                <a:solidFill>
                  <a:srgbClr val="143A63"/>
                </a:solidFill>
                <a:latin typeface="함초롬돋움" pitchFamily="34" charset="0"/>
                <a:ea typeface="함초롬돋움" pitchFamily="34" charset="-122"/>
                <a:cs typeface="함초롬돋움" pitchFamily="34" charset="-120"/>
              </a:rPr>
              <a:t>사내 데이터 연계</a:t>
            </a:r>
            <a:endParaRPr lang="en-US" sz="1600" dirty="0"/>
          </a:p>
        </p:txBody>
      </p:sp>
      <p:sp>
        <p:nvSpPr>
          <p:cNvPr id="39" name="Text 37"/>
          <p:cNvSpPr txBox="1"/>
          <p:nvPr/>
        </p:nvSpPr>
        <p:spPr>
          <a:xfrm>
            <a:off x="6775704" y="5541264"/>
            <a:ext cx="4572000" cy="256032"/>
          </a:xfrm>
          <a:prstGeom prst="rect">
            <a:avLst/>
          </a:prstGeom>
          <a:noFill/>
          <a:ln/>
        </p:spPr>
        <p:txBody>
          <a:bodyPr wrap="square" lIns="0" tIns="0" rIns="0" bIns="0" rtlCol="0" anchor="t"/>
          <a:lstStyle/>
          <a:p>
            <a:pPr indent="0" marL="0">
              <a:buNone/>
            </a:pPr>
            <a:r>
              <a:rPr lang="en-US" sz="1400" dirty="0">
                <a:solidFill>
                  <a:srgbClr val="5A6B7C"/>
                </a:solidFill>
                <a:latin typeface="함초롬돋움" pitchFamily="34" charset="0"/>
                <a:ea typeface="함초롬돋움" pitchFamily="34" charset="-122"/>
                <a:cs typeface="함초롬돋움" pitchFamily="34" charset="-120"/>
              </a:rPr>
              <a:t>사내 데이터와 연결해 맞춤형 분석을 제공한다</a:t>
            </a:r>
            <a:endParaRPr lang="en-US" sz="1400" dirty="0"/>
          </a:p>
        </p:txBody>
      </p:sp>
      <p:sp>
        <p:nvSpPr>
          <p:cNvPr id="40" name="Shape 38"/>
          <p:cNvSpPr/>
          <p:nvPr/>
        </p:nvSpPr>
        <p:spPr>
          <a:xfrm>
            <a:off x="731520" y="6089904"/>
            <a:ext cx="10728655" cy="420624"/>
          </a:xfrm>
          <a:prstGeom prst="rect">
            <a:avLst/>
          </a:prstGeom>
          <a:solidFill>
            <a:srgbClr val="0B2545"/>
          </a:solidFill>
          <a:ln w="12700">
            <a:solidFill>
              <a:srgbClr val="333333"/>
            </a:solidFill>
            <a:prstDash val="solid"/>
          </a:ln>
        </p:spPr>
      </p:sp>
      <p:sp>
        <p:nvSpPr>
          <p:cNvPr id="41" name="Text 39"/>
          <p:cNvSpPr txBox="1"/>
          <p:nvPr/>
        </p:nvSpPr>
        <p:spPr>
          <a:xfrm>
            <a:off x="1060704" y="6181344"/>
            <a:ext cx="10058400" cy="274320"/>
          </a:xfrm>
          <a:prstGeom prst="rect">
            <a:avLst/>
          </a:prstGeom>
          <a:noFill/>
          <a:ln/>
        </p:spPr>
        <p:txBody>
          <a:bodyPr wrap="square" lIns="0" tIns="0" rIns="0" bIns="0" rtlCol="0" anchor="t"/>
          <a:lstStyle/>
          <a:p>
            <a:pPr indent="0" marL="0">
              <a:buNone/>
            </a:pPr>
            <a:r>
              <a:rPr lang="en-US" sz="1500" b="1" dirty="0">
                <a:solidFill>
                  <a:srgbClr val="4FD1BC"/>
                </a:solidFill>
                <a:latin typeface="함초롬돋움" pitchFamily="34" charset="0"/>
                <a:ea typeface="함초롬돋움" pitchFamily="34" charset="-122"/>
                <a:cs typeface="함초롬돋움" pitchFamily="34" charset="-120"/>
              </a:rPr>
              <a:t>AI 분석 결과는 최종 결정이 아니라 경영진 검토를 위한 자료로 정의하고 있습니다.</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FUTURE:M RADAR — 이차전지 산업 인텔리전스 기반 경영 의사결정 지원 시스템</dc:title>
  <dc:subject>PptxGenJS Presentation</dc:subject>
  <dc:creator>FUTURE:M RADAR</dc:creator>
  <cp:lastModifiedBy>FUTURE:M RADAR</cp:lastModifiedBy>
  <cp:revision>1</cp:revision>
  <dcterms:created xsi:type="dcterms:W3CDTF">2026-09-11T02:22:24Z</dcterms:created>
  <dcterms:modified xsi:type="dcterms:W3CDTF">2026-09-11T02:22:24Z</dcterms:modified>
</cp:coreProperties>
</file>