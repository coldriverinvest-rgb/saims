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0ef5ba44464a03" /><Relationship Type="http://schemas.openxmlformats.org/officeDocument/2006/relationships/extended-properties" Target="/docProps/app.xml" Id="Rdee5c02b7664478a" /><Relationship Type="http://schemas.openxmlformats.org/officeDocument/2006/relationships/officeDocument" Target="/ppt/presentation.xml" Id="R13342082a90b437e" /></Relationships>
</file>

<file path=ppt/presentation.xml><?xml version="1.0" encoding="utf-8"?>
<p:presentation xmlns:p="http://schemas.openxmlformats.org/presentationml/2006/main">
  <p:sldMasterIdLst>
    <p:sldMasterId xmlns:r="http://schemas.openxmlformats.org/officeDocument/2006/relationships" id="2147483648" r:id="R02052f389c814012"/>
  </p:sldMasterIdLst>
  <p:notesMasterIdLst>
    <p:notesMasterId xmlns:r="http://schemas.openxmlformats.org/officeDocument/2006/relationships" r:id="Rbd455e728db9487f"/>
  </p:notesMasterIdLst>
  <p:sldIdLst>
    <p:sldId xmlns:r="http://schemas.openxmlformats.org/officeDocument/2006/relationships" id="256" r:id="R493c8fac4e6646f9"/>
    <p:sldId xmlns:r="http://schemas.openxmlformats.org/officeDocument/2006/relationships" id="257" r:id="Ra1c5084144a54cd8"/>
    <p:sldId xmlns:r="http://schemas.openxmlformats.org/officeDocument/2006/relationships" id="258" r:id="Rf4228f4fff4040d7"/>
    <p:sldId xmlns:r="http://schemas.openxmlformats.org/officeDocument/2006/relationships" id="259" r:id="R2ef9518344d94dad"/>
    <p:sldId xmlns:r="http://schemas.openxmlformats.org/officeDocument/2006/relationships" id="260" r:id="Rc105b9dea73e4f8c"/>
    <p:sldId xmlns:r="http://schemas.openxmlformats.org/officeDocument/2006/relationships" id="261" r:id="R397b6955c3a048fa"/>
    <p:sldId xmlns:r="http://schemas.openxmlformats.org/officeDocument/2006/relationships" id="262" r:id="R40c3145765e1463a"/>
    <p:sldId xmlns:r="http://schemas.openxmlformats.org/officeDocument/2006/relationships" id="263" r:id="Rb271d17f89da4904"/>
    <p:sldId xmlns:r="http://schemas.openxmlformats.org/officeDocument/2006/relationships" id="264" r:id="Ra59213a7263c43cc"/>
    <p:sldId xmlns:r="http://schemas.openxmlformats.org/officeDocument/2006/relationships" id="265" r:id="R17df0c8ee0134f45"/>
    <p:sldId xmlns:r="http://schemas.openxmlformats.org/officeDocument/2006/relationships" id="266" r:id="R4ea1461d1ff5410c"/>
    <p:sldId xmlns:r="http://schemas.openxmlformats.org/officeDocument/2006/relationships" id="267" r:id="Ra8cde65de1be4a15"/>
    <p:sldId xmlns:r="http://schemas.openxmlformats.org/officeDocument/2006/relationships" id="268" r:id="R910b46b78ad241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818e928c13420c" /><Relationship Type="http://schemas.openxmlformats.org/officeDocument/2006/relationships/slideMaster" Target="/ppt/slideMasters/slideMaster1.xml" Id="R02052f389c814012" /><Relationship Type="http://schemas.openxmlformats.org/officeDocument/2006/relationships/notesMaster" Target="/ppt/notesMasters/notesMaster1.xml" Id="Rbd455e728db9487f" /><Relationship Type="http://schemas.openxmlformats.org/officeDocument/2006/relationships/presProps" Target="/ppt/presProps.xml" Id="R7ed07c95e40648e3" /><Relationship Type="http://schemas.openxmlformats.org/officeDocument/2006/relationships/tableStyles" Target="/ppt/tableStyles.xml" Id="Rc46eb271f96c4874" /><Relationship Type="http://schemas.openxmlformats.org/officeDocument/2006/relationships/slide" Target="/ppt/slides/slide1.xml" Id="R493c8fac4e6646f9" /><Relationship Type="http://schemas.openxmlformats.org/officeDocument/2006/relationships/slide" Target="/ppt/slides/slide2.xml" Id="Ra1c5084144a54cd8" /><Relationship Type="http://schemas.openxmlformats.org/officeDocument/2006/relationships/slide" Target="/ppt/slides/slide3.xml" Id="Rf4228f4fff4040d7" /><Relationship Type="http://schemas.openxmlformats.org/officeDocument/2006/relationships/slide" Target="/ppt/slides/slide4.xml" Id="R2ef9518344d94dad" /><Relationship Type="http://schemas.openxmlformats.org/officeDocument/2006/relationships/slide" Target="/ppt/slides/slide5.xml" Id="Rc105b9dea73e4f8c" /><Relationship Type="http://schemas.openxmlformats.org/officeDocument/2006/relationships/slide" Target="/ppt/slides/slide6.xml" Id="R397b6955c3a048fa" /><Relationship Type="http://schemas.openxmlformats.org/officeDocument/2006/relationships/slide" Target="/ppt/slides/slide7.xml" Id="R40c3145765e1463a" /><Relationship Type="http://schemas.openxmlformats.org/officeDocument/2006/relationships/slide" Target="/ppt/slides/slide8.xml" Id="Rb271d17f89da4904" /><Relationship Type="http://schemas.openxmlformats.org/officeDocument/2006/relationships/slide" Target="/ppt/slides/slide9.xml" Id="Ra59213a7263c43cc" /><Relationship Type="http://schemas.openxmlformats.org/officeDocument/2006/relationships/slide" Target="/ppt/slides/slide10.xml" Id="R17df0c8ee0134f45" /><Relationship Type="http://schemas.openxmlformats.org/officeDocument/2006/relationships/slide" Target="/ppt/slides/slide11.xml" Id="R4ea1461d1ff5410c" /><Relationship Type="http://schemas.openxmlformats.org/officeDocument/2006/relationships/slide" Target="/ppt/slides/slide12.xml" Id="Ra8cde65de1be4a15" /><Relationship Type="http://schemas.openxmlformats.org/officeDocument/2006/relationships/slide" Target="/ppt/slides/slide13.xml" Id="R910b46b78ad241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9d686aab4c45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f08c206b464747" /><Relationship Type="http://schemas.openxmlformats.org/officeDocument/2006/relationships/notesMaster" Target="/ppt/notesMasters/notesMaster1.xml" Id="R8d73c57ad2b243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4511f4e09548db" /><Relationship Type="http://schemas.openxmlformats.org/officeDocument/2006/relationships/notesMaster" Target="/ppt/notesMasters/notesMaster1.xml" Id="Re1013c3b03a546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27793ee2a64eeb" /><Relationship Type="http://schemas.openxmlformats.org/officeDocument/2006/relationships/notesMaster" Target="/ppt/notesMasters/notesMaster1.xml" Id="R27ead56c7dbe4b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aa17a2790a451a" /><Relationship Type="http://schemas.openxmlformats.org/officeDocument/2006/relationships/notesMaster" Target="/ppt/notesMasters/notesMaster1.xml" Id="R68b858804e9c43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d30909751642a5" /><Relationship Type="http://schemas.openxmlformats.org/officeDocument/2006/relationships/notesMaster" Target="/ppt/notesMasters/notesMaster1.xml" Id="Re22d3151274443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60245c85934a9d" /><Relationship Type="http://schemas.openxmlformats.org/officeDocument/2006/relationships/notesMaster" Target="/ppt/notesMasters/notesMaster1.xml" Id="R40f408a052564c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87955a599f4ba1" /><Relationship Type="http://schemas.openxmlformats.org/officeDocument/2006/relationships/notesMaster" Target="/ppt/notesMasters/notesMaster1.xml" Id="R141da84297624f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735cc12514789" /><Relationship Type="http://schemas.openxmlformats.org/officeDocument/2006/relationships/notesMaster" Target="/ppt/notesMasters/notesMaster1.xml" Id="Ra1e714a2da0b40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51d7f2f62b4401" /><Relationship Type="http://schemas.openxmlformats.org/officeDocument/2006/relationships/notesMaster" Target="/ppt/notesMasters/notesMaster1.xml" Id="R5c41239d71f740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80ae2c5c8b469c" /><Relationship Type="http://schemas.openxmlformats.org/officeDocument/2006/relationships/notesMaster" Target="/ppt/notesMasters/notesMaster1.xml" Id="Rcf4c04a8acb74c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e1c6a303c443c9" /><Relationship Type="http://schemas.openxmlformats.org/officeDocument/2006/relationships/notesMaster" Target="/ppt/notesMasters/notesMaster1.xml" Id="R7bce267080af47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6656a3fa6c4db2" /><Relationship Type="http://schemas.openxmlformats.org/officeDocument/2006/relationships/notesMaster" Target="/ppt/notesMasters/notesMaster1.xml" Id="R7b632370a6b846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aecba9554b4690" /><Relationship Type="http://schemas.openxmlformats.org/officeDocument/2006/relationships/notesMaster" Target="/ppt/notesMasters/notesMaster1.xml" Id="R1e32bc3760bd4f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시작: 경쟁사와 고객사 변화가 우리 회사의 수주, 투자, 생산 일정에 어떤 의미가 있는지 빠르게 판단하도록 돕는 시스템입니다. 이번 발표는 기능 나열보다 실제 경영 판단 흐름에 초점을 맞춥니다.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고객사의 발주와 투자 변화는 수요의 시점과 규모를 바꿉니다. 경쟁사의 증설과 기술 개발은 가격과 고객 대응 전략에 영향을 줍니다. FUTURE:M RADAR는 이 변화를 한 화면에서 확인할 수 있도록 설계했습니다.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업무에서는 공시, 뉴스, 주가, 원자재 시세를 각각 확인해야 합니다. 화면 사례처럼 같은 이슈가 여러 기사로 반복되면 중요한 변화보다 기사량이 먼저 보입니다. 시간 절감률은 아직 측정하지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단계 흐름입니다. 먼저 외부 데이터를 수집하고, 기업과 이슈를 분류합니다. AI가 사업 영향과 확인 항목을 정리하고, 중요 공시는 지정 수신자에게 전달합니다. AI 요약은 원문 링크와 함께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프론트엔드와 백엔드를 분리했습니다. 데이터 수집 서비스가 외부 원천을 연결하고, FastAPI가 정규화된 데이터를 제공합니다. AI 서비스는 Gemini를 우선 사용하고 설정 또는 실패 상황에 따라 OpenAI를 사용합니다. LangSmith 추적 코드를 적용했습니다.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30일 공시와 이차전지 관련 뉴스를 기업 기준으로 확인합니다. 주요 공시는 강조하고, 뉴스는 유사 제목을 통합합니다. 화면은 개발 과정 캡처이며 최신 화면과 일부 레이아웃이 다를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분석은 핵심 사실, 밸류체인 영향, 자사 대응 방향을 구조화합니다. 생성 결과에는 오류 가능성이 있으므로 원문 링크를 함께 제공합니다. 아래 공시 분석 화면은 개발 과정 캡처입니다.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경쟁사별 수주·공급, 투자·CAPEX, 기술·포트폴리오, 리스크 신호를 비교합니다. 현재 상태 색상은 최근 이슈 수와 고위험 신호의 존재를 반영하며 객관적 위험 확률이나 기업 평가 점수가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연결·별도재무제표와 연간·분기 추이를 구분합니다. 매출과 이익률, ROE·ROA를 확인하고 경쟁사 주가와 상대 수익률도 비교합니다. ROE·ROA는 기간 순이익과 기말 자본·자산을 활용한 참고 지표입니다.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조회 시작일을 100으로 환산해 포스코퓨처엠과 선택 경쟁사의 상대 수익률을 비교합니다. 10일, 3개월, 6개월, 1년과 직접 지정 시작일을 지원합니다. 장중 1분 자동 요청은 실시간 체결가를 보장하지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KOMIS 공개 시세를 주기적으로 수집해 리튬, 니켈, 코발트, 망간 가격 변화를 확인합니다. 실시간 체결 데이터가 아니라 공개 시세 기반입니다. 판가 연동과 스프레드 마진 분석은 내부 판매·구매 데이터 연결 후 확장할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 과정에서 받은 사용자 피드백을 구현에 반영했습니다. 뉴스 중복을 줄이고, 모호한 숫자 점수를 검토 우선순위 상태로 바꿨습니다. 기업별 비교와 연간·분기 전환도 추가했습니다. 교육 주차와 공식 멘토링 기록은 제공되지 않아 특정 주차나 멘토 발언으로 단정하지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 구현의 핵심은 화면 수가 아니라 외부 신호를 발견하고, 우리 사업 영향으로 해석하고, 필요한 사람에게 전달하는 하나의 흐름입니다. 다음 단계에서는 실제 사용자 데이터를 바탕으로 감지 지연, 누락률, 요약 정확도와 확인 시간을 측정하겠습니다.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1d1a92a12a42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f447f8cc0b4dbe" /><Relationship Type="http://schemas.openxmlformats.org/officeDocument/2006/relationships/slideLayout" Target="/ppt/slideLayouts/slideLayout1.xml" Id="R0e76891631e446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76891631e446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cb3cb73f1349b9" /><Relationship Type="http://schemas.openxmlformats.org/officeDocument/2006/relationships/image" Target="/ppt/media/image.png" Id="Rb2b2564da92f4467" /><Relationship Type="http://schemas.openxmlformats.org/officeDocument/2006/relationships/notesSlide" Target="/ppt/notesSlides/notesSlide1.xml" Id="R530f0217842340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f8ff738c4d460d" /><Relationship Type="http://schemas.openxmlformats.org/officeDocument/2006/relationships/notesSlide" Target="/ppt/notesSlides/notesSlide2.xml" Id="R3ace37080baa4c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7b6cfc9aa2473f" /><Relationship Type="http://schemas.openxmlformats.org/officeDocument/2006/relationships/image" Target="/ppt/media/image2.png" Id="R1a2e6648cc8a4bdd" /><Relationship Type="http://schemas.openxmlformats.org/officeDocument/2006/relationships/notesSlide" Target="/ppt/notesSlides/notesSlide3.xml" Id="R17bb9f48a6ad4c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6def2dac684086" /><Relationship Type="http://schemas.openxmlformats.org/officeDocument/2006/relationships/notesSlide" Target="/ppt/notesSlides/notesSlide4.xml" Id="R1a391ad4a5e340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1c32f7d4494c9b" /><Relationship Type="http://schemas.openxmlformats.org/officeDocument/2006/relationships/notesSlide" Target="/ppt/notesSlides/notesSlide5.xml" Id="Rcc70857767574f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cac0527a3f4b85" /><Relationship Type="http://schemas.openxmlformats.org/officeDocument/2006/relationships/image" Target="/ppt/media/image3.png" Id="R8b717eb103c94c12" /><Relationship Type="http://schemas.openxmlformats.org/officeDocument/2006/relationships/notesSlide" Target="/ppt/notesSlides/notesSlide6.xml" Id="Re1cae85c6f7e42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507712459b46d8" /><Relationship Type="http://schemas.openxmlformats.org/officeDocument/2006/relationships/image" Target="/ppt/media/image4.png" Id="Rb906eec4bdca41ff" /><Relationship Type="http://schemas.openxmlformats.org/officeDocument/2006/relationships/notesSlide" Target="/ppt/notesSlides/notesSlide7.xml" Id="R729a8a017caa4e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fdb838db98455a" /><Relationship Type="http://schemas.openxmlformats.org/officeDocument/2006/relationships/image" Target="/ppt/media/image5.png" Id="R70109b73ef5e42c7" /><Relationship Type="http://schemas.openxmlformats.org/officeDocument/2006/relationships/notesSlide" Target="/ppt/notesSlides/notesSlide8.xml" Id="Ref2f04e0ddaa46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551332e60740c6" /><Relationship Type="http://schemas.openxmlformats.org/officeDocument/2006/relationships/image" Target="/ppt/media/image6.png" Id="R8e0c822d55634ef3" /><Relationship Type="http://schemas.openxmlformats.org/officeDocument/2006/relationships/notesSlide" Target="/ppt/notesSlides/notesSlide9.xml" Id="R47197a402e124c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8ccd255211462d" /><Relationship Type="http://schemas.openxmlformats.org/officeDocument/2006/relationships/image" Target="/ppt/media/image7.png" Id="R45daa3f9f83a45ce" /><Relationship Type="http://schemas.openxmlformats.org/officeDocument/2006/relationships/notesSlide" Target="/ppt/notesSlides/notesSlide10.xml" Id="R51234ed9d69041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24645e9fe04f4a" /><Relationship Type="http://schemas.openxmlformats.org/officeDocument/2006/relationships/notesSlide" Target="/ppt/notesSlides/notesSlide11.xml" Id="Re9131842425249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2181b596434c52" /><Relationship Type="http://schemas.openxmlformats.org/officeDocument/2006/relationships/notesSlide" Target="/ppt/notesSlides/notesSlide12.xml" Id="R94647fdbb24340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0dab8365e04590" /><Relationship Type="http://schemas.openxmlformats.org/officeDocument/2006/relationships/notesSlide" Target="/ppt/notesSlides/notesSlide13.xml" Id="R0ed3a83dcaa441dd" /></Relationships>
</file>

<file path=ppt/slides/slide1.xml><?xml version="1.0" encoding="utf-8"?>
<p:sld xmlns:p="http://schemas.openxmlformats.org/presentationml/2006/main">
  <p:cSld>
    <p:bg>
      <p:bgPr>
        <a:solidFill xmlns:a="http://schemas.openxmlformats.org/drawingml/2006/main">
          <a:srgbClr val="081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99D8C6-EA5E-4876-83AB-AA8861AD33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8B8A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42E3581-40E6-4D89-AA92-7EBDF6B2876C}"/>
              </a:ext>
            </a:extLst>
          </p:cNvPr>
          <p:cNvSpPr>
            <a:spLocks xmlns:a="http://schemas.openxmlformats.org/drawingml/2006/main" noGrp="1"/>
          </p:cNvSpPr>
          <p:nvPr/>
        </p:nvSpPr>
        <p:spPr>
          <a:xfrm xmlns:a="http://schemas.openxmlformats.org/drawingml/2006/main">
            <a:off x="685800" y="5905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71E1D4"/>
                </a:solidFill>
                <a:latin typeface="Malgun Gothic"/>
                <a:ea typeface="Malgun Gothic"/>
                <a:cs typeface="Malgun Gothic"/>
              </a:defRPr>
            </a:pPr>
            <a:r>
              <a:rPr sz="1350" b="1">
                <a:solidFill>
                  <a:srgbClr val="71E1D4"/>
                </a:solidFill>
                <a:latin typeface="Malgun Gothic"/>
                <a:ea typeface="Malgun Gothic"/>
                <a:cs typeface="Malgun Gothic"/>
              </a:rPr>
              <a:t>FUTURE:M RADAR</a:t>
            </a:r>
          </a:p>
        </p:txBody>
      </p:sp>
      <p:sp>
        <p:nvSpPr>
          <p:cNvPr id="3" name="">
            <a:extLst xmlns:a="http://schemas.openxmlformats.org/drawingml/2006/main">
              <a:ext uri="{FF2B5EF4-FFF2-40B4-BE49-F238E27FC236}">
                <a16:creationId xmlns:a16="http://schemas.microsoft.com/office/drawing/2014/main" id="{03C1BAC9-BE73-46C6-A948-FED4D0670A1A}"/>
              </a:ext>
            </a:extLst>
          </p:cNvPr>
          <p:cNvSpPr>
            <a:spLocks xmlns:a="http://schemas.openxmlformats.org/drawingml/2006/main" noGrp="1"/>
          </p:cNvSpPr>
          <p:nvPr/>
        </p:nvSpPr>
        <p:spPr>
          <a:xfrm xmlns:a="http://schemas.openxmlformats.org/drawingml/2006/main">
            <a:off x="685800" y="1428750"/>
            <a:ext cx="5810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외부 신호를</a:t>
            </a:r>
          </a:p>
          <a:p xmlns:a="http://schemas.openxmlformats.org/drawingml/2006/main">
            <a:pPr algn="l">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경영 판단으로</a:t>
            </a:r>
          </a:p>
        </p:txBody>
      </p:sp>
      <p:sp>
        <p:nvSpPr>
          <p:cNvPr id="4" name="">
            <a:extLst xmlns:a="http://schemas.openxmlformats.org/drawingml/2006/main">
              <a:ext uri="{FF2B5EF4-FFF2-40B4-BE49-F238E27FC236}">
                <a16:creationId xmlns:a16="http://schemas.microsoft.com/office/drawing/2014/main" id="{E5AFAEE6-D81C-4AAC-B6D7-195255C0A0FD}"/>
              </a:ext>
            </a:extLst>
          </p:cNvPr>
          <p:cNvSpPr>
            <a:spLocks xmlns:a="http://schemas.openxmlformats.org/drawingml/2006/main" noGrp="1"/>
          </p:cNvSpPr>
          <p:nvPr/>
        </p:nvSpPr>
        <p:spPr>
          <a:xfrm xmlns:a="http://schemas.openxmlformats.org/drawingml/2006/main">
            <a:off x="704850" y="3429000"/>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BDD0E0"/>
                </a:solidFill>
                <a:latin typeface="Malgun Gothic"/>
                <a:ea typeface="Malgun Gothic"/>
                <a:cs typeface="Malgun Gothic"/>
              </a:defRPr>
            </a:pPr>
            <a:r>
              <a:rPr sz="2100" b="0">
                <a:solidFill>
                  <a:srgbClr val="BDD0E0"/>
                </a:solidFill>
                <a:latin typeface="Malgun Gothic"/>
                <a:ea typeface="Malgun Gothic"/>
                <a:cs typeface="Malgun Gothic"/>
              </a:rPr>
              <a:t>경쟁사·고객사 동향 기반</a:t>
            </a:r>
          </a:p>
          <a:p xmlns:a="http://schemas.openxmlformats.org/drawingml/2006/main">
            <a:pPr algn="l">
              <a:defRPr sz="2100" b="0">
                <a:solidFill>
                  <a:srgbClr val="BDD0E0"/>
                </a:solidFill>
                <a:latin typeface="Malgun Gothic"/>
                <a:ea typeface="Malgun Gothic"/>
                <a:cs typeface="Malgun Gothic"/>
              </a:defRPr>
            </a:pPr>
            <a:r>
              <a:rPr sz="2100" b="0">
                <a:solidFill>
                  <a:srgbClr val="BDD0E0"/>
                </a:solidFill>
                <a:latin typeface="Malgun Gothic"/>
                <a:ea typeface="Malgun Gothic"/>
                <a:cs typeface="Malgun Gothic"/>
              </a:rPr>
              <a:t>배터리 소재 인텔리전스 시스템</a:t>
            </a:r>
          </a:p>
        </p:txBody>
      </p:sp>
      <p:sp>
        <p:nvSpPr>
          <p:cNvPr id="5" name="">
            <a:extLst xmlns:a="http://schemas.openxmlformats.org/drawingml/2006/main">
              <a:ext uri="{FF2B5EF4-FFF2-40B4-BE49-F238E27FC236}">
                <a16:creationId xmlns:a16="http://schemas.microsoft.com/office/drawing/2014/main" id="{C829DCFA-450C-414E-9EF2-C32AEC428DF7}"/>
              </a:ext>
            </a:extLst>
          </p:cNvPr>
          <p:cNvSpPr>
            <a:spLocks xmlns:a="http://schemas.openxmlformats.org/drawingml/2006/main" noGrp="1"/>
          </p:cNvSpPr>
          <p:nvPr/>
        </p:nvSpPr>
        <p:spPr>
          <a:xfrm xmlns:a="http://schemas.openxmlformats.org/drawingml/2006/main">
            <a:off x="704850" y="5095875"/>
            <a:ext cx="3619500" cy="438150"/>
          </a:xfrm>
          <a:prstGeom xmlns:a="http://schemas.openxmlformats.org/drawingml/2006/main" prst="rect">
            <a:avLst/>
          </a:prstGeom>
          <a:solidFill xmlns:a="http://schemas.openxmlformats.org/drawingml/2006/main">
            <a:srgbClr val="18B8A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algun Gothic"/>
                <a:ea typeface="Malgun Gothic"/>
                <a:cs typeface="Malgun Gothic"/>
              </a:defRPr>
            </a:pPr>
            <a:r>
              <a:rPr sz="1050" b="1">
                <a:solidFill>
                  <a:srgbClr val="FFFFFF"/>
                </a:solidFill>
                <a:latin typeface="Malgun Gothic"/>
                <a:ea typeface="Malgun Gothic"/>
                <a:cs typeface="Malgun Gothic"/>
              </a:rPr>
              <a:t>DISCLOSURE   NEWS   FINANCE   ALERT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2b2564da92f4467"/>
          <a:stretch xmlns:a="http://schemas.openxmlformats.org/drawingml/2006/main"/>
        </p:blipFill>
        <p:spPr>
          <a:xfrm xmlns:a="http://schemas.openxmlformats.org/drawingml/2006/main">
            <a:off x="6381750" y="1949880"/>
            <a:ext cx="5200650" cy="253914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A5F030-DDCC-4ED5-844C-5BC6B24E26EF}"/>
              </a:ext>
            </a:extLst>
          </p:cNvPr>
          <p:cNvSpPr>
            <a:spLocks xmlns:a="http://schemas.openxmlformats.org/drawingml/2006/main" noGrp="1"/>
          </p:cNvSpPr>
          <p:nvPr/>
        </p:nvSpPr>
        <p:spPr>
          <a:xfrm xmlns:a="http://schemas.openxmlformats.org/drawingml/2006/main">
            <a:off x="704850" y="61912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0">
                <a:solidFill>
                  <a:srgbClr val="88A2B8"/>
                </a:solidFill>
                <a:latin typeface="Malgun Gothic"/>
                <a:ea typeface="Malgun Gothic"/>
                <a:cs typeface="Malgun Gothic"/>
              </a:defRPr>
            </a:pPr>
            <a:r>
              <a:rPr sz="1050" b="0">
                <a:solidFill>
                  <a:srgbClr val="88A2B8"/>
                </a:solidFill>
                <a:latin typeface="Malgun Gothic"/>
                <a:ea typeface="Malgun Gothic"/>
                <a:cs typeface="Malgun Gothic"/>
              </a:rPr>
              <a:t>Executive decision support dashboard</a:t>
            </a:r>
          </a:p>
        </p:txBody>
      </p:sp>
    </p:spTree>
    <p:extLst>
      <p:ext uri="{BB962C8B-B14F-4D97-AF65-F5344CB8AC3E}">
        <p14:creationId xmlns:p14="http://schemas.microsoft.com/office/powerpoint/2010/main" val="1202252989"/>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EDCEE6-4F9F-471C-8758-39B720606DAB}"/>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01 WHY NOW</a:t>
            </a:r>
          </a:p>
        </p:txBody>
      </p:sp>
      <p:sp>
        <p:nvSpPr>
          <p:cNvPr id="2" name="">
            <a:extLst xmlns:a="http://schemas.openxmlformats.org/drawingml/2006/main">
              <a:ext uri="{FF2B5EF4-FFF2-40B4-BE49-F238E27FC236}">
                <a16:creationId xmlns:a16="http://schemas.microsoft.com/office/drawing/2014/main" id="{732BAF09-07EC-4B79-85DA-CE427D8A93E4}"/>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외부 변화는 곧 내부 검토 안건입니다</a:t>
            </a:r>
          </a:p>
        </p:txBody>
      </p:sp>
      <p:sp>
        <p:nvSpPr>
          <p:cNvPr id="3" name="">
            <a:extLst xmlns:a="http://schemas.openxmlformats.org/drawingml/2006/main">
              <a:ext uri="{FF2B5EF4-FFF2-40B4-BE49-F238E27FC236}">
                <a16:creationId xmlns:a16="http://schemas.microsoft.com/office/drawing/2014/main" id="{4A11B6EA-6F3B-4C98-88A9-FEB53CB21669}"/>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02   FUTURE:M RADAR</a:t>
            </a:r>
          </a:p>
        </p:txBody>
      </p:sp>
      <p:sp>
        <p:nvSpPr>
          <p:cNvPr id="4" name="">
            <a:extLst xmlns:a="http://schemas.openxmlformats.org/drawingml/2006/main">
              <a:ext uri="{FF2B5EF4-FFF2-40B4-BE49-F238E27FC236}">
                <a16:creationId xmlns:a16="http://schemas.microsoft.com/office/drawing/2014/main" id="{827A6B37-32C3-4487-8256-CB5E1FE9F6E1}"/>
              </a:ext>
            </a:extLst>
          </p:cNvPr>
          <p:cNvSpPr>
            <a:spLocks xmlns:a="http://schemas.openxmlformats.org/drawingml/2006/main" noGrp="1"/>
          </p:cNvSpPr>
          <p:nvPr/>
        </p:nvSpPr>
        <p:spPr>
          <a:xfrm xmlns:a="http://schemas.openxmlformats.org/drawingml/2006/main">
            <a:off x="60960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CUSTOMER</a:t>
            </a:r>
          </a:p>
        </p:txBody>
      </p:sp>
      <p:sp>
        <p:nvSpPr>
          <p:cNvPr id="5" name="">
            <a:extLst xmlns:a="http://schemas.openxmlformats.org/drawingml/2006/main">
              <a:ext uri="{FF2B5EF4-FFF2-40B4-BE49-F238E27FC236}">
                <a16:creationId xmlns:a16="http://schemas.microsoft.com/office/drawing/2014/main" id="{35645318-5D08-4BAE-91DD-0BC0BBE5A433}"/>
              </a:ext>
            </a:extLst>
          </p:cNvPr>
          <p:cNvSpPr>
            <a:spLocks xmlns:a="http://schemas.openxmlformats.org/drawingml/2006/main" noGrp="1"/>
          </p:cNvSpPr>
          <p:nvPr/>
        </p:nvSpPr>
        <p:spPr>
          <a:xfrm xmlns:a="http://schemas.openxmlformats.org/drawingml/2006/main">
            <a:off x="60960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고객사의 발주·증설</a:t>
            </a:r>
          </a:p>
        </p:txBody>
      </p:sp>
      <p:sp>
        <p:nvSpPr>
          <p:cNvPr id="6" name="">
            <a:extLst xmlns:a="http://schemas.openxmlformats.org/drawingml/2006/main">
              <a:ext uri="{FF2B5EF4-FFF2-40B4-BE49-F238E27FC236}">
                <a16:creationId xmlns:a16="http://schemas.microsoft.com/office/drawing/2014/main" id="{A9DADCE6-8C05-42F2-B813-E5B6A4D0D2BE}"/>
              </a:ext>
            </a:extLst>
          </p:cNvPr>
          <p:cNvSpPr>
            <a:spLocks xmlns:a="http://schemas.openxmlformats.org/drawingml/2006/main" noGrp="1"/>
          </p:cNvSpPr>
          <p:nvPr/>
        </p:nvSpPr>
        <p:spPr>
          <a:xfrm xmlns:a="http://schemas.openxmlformats.org/drawingml/2006/main">
            <a:off x="60960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소재 수요의 규모와</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발생 시점을 판단</a:t>
            </a:r>
          </a:p>
        </p:txBody>
      </p:sp>
      <p:sp>
        <p:nvSpPr>
          <p:cNvPr id="7" name="">
            <a:extLst xmlns:a="http://schemas.openxmlformats.org/drawingml/2006/main">
              <a:ext uri="{FF2B5EF4-FFF2-40B4-BE49-F238E27FC236}">
                <a16:creationId xmlns:a16="http://schemas.microsoft.com/office/drawing/2014/main" id="{F94C9B16-1E89-44D7-8CA0-3634C3062C22}"/>
              </a:ext>
            </a:extLst>
          </p:cNvPr>
          <p:cNvSpPr>
            <a:spLocks xmlns:a="http://schemas.openxmlformats.org/drawingml/2006/main" noGrp="1"/>
          </p:cNvSpPr>
          <p:nvPr/>
        </p:nvSpPr>
        <p:spPr>
          <a:xfrm xmlns:a="http://schemas.openxmlformats.org/drawingml/2006/main">
            <a:off x="451485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COMPETITOR</a:t>
            </a:r>
          </a:p>
        </p:txBody>
      </p:sp>
      <p:sp>
        <p:nvSpPr>
          <p:cNvPr id="8" name="">
            <a:extLst xmlns:a="http://schemas.openxmlformats.org/drawingml/2006/main">
              <a:ext uri="{FF2B5EF4-FFF2-40B4-BE49-F238E27FC236}">
                <a16:creationId xmlns:a16="http://schemas.microsoft.com/office/drawing/2014/main" id="{99068F01-8D10-46E5-AD28-0CD61563AA2A}"/>
              </a:ext>
            </a:extLst>
          </p:cNvPr>
          <p:cNvSpPr>
            <a:spLocks xmlns:a="http://schemas.openxmlformats.org/drawingml/2006/main" noGrp="1"/>
          </p:cNvSpPr>
          <p:nvPr/>
        </p:nvSpPr>
        <p:spPr>
          <a:xfrm xmlns:a="http://schemas.openxmlformats.org/drawingml/2006/main">
            <a:off x="451485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경쟁사의 투자·기술</a:t>
            </a:r>
          </a:p>
        </p:txBody>
      </p:sp>
      <p:sp>
        <p:nvSpPr>
          <p:cNvPr id="9" name="">
            <a:extLst xmlns:a="http://schemas.openxmlformats.org/drawingml/2006/main">
              <a:ext uri="{FF2B5EF4-FFF2-40B4-BE49-F238E27FC236}">
                <a16:creationId xmlns:a16="http://schemas.microsoft.com/office/drawing/2014/main" id="{2A718327-4EF9-404A-8239-A5114808DE5C}"/>
              </a:ext>
            </a:extLst>
          </p:cNvPr>
          <p:cNvSpPr>
            <a:spLocks xmlns:a="http://schemas.openxmlformats.org/drawingml/2006/main" noGrp="1"/>
          </p:cNvSpPr>
          <p:nvPr/>
        </p:nvSpPr>
        <p:spPr>
          <a:xfrm xmlns:a="http://schemas.openxmlformats.org/drawingml/2006/main">
            <a:off x="451485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수주 경쟁과 제품 전략의</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변화 가능성을 판단</a:t>
            </a:r>
          </a:p>
        </p:txBody>
      </p:sp>
      <p:sp>
        <p:nvSpPr>
          <p:cNvPr id="10" name="">
            <a:extLst xmlns:a="http://schemas.openxmlformats.org/drawingml/2006/main">
              <a:ext uri="{FF2B5EF4-FFF2-40B4-BE49-F238E27FC236}">
                <a16:creationId xmlns:a16="http://schemas.microsoft.com/office/drawing/2014/main" id="{3CC58EC3-C13E-4ACD-AEAC-255121C0B609}"/>
              </a:ext>
            </a:extLst>
          </p:cNvPr>
          <p:cNvSpPr>
            <a:spLocks xmlns:a="http://schemas.openxmlformats.org/drawingml/2006/main" noGrp="1"/>
          </p:cNvSpPr>
          <p:nvPr/>
        </p:nvSpPr>
        <p:spPr>
          <a:xfrm xmlns:a="http://schemas.openxmlformats.org/drawingml/2006/main">
            <a:off x="8420100" y="1733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DECISION</a:t>
            </a:r>
          </a:p>
        </p:txBody>
      </p:sp>
      <p:sp>
        <p:nvSpPr>
          <p:cNvPr id="11" name="">
            <a:extLst xmlns:a="http://schemas.openxmlformats.org/drawingml/2006/main">
              <a:ext uri="{FF2B5EF4-FFF2-40B4-BE49-F238E27FC236}">
                <a16:creationId xmlns:a16="http://schemas.microsoft.com/office/drawing/2014/main" id="{39011C47-B230-4408-9884-C7B55A23C241}"/>
              </a:ext>
            </a:extLst>
          </p:cNvPr>
          <p:cNvSpPr>
            <a:spLocks xmlns:a="http://schemas.openxmlformats.org/drawingml/2006/main" noGrp="1"/>
          </p:cNvSpPr>
          <p:nvPr/>
        </p:nvSpPr>
        <p:spPr>
          <a:xfrm xmlns:a="http://schemas.openxmlformats.org/drawingml/2006/main">
            <a:off x="8420100" y="2143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12B46"/>
                </a:solidFill>
                <a:latin typeface="Malgun Gothic"/>
                <a:ea typeface="Malgun Gothic"/>
                <a:cs typeface="Malgun Gothic"/>
              </a:defRPr>
            </a:pPr>
            <a:r>
              <a:rPr sz="2175" b="1">
                <a:solidFill>
                  <a:srgbClr val="112B46"/>
                </a:solidFill>
                <a:latin typeface="Malgun Gothic"/>
                <a:ea typeface="Malgun Gothic"/>
                <a:cs typeface="Malgun Gothic"/>
              </a:rPr>
              <a:t>자사의 대응 판단</a:t>
            </a:r>
          </a:p>
        </p:txBody>
      </p:sp>
      <p:sp>
        <p:nvSpPr>
          <p:cNvPr id="12" name="">
            <a:extLst xmlns:a="http://schemas.openxmlformats.org/drawingml/2006/main">
              <a:ext uri="{FF2B5EF4-FFF2-40B4-BE49-F238E27FC236}">
                <a16:creationId xmlns:a16="http://schemas.microsoft.com/office/drawing/2014/main" id="{DEB30640-957D-4399-81EB-591302AA397C}"/>
              </a:ext>
            </a:extLst>
          </p:cNvPr>
          <p:cNvSpPr>
            <a:spLocks xmlns:a="http://schemas.openxmlformats.org/drawingml/2006/main" noGrp="1"/>
          </p:cNvSpPr>
          <p:nvPr/>
        </p:nvSpPr>
        <p:spPr>
          <a:xfrm xmlns:a="http://schemas.openxmlformats.org/drawingml/2006/main">
            <a:off x="8420100" y="28956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영업 우선순위와 투자·생산</a:t>
            </a:r>
          </a:p>
          <a:p xmlns:a="http://schemas.openxmlformats.org/drawingml/2006/main">
            <a:pPr algn="l">
              <a:defRPr sz="1725" b="0">
                <a:solidFill>
                  <a:srgbClr val="697D90"/>
                </a:solidFill>
                <a:latin typeface="Malgun Gothic"/>
                <a:ea typeface="Malgun Gothic"/>
                <a:cs typeface="Malgun Gothic"/>
              </a:defRPr>
            </a:pPr>
            <a:r>
              <a:rPr sz="1725" b="0">
                <a:solidFill>
                  <a:srgbClr val="697D90"/>
                </a:solidFill>
                <a:latin typeface="Malgun Gothic"/>
                <a:ea typeface="Malgun Gothic"/>
                <a:cs typeface="Malgun Gothic"/>
              </a:rPr>
              <a:t>일정의 검토 근거</a:t>
            </a:r>
          </a:p>
        </p:txBody>
      </p:sp>
      <p:sp>
        <p:nvSpPr>
          <p:cNvPr id="13" name="">
            <a:extLst xmlns:a="http://schemas.openxmlformats.org/drawingml/2006/main">
              <a:ext uri="{FF2B5EF4-FFF2-40B4-BE49-F238E27FC236}">
                <a16:creationId xmlns:a16="http://schemas.microsoft.com/office/drawing/2014/main" id="{75DFDD79-3F74-4752-A6F2-E800B1822955}"/>
              </a:ext>
            </a:extLst>
          </p:cNvPr>
          <p:cNvSpPr>
            <a:spLocks xmlns:a="http://schemas.openxmlformats.org/drawingml/2006/main" noGrp="1"/>
          </p:cNvSpPr>
          <p:nvPr/>
        </p:nvSpPr>
        <p:spPr>
          <a:xfrm xmlns:a="http://schemas.openxmlformats.org/drawingml/2006/main">
            <a:off x="609600" y="4667250"/>
            <a:ext cx="10953750" cy="8763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핵심 질문   무엇이 발생했고, 우리 사업에 어떤 영향을 주며, 무엇을 확인해야 하는가</a:t>
            </a:r>
          </a:p>
        </p:txBody>
      </p:sp>
    </p:spTree>
    <p:extLst>
      <p:ext uri="{BB962C8B-B14F-4D97-AF65-F5344CB8AC3E}">
        <p14:creationId xmlns:p14="http://schemas.microsoft.com/office/powerpoint/2010/main" val="2108228555"/>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3C48AD-00DC-491C-8B95-4C60C245A823}"/>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02 PROBLEM</a:t>
            </a:r>
          </a:p>
        </p:txBody>
      </p:sp>
      <p:sp>
        <p:nvSpPr>
          <p:cNvPr id="2" name="">
            <a:extLst xmlns:a="http://schemas.openxmlformats.org/drawingml/2006/main">
              <a:ext uri="{FF2B5EF4-FFF2-40B4-BE49-F238E27FC236}">
                <a16:creationId xmlns:a16="http://schemas.microsoft.com/office/drawing/2014/main" id="{F1A553FC-3DA9-49E6-80FC-0141EDED0CA8}"/>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정보는 많지만 판단에 필요한 신호는 흩어져 있습니다</a:t>
            </a:r>
          </a:p>
        </p:txBody>
      </p:sp>
      <p:sp>
        <p:nvSpPr>
          <p:cNvPr id="3" name="">
            <a:extLst xmlns:a="http://schemas.openxmlformats.org/drawingml/2006/main">
              <a:ext uri="{FF2B5EF4-FFF2-40B4-BE49-F238E27FC236}">
                <a16:creationId xmlns:a16="http://schemas.microsoft.com/office/drawing/2014/main" id="{6804F9EC-B210-426F-B2ED-81316CE23F9F}"/>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03   FUTURE:M RADAR</a:t>
            </a:r>
          </a:p>
        </p:txBody>
      </p:sp>
      <p:sp>
        <p:nvSpPr>
          <p:cNvPr id="4" name="">
            <a:extLst xmlns:a="http://schemas.openxmlformats.org/drawingml/2006/main">
              <a:ext uri="{FF2B5EF4-FFF2-40B4-BE49-F238E27FC236}">
                <a16:creationId xmlns:a16="http://schemas.microsoft.com/office/drawing/2014/main" id="{20E9FA94-8D77-4E05-9D42-5FDB028C25CB}"/>
              </a:ext>
            </a:extLst>
          </p:cNvPr>
          <p:cNvSpPr>
            <a:spLocks xmlns:a="http://schemas.openxmlformats.org/drawingml/2006/main" noGrp="1"/>
          </p:cNvSpPr>
          <p:nvPr/>
        </p:nvSpPr>
        <p:spPr>
          <a:xfrm xmlns:a="http://schemas.openxmlformats.org/drawingml/2006/main">
            <a:off x="609600" y="17145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동일 이슈 반복 노출 사례</a:t>
            </a:r>
          </a:p>
        </p:txBody>
      </p:sp>
      <p:sp>
        <p:nvSpPr>
          <p:cNvPr id="5" name="">
            <a:extLst xmlns:a="http://schemas.openxmlformats.org/drawingml/2006/main">
              <a:ext uri="{FF2B5EF4-FFF2-40B4-BE49-F238E27FC236}">
                <a16:creationId xmlns:a16="http://schemas.microsoft.com/office/drawing/2014/main" id="{45044AC3-9BBB-4C10-9344-4F1BA469483F}"/>
              </a:ext>
            </a:extLst>
          </p:cNvPr>
          <p:cNvSpPr>
            <a:spLocks xmlns:a="http://schemas.openxmlformats.org/drawingml/2006/main" noGrp="1"/>
          </p:cNvSpPr>
          <p:nvPr/>
        </p:nvSpPr>
        <p:spPr>
          <a:xfrm xmlns:a="http://schemas.openxmlformats.org/drawingml/2006/main">
            <a:off x="609600" y="204787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DF5A67"/>
                </a:solidFill>
                <a:latin typeface="Malgun Gothic"/>
                <a:ea typeface="Malgun Gothic"/>
                <a:cs typeface="Malgun Gothic"/>
              </a:defRPr>
            </a:pPr>
            <a:r>
              <a:rPr sz="2475" b="1">
                <a:solidFill>
                  <a:srgbClr val="DF5A67"/>
                </a:solidFill>
                <a:latin typeface="Malgun Gothic"/>
                <a:ea typeface="Malgun Gothic"/>
                <a:cs typeface="Malgun Gothic"/>
              </a:rPr>
              <a:t>5건</a:t>
            </a:r>
          </a:p>
        </p:txBody>
      </p:sp>
      <p:sp>
        <p:nvSpPr>
          <p:cNvPr id="6" name="">
            <a:extLst xmlns:a="http://schemas.openxmlformats.org/drawingml/2006/main">
              <a:ext uri="{FF2B5EF4-FFF2-40B4-BE49-F238E27FC236}">
                <a16:creationId xmlns:a16="http://schemas.microsoft.com/office/drawing/2014/main" id="{F9E53985-387F-4190-A4AC-F8BE381569A4}"/>
              </a:ext>
            </a:extLst>
          </p:cNvPr>
          <p:cNvSpPr>
            <a:spLocks xmlns:a="http://schemas.openxmlformats.org/drawingml/2006/main" noGrp="1"/>
          </p:cNvSpPr>
          <p:nvPr/>
        </p:nvSpPr>
        <p:spPr>
          <a:xfrm xmlns:a="http://schemas.openxmlformats.org/drawingml/2006/main">
            <a:off x="609600" y="285750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같은 휴머노이드 배터리 이슈가</a:t>
            </a:r>
          </a:p>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서로 다른 제목으로 반복 노출</a:t>
            </a:r>
          </a:p>
        </p:txBody>
      </p:sp>
      <p:sp>
        <p:nvSpPr>
          <p:cNvPr id="7" name="">
            <a:extLst xmlns:a="http://schemas.openxmlformats.org/drawingml/2006/main">
              <a:ext uri="{FF2B5EF4-FFF2-40B4-BE49-F238E27FC236}">
                <a16:creationId xmlns:a16="http://schemas.microsoft.com/office/drawing/2014/main" id="{9C5EC552-87F5-4D38-AB80-8E8145C384BF}"/>
              </a:ext>
            </a:extLst>
          </p:cNvPr>
          <p:cNvSpPr>
            <a:spLocks xmlns:a="http://schemas.openxmlformats.org/drawingml/2006/main" noGrp="1"/>
          </p:cNvSpPr>
          <p:nvPr/>
        </p:nvSpPr>
        <p:spPr>
          <a:xfrm xmlns:a="http://schemas.openxmlformats.org/drawingml/2006/main">
            <a:off x="609600" y="42672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결과</a:t>
            </a:r>
          </a:p>
        </p:txBody>
      </p:sp>
      <p:sp>
        <p:nvSpPr>
          <p:cNvPr id="8" name="">
            <a:extLst xmlns:a="http://schemas.openxmlformats.org/drawingml/2006/main">
              <a:ext uri="{FF2B5EF4-FFF2-40B4-BE49-F238E27FC236}">
                <a16:creationId xmlns:a16="http://schemas.microsoft.com/office/drawing/2014/main" id="{AA14CE0A-6CF9-433B-8A27-14CECCC5F7AC}"/>
              </a:ext>
            </a:extLst>
          </p:cNvPr>
          <p:cNvSpPr>
            <a:spLocks xmlns:a="http://schemas.openxmlformats.org/drawingml/2006/main" noGrp="1"/>
          </p:cNvSpPr>
          <p:nvPr/>
        </p:nvSpPr>
        <p:spPr>
          <a:xfrm xmlns:a="http://schemas.openxmlformats.org/drawingml/2006/main">
            <a:off x="609600" y="4629150"/>
            <a:ext cx="323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12B46"/>
                </a:solidFill>
                <a:latin typeface="Malgun Gothic"/>
                <a:ea typeface="Malgun Gothic"/>
                <a:cs typeface="Malgun Gothic"/>
              </a:defRPr>
            </a:pPr>
            <a:r>
              <a:rPr sz="1950" b="0">
                <a:solidFill>
                  <a:srgbClr val="112B46"/>
                </a:solidFill>
                <a:latin typeface="Malgun Gothic"/>
                <a:ea typeface="Malgun Gothic"/>
                <a:cs typeface="Malgun Gothic"/>
              </a:rPr>
              <a:t>중요도 판단과 원문 확인을</a:t>
            </a:r>
          </a:p>
          <a:p xmlns:a="http://schemas.openxmlformats.org/drawingml/2006/main">
            <a:pPr algn="l">
              <a:defRPr sz="1950" b="0">
                <a:solidFill>
                  <a:srgbClr val="112B46"/>
                </a:solidFill>
                <a:latin typeface="Malgun Gothic"/>
                <a:ea typeface="Malgun Gothic"/>
                <a:cs typeface="Malgun Gothic"/>
              </a:defRPr>
            </a:pPr>
            <a:r>
              <a:rPr sz="1950" b="0">
                <a:solidFill>
                  <a:srgbClr val="112B46"/>
                </a:solidFill>
                <a:latin typeface="Malgun Gothic"/>
                <a:ea typeface="Malgun Gothic"/>
                <a:cs typeface="Malgun Gothic"/>
              </a:rPr>
              <a:t>사람이 다시 수행</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a2e6648cc8a4bdd"/>
          <a:stretch xmlns:a="http://schemas.openxmlformats.org/drawingml/2006/main"/>
        </p:blipFill>
        <p:spPr>
          <a:xfrm xmlns:a="http://schemas.openxmlformats.org/drawingml/2006/main">
            <a:off x="4286250" y="1907818"/>
            <a:ext cx="7296150" cy="34614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5324A95-37FD-491C-B4F4-1BAE532A841B}"/>
              </a:ext>
            </a:extLst>
          </p:cNvPr>
          <p:cNvSpPr>
            <a:spLocks xmlns:a="http://schemas.openxmlformats.org/drawingml/2006/main" noGrp="1"/>
          </p:cNvSpPr>
          <p:nvPr/>
        </p:nvSpPr>
        <p:spPr>
          <a:xfrm xmlns:a="http://schemas.openxmlformats.org/drawingml/2006/main">
            <a:off x="4286250" y="5810250"/>
            <a:ext cx="729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97D90"/>
                </a:solidFill>
                <a:latin typeface="Malgun Gothic"/>
                <a:ea typeface="Malgun Gothic"/>
                <a:cs typeface="Malgun Gothic"/>
              </a:defRPr>
            </a:pPr>
            <a:r>
              <a:rPr sz="1125" b="0">
                <a:solidFill>
                  <a:srgbClr val="697D90"/>
                </a:solidFill>
                <a:latin typeface="Malgun Gothic"/>
                <a:ea typeface="Malgun Gothic"/>
                <a:cs typeface="Malgun Gothic"/>
              </a:rPr>
              <a:t>사용자 피드백 화면: 유사 기사 통합 필요</a:t>
            </a:r>
          </a:p>
        </p:txBody>
      </p:sp>
    </p:spTree>
    <p:extLst>
      <p:ext uri="{BB962C8B-B14F-4D97-AF65-F5344CB8AC3E}">
        <p14:creationId xmlns:p14="http://schemas.microsoft.com/office/powerpoint/2010/main" val="101570689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CBDBFDB-C6EC-40DF-A274-C43A91DA866F}"/>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03 APPROACH</a:t>
            </a:r>
          </a:p>
        </p:txBody>
      </p:sp>
      <p:sp>
        <p:nvSpPr>
          <p:cNvPr id="2" name="">
            <a:extLst xmlns:a="http://schemas.openxmlformats.org/drawingml/2006/main">
              <a:ext uri="{FF2B5EF4-FFF2-40B4-BE49-F238E27FC236}">
                <a16:creationId xmlns:a16="http://schemas.microsoft.com/office/drawing/2014/main" id="{51C343E2-F549-43CD-8575-C4455B644314}"/>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데이터 수집부터 대응 검토까지 한 흐름으로 연결했습니다</a:t>
            </a:r>
          </a:p>
        </p:txBody>
      </p:sp>
      <p:sp>
        <p:nvSpPr>
          <p:cNvPr id="3" name="">
            <a:extLst xmlns:a="http://schemas.openxmlformats.org/drawingml/2006/main">
              <a:ext uri="{FF2B5EF4-FFF2-40B4-BE49-F238E27FC236}">
                <a16:creationId xmlns:a16="http://schemas.microsoft.com/office/drawing/2014/main" id="{63427B96-9975-4ED5-A9F4-BD7B3EDC7962}"/>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04   FUTURE:M RADAR</a:t>
            </a:r>
          </a:p>
        </p:txBody>
      </p:sp>
      <p:sp>
        <p:nvSpPr>
          <p:cNvPr id="4" name="">
            <a:extLst xmlns:a="http://schemas.openxmlformats.org/drawingml/2006/main">
              <a:ext uri="{FF2B5EF4-FFF2-40B4-BE49-F238E27FC236}">
                <a16:creationId xmlns:a16="http://schemas.microsoft.com/office/drawing/2014/main" id="{346DE315-EE44-4913-83C4-478F25DA5233}"/>
              </a:ext>
            </a:extLst>
          </p:cNvPr>
          <p:cNvSpPr>
            <a:spLocks xmlns:a="http://schemas.openxmlformats.org/drawingml/2006/main" noGrp="1"/>
          </p:cNvSpPr>
          <p:nvPr/>
        </p:nvSpPr>
        <p:spPr>
          <a:xfrm xmlns:a="http://schemas.openxmlformats.org/drawingml/2006/main">
            <a:off x="60960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953A1CE8-2B02-4CD0-B34A-AA5B1F3041F9}"/>
              </a:ext>
            </a:extLst>
          </p:cNvPr>
          <p:cNvSpPr>
            <a:spLocks xmlns:a="http://schemas.openxmlformats.org/drawingml/2006/main" noGrp="1"/>
          </p:cNvSpPr>
          <p:nvPr/>
        </p:nvSpPr>
        <p:spPr>
          <a:xfrm xmlns:a="http://schemas.openxmlformats.org/drawingml/2006/main">
            <a:off x="60960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감지</a:t>
            </a:r>
          </a:p>
        </p:txBody>
      </p:sp>
      <p:sp>
        <p:nvSpPr>
          <p:cNvPr id="6" name="">
            <a:extLst xmlns:a="http://schemas.openxmlformats.org/drawingml/2006/main">
              <a:ext uri="{FF2B5EF4-FFF2-40B4-BE49-F238E27FC236}">
                <a16:creationId xmlns:a16="http://schemas.microsoft.com/office/drawing/2014/main" id="{72BCDA38-8012-43C2-9670-0A0F6DFA0B65}"/>
              </a:ext>
            </a:extLst>
          </p:cNvPr>
          <p:cNvSpPr>
            <a:spLocks xmlns:a="http://schemas.openxmlformats.org/drawingml/2006/main" noGrp="1"/>
          </p:cNvSpPr>
          <p:nvPr/>
        </p:nvSpPr>
        <p:spPr>
          <a:xfrm xmlns:a="http://schemas.openxmlformats.org/drawingml/2006/main">
            <a:off x="60960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공시·뉴스·주가·</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원자재 데이터 수집</a:t>
            </a:r>
          </a:p>
        </p:txBody>
      </p:sp>
      <p:sp>
        <p:nvSpPr>
          <p:cNvPr id="7" name="">
            <a:extLst xmlns:a="http://schemas.openxmlformats.org/drawingml/2006/main">
              <a:ext uri="{FF2B5EF4-FFF2-40B4-BE49-F238E27FC236}">
                <a16:creationId xmlns:a16="http://schemas.microsoft.com/office/drawing/2014/main" id="{24254AAB-4149-442F-8E6C-9E39F5A0E945}"/>
              </a:ext>
            </a:extLst>
          </p:cNvPr>
          <p:cNvSpPr>
            <a:spLocks xmlns:a="http://schemas.openxmlformats.org/drawingml/2006/main" noGrp="1"/>
          </p:cNvSpPr>
          <p:nvPr/>
        </p:nvSpPr>
        <p:spPr>
          <a:xfrm xmlns:a="http://schemas.openxmlformats.org/drawingml/2006/main">
            <a:off x="297180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8" name="">
            <a:extLst xmlns:a="http://schemas.openxmlformats.org/drawingml/2006/main">
              <a:ext uri="{FF2B5EF4-FFF2-40B4-BE49-F238E27FC236}">
                <a16:creationId xmlns:a16="http://schemas.microsoft.com/office/drawing/2014/main" id="{6FA33E34-3D83-46DF-916D-6C9C63E20232}"/>
              </a:ext>
            </a:extLst>
          </p:cNvPr>
          <p:cNvSpPr>
            <a:spLocks xmlns:a="http://schemas.openxmlformats.org/drawingml/2006/main" noGrp="1"/>
          </p:cNvSpPr>
          <p:nvPr/>
        </p:nvSpPr>
        <p:spPr>
          <a:xfrm xmlns:a="http://schemas.openxmlformats.org/drawingml/2006/main">
            <a:off x="344805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6BD9A605-FE8D-487B-972C-69DDA138AA9C}"/>
              </a:ext>
            </a:extLst>
          </p:cNvPr>
          <p:cNvSpPr>
            <a:spLocks xmlns:a="http://schemas.openxmlformats.org/drawingml/2006/main" noGrp="1"/>
          </p:cNvSpPr>
          <p:nvPr/>
        </p:nvSpPr>
        <p:spPr>
          <a:xfrm xmlns:a="http://schemas.openxmlformats.org/drawingml/2006/main">
            <a:off x="344805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선별</a:t>
            </a:r>
          </a:p>
        </p:txBody>
      </p:sp>
      <p:sp>
        <p:nvSpPr>
          <p:cNvPr id="10" name="">
            <a:extLst xmlns:a="http://schemas.openxmlformats.org/drawingml/2006/main">
              <a:ext uri="{FF2B5EF4-FFF2-40B4-BE49-F238E27FC236}">
                <a16:creationId xmlns:a16="http://schemas.microsoft.com/office/drawing/2014/main" id="{82B0DE3C-C224-46C2-9218-B10C9CCDB9E7}"/>
              </a:ext>
            </a:extLst>
          </p:cNvPr>
          <p:cNvSpPr>
            <a:spLocks xmlns:a="http://schemas.openxmlformats.org/drawingml/2006/main" noGrp="1"/>
          </p:cNvSpPr>
          <p:nvPr/>
        </p:nvSpPr>
        <p:spPr>
          <a:xfrm xmlns:a="http://schemas.openxmlformats.org/drawingml/2006/main">
            <a:off x="344805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기업 매칭과 중요 공시·</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유사 뉴스 분류</a:t>
            </a:r>
          </a:p>
        </p:txBody>
      </p:sp>
      <p:sp>
        <p:nvSpPr>
          <p:cNvPr id="11" name="">
            <a:extLst xmlns:a="http://schemas.openxmlformats.org/drawingml/2006/main">
              <a:ext uri="{FF2B5EF4-FFF2-40B4-BE49-F238E27FC236}">
                <a16:creationId xmlns:a16="http://schemas.microsoft.com/office/drawing/2014/main" id="{629C44A6-B886-4E90-A0E3-B53FF0666253}"/>
              </a:ext>
            </a:extLst>
          </p:cNvPr>
          <p:cNvSpPr>
            <a:spLocks xmlns:a="http://schemas.openxmlformats.org/drawingml/2006/main" noGrp="1"/>
          </p:cNvSpPr>
          <p:nvPr/>
        </p:nvSpPr>
        <p:spPr>
          <a:xfrm xmlns:a="http://schemas.openxmlformats.org/drawingml/2006/main">
            <a:off x="581025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21FCC028-11BE-4128-B8E1-2E02DB16AA15}"/>
              </a:ext>
            </a:extLst>
          </p:cNvPr>
          <p:cNvSpPr>
            <a:spLocks xmlns:a="http://schemas.openxmlformats.org/drawingml/2006/main" noGrp="1"/>
          </p:cNvSpPr>
          <p:nvPr/>
        </p:nvSpPr>
        <p:spPr>
          <a:xfrm xmlns:a="http://schemas.openxmlformats.org/drawingml/2006/main">
            <a:off x="628650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8B8AA"/>
                </a:solidFill>
                <a:latin typeface="Malgun Gothic"/>
                <a:ea typeface="Malgun Gothic"/>
                <a:cs typeface="Malgun Gothic"/>
              </a:defRPr>
            </a:pPr>
            <a:r>
              <a:rPr sz="3300" b="1">
                <a:solidFill>
                  <a:srgbClr val="18B8A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968BC3FC-E9FE-47B3-8765-C634EA9BBE6B}"/>
              </a:ext>
            </a:extLst>
          </p:cNvPr>
          <p:cNvSpPr>
            <a:spLocks xmlns:a="http://schemas.openxmlformats.org/drawingml/2006/main" noGrp="1"/>
          </p:cNvSpPr>
          <p:nvPr/>
        </p:nvSpPr>
        <p:spPr>
          <a:xfrm xmlns:a="http://schemas.openxmlformats.org/drawingml/2006/main">
            <a:off x="628650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해석</a:t>
            </a:r>
          </a:p>
        </p:txBody>
      </p:sp>
      <p:sp>
        <p:nvSpPr>
          <p:cNvPr id="14" name="">
            <a:extLst xmlns:a="http://schemas.openxmlformats.org/drawingml/2006/main">
              <a:ext uri="{FF2B5EF4-FFF2-40B4-BE49-F238E27FC236}">
                <a16:creationId xmlns:a16="http://schemas.microsoft.com/office/drawing/2014/main" id="{3A5DD5C9-8EF4-48CC-AAC9-33DDF834B206}"/>
              </a:ext>
            </a:extLst>
          </p:cNvPr>
          <p:cNvSpPr>
            <a:spLocks xmlns:a="http://schemas.openxmlformats.org/drawingml/2006/main" noGrp="1"/>
          </p:cNvSpPr>
          <p:nvPr/>
        </p:nvSpPr>
        <p:spPr>
          <a:xfrm xmlns:a="http://schemas.openxmlformats.org/drawingml/2006/main">
            <a:off x="628650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사업 영향과 추가</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확인 항목 요약</a:t>
            </a:r>
          </a:p>
        </p:txBody>
      </p:sp>
      <p:sp>
        <p:nvSpPr>
          <p:cNvPr id="15" name="">
            <a:extLst xmlns:a="http://schemas.openxmlformats.org/drawingml/2006/main">
              <a:ext uri="{FF2B5EF4-FFF2-40B4-BE49-F238E27FC236}">
                <a16:creationId xmlns:a16="http://schemas.microsoft.com/office/drawing/2014/main" id="{A677735C-C84F-48CE-93CA-A83DD3253B4E}"/>
              </a:ext>
            </a:extLst>
          </p:cNvPr>
          <p:cNvSpPr>
            <a:spLocks xmlns:a="http://schemas.openxmlformats.org/drawingml/2006/main" noGrp="1"/>
          </p:cNvSpPr>
          <p:nvPr/>
        </p:nvSpPr>
        <p:spPr>
          <a:xfrm xmlns:a="http://schemas.openxmlformats.org/drawingml/2006/main">
            <a:off x="8648700" y="2590800"/>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150" b="1">
                <a:solidFill>
                  <a:srgbClr val="DCE6EF"/>
                </a:solidFill>
                <a:latin typeface="Malgun Gothic"/>
                <a:ea typeface="Malgun Gothic"/>
                <a:cs typeface="Malgun Gothic"/>
              </a:defRPr>
            </a:pPr>
            <a:r>
              <a:rPr sz="3150" b="1">
                <a:solidFill>
                  <a:srgbClr val="DCE6EF"/>
                </a:solidFill>
                <a:latin typeface="Malgun Gothic"/>
                <a:ea typeface="Malgun Gothic"/>
                <a:cs typeface="Malgun Gothic"/>
              </a:rPr>
              <a:t>›</a:t>
            </a:r>
          </a:p>
        </p:txBody>
      </p:sp>
      <p:sp>
        <p:nvSpPr>
          <p:cNvPr id="16" name="">
            <a:extLst xmlns:a="http://schemas.openxmlformats.org/drawingml/2006/main">
              <a:ext uri="{FF2B5EF4-FFF2-40B4-BE49-F238E27FC236}">
                <a16:creationId xmlns:a16="http://schemas.microsoft.com/office/drawing/2014/main" id="{01784E60-F418-4E86-98CE-3348863D45B0}"/>
              </a:ext>
            </a:extLst>
          </p:cNvPr>
          <p:cNvSpPr>
            <a:spLocks xmlns:a="http://schemas.openxmlformats.org/drawingml/2006/main" noGrp="1"/>
          </p:cNvSpPr>
          <p:nvPr/>
        </p:nvSpPr>
        <p:spPr>
          <a:xfrm xmlns:a="http://schemas.openxmlformats.org/drawingml/2006/main">
            <a:off x="9124950" y="17907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2B70E4"/>
                </a:solidFill>
                <a:latin typeface="Malgun Gothic"/>
                <a:ea typeface="Malgun Gothic"/>
                <a:cs typeface="Malgun Gothic"/>
              </a:defRPr>
            </a:pPr>
            <a:r>
              <a:rPr sz="3300" b="1">
                <a:solidFill>
                  <a:srgbClr val="2B70E4"/>
                </a:solidFill>
                <a:latin typeface="Malgun Gothic"/>
                <a:ea typeface="Malgun Gothic"/>
                <a:cs typeface="Malgun Gothic"/>
              </a:rPr>
              <a:t>04</a:t>
            </a:r>
          </a:p>
        </p:txBody>
      </p:sp>
      <p:sp>
        <p:nvSpPr>
          <p:cNvPr id="17" name="">
            <a:extLst xmlns:a="http://schemas.openxmlformats.org/drawingml/2006/main">
              <a:ext uri="{FF2B5EF4-FFF2-40B4-BE49-F238E27FC236}">
                <a16:creationId xmlns:a16="http://schemas.microsoft.com/office/drawing/2014/main" id="{7CA8F473-3489-4526-BCA9-298B0E2FCF86}"/>
              </a:ext>
            </a:extLst>
          </p:cNvPr>
          <p:cNvSpPr>
            <a:spLocks xmlns:a="http://schemas.openxmlformats.org/drawingml/2006/main" noGrp="1"/>
          </p:cNvSpPr>
          <p:nvPr/>
        </p:nvSpPr>
        <p:spPr>
          <a:xfrm xmlns:a="http://schemas.openxmlformats.org/drawingml/2006/main">
            <a:off x="9124950" y="2571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12B46"/>
                </a:solidFill>
                <a:latin typeface="Malgun Gothic"/>
                <a:ea typeface="Malgun Gothic"/>
                <a:cs typeface="Malgun Gothic"/>
              </a:defRPr>
            </a:pPr>
            <a:r>
              <a:rPr sz="2250" b="1">
                <a:solidFill>
                  <a:srgbClr val="112B46"/>
                </a:solidFill>
                <a:latin typeface="Malgun Gothic"/>
                <a:ea typeface="Malgun Gothic"/>
                <a:cs typeface="Malgun Gothic"/>
              </a:rPr>
              <a:t>공유</a:t>
            </a:r>
          </a:p>
        </p:txBody>
      </p:sp>
      <p:sp>
        <p:nvSpPr>
          <p:cNvPr id="18" name="">
            <a:extLst xmlns:a="http://schemas.openxmlformats.org/drawingml/2006/main">
              <a:ext uri="{FF2B5EF4-FFF2-40B4-BE49-F238E27FC236}">
                <a16:creationId xmlns:a16="http://schemas.microsoft.com/office/drawing/2014/main" id="{B9808143-AD17-48FA-85E1-039436301F85}"/>
              </a:ext>
            </a:extLst>
          </p:cNvPr>
          <p:cNvSpPr>
            <a:spLocks xmlns:a="http://schemas.openxmlformats.org/drawingml/2006/main" noGrp="1"/>
          </p:cNvSpPr>
          <p:nvPr/>
        </p:nvSpPr>
        <p:spPr>
          <a:xfrm xmlns:a="http://schemas.openxmlformats.org/drawingml/2006/main">
            <a:off x="9124950" y="3238500"/>
            <a:ext cx="2362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대시보드와 Telegram·</a:t>
            </a:r>
          </a:p>
          <a:p xmlns:a="http://schemas.openxmlformats.org/drawingml/2006/main">
            <a:pPr algn="l">
              <a:defRPr sz="1650" b="0">
                <a:solidFill>
                  <a:srgbClr val="697D90"/>
                </a:solidFill>
                <a:latin typeface="Malgun Gothic"/>
                <a:ea typeface="Malgun Gothic"/>
                <a:cs typeface="Malgun Gothic"/>
              </a:defRPr>
            </a:pPr>
            <a:r>
              <a:rPr sz="1650" b="0">
                <a:solidFill>
                  <a:srgbClr val="697D90"/>
                </a:solidFill>
                <a:latin typeface="Malgun Gothic"/>
                <a:ea typeface="Malgun Gothic"/>
                <a:cs typeface="Malgun Gothic"/>
              </a:rPr>
              <a:t>이메일 전달</a:t>
            </a:r>
          </a:p>
        </p:txBody>
      </p:sp>
      <p:sp>
        <p:nvSpPr>
          <p:cNvPr id="19" name="">
            <a:extLst xmlns:a="http://schemas.openxmlformats.org/drawingml/2006/main">
              <a:ext uri="{FF2B5EF4-FFF2-40B4-BE49-F238E27FC236}">
                <a16:creationId xmlns:a16="http://schemas.microsoft.com/office/drawing/2014/main" id="{1A97A4AE-55A4-4DDC-AA1B-B0297EBAC6F5}"/>
              </a:ext>
            </a:extLst>
          </p:cNvPr>
          <p:cNvSpPr>
            <a:spLocks xmlns:a="http://schemas.openxmlformats.org/drawingml/2006/main" noGrp="1"/>
          </p:cNvSpPr>
          <p:nvPr/>
        </p:nvSpPr>
        <p:spPr>
          <a:xfrm xmlns:a="http://schemas.openxmlformats.org/drawingml/2006/main">
            <a:off x="609600" y="5067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12B46"/>
                </a:solidFill>
                <a:latin typeface="Malgun Gothic"/>
                <a:ea typeface="Malgun Gothic"/>
                <a:cs typeface="Malgun Gothic"/>
              </a:defRPr>
            </a:pPr>
            <a:r>
              <a:rPr sz="1500" b="1">
                <a:solidFill>
                  <a:srgbClr val="112B46"/>
                </a:solidFill>
                <a:latin typeface="Malgun Gothic"/>
                <a:ea typeface="Malgun Gothic"/>
                <a:cs typeface="Malgun Gothic"/>
              </a:rPr>
              <a:t>OpenDART · Google News RSS · 네이버 금융 · KOMIS</a:t>
            </a:r>
          </a:p>
        </p:txBody>
      </p:sp>
      <p:sp>
        <p:nvSpPr>
          <p:cNvPr id="20" name="">
            <a:extLst xmlns:a="http://schemas.openxmlformats.org/drawingml/2006/main">
              <a:ext uri="{FF2B5EF4-FFF2-40B4-BE49-F238E27FC236}">
                <a16:creationId xmlns:a16="http://schemas.microsoft.com/office/drawing/2014/main" id="{35371C08-A2FE-4982-9CA0-4E3490029A05}"/>
              </a:ext>
            </a:extLst>
          </p:cNvPr>
          <p:cNvSpPr>
            <a:spLocks xmlns:a="http://schemas.openxmlformats.org/drawingml/2006/main" noGrp="1"/>
          </p:cNvSpPr>
          <p:nvPr/>
        </p:nvSpPr>
        <p:spPr>
          <a:xfrm xmlns:a="http://schemas.openxmlformats.org/drawingml/2006/main">
            <a:off x="609600" y="5543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697D90"/>
                </a:solidFill>
                <a:latin typeface="Malgun Gothic"/>
                <a:ea typeface="Malgun Gothic"/>
                <a:cs typeface="Malgun Gothic"/>
              </a:defRPr>
            </a:pPr>
            <a:r>
              <a:rPr sz="1425" b="0">
                <a:solidFill>
                  <a:srgbClr val="697D90"/>
                </a:solidFill>
                <a:latin typeface="Malgun Gothic"/>
                <a:ea typeface="Malgun Gothic"/>
                <a:cs typeface="Malgun Gothic"/>
              </a:rPr>
              <a:t>FastAPI 백엔드와 React 대시보드가 데이터를 제공하고, 관리자 기능이 수신자와 발송 이력을 관리합니다.</a:t>
            </a:r>
          </a:p>
        </p:txBody>
      </p:sp>
    </p:spTree>
    <p:extLst>
      <p:ext uri="{BB962C8B-B14F-4D97-AF65-F5344CB8AC3E}">
        <p14:creationId xmlns:p14="http://schemas.microsoft.com/office/powerpoint/2010/main" val="1666940228"/>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637B0D-704D-4C63-92F6-770B8EEF706A}"/>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04 SYSTEM</a:t>
            </a:r>
          </a:p>
        </p:txBody>
      </p:sp>
      <p:sp>
        <p:nvSpPr>
          <p:cNvPr id="2" name="">
            <a:extLst xmlns:a="http://schemas.openxmlformats.org/drawingml/2006/main">
              <a:ext uri="{FF2B5EF4-FFF2-40B4-BE49-F238E27FC236}">
                <a16:creationId xmlns:a16="http://schemas.microsoft.com/office/drawing/2014/main" id="{A59E6D91-8FDA-4FB6-A408-2064E500F2B4}"/>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분리된 수집·분석·표현 구조로 기능을 확장할 수 있습니다</a:t>
            </a:r>
          </a:p>
        </p:txBody>
      </p:sp>
      <p:sp>
        <p:nvSpPr>
          <p:cNvPr id="3" name="">
            <a:extLst xmlns:a="http://schemas.openxmlformats.org/drawingml/2006/main">
              <a:ext uri="{FF2B5EF4-FFF2-40B4-BE49-F238E27FC236}">
                <a16:creationId xmlns:a16="http://schemas.microsoft.com/office/drawing/2014/main" id="{C6A5DEE8-ABEE-4CB3-A56E-B9FF97F35E60}"/>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05   FUTURE:M RADAR</a:t>
            </a:r>
          </a:p>
        </p:txBody>
      </p:sp>
      <p:sp>
        <p:nvSpPr>
          <p:cNvPr id="4" name="">
            <a:extLst xmlns:a="http://schemas.openxmlformats.org/drawingml/2006/main">
              <a:ext uri="{FF2B5EF4-FFF2-40B4-BE49-F238E27FC236}">
                <a16:creationId xmlns:a16="http://schemas.microsoft.com/office/drawing/2014/main" id="{166724D2-0259-4AF2-9D8E-1E83E52098BF}"/>
              </a:ext>
            </a:extLst>
          </p:cNvPr>
          <p:cNvSpPr>
            <a:spLocks xmlns:a="http://schemas.openxmlformats.org/drawingml/2006/main" noGrp="1"/>
          </p:cNvSpPr>
          <p:nvPr/>
        </p:nvSpPr>
        <p:spPr>
          <a:xfrm xmlns:a="http://schemas.openxmlformats.org/drawingml/2006/main">
            <a:off x="609600" y="1695450"/>
            <a:ext cx="2428875" cy="2400300"/>
          </a:xfrm>
          <a:prstGeom xmlns:a="http://schemas.openxmlformats.org/drawingml/2006/main" prst="rect">
            <a:avLst/>
          </a:prstGeom>
          <a:solidFill xmlns:a="http://schemas.openxmlformats.org/drawingml/2006/main">
            <a:srgbClr val="E7F6F4"/>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DATA SOURCES</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OpenDART</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Google News RSS</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Naver Finance</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KOMIS</a:t>
            </a:r>
          </a:p>
        </p:txBody>
      </p:sp>
      <p:sp>
        <p:nvSpPr>
          <p:cNvPr id="5" name="">
            <a:extLst xmlns:a="http://schemas.openxmlformats.org/drawingml/2006/main">
              <a:ext uri="{FF2B5EF4-FFF2-40B4-BE49-F238E27FC236}">
                <a16:creationId xmlns:a16="http://schemas.microsoft.com/office/drawing/2014/main" id="{4459238C-13CC-4417-B801-3F6D08E5A8B0}"/>
              </a:ext>
            </a:extLst>
          </p:cNvPr>
          <p:cNvSpPr>
            <a:spLocks xmlns:a="http://schemas.openxmlformats.org/drawingml/2006/main" noGrp="1"/>
          </p:cNvSpPr>
          <p:nvPr/>
        </p:nvSpPr>
        <p:spPr>
          <a:xfrm xmlns:a="http://schemas.openxmlformats.org/drawingml/2006/main">
            <a:off x="313372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18B8AA"/>
                </a:solidFill>
                <a:latin typeface="Malgun Gothic"/>
                <a:ea typeface="Malgun Gothic"/>
                <a:cs typeface="Malgun Gothic"/>
              </a:defRPr>
            </a:pPr>
            <a:r>
              <a:rPr sz="3450" b="1">
                <a:solidFill>
                  <a:srgbClr val="18B8AA"/>
                </a:solidFill>
                <a:latin typeface="Malgun Gothic"/>
                <a:ea typeface="Malgun Gothic"/>
                <a:cs typeface="Malgun Gothic"/>
              </a:rPr>
              <a:t>›</a:t>
            </a:r>
          </a:p>
        </p:txBody>
      </p:sp>
      <p:sp>
        <p:nvSpPr>
          <p:cNvPr id="6" name="">
            <a:extLst xmlns:a="http://schemas.openxmlformats.org/drawingml/2006/main">
              <a:ext uri="{FF2B5EF4-FFF2-40B4-BE49-F238E27FC236}">
                <a16:creationId xmlns:a16="http://schemas.microsoft.com/office/drawing/2014/main" id="{C6E74487-5DA5-4B26-A134-C0CA05109241}"/>
              </a:ext>
            </a:extLst>
          </p:cNvPr>
          <p:cNvSpPr>
            <a:spLocks xmlns:a="http://schemas.openxmlformats.org/drawingml/2006/main" noGrp="1"/>
          </p:cNvSpPr>
          <p:nvPr/>
        </p:nvSpPr>
        <p:spPr>
          <a:xfrm xmlns:a="http://schemas.openxmlformats.org/drawingml/2006/main">
            <a:off x="3714750" y="1695450"/>
            <a:ext cx="2428875" cy="2400300"/>
          </a:xfrm>
          <a:prstGeom xmlns:a="http://schemas.openxmlformats.org/drawingml/2006/main" prst="rect">
            <a:avLst/>
          </a:prstGeom>
          <a:solidFill xmlns:a="http://schemas.openxmlformats.org/drawingml/2006/main">
            <a:srgbClr val="E8EFF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BACKEND</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FastAPI</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기업 매칭·중복 제거</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중요 공시 분류</a:t>
            </a:r>
          </a:p>
        </p:txBody>
      </p:sp>
      <p:sp>
        <p:nvSpPr>
          <p:cNvPr id="7" name="">
            <a:extLst xmlns:a="http://schemas.openxmlformats.org/drawingml/2006/main">
              <a:ext uri="{FF2B5EF4-FFF2-40B4-BE49-F238E27FC236}">
                <a16:creationId xmlns:a16="http://schemas.microsoft.com/office/drawing/2014/main" id="{27D01E0B-4A51-40FD-A452-DB54E001EE17}"/>
              </a:ext>
            </a:extLst>
          </p:cNvPr>
          <p:cNvSpPr>
            <a:spLocks xmlns:a="http://schemas.openxmlformats.org/drawingml/2006/main" noGrp="1"/>
          </p:cNvSpPr>
          <p:nvPr/>
        </p:nvSpPr>
        <p:spPr>
          <a:xfrm xmlns:a="http://schemas.openxmlformats.org/drawingml/2006/main">
            <a:off x="623887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2B70E4"/>
                </a:solidFill>
                <a:latin typeface="Malgun Gothic"/>
                <a:ea typeface="Malgun Gothic"/>
                <a:cs typeface="Malgun Gothic"/>
              </a:defRPr>
            </a:pPr>
            <a:r>
              <a:rPr sz="3450" b="1">
                <a:solidFill>
                  <a:srgbClr val="2B70E4"/>
                </a:solidFill>
                <a:latin typeface="Malgun Gothic"/>
                <a:ea typeface="Malgun Gothic"/>
                <a:cs typeface="Malgun Gothic"/>
              </a:rPr>
              <a:t>›</a:t>
            </a:r>
          </a:p>
        </p:txBody>
      </p:sp>
      <p:sp>
        <p:nvSpPr>
          <p:cNvPr id="8" name="">
            <a:extLst xmlns:a="http://schemas.openxmlformats.org/drawingml/2006/main">
              <a:ext uri="{FF2B5EF4-FFF2-40B4-BE49-F238E27FC236}">
                <a16:creationId xmlns:a16="http://schemas.microsoft.com/office/drawing/2014/main" id="{55420676-ECC7-4AA5-B782-94663D4A91B1}"/>
              </a:ext>
            </a:extLst>
          </p:cNvPr>
          <p:cNvSpPr>
            <a:spLocks xmlns:a="http://schemas.openxmlformats.org/drawingml/2006/main" noGrp="1"/>
          </p:cNvSpPr>
          <p:nvPr/>
        </p:nvSpPr>
        <p:spPr>
          <a:xfrm xmlns:a="http://schemas.openxmlformats.org/drawingml/2006/main">
            <a:off x="6819900" y="1695450"/>
            <a:ext cx="2428875" cy="2400300"/>
          </a:xfrm>
          <a:prstGeom xmlns:a="http://schemas.openxmlformats.org/drawingml/2006/main" prst="rect">
            <a:avLst/>
          </a:prstGeom>
          <a:solidFill xmlns:a="http://schemas.openxmlformats.org/drawingml/2006/main">
            <a:srgbClr val="EEEAF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INTELLIGENCE</a:t>
            </a:r>
          </a:p>
          <a:p xmlns:a="http://schemas.openxmlformats.org/drawingml/2006/main">
            <a:r>
              <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Gemini / OpenAI</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구조화된 AI 분석</a:t>
            </a:r>
          </a:p>
          <a:p xmlns:a="http://schemas.openxmlformats.org/drawingml/2006/main">
            <a:pPr algn="ctr">
              <a:defRPr sz="1650" b="1">
                <a:solidFill>
                  <a:srgbClr val="112B46"/>
                </a:solidFill>
                <a:latin typeface="Malgun Gothic"/>
                <a:ea typeface="Malgun Gothic"/>
                <a:cs typeface="Malgun Gothic"/>
              </a:defRPr>
            </a:pPr>
            <a:r>
              <a:rPr sz="1650" b="1">
                <a:solidFill>
                  <a:srgbClr val="112B46"/>
                </a:solidFill>
                <a:latin typeface="Malgun Gothic"/>
                <a:ea typeface="Malgun Gothic"/>
                <a:cs typeface="Malgun Gothic"/>
              </a:rPr>
              <a:t>LangSmith 추적</a:t>
            </a:r>
          </a:p>
        </p:txBody>
      </p:sp>
      <p:sp>
        <p:nvSpPr>
          <p:cNvPr id="9" name="">
            <a:extLst xmlns:a="http://schemas.openxmlformats.org/drawingml/2006/main">
              <a:ext uri="{FF2B5EF4-FFF2-40B4-BE49-F238E27FC236}">
                <a16:creationId xmlns:a16="http://schemas.microsoft.com/office/drawing/2014/main" id="{C32D1D48-FE56-4338-A972-A1F18B275C5F}"/>
              </a:ext>
            </a:extLst>
          </p:cNvPr>
          <p:cNvSpPr>
            <a:spLocks xmlns:a="http://schemas.openxmlformats.org/drawingml/2006/main" noGrp="1"/>
          </p:cNvSpPr>
          <p:nvPr/>
        </p:nvSpPr>
        <p:spPr>
          <a:xfrm xmlns:a="http://schemas.openxmlformats.org/drawingml/2006/main">
            <a:off x="9344025" y="261937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450" b="1">
                <a:solidFill>
                  <a:srgbClr val="18B8AA"/>
                </a:solidFill>
                <a:latin typeface="Malgun Gothic"/>
                <a:ea typeface="Malgun Gothic"/>
                <a:cs typeface="Malgun Gothic"/>
              </a:defRPr>
            </a:pPr>
            <a:r>
              <a:rPr sz="3450" b="1">
                <a:solidFill>
                  <a:srgbClr val="18B8AA"/>
                </a:solidFill>
                <a:latin typeface="Malgun Gothic"/>
                <a:ea typeface="Malgun Gothic"/>
                <a:cs typeface="Malgun Gothic"/>
              </a:rPr>
              <a:t>›</a:t>
            </a:r>
          </a:p>
        </p:txBody>
      </p:sp>
      <p:sp>
        <p:nvSpPr>
          <p:cNvPr id="10" name="">
            <a:extLst xmlns:a="http://schemas.openxmlformats.org/drawingml/2006/main">
              <a:ext uri="{FF2B5EF4-FFF2-40B4-BE49-F238E27FC236}">
                <a16:creationId xmlns:a16="http://schemas.microsoft.com/office/drawing/2014/main" id="{750FCA59-FF04-4CE4-BDD4-D7FA961AC662}"/>
              </a:ext>
            </a:extLst>
          </p:cNvPr>
          <p:cNvSpPr>
            <a:spLocks xmlns:a="http://schemas.openxmlformats.org/drawingml/2006/main" noGrp="1"/>
          </p:cNvSpPr>
          <p:nvPr/>
        </p:nvSpPr>
        <p:spPr>
          <a:xfrm xmlns:a="http://schemas.openxmlformats.org/drawingml/2006/main">
            <a:off x="9925050" y="1695450"/>
            <a:ext cx="1657350" cy="24003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OUTPUT</a:t>
            </a:r>
          </a:p>
          <a:p xmlns:a="http://schemas.openxmlformats.org/drawingml/2006/main">
            <a:r>
              <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React</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Telegram</a:t>
            </a:r>
          </a:p>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Gmail</a:t>
            </a:r>
          </a:p>
        </p:txBody>
      </p:sp>
      <p:sp>
        <p:nvSpPr>
          <p:cNvPr id="11" name="">
            <a:extLst xmlns:a="http://schemas.openxmlformats.org/drawingml/2006/main">
              <a:ext uri="{FF2B5EF4-FFF2-40B4-BE49-F238E27FC236}">
                <a16:creationId xmlns:a16="http://schemas.microsoft.com/office/drawing/2014/main" id="{860DC0F1-D6D4-4681-8B81-6A8BE972A885}"/>
              </a:ext>
            </a:extLst>
          </p:cNvPr>
          <p:cNvSpPr>
            <a:spLocks xmlns:a="http://schemas.openxmlformats.org/drawingml/2006/main" noGrp="1"/>
          </p:cNvSpPr>
          <p:nvPr/>
        </p:nvSpPr>
        <p:spPr>
          <a:xfrm xmlns:a="http://schemas.openxmlformats.org/drawingml/2006/main">
            <a:off x="609600" y="4781550"/>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8B8AA"/>
                </a:solidFill>
                <a:latin typeface="Malgun Gothic"/>
                <a:ea typeface="Malgun Gothic"/>
                <a:cs typeface="Malgun Gothic"/>
              </a:defRPr>
            </a:pPr>
            <a:r>
              <a:rPr sz="1125" b="1">
                <a:solidFill>
                  <a:srgbClr val="18B8AA"/>
                </a:solidFill>
                <a:latin typeface="Malgun Gothic"/>
                <a:ea typeface="Malgun Gothic"/>
                <a:cs typeface="Malgun Gothic"/>
              </a:rPr>
              <a:t>설계 원칙</a:t>
            </a:r>
          </a:p>
        </p:txBody>
      </p:sp>
      <p:sp>
        <p:nvSpPr>
          <p:cNvPr id="12" name="">
            <a:extLst xmlns:a="http://schemas.openxmlformats.org/drawingml/2006/main">
              <a:ext uri="{FF2B5EF4-FFF2-40B4-BE49-F238E27FC236}">
                <a16:creationId xmlns:a16="http://schemas.microsoft.com/office/drawing/2014/main" id="{C079EEB0-7190-4EF0-91EE-3AA09EDAE004}"/>
              </a:ext>
            </a:extLst>
          </p:cNvPr>
          <p:cNvSpPr>
            <a:spLocks xmlns:a="http://schemas.openxmlformats.org/drawingml/2006/main" noGrp="1"/>
          </p:cNvSpPr>
          <p:nvPr/>
        </p:nvSpPr>
        <p:spPr>
          <a:xfrm xmlns:a="http://schemas.openxmlformats.org/drawingml/2006/main">
            <a:off x="609600" y="5200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12B46"/>
                </a:solidFill>
                <a:latin typeface="Malgun Gothic"/>
                <a:ea typeface="Malgun Gothic"/>
                <a:cs typeface="Malgun Gothic"/>
              </a:defRPr>
            </a:pPr>
            <a:r>
              <a:rPr sz="1950" b="1">
                <a:solidFill>
                  <a:srgbClr val="112B46"/>
                </a:solidFill>
                <a:latin typeface="Malgun Gothic"/>
                <a:ea typeface="Malgun Gothic"/>
                <a:cs typeface="Malgun Gothic"/>
              </a:rPr>
              <a:t>원문 근거 유지   ·   채널별 발송 이력 관리   ·   기능별 서비스 모듈 분리</a:t>
            </a:r>
          </a:p>
        </p:txBody>
      </p:sp>
    </p:spTree>
    <p:extLst>
      <p:ext uri="{BB962C8B-B14F-4D97-AF65-F5344CB8AC3E}">
        <p14:creationId xmlns:p14="http://schemas.microsoft.com/office/powerpoint/2010/main" val="1592109569"/>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A6009A-3FB9-40F2-868D-CCECF46F2629}"/>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05 LIVE MONITORING</a:t>
            </a:r>
          </a:p>
        </p:txBody>
      </p:sp>
      <p:sp>
        <p:nvSpPr>
          <p:cNvPr id="2" name="">
            <a:extLst xmlns:a="http://schemas.openxmlformats.org/drawingml/2006/main">
              <a:ext uri="{FF2B5EF4-FFF2-40B4-BE49-F238E27FC236}">
                <a16:creationId xmlns:a16="http://schemas.microsoft.com/office/drawing/2014/main" id="{394B11D8-110F-4BB7-8567-DC60E4E9F9AD}"/>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기업별 공시와 이차전지 뉴스를 한 화면에서 확인합니다</a:t>
            </a:r>
          </a:p>
        </p:txBody>
      </p:sp>
      <p:sp>
        <p:nvSpPr>
          <p:cNvPr id="3" name="">
            <a:extLst xmlns:a="http://schemas.openxmlformats.org/drawingml/2006/main">
              <a:ext uri="{FF2B5EF4-FFF2-40B4-BE49-F238E27FC236}">
                <a16:creationId xmlns:a16="http://schemas.microsoft.com/office/drawing/2014/main" id="{6C1E3D0C-2221-44E6-AAD3-F56136D37FB4}"/>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06   FUTURE:M RADAR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b717eb103c94c12"/>
          <a:stretch xmlns:a="http://schemas.openxmlformats.org/drawingml/2006/main"/>
        </p:blipFill>
        <p:spPr>
          <a:xfrm xmlns:a="http://schemas.openxmlformats.org/drawingml/2006/main">
            <a:off x="1745485" y="1504950"/>
            <a:ext cx="8701030"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15CC69-6419-4392-89AF-0624D562D135}"/>
              </a:ext>
            </a:extLst>
          </p:cNvPr>
          <p:cNvSpPr>
            <a:spLocks xmlns:a="http://schemas.openxmlformats.org/drawingml/2006/main" noGrp="1"/>
          </p:cNvSpPr>
          <p:nvPr/>
        </p:nvSpPr>
        <p:spPr>
          <a:xfrm xmlns:a="http://schemas.openxmlformats.org/drawingml/2006/main">
            <a:off x="60960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기업 필터</a:t>
            </a:r>
          </a:p>
        </p:txBody>
      </p:sp>
      <p:sp>
        <p:nvSpPr>
          <p:cNvPr id="6" name="">
            <a:extLst xmlns:a="http://schemas.openxmlformats.org/drawingml/2006/main">
              <a:ext uri="{FF2B5EF4-FFF2-40B4-BE49-F238E27FC236}">
                <a16:creationId xmlns:a16="http://schemas.microsoft.com/office/drawing/2014/main" id="{7A540FEC-9ECB-4807-8695-C26D4720C6EB}"/>
              </a:ext>
            </a:extLst>
          </p:cNvPr>
          <p:cNvSpPr>
            <a:spLocks xmlns:a="http://schemas.openxmlformats.org/drawingml/2006/main" noGrp="1"/>
          </p:cNvSpPr>
          <p:nvPr/>
        </p:nvSpPr>
        <p:spPr>
          <a:xfrm xmlns:a="http://schemas.openxmlformats.org/drawingml/2006/main">
            <a:off x="304800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주요 공시 강조</a:t>
            </a:r>
          </a:p>
        </p:txBody>
      </p:sp>
      <p:sp>
        <p:nvSpPr>
          <p:cNvPr id="7" name="">
            <a:extLst xmlns:a="http://schemas.openxmlformats.org/drawingml/2006/main">
              <a:ext uri="{FF2B5EF4-FFF2-40B4-BE49-F238E27FC236}">
                <a16:creationId xmlns:a16="http://schemas.microsoft.com/office/drawing/2014/main" id="{C623AB8B-1FE8-4D5D-B23F-44B9B5D20B9F}"/>
              </a:ext>
            </a:extLst>
          </p:cNvPr>
          <p:cNvSpPr>
            <a:spLocks xmlns:a="http://schemas.openxmlformats.org/drawingml/2006/main" noGrp="1"/>
          </p:cNvSpPr>
          <p:nvPr/>
        </p:nvSpPr>
        <p:spPr>
          <a:xfrm xmlns:a="http://schemas.openxmlformats.org/drawingml/2006/main">
            <a:off x="5857875"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유사 뉴스 통합</a:t>
            </a:r>
          </a:p>
        </p:txBody>
      </p:sp>
      <p:sp>
        <p:nvSpPr>
          <p:cNvPr id="8" name="">
            <a:extLst xmlns:a="http://schemas.openxmlformats.org/drawingml/2006/main">
              <a:ext uri="{FF2B5EF4-FFF2-40B4-BE49-F238E27FC236}">
                <a16:creationId xmlns:a16="http://schemas.microsoft.com/office/drawing/2014/main" id="{CECDD17E-0251-4280-84F5-FD0F7459BE7A}"/>
              </a:ext>
            </a:extLst>
          </p:cNvPr>
          <p:cNvSpPr>
            <a:spLocks xmlns:a="http://schemas.openxmlformats.org/drawingml/2006/main" noGrp="1"/>
          </p:cNvSpPr>
          <p:nvPr/>
        </p:nvSpPr>
        <p:spPr>
          <a:xfrm xmlns:a="http://schemas.openxmlformats.org/drawingml/2006/main">
            <a:off x="8667750" y="5905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원문·AI 분석 연결</a:t>
            </a:r>
          </a:p>
        </p:txBody>
      </p:sp>
    </p:spTree>
    <p:extLst>
      <p:ext uri="{BB962C8B-B14F-4D97-AF65-F5344CB8AC3E}">
        <p14:creationId xmlns:p14="http://schemas.microsoft.com/office/powerpoint/2010/main" val="1115470334"/>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6264B6-CD72-4979-9180-EC7ED2D3DD2E}"/>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06 AI BRIEFING</a:t>
            </a:r>
          </a:p>
        </p:txBody>
      </p:sp>
      <p:sp>
        <p:nvSpPr>
          <p:cNvPr id="2" name="">
            <a:extLst xmlns:a="http://schemas.openxmlformats.org/drawingml/2006/main">
              <a:ext uri="{FF2B5EF4-FFF2-40B4-BE49-F238E27FC236}">
                <a16:creationId xmlns:a16="http://schemas.microsoft.com/office/drawing/2014/main" id="{B82ACC8E-F0EA-4030-A93A-0784DEAE3E09}"/>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기사 요약을 넘어 자사 영향과 확인 과제를 제시합니다</a:t>
            </a:r>
          </a:p>
        </p:txBody>
      </p:sp>
      <p:sp>
        <p:nvSpPr>
          <p:cNvPr id="3" name="">
            <a:extLst xmlns:a="http://schemas.openxmlformats.org/drawingml/2006/main">
              <a:ext uri="{FF2B5EF4-FFF2-40B4-BE49-F238E27FC236}">
                <a16:creationId xmlns:a16="http://schemas.microsoft.com/office/drawing/2014/main" id="{8BF9DADF-6733-45A5-BDDB-C20E94400B5E}"/>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07   FUTURE:M RADAR</a:t>
            </a:r>
          </a:p>
        </p:txBody>
      </p:sp>
      <p:sp>
        <p:nvSpPr>
          <p:cNvPr id="4" name="">
            <a:extLst xmlns:a="http://schemas.openxmlformats.org/drawingml/2006/main">
              <a:ext uri="{FF2B5EF4-FFF2-40B4-BE49-F238E27FC236}">
                <a16:creationId xmlns:a16="http://schemas.microsoft.com/office/drawing/2014/main" id="{E5F98691-262C-4EAB-B0DC-107FC9B58CE0}"/>
              </a:ext>
            </a:extLst>
          </p:cNvPr>
          <p:cNvSpPr>
            <a:spLocks xmlns:a="http://schemas.openxmlformats.org/drawingml/2006/main" noGrp="1"/>
          </p:cNvSpPr>
          <p:nvPr/>
        </p:nvSpPr>
        <p:spPr>
          <a:xfrm xmlns:a="http://schemas.openxmlformats.org/drawingml/2006/main">
            <a:off x="609600" y="1752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핵심 사실</a:t>
            </a:r>
          </a:p>
        </p:txBody>
      </p:sp>
      <p:sp>
        <p:nvSpPr>
          <p:cNvPr id="5" name="">
            <a:extLst xmlns:a="http://schemas.openxmlformats.org/drawingml/2006/main">
              <a:ext uri="{FF2B5EF4-FFF2-40B4-BE49-F238E27FC236}">
                <a16:creationId xmlns:a16="http://schemas.microsoft.com/office/drawing/2014/main" id="{9072679D-B986-466F-AE52-D41D9AEEFE2D}"/>
              </a:ext>
            </a:extLst>
          </p:cNvPr>
          <p:cNvSpPr>
            <a:spLocks xmlns:a="http://schemas.openxmlformats.org/drawingml/2006/main" noGrp="1"/>
          </p:cNvSpPr>
          <p:nvPr/>
        </p:nvSpPr>
        <p:spPr>
          <a:xfrm xmlns:a="http://schemas.openxmlformats.org/drawingml/2006/main">
            <a:off x="609600" y="22955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누가, 무엇을, 언제 발표했는지</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금액과 일정 중심으로 정리</a:t>
            </a:r>
          </a:p>
        </p:txBody>
      </p:sp>
      <p:sp>
        <p:nvSpPr>
          <p:cNvPr id="6" name="">
            <a:extLst xmlns:a="http://schemas.openxmlformats.org/drawingml/2006/main">
              <a:ext uri="{FF2B5EF4-FFF2-40B4-BE49-F238E27FC236}">
                <a16:creationId xmlns:a16="http://schemas.microsoft.com/office/drawing/2014/main" id="{9A75FE9B-84F0-46BE-91D2-946AAC798A7E}"/>
              </a:ext>
            </a:extLst>
          </p:cNvPr>
          <p:cNvSpPr>
            <a:spLocks xmlns:a="http://schemas.openxmlformats.org/drawingml/2006/main" noGrp="1"/>
          </p:cNvSpPr>
          <p:nvPr/>
        </p:nvSpPr>
        <p:spPr>
          <a:xfrm xmlns:a="http://schemas.openxmlformats.org/drawingml/2006/main">
            <a:off x="609600" y="3333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사업 영향</a:t>
            </a:r>
          </a:p>
        </p:txBody>
      </p:sp>
      <p:sp>
        <p:nvSpPr>
          <p:cNvPr id="7" name="">
            <a:extLst xmlns:a="http://schemas.openxmlformats.org/drawingml/2006/main">
              <a:ext uri="{FF2B5EF4-FFF2-40B4-BE49-F238E27FC236}">
                <a16:creationId xmlns:a16="http://schemas.microsoft.com/office/drawing/2014/main" id="{72276E68-9807-4890-AFFC-C148B4C39C8D}"/>
              </a:ext>
            </a:extLst>
          </p:cNvPr>
          <p:cNvSpPr>
            <a:spLocks xmlns:a="http://schemas.openxmlformats.org/drawingml/2006/main" noGrp="1"/>
          </p:cNvSpPr>
          <p:nvPr/>
        </p:nvSpPr>
        <p:spPr>
          <a:xfrm xmlns:a="http://schemas.openxmlformats.org/drawingml/2006/main">
            <a:off x="609600" y="3876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고객 수요와 경쟁 구도에 미치는</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가능성을 구분해 제시</a:t>
            </a:r>
          </a:p>
        </p:txBody>
      </p:sp>
      <p:sp>
        <p:nvSpPr>
          <p:cNvPr id="8" name="">
            <a:extLst xmlns:a="http://schemas.openxmlformats.org/drawingml/2006/main">
              <a:ext uri="{FF2B5EF4-FFF2-40B4-BE49-F238E27FC236}">
                <a16:creationId xmlns:a16="http://schemas.microsoft.com/office/drawing/2014/main" id="{2BCA8474-43CA-4E7C-8B22-3768A52F3673}"/>
              </a:ext>
            </a:extLst>
          </p:cNvPr>
          <p:cNvSpPr>
            <a:spLocks xmlns:a="http://schemas.openxmlformats.org/drawingml/2006/main" noGrp="1"/>
          </p:cNvSpPr>
          <p:nvPr/>
        </p:nvSpPr>
        <p:spPr>
          <a:xfrm xmlns:a="http://schemas.openxmlformats.org/drawingml/2006/main">
            <a:off x="609600" y="49149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8B8AA"/>
                </a:solidFill>
                <a:latin typeface="Malgun Gothic"/>
                <a:ea typeface="Malgun Gothic"/>
                <a:cs typeface="Malgun Gothic"/>
              </a:defRPr>
            </a:pPr>
            <a:r>
              <a:rPr sz="2025" b="1">
                <a:solidFill>
                  <a:srgbClr val="18B8AA"/>
                </a:solidFill>
                <a:latin typeface="Malgun Gothic"/>
                <a:ea typeface="Malgun Gothic"/>
                <a:cs typeface="Malgun Gothic"/>
              </a:rPr>
              <a:t>확인 과제</a:t>
            </a:r>
          </a:p>
        </p:txBody>
      </p:sp>
      <p:sp>
        <p:nvSpPr>
          <p:cNvPr id="9" name="">
            <a:extLst xmlns:a="http://schemas.openxmlformats.org/drawingml/2006/main">
              <a:ext uri="{FF2B5EF4-FFF2-40B4-BE49-F238E27FC236}">
                <a16:creationId xmlns:a16="http://schemas.microsoft.com/office/drawing/2014/main" id="{075FE8A4-A539-4F30-AF01-C1B936C26329}"/>
              </a:ext>
            </a:extLst>
          </p:cNvPr>
          <p:cNvSpPr>
            <a:spLocks xmlns:a="http://schemas.openxmlformats.org/drawingml/2006/main" noGrp="1"/>
          </p:cNvSpPr>
          <p:nvPr/>
        </p:nvSpPr>
        <p:spPr>
          <a:xfrm xmlns:a="http://schemas.openxmlformats.org/drawingml/2006/main">
            <a:off x="609600" y="54578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원문 근거와 후속 공시를</a:t>
            </a:r>
          </a:p>
          <a:p xmlns:a="http://schemas.openxmlformats.org/drawingml/2006/main">
            <a:pPr algn="l">
              <a:defRPr sz="1650" b="0">
                <a:solidFill>
                  <a:srgbClr val="112B46"/>
                </a:solidFill>
                <a:latin typeface="Malgun Gothic"/>
                <a:ea typeface="Malgun Gothic"/>
                <a:cs typeface="Malgun Gothic"/>
              </a:defRPr>
            </a:pPr>
            <a:r>
              <a:rPr sz="1650" b="0">
                <a:solidFill>
                  <a:srgbClr val="112B46"/>
                </a:solidFill>
                <a:latin typeface="Malgun Gothic"/>
                <a:ea typeface="Malgun Gothic"/>
                <a:cs typeface="Malgun Gothic"/>
              </a:rPr>
              <a:t>담당 부서가 검토</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06eec4bdca41ff"/>
          <a:stretch xmlns:a="http://schemas.openxmlformats.org/drawingml/2006/main"/>
        </p:blipFill>
        <p:spPr>
          <a:xfrm xmlns:a="http://schemas.openxmlformats.org/drawingml/2006/main">
            <a:off x="5286375" y="1796292"/>
            <a:ext cx="6296025" cy="4027417"/>
          </a:xfrm>
          <a:prstGeom xmlns:a="http://schemas.openxmlformats.org/drawingml/2006/main" prst="rect">
            <a:avLst/>
          </a:prstGeom>
        </p:spPr>
      </p:pic>
    </p:spTree>
    <p:extLst>
      <p:ext uri="{BB962C8B-B14F-4D97-AF65-F5344CB8AC3E}">
        <p14:creationId xmlns:p14="http://schemas.microsoft.com/office/powerpoint/2010/main" val="152723242"/>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81521A-2F76-4DB3-9B68-D55A42EFDCC0}"/>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07 COMPETITIVE LANDSCAPE</a:t>
            </a:r>
          </a:p>
        </p:txBody>
      </p:sp>
      <p:sp>
        <p:nvSpPr>
          <p:cNvPr id="2" name="">
            <a:extLst xmlns:a="http://schemas.openxmlformats.org/drawingml/2006/main">
              <a:ext uri="{FF2B5EF4-FFF2-40B4-BE49-F238E27FC236}">
                <a16:creationId xmlns:a16="http://schemas.microsoft.com/office/drawing/2014/main" id="{B30E0F13-B71F-49C7-BE13-88D20CC8CFE8}"/>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경쟁사 이슈를 같은 기준으로 비교해 확인 순서를 정합니다</a:t>
            </a:r>
          </a:p>
        </p:txBody>
      </p:sp>
      <p:sp>
        <p:nvSpPr>
          <p:cNvPr id="3" name="">
            <a:extLst xmlns:a="http://schemas.openxmlformats.org/drawingml/2006/main">
              <a:ext uri="{FF2B5EF4-FFF2-40B4-BE49-F238E27FC236}">
                <a16:creationId xmlns:a16="http://schemas.microsoft.com/office/drawing/2014/main" id="{CAB3AB0B-8FD7-4484-ADAF-D297059A74CC}"/>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08   FUTURE:M RADAR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0109b73ef5e42c7"/>
          <a:stretch xmlns:a="http://schemas.openxmlformats.org/drawingml/2006/main"/>
        </p:blipFill>
        <p:spPr>
          <a:xfrm xmlns:a="http://schemas.openxmlformats.org/drawingml/2006/main">
            <a:off x="3565361" y="1581150"/>
            <a:ext cx="7118677"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594098-8F82-4FBA-9640-09E1A77894BA}"/>
              </a:ext>
            </a:extLst>
          </p:cNvPr>
          <p:cNvSpPr>
            <a:spLocks xmlns:a="http://schemas.openxmlformats.org/drawingml/2006/main" noGrp="1"/>
          </p:cNvSpPr>
          <p:nvPr/>
        </p:nvSpPr>
        <p:spPr>
          <a:xfrm xmlns:a="http://schemas.openxmlformats.org/drawingml/2006/main">
            <a:off x="609600" y="17621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697D90"/>
                </a:solidFill>
                <a:latin typeface="Malgun Gothic"/>
                <a:ea typeface="Malgun Gothic"/>
                <a:cs typeface="Malgun Gothic"/>
              </a:defRPr>
            </a:pPr>
            <a:r>
              <a:rPr sz="1125" b="1">
                <a:solidFill>
                  <a:srgbClr val="697D90"/>
                </a:solidFill>
                <a:latin typeface="Malgun Gothic"/>
                <a:ea typeface="Malgun Gothic"/>
                <a:cs typeface="Malgun Gothic"/>
              </a:rPr>
              <a:t>비교 기준</a:t>
            </a:r>
          </a:p>
        </p:txBody>
      </p:sp>
      <p:sp>
        <p:nvSpPr>
          <p:cNvPr id="6" name="">
            <a:extLst xmlns:a="http://schemas.openxmlformats.org/drawingml/2006/main">
              <a:ext uri="{FF2B5EF4-FFF2-40B4-BE49-F238E27FC236}">
                <a16:creationId xmlns:a16="http://schemas.microsoft.com/office/drawing/2014/main" id="{A7A2C08C-02ED-42A3-86E6-C63908973847}"/>
              </a:ext>
            </a:extLst>
          </p:cNvPr>
          <p:cNvSpPr>
            <a:spLocks xmlns:a="http://schemas.openxmlformats.org/drawingml/2006/main" noGrp="1"/>
          </p:cNvSpPr>
          <p:nvPr/>
        </p:nvSpPr>
        <p:spPr>
          <a:xfrm xmlns:a="http://schemas.openxmlformats.org/drawingml/2006/main">
            <a:off x="609600" y="2238375"/>
            <a:ext cx="17621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수주·공급</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투자·CAPEX</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기술·포트폴리오</a:t>
            </a:r>
          </a:p>
          <a:p xmlns:a="http://schemas.openxmlformats.org/drawingml/2006/main">
            <a:r>
              <a:t/>
            </a:r>
          </a:p>
          <a:p xmlns:a="http://schemas.openxmlformats.org/drawingml/2006/main">
            <a:pPr algn="l">
              <a:defRPr sz="1800" b="1">
                <a:solidFill>
                  <a:srgbClr val="112B46"/>
                </a:solidFill>
                <a:latin typeface="Malgun Gothic"/>
                <a:ea typeface="Malgun Gothic"/>
                <a:cs typeface="Malgun Gothic"/>
              </a:defRPr>
            </a:pPr>
            <a:r>
              <a:rPr sz="1800" b="1">
                <a:solidFill>
                  <a:srgbClr val="112B46"/>
                </a:solidFill>
                <a:latin typeface="Malgun Gothic"/>
                <a:ea typeface="Malgun Gothic"/>
                <a:cs typeface="Malgun Gothic"/>
              </a:rPr>
              <a:t>리스크 신호</a:t>
            </a:r>
          </a:p>
        </p:txBody>
      </p:sp>
      <p:sp>
        <p:nvSpPr>
          <p:cNvPr id="7" name="">
            <a:extLst xmlns:a="http://schemas.openxmlformats.org/drawingml/2006/main">
              <a:ext uri="{FF2B5EF4-FFF2-40B4-BE49-F238E27FC236}">
                <a16:creationId xmlns:a16="http://schemas.microsoft.com/office/drawing/2014/main" id="{ADE4CB04-F28F-4BAB-9EAE-FE50F669FD17}"/>
              </a:ext>
            </a:extLst>
          </p:cNvPr>
          <p:cNvSpPr>
            <a:spLocks xmlns:a="http://schemas.openxmlformats.org/drawingml/2006/main" noGrp="1"/>
          </p:cNvSpPr>
          <p:nvPr/>
        </p:nvSpPr>
        <p:spPr>
          <a:xfrm xmlns:a="http://schemas.openxmlformats.org/drawingml/2006/main">
            <a:off x="609600" y="5219700"/>
            <a:ext cx="1657350" cy="514350"/>
          </a:xfrm>
          <a:prstGeom xmlns:a="http://schemas.openxmlformats.org/drawingml/2006/main" prst="rect">
            <a:avLst/>
          </a:prstGeom>
          <a:solidFill xmlns:a="http://schemas.openxmlformats.org/drawingml/2006/main">
            <a:srgbClr val="DF5A67"/>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확인 필요</a:t>
            </a:r>
          </a:p>
        </p:txBody>
      </p:sp>
      <p:sp>
        <p:nvSpPr>
          <p:cNvPr id="8" name="">
            <a:extLst xmlns:a="http://schemas.openxmlformats.org/drawingml/2006/main">
              <a:ext uri="{FF2B5EF4-FFF2-40B4-BE49-F238E27FC236}">
                <a16:creationId xmlns:a16="http://schemas.microsoft.com/office/drawing/2014/main" id="{8FB21CED-AC01-4323-B175-36EF85A173AD}"/>
              </a:ext>
            </a:extLst>
          </p:cNvPr>
          <p:cNvSpPr>
            <a:spLocks xmlns:a="http://schemas.openxmlformats.org/drawingml/2006/main" noGrp="1"/>
          </p:cNvSpPr>
          <p:nvPr/>
        </p:nvSpPr>
        <p:spPr>
          <a:xfrm xmlns:a="http://schemas.openxmlformats.org/drawingml/2006/main">
            <a:off x="6096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97D90"/>
                </a:solidFill>
                <a:latin typeface="Malgun Gothic"/>
                <a:ea typeface="Malgun Gothic"/>
                <a:cs typeface="Malgun Gothic"/>
              </a:defRPr>
            </a:pPr>
            <a:r>
              <a:rPr sz="1200" b="0">
                <a:solidFill>
                  <a:srgbClr val="697D90"/>
                </a:solidFill>
                <a:latin typeface="Malgun Gothic"/>
                <a:ea typeface="Malgun Gothic"/>
                <a:cs typeface="Malgun Gothic"/>
              </a:rPr>
              <a:t>상태 색상은 검토 우선순위를 나타냅니다</a:t>
            </a:r>
          </a:p>
        </p:txBody>
      </p:sp>
    </p:spTree>
    <p:extLst>
      <p:ext uri="{BB962C8B-B14F-4D97-AF65-F5344CB8AC3E}">
        <p14:creationId xmlns:p14="http://schemas.microsoft.com/office/powerpoint/2010/main" val="1110524690"/>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D6DE78-AFFB-4FA4-AF29-F2C8FCA8169B}"/>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08 FINANCIAL &amp; MARKET</a:t>
            </a:r>
          </a:p>
        </p:txBody>
      </p:sp>
      <p:sp>
        <p:nvSpPr>
          <p:cNvPr id="2" name="">
            <a:extLst xmlns:a="http://schemas.openxmlformats.org/drawingml/2006/main">
              <a:ext uri="{FF2B5EF4-FFF2-40B4-BE49-F238E27FC236}">
                <a16:creationId xmlns:a16="http://schemas.microsoft.com/office/drawing/2014/main" id="{2BC57CA7-A8D4-4509-A12E-DD757DB60054}"/>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재무 추이와 시장 반응을 같은 맥락에서 점검합니다</a:t>
            </a:r>
          </a:p>
        </p:txBody>
      </p:sp>
      <p:sp>
        <p:nvSpPr>
          <p:cNvPr id="3" name="">
            <a:extLst xmlns:a="http://schemas.openxmlformats.org/drawingml/2006/main">
              <a:ext uri="{FF2B5EF4-FFF2-40B4-BE49-F238E27FC236}">
                <a16:creationId xmlns:a16="http://schemas.microsoft.com/office/drawing/2014/main" id="{C8AB672F-B7EB-4DBE-9F0E-330391471A77}"/>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09   FUTURE:M RADAR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e0c822d55634ef3"/>
          <a:stretch xmlns:a="http://schemas.openxmlformats.org/drawingml/2006/main"/>
        </p:blipFill>
        <p:spPr>
          <a:xfrm xmlns:a="http://schemas.openxmlformats.org/drawingml/2006/main">
            <a:off x="1016219" y="1504950"/>
            <a:ext cx="10159562"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FB6E9F1-9ECB-4430-BFEA-8867A70B5AD3}"/>
              </a:ext>
            </a:extLst>
          </p:cNvPr>
          <p:cNvSpPr>
            <a:spLocks xmlns:a="http://schemas.openxmlformats.org/drawingml/2006/main" noGrp="1"/>
          </p:cNvSpPr>
          <p:nvPr/>
        </p:nvSpPr>
        <p:spPr>
          <a:xfrm xmlns:a="http://schemas.openxmlformats.org/drawingml/2006/main">
            <a:off x="609600"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재무제표</a:t>
            </a:r>
          </a:p>
        </p:txBody>
      </p:sp>
      <p:sp>
        <p:nvSpPr>
          <p:cNvPr id="6" name="">
            <a:extLst xmlns:a="http://schemas.openxmlformats.org/drawingml/2006/main">
              <a:ext uri="{FF2B5EF4-FFF2-40B4-BE49-F238E27FC236}">
                <a16:creationId xmlns:a16="http://schemas.microsoft.com/office/drawing/2014/main" id="{4489108D-6DAC-4319-86EF-8B365D0B1419}"/>
              </a:ext>
            </a:extLst>
          </p:cNvPr>
          <p:cNvSpPr>
            <a:spLocks xmlns:a="http://schemas.openxmlformats.org/drawingml/2006/main" noGrp="1"/>
          </p:cNvSpPr>
          <p:nvPr/>
        </p:nvSpPr>
        <p:spPr>
          <a:xfrm xmlns:a="http://schemas.openxmlformats.org/drawingml/2006/main">
            <a:off x="1809750" y="57150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연결·별도 / 연간·분기</a:t>
            </a:r>
          </a:p>
        </p:txBody>
      </p:sp>
      <p:sp>
        <p:nvSpPr>
          <p:cNvPr id="7" name="">
            <a:extLst xmlns:a="http://schemas.openxmlformats.org/drawingml/2006/main">
              <a:ext uri="{FF2B5EF4-FFF2-40B4-BE49-F238E27FC236}">
                <a16:creationId xmlns:a16="http://schemas.microsoft.com/office/drawing/2014/main" id="{7B8EB5BF-EEFA-49CE-83D0-8F29C8A4228C}"/>
              </a:ext>
            </a:extLst>
          </p:cNvPr>
          <p:cNvSpPr>
            <a:spLocks xmlns:a="http://schemas.openxmlformats.org/drawingml/2006/main" noGrp="1"/>
          </p:cNvSpPr>
          <p:nvPr/>
        </p:nvSpPr>
        <p:spPr>
          <a:xfrm xmlns:a="http://schemas.openxmlformats.org/drawingml/2006/main">
            <a:off x="5095875"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수익성</a:t>
            </a:r>
          </a:p>
        </p:txBody>
      </p:sp>
      <p:sp>
        <p:nvSpPr>
          <p:cNvPr id="8" name="">
            <a:extLst xmlns:a="http://schemas.openxmlformats.org/drawingml/2006/main">
              <a:ext uri="{FF2B5EF4-FFF2-40B4-BE49-F238E27FC236}">
                <a16:creationId xmlns:a16="http://schemas.microsoft.com/office/drawing/2014/main" id="{83ED30B2-88EF-4E5D-8DFA-CC87257B69D0}"/>
              </a:ext>
            </a:extLst>
          </p:cNvPr>
          <p:cNvSpPr>
            <a:spLocks xmlns:a="http://schemas.openxmlformats.org/drawingml/2006/main" noGrp="1"/>
          </p:cNvSpPr>
          <p:nvPr/>
        </p:nvSpPr>
        <p:spPr>
          <a:xfrm xmlns:a="http://schemas.openxmlformats.org/drawingml/2006/main">
            <a:off x="6143625" y="5715000"/>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이익률 / ROE / ROA</a:t>
            </a:r>
          </a:p>
        </p:txBody>
      </p:sp>
      <p:sp>
        <p:nvSpPr>
          <p:cNvPr id="9" name="">
            <a:extLst xmlns:a="http://schemas.openxmlformats.org/drawingml/2006/main">
              <a:ext uri="{FF2B5EF4-FFF2-40B4-BE49-F238E27FC236}">
                <a16:creationId xmlns:a16="http://schemas.microsoft.com/office/drawing/2014/main" id="{F09A8749-EC2C-420D-8259-6457423DF27D}"/>
              </a:ext>
            </a:extLst>
          </p:cNvPr>
          <p:cNvSpPr>
            <a:spLocks xmlns:a="http://schemas.openxmlformats.org/drawingml/2006/main" noGrp="1"/>
          </p:cNvSpPr>
          <p:nvPr/>
        </p:nvSpPr>
        <p:spPr>
          <a:xfrm xmlns:a="http://schemas.openxmlformats.org/drawingml/2006/main">
            <a:off x="8858250" y="5715000"/>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8B8AA"/>
                </a:solidFill>
                <a:latin typeface="Malgun Gothic"/>
                <a:ea typeface="Malgun Gothic"/>
                <a:cs typeface="Malgun Gothic"/>
              </a:defRPr>
            </a:pPr>
            <a:r>
              <a:rPr sz="1275" b="1">
                <a:solidFill>
                  <a:srgbClr val="18B8AA"/>
                </a:solidFill>
                <a:latin typeface="Malgun Gothic"/>
                <a:ea typeface="Malgun Gothic"/>
                <a:cs typeface="Malgun Gothic"/>
              </a:rPr>
              <a:t>시장 반응</a:t>
            </a:r>
          </a:p>
        </p:txBody>
      </p:sp>
      <p:sp>
        <p:nvSpPr>
          <p:cNvPr id="10" name="">
            <a:extLst xmlns:a="http://schemas.openxmlformats.org/drawingml/2006/main">
              <a:ext uri="{FF2B5EF4-FFF2-40B4-BE49-F238E27FC236}">
                <a16:creationId xmlns:a16="http://schemas.microsoft.com/office/drawing/2014/main" id="{3DBFFFE3-7AA8-416B-99F1-04A2C617721F}"/>
              </a:ext>
            </a:extLst>
          </p:cNvPr>
          <p:cNvSpPr>
            <a:spLocks xmlns:a="http://schemas.openxmlformats.org/drawingml/2006/main" noGrp="1"/>
          </p:cNvSpPr>
          <p:nvPr/>
        </p:nvSpPr>
        <p:spPr>
          <a:xfrm xmlns:a="http://schemas.openxmlformats.org/drawingml/2006/main">
            <a:off x="9953625" y="5715000"/>
            <a:ext cx="1628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12B46"/>
                </a:solidFill>
                <a:latin typeface="Malgun Gothic"/>
                <a:ea typeface="Malgun Gothic"/>
                <a:cs typeface="Malgun Gothic"/>
              </a:defRPr>
            </a:pPr>
            <a:r>
              <a:rPr sz="1275" b="1">
                <a:solidFill>
                  <a:srgbClr val="112B46"/>
                </a:solidFill>
                <a:latin typeface="Malgun Gothic"/>
                <a:ea typeface="Malgun Gothic"/>
                <a:cs typeface="Malgun Gothic"/>
              </a:rPr>
              <a:t>상대수익률</a:t>
            </a:r>
          </a:p>
        </p:txBody>
      </p:sp>
    </p:spTree>
    <p:extLst>
      <p:ext uri="{BB962C8B-B14F-4D97-AF65-F5344CB8AC3E}">
        <p14:creationId xmlns:p14="http://schemas.microsoft.com/office/powerpoint/2010/main" val="1300519948"/>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1BFE3F-BEFA-4CD7-99AF-A238A7E84D12}"/>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09 PEER PERFORMANCE</a:t>
            </a:r>
          </a:p>
        </p:txBody>
      </p:sp>
      <p:sp>
        <p:nvSpPr>
          <p:cNvPr id="2" name="">
            <a:extLst xmlns:a="http://schemas.openxmlformats.org/drawingml/2006/main">
              <a:ext uri="{FF2B5EF4-FFF2-40B4-BE49-F238E27FC236}">
                <a16:creationId xmlns:a16="http://schemas.microsoft.com/office/drawing/2014/main" id="{B6042F47-A70B-4032-913D-793802CD094B}"/>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비교 시작점을 통일해 경쟁사 주가 흐름을 읽습니다</a:t>
            </a:r>
          </a:p>
        </p:txBody>
      </p:sp>
      <p:sp>
        <p:nvSpPr>
          <p:cNvPr id="3" name="">
            <a:extLst xmlns:a="http://schemas.openxmlformats.org/drawingml/2006/main">
              <a:ext uri="{FF2B5EF4-FFF2-40B4-BE49-F238E27FC236}">
                <a16:creationId xmlns:a16="http://schemas.microsoft.com/office/drawing/2014/main" id="{F8C252BC-5B87-4E1E-A2F2-E1D4C1946EEE}"/>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10   FUTURE:M RADAR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5daa3f9f83a45ce"/>
          <a:stretch xmlns:a="http://schemas.openxmlformats.org/drawingml/2006/main"/>
        </p:blipFill>
        <p:spPr>
          <a:xfrm xmlns:a="http://schemas.openxmlformats.org/drawingml/2006/main">
            <a:off x="609600" y="2029384"/>
            <a:ext cx="10972800" cy="308498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0836C2-A698-4DC4-8184-D4E39E0621D6}"/>
              </a:ext>
            </a:extLst>
          </p:cNvPr>
          <p:cNvSpPr>
            <a:spLocks xmlns:a="http://schemas.openxmlformats.org/drawingml/2006/main" noGrp="1"/>
          </p:cNvSpPr>
          <p:nvPr/>
        </p:nvSpPr>
        <p:spPr>
          <a:xfrm xmlns:a="http://schemas.openxmlformats.org/drawingml/2006/main">
            <a:off x="609600"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동일 기준점 100</a:t>
            </a:r>
          </a:p>
        </p:txBody>
      </p:sp>
      <p:sp>
        <p:nvSpPr>
          <p:cNvPr id="6" name="">
            <a:extLst xmlns:a="http://schemas.openxmlformats.org/drawingml/2006/main">
              <a:ext uri="{FF2B5EF4-FFF2-40B4-BE49-F238E27FC236}">
                <a16:creationId xmlns:a16="http://schemas.microsoft.com/office/drawing/2014/main" id="{BB9272DE-C775-44CE-AF8C-E41DC902C8B2}"/>
              </a:ext>
            </a:extLst>
          </p:cNvPr>
          <p:cNvSpPr>
            <a:spLocks xmlns:a="http://schemas.openxmlformats.org/drawingml/2006/main" noGrp="1"/>
          </p:cNvSpPr>
          <p:nvPr/>
        </p:nvSpPr>
        <p:spPr>
          <a:xfrm xmlns:a="http://schemas.openxmlformats.org/drawingml/2006/main">
            <a:off x="3667125"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기간 프리셋과 직접 시작일</a:t>
            </a:r>
          </a:p>
        </p:txBody>
      </p:sp>
      <p:sp>
        <p:nvSpPr>
          <p:cNvPr id="7" name="">
            <a:extLst xmlns:a="http://schemas.openxmlformats.org/drawingml/2006/main">
              <a:ext uri="{FF2B5EF4-FFF2-40B4-BE49-F238E27FC236}">
                <a16:creationId xmlns:a16="http://schemas.microsoft.com/office/drawing/2014/main" id="{CCDED1DF-2EDC-42E6-828E-11CF66EAE4D9}"/>
              </a:ext>
            </a:extLst>
          </p:cNvPr>
          <p:cNvSpPr>
            <a:spLocks xmlns:a="http://schemas.openxmlformats.org/drawingml/2006/main" noGrp="1"/>
          </p:cNvSpPr>
          <p:nvPr/>
        </p:nvSpPr>
        <p:spPr>
          <a:xfrm xmlns:a="http://schemas.openxmlformats.org/drawingml/2006/main">
            <a:off x="8001000" y="5829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18B8AA"/>
                </a:solidFill>
                <a:latin typeface="Malgun Gothic"/>
                <a:ea typeface="Malgun Gothic"/>
                <a:cs typeface="Malgun Gothic"/>
              </a:defRPr>
            </a:pPr>
            <a:r>
              <a:rPr sz="1350" b="1">
                <a:solidFill>
                  <a:srgbClr val="18B8AA"/>
                </a:solidFill>
                <a:latin typeface="Malgun Gothic"/>
                <a:ea typeface="Malgun Gothic"/>
                <a:cs typeface="Malgun Gothic"/>
              </a:rPr>
              <a:t>경쟁사 선택 비교</a:t>
            </a:r>
          </a:p>
        </p:txBody>
      </p:sp>
    </p:spTree>
    <p:extLst>
      <p:ext uri="{BB962C8B-B14F-4D97-AF65-F5344CB8AC3E}">
        <p14:creationId xmlns:p14="http://schemas.microsoft.com/office/powerpoint/2010/main" val="76448534"/>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1B3DE54-7551-47B0-AB23-FCA0D24C5B26}"/>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10 RAW MATERIALS</a:t>
            </a:r>
          </a:p>
        </p:txBody>
      </p:sp>
      <p:sp>
        <p:nvSpPr>
          <p:cNvPr id="2" name="">
            <a:extLst xmlns:a="http://schemas.openxmlformats.org/drawingml/2006/main">
              <a:ext uri="{FF2B5EF4-FFF2-40B4-BE49-F238E27FC236}">
                <a16:creationId xmlns:a16="http://schemas.microsoft.com/office/drawing/2014/main" id="{BC4FE207-99C2-4DA1-BA99-9B22B0FB9AA5}"/>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핵심 원자재 가격을 사업 검토의 선행 신호로 활용합니다</a:t>
            </a:r>
          </a:p>
        </p:txBody>
      </p:sp>
      <p:sp>
        <p:nvSpPr>
          <p:cNvPr id="3" name="">
            <a:extLst xmlns:a="http://schemas.openxmlformats.org/drawingml/2006/main">
              <a:ext uri="{FF2B5EF4-FFF2-40B4-BE49-F238E27FC236}">
                <a16:creationId xmlns:a16="http://schemas.microsoft.com/office/drawing/2014/main" id="{3730673C-B34C-4AFB-9EFF-978E9C3595E3}"/>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11   FUTURE:M RADAR</a:t>
            </a:r>
          </a:p>
        </p:txBody>
      </p:sp>
      <p:sp>
        <p:nvSpPr>
          <p:cNvPr id="4" name="">
            <a:extLst xmlns:a="http://schemas.openxmlformats.org/drawingml/2006/main">
              <a:ext uri="{FF2B5EF4-FFF2-40B4-BE49-F238E27FC236}">
                <a16:creationId xmlns:a16="http://schemas.microsoft.com/office/drawing/2014/main" id="{70E4623D-D76D-49A6-8CCE-244801632908}"/>
              </a:ext>
            </a:extLst>
          </p:cNvPr>
          <p:cNvSpPr>
            <a:spLocks xmlns:a="http://schemas.openxmlformats.org/drawingml/2006/main" noGrp="1"/>
          </p:cNvSpPr>
          <p:nvPr/>
        </p:nvSpPr>
        <p:spPr>
          <a:xfrm xmlns:a="http://schemas.openxmlformats.org/drawingml/2006/main">
            <a:off x="6096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8B8AA"/>
                </a:solidFill>
                <a:latin typeface="Malgun Gothic"/>
                <a:ea typeface="Malgun Gothic"/>
                <a:cs typeface="Malgun Gothic"/>
              </a:defRPr>
            </a:pPr>
            <a:r>
              <a:rPr sz="4050" b="1">
                <a:solidFill>
                  <a:srgbClr val="18B8AA"/>
                </a:solidFill>
                <a:latin typeface="Malgun Gothic"/>
                <a:ea typeface="Malgun Gothic"/>
                <a:cs typeface="Malgun Gothic"/>
              </a:rPr>
              <a:t>Li</a:t>
            </a:r>
          </a:p>
        </p:txBody>
      </p:sp>
      <p:sp>
        <p:nvSpPr>
          <p:cNvPr id="5" name="">
            <a:extLst xmlns:a="http://schemas.openxmlformats.org/drawingml/2006/main">
              <a:ext uri="{FF2B5EF4-FFF2-40B4-BE49-F238E27FC236}">
                <a16:creationId xmlns:a16="http://schemas.microsoft.com/office/drawing/2014/main" id="{2B13C6BB-9712-4399-A2E6-35C41B64212B}"/>
              </a:ext>
            </a:extLst>
          </p:cNvPr>
          <p:cNvSpPr>
            <a:spLocks xmlns:a="http://schemas.openxmlformats.org/drawingml/2006/main" noGrp="1"/>
          </p:cNvSpPr>
          <p:nvPr/>
        </p:nvSpPr>
        <p:spPr>
          <a:xfrm xmlns:a="http://schemas.openxmlformats.org/drawingml/2006/main">
            <a:off x="6096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리튬</a:t>
            </a:r>
          </a:p>
        </p:txBody>
      </p:sp>
      <p:sp>
        <p:nvSpPr>
          <p:cNvPr id="6" name="">
            <a:extLst xmlns:a="http://schemas.openxmlformats.org/drawingml/2006/main">
              <a:ext uri="{FF2B5EF4-FFF2-40B4-BE49-F238E27FC236}">
                <a16:creationId xmlns:a16="http://schemas.microsoft.com/office/drawing/2014/main" id="{8DC32C2B-6794-44BB-B83A-1E02C60862B2}"/>
              </a:ext>
            </a:extLst>
          </p:cNvPr>
          <p:cNvSpPr>
            <a:spLocks xmlns:a="http://schemas.openxmlformats.org/drawingml/2006/main" noGrp="1"/>
          </p:cNvSpPr>
          <p:nvPr/>
        </p:nvSpPr>
        <p:spPr>
          <a:xfrm xmlns:a="http://schemas.openxmlformats.org/drawingml/2006/main">
            <a:off x="6096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양극재 원가 변동</a:t>
            </a:r>
          </a:p>
        </p:txBody>
      </p:sp>
      <p:sp>
        <p:nvSpPr>
          <p:cNvPr id="7" name="">
            <a:extLst xmlns:a="http://schemas.openxmlformats.org/drawingml/2006/main">
              <a:ext uri="{FF2B5EF4-FFF2-40B4-BE49-F238E27FC236}">
                <a16:creationId xmlns:a16="http://schemas.microsoft.com/office/drawing/2014/main" id="{4ED00DBF-5784-4F16-A95F-767915BDA245}"/>
              </a:ext>
            </a:extLst>
          </p:cNvPr>
          <p:cNvSpPr>
            <a:spLocks xmlns:a="http://schemas.openxmlformats.org/drawingml/2006/main" noGrp="1"/>
          </p:cNvSpPr>
          <p:nvPr/>
        </p:nvSpPr>
        <p:spPr>
          <a:xfrm xmlns:a="http://schemas.openxmlformats.org/drawingml/2006/main">
            <a:off x="33528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B70E4"/>
                </a:solidFill>
                <a:latin typeface="Malgun Gothic"/>
                <a:ea typeface="Malgun Gothic"/>
                <a:cs typeface="Malgun Gothic"/>
              </a:defRPr>
            </a:pPr>
            <a:r>
              <a:rPr sz="4050" b="1">
                <a:solidFill>
                  <a:srgbClr val="2B70E4"/>
                </a:solidFill>
                <a:latin typeface="Malgun Gothic"/>
                <a:ea typeface="Malgun Gothic"/>
                <a:cs typeface="Malgun Gothic"/>
              </a:rPr>
              <a:t>Ni</a:t>
            </a:r>
          </a:p>
        </p:txBody>
      </p:sp>
      <p:sp>
        <p:nvSpPr>
          <p:cNvPr id="8" name="">
            <a:extLst xmlns:a="http://schemas.openxmlformats.org/drawingml/2006/main">
              <a:ext uri="{FF2B5EF4-FFF2-40B4-BE49-F238E27FC236}">
                <a16:creationId xmlns:a16="http://schemas.microsoft.com/office/drawing/2014/main" id="{2A10E793-BBD8-4A56-92A9-D969E15A22DA}"/>
              </a:ext>
            </a:extLst>
          </p:cNvPr>
          <p:cNvSpPr>
            <a:spLocks xmlns:a="http://schemas.openxmlformats.org/drawingml/2006/main" noGrp="1"/>
          </p:cNvSpPr>
          <p:nvPr/>
        </p:nvSpPr>
        <p:spPr>
          <a:xfrm xmlns:a="http://schemas.openxmlformats.org/drawingml/2006/main">
            <a:off x="33528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니켈</a:t>
            </a:r>
          </a:p>
        </p:txBody>
      </p:sp>
      <p:sp>
        <p:nvSpPr>
          <p:cNvPr id="9" name="">
            <a:extLst xmlns:a="http://schemas.openxmlformats.org/drawingml/2006/main">
              <a:ext uri="{FF2B5EF4-FFF2-40B4-BE49-F238E27FC236}">
                <a16:creationId xmlns:a16="http://schemas.microsoft.com/office/drawing/2014/main" id="{58C5F942-DC70-4004-BCE7-335B2E44D95C}"/>
              </a:ext>
            </a:extLst>
          </p:cNvPr>
          <p:cNvSpPr>
            <a:spLocks xmlns:a="http://schemas.openxmlformats.org/drawingml/2006/main" noGrp="1"/>
          </p:cNvSpPr>
          <p:nvPr/>
        </p:nvSpPr>
        <p:spPr>
          <a:xfrm xmlns:a="http://schemas.openxmlformats.org/drawingml/2006/main">
            <a:off x="33528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고니켈 제품 영향</a:t>
            </a:r>
          </a:p>
        </p:txBody>
      </p:sp>
      <p:sp>
        <p:nvSpPr>
          <p:cNvPr id="10" name="">
            <a:extLst xmlns:a="http://schemas.openxmlformats.org/drawingml/2006/main">
              <a:ext uri="{FF2B5EF4-FFF2-40B4-BE49-F238E27FC236}">
                <a16:creationId xmlns:a16="http://schemas.microsoft.com/office/drawing/2014/main" id="{A49F6C2A-C09A-422B-99FB-85074EB0C982}"/>
              </a:ext>
            </a:extLst>
          </p:cNvPr>
          <p:cNvSpPr>
            <a:spLocks xmlns:a="http://schemas.openxmlformats.org/drawingml/2006/main" noGrp="1"/>
          </p:cNvSpPr>
          <p:nvPr/>
        </p:nvSpPr>
        <p:spPr>
          <a:xfrm xmlns:a="http://schemas.openxmlformats.org/drawingml/2006/main">
            <a:off x="60960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18B8AA"/>
                </a:solidFill>
                <a:latin typeface="Malgun Gothic"/>
                <a:ea typeface="Malgun Gothic"/>
                <a:cs typeface="Malgun Gothic"/>
              </a:defRPr>
            </a:pPr>
            <a:r>
              <a:rPr sz="4050" b="1">
                <a:solidFill>
                  <a:srgbClr val="18B8AA"/>
                </a:solidFill>
                <a:latin typeface="Malgun Gothic"/>
                <a:ea typeface="Malgun Gothic"/>
                <a:cs typeface="Malgun Gothic"/>
              </a:rPr>
              <a:t>Co</a:t>
            </a:r>
          </a:p>
        </p:txBody>
      </p:sp>
      <p:sp>
        <p:nvSpPr>
          <p:cNvPr id="11" name="">
            <a:extLst xmlns:a="http://schemas.openxmlformats.org/drawingml/2006/main">
              <a:ext uri="{FF2B5EF4-FFF2-40B4-BE49-F238E27FC236}">
                <a16:creationId xmlns:a16="http://schemas.microsoft.com/office/drawing/2014/main" id="{8259422F-BB74-4667-BD6D-72DA35C577A1}"/>
              </a:ext>
            </a:extLst>
          </p:cNvPr>
          <p:cNvSpPr>
            <a:spLocks xmlns:a="http://schemas.openxmlformats.org/drawingml/2006/main" noGrp="1"/>
          </p:cNvSpPr>
          <p:nvPr/>
        </p:nvSpPr>
        <p:spPr>
          <a:xfrm xmlns:a="http://schemas.openxmlformats.org/drawingml/2006/main">
            <a:off x="60960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코발트</a:t>
            </a:r>
          </a:p>
        </p:txBody>
      </p:sp>
      <p:sp>
        <p:nvSpPr>
          <p:cNvPr id="12" name="">
            <a:extLst xmlns:a="http://schemas.openxmlformats.org/drawingml/2006/main">
              <a:ext uri="{FF2B5EF4-FFF2-40B4-BE49-F238E27FC236}">
                <a16:creationId xmlns:a16="http://schemas.microsoft.com/office/drawing/2014/main" id="{3AF07A3F-D15C-4B29-AFB7-409B503F103B}"/>
              </a:ext>
            </a:extLst>
          </p:cNvPr>
          <p:cNvSpPr>
            <a:spLocks xmlns:a="http://schemas.openxmlformats.org/drawingml/2006/main" noGrp="1"/>
          </p:cNvSpPr>
          <p:nvPr/>
        </p:nvSpPr>
        <p:spPr>
          <a:xfrm xmlns:a="http://schemas.openxmlformats.org/drawingml/2006/main">
            <a:off x="60960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조달 비용·리스크</a:t>
            </a:r>
          </a:p>
        </p:txBody>
      </p:sp>
      <p:sp>
        <p:nvSpPr>
          <p:cNvPr id="13" name="">
            <a:extLst xmlns:a="http://schemas.openxmlformats.org/drawingml/2006/main">
              <a:ext uri="{FF2B5EF4-FFF2-40B4-BE49-F238E27FC236}">
                <a16:creationId xmlns:a16="http://schemas.microsoft.com/office/drawing/2014/main" id="{4DA50168-3211-48AB-B98A-FDEAA2BE7903}"/>
              </a:ext>
            </a:extLst>
          </p:cNvPr>
          <p:cNvSpPr>
            <a:spLocks xmlns:a="http://schemas.openxmlformats.org/drawingml/2006/main" noGrp="1"/>
          </p:cNvSpPr>
          <p:nvPr/>
        </p:nvSpPr>
        <p:spPr>
          <a:xfrm xmlns:a="http://schemas.openxmlformats.org/drawingml/2006/main">
            <a:off x="8839200" y="176212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B70E4"/>
                </a:solidFill>
                <a:latin typeface="Malgun Gothic"/>
                <a:ea typeface="Malgun Gothic"/>
                <a:cs typeface="Malgun Gothic"/>
              </a:defRPr>
            </a:pPr>
            <a:r>
              <a:rPr sz="4050" b="1">
                <a:solidFill>
                  <a:srgbClr val="2B70E4"/>
                </a:solidFill>
                <a:latin typeface="Malgun Gothic"/>
                <a:ea typeface="Malgun Gothic"/>
                <a:cs typeface="Malgun Gothic"/>
              </a:rPr>
              <a:t>Mn</a:t>
            </a:r>
          </a:p>
        </p:txBody>
      </p:sp>
      <p:sp>
        <p:nvSpPr>
          <p:cNvPr id="14" name="">
            <a:extLst xmlns:a="http://schemas.openxmlformats.org/drawingml/2006/main">
              <a:ext uri="{FF2B5EF4-FFF2-40B4-BE49-F238E27FC236}">
                <a16:creationId xmlns:a16="http://schemas.microsoft.com/office/drawing/2014/main" id="{2C2B55E7-CB54-4CB7-B690-93528A8C5483}"/>
              </a:ext>
            </a:extLst>
          </p:cNvPr>
          <p:cNvSpPr>
            <a:spLocks xmlns:a="http://schemas.openxmlformats.org/drawingml/2006/main" noGrp="1"/>
          </p:cNvSpPr>
          <p:nvPr/>
        </p:nvSpPr>
        <p:spPr>
          <a:xfrm xmlns:a="http://schemas.openxmlformats.org/drawingml/2006/main">
            <a:off x="8839200" y="2667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12B46"/>
                </a:solidFill>
                <a:latin typeface="Malgun Gothic"/>
                <a:ea typeface="Malgun Gothic"/>
                <a:cs typeface="Malgun Gothic"/>
              </a:defRPr>
            </a:pPr>
            <a:r>
              <a:rPr sz="2025" b="1">
                <a:solidFill>
                  <a:srgbClr val="112B46"/>
                </a:solidFill>
                <a:latin typeface="Malgun Gothic"/>
                <a:ea typeface="Malgun Gothic"/>
                <a:cs typeface="Malgun Gothic"/>
              </a:rPr>
              <a:t>망간</a:t>
            </a:r>
          </a:p>
        </p:txBody>
      </p:sp>
      <p:sp>
        <p:nvSpPr>
          <p:cNvPr id="15" name="">
            <a:extLst xmlns:a="http://schemas.openxmlformats.org/drawingml/2006/main">
              <a:ext uri="{FF2B5EF4-FFF2-40B4-BE49-F238E27FC236}">
                <a16:creationId xmlns:a16="http://schemas.microsoft.com/office/drawing/2014/main" id="{5CAF4E2D-F7C1-4472-87C1-98EB54C456C0}"/>
              </a:ext>
            </a:extLst>
          </p:cNvPr>
          <p:cNvSpPr>
            <a:spLocks xmlns:a="http://schemas.openxmlformats.org/drawingml/2006/main" noGrp="1"/>
          </p:cNvSpPr>
          <p:nvPr/>
        </p:nvSpPr>
        <p:spPr>
          <a:xfrm xmlns:a="http://schemas.openxmlformats.org/drawingml/2006/main">
            <a:off x="8839200" y="32385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97D90"/>
                </a:solidFill>
                <a:latin typeface="Malgun Gothic"/>
                <a:ea typeface="Malgun Gothic"/>
                <a:cs typeface="Malgun Gothic"/>
              </a:defRPr>
            </a:pPr>
            <a:r>
              <a:rPr sz="1500" b="0">
                <a:solidFill>
                  <a:srgbClr val="697D90"/>
                </a:solidFill>
                <a:latin typeface="Malgun Gothic"/>
                <a:ea typeface="Malgun Gothic"/>
                <a:cs typeface="Malgun Gothic"/>
              </a:rPr>
              <a:t>제품 믹스 변화</a:t>
            </a:r>
          </a:p>
        </p:txBody>
      </p:sp>
      <p:sp>
        <p:nvSpPr>
          <p:cNvPr id="16" name="">
            <a:extLst xmlns:a="http://schemas.openxmlformats.org/drawingml/2006/main">
              <a:ext uri="{FF2B5EF4-FFF2-40B4-BE49-F238E27FC236}">
                <a16:creationId xmlns:a16="http://schemas.microsoft.com/office/drawing/2014/main" id="{25A00C1B-2F5B-4D82-899E-C9B961C7F2D3}"/>
              </a:ext>
            </a:extLst>
          </p:cNvPr>
          <p:cNvSpPr>
            <a:spLocks xmlns:a="http://schemas.openxmlformats.org/drawingml/2006/main" noGrp="1"/>
          </p:cNvSpPr>
          <p:nvPr/>
        </p:nvSpPr>
        <p:spPr>
          <a:xfrm xmlns:a="http://schemas.openxmlformats.org/drawingml/2006/main">
            <a:off x="609600" y="4457700"/>
            <a:ext cx="10972800" cy="97155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가격 변화 감지   →   판가 조정 시점·재고 영향 검토   →   구매·영업 부서 확인</a:t>
            </a:r>
          </a:p>
        </p:txBody>
      </p:sp>
      <p:sp>
        <p:nvSpPr>
          <p:cNvPr id="17" name="">
            <a:extLst xmlns:a="http://schemas.openxmlformats.org/drawingml/2006/main">
              <a:ext uri="{FF2B5EF4-FFF2-40B4-BE49-F238E27FC236}">
                <a16:creationId xmlns:a16="http://schemas.microsoft.com/office/drawing/2014/main" id="{DB8B01BC-20E8-4092-B959-A310EE846E4E}"/>
              </a:ext>
            </a:extLst>
          </p:cNvPr>
          <p:cNvSpPr>
            <a:spLocks xmlns:a="http://schemas.openxmlformats.org/drawingml/2006/main" noGrp="1"/>
          </p:cNvSpPr>
          <p:nvPr/>
        </p:nvSpPr>
        <p:spPr>
          <a:xfrm xmlns:a="http://schemas.openxmlformats.org/drawingml/2006/main">
            <a:off x="609600" y="5762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97D90"/>
                </a:solidFill>
                <a:latin typeface="Malgun Gothic"/>
                <a:ea typeface="Malgun Gothic"/>
                <a:cs typeface="Malgun Gothic"/>
              </a:defRPr>
            </a:pPr>
            <a:r>
              <a:rPr sz="1350" b="0">
                <a:solidFill>
                  <a:srgbClr val="697D90"/>
                </a:solidFill>
                <a:latin typeface="Malgun Gothic"/>
                <a:ea typeface="Malgun Gothic"/>
                <a:cs typeface="Malgun Gothic"/>
              </a:rPr>
              <a:t>현재: KOMIS 공개 시세 수집     다음 단계: 내부 구매·판매 데이터와 결합한 스프레드 분석</a:t>
            </a:r>
          </a:p>
        </p:txBody>
      </p:sp>
    </p:spTree>
    <p:extLst>
      <p:ext uri="{BB962C8B-B14F-4D97-AF65-F5344CB8AC3E}">
        <p14:creationId xmlns:p14="http://schemas.microsoft.com/office/powerpoint/2010/main" val="164220577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6236CA9-A04D-4B42-86BC-85AE7306C1BA}"/>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8B8AA"/>
                </a:solidFill>
                <a:latin typeface="Malgun Gothic"/>
                <a:ea typeface="Malgun Gothic"/>
                <a:cs typeface="Malgun Gothic"/>
              </a:defRPr>
            </a:pPr>
            <a:r>
              <a:rPr sz="1050" b="1">
                <a:solidFill>
                  <a:srgbClr val="18B8AA"/>
                </a:solidFill>
                <a:latin typeface="Malgun Gothic"/>
                <a:ea typeface="Malgun Gothic"/>
                <a:cs typeface="Malgun Gothic"/>
              </a:rPr>
              <a:t>11 BUILD &amp; LEARN</a:t>
            </a:r>
          </a:p>
        </p:txBody>
      </p:sp>
      <p:sp>
        <p:nvSpPr>
          <p:cNvPr id="2" name="">
            <a:extLst xmlns:a="http://schemas.openxmlformats.org/drawingml/2006/main">
              <a:ext uri="{FF2B5EF4-FFF2-40B4-BE49-F238E27FC236}">
                <a16:creationId xmlns:a16="http://schemas.microsoft.com/office/drawing/2014/main" id="{10EFC907-F45D-457F-85F3-B146A64EC61B}"/>
              </a:ext>
            </a:extLst>
          </p:cNvPr>
          <p:cNvSpPr>
            <a:spLocks xmlns:a="http://schemas.openxmlformats.org/drawingml/2006/main" noGrp="1"/>
          </p:cNvSpPr>
          <p:nvPr/>
        </p:nvSpPr>
        <p:spPr>
          <a:xfrm xmlns:a="http://schemas.openxmlformats.org/drawingml/2006/main">
            <a:off x="609600" y="7239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112B46"/>
                </a:solidFill>
                <a:latin typeface="Malgun Gothic"/>
                <a:ea typeface="Malgun Gothic"/>
                <a:cs typeface="Malgun Gothic"/>
              </a:defRPr>
            </a:pPr>
            <a:r>
              <a:rPr sz="3000" b="1">
                <a:solidFill>
                  <a:srgbClr val="112B46"/>
                </a:solidFill>
                <a:latin typeface="Malgun Gothic"/>
                <a:ea typeface="Malgun Gothic"/>
                <a:cs typeface="Malgun Gothic"/>
              </a:rPr>
              <a:t>사용자 피드백을 기능과 판단 기준에 바로 반영했습니다</a:t>
            </a:r>
          </a:p>
        </p:txBody>
      </p:sp>
      <p:sp>
        <p:nvSpPr>
          <p:cNvPr id="3" name="">
            <a:extLst xmlns:a="http://schemas.openxmlformats.org/drawingml/2006/main">
              <a:ext uri="{FF2B5EF4-FFF2-40B4-BE49-F238E27FC236}">
                <a16:creationId xmlns:a16="http://schemas.microsoft.com/office/drawing/2014/main" id="{E81D2516-C527-4F0E-8002-A967FDA498F3}"/>
              </a:ext>
            </a:extLst>
          </p:cNvPr>
          <p:cNvSpPr>
            <a:spLocks xmlns:a="http://schemas.openxmlformats.org/drawingml/2006/main" noGrp="1"/>
          </p:cNvSpPr>
          <p:nvPr/>
        </p:nvSpPr>
        <p:spPr>
          <a:xfrm xmlns:a="http://schemas.openxmlformats.org/drawingml/2006/main">
            <a:off x="9620250" y="641985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0">
                <a:solidFill>
                  <a:srgbClr val="697D90"/>
                </a:solidFill>
                <a:latin typeface="Malgun Gothic"/>
                <a:ea typeface="Malgun Gothic"/>
                <a:cs typeface="Malgun Gothic"/>
              </a:defRPr>
            </a:pPr>
            <a:r>
              <a:rPr sz="900" b="0">
                <a:solidFill>
                  <a:srgbClr val="697D90"/>
                </a:solidFill>
                <a:latin typeface="Malgun Gothic"/>
                <a:ea typeface="Malgun Gothic"/>
                <a:cs typeface="Malgun Gothic"/>
              </a:rPr>
              <a:t>12   FUTURE:M RADAR</a:t>
            </a:r>
          </a:p>
        </p:txBody>
      </p:sp>
      <p:sp>
        <p:nvSpPr>
          <p:cNvPr id="4" name="">
            <a:extLst xmlns:a="http://schemas.openxmlformats.org/drawingml/2006/main">
              <a:ext uri="{FF2B5EF4-FFF2-40B4-BE49-F238E27FC236}">
                <a16:creationId xmlns:a16="http://schemas.microsoft.com/office/drawing/2014/main" id="{69A6F05B-CE6C-4E28-93C1-8A042AC2659B}"/>
              </a:ext>
            </a:extLst>
          </p:cNvPr>
          <p:cNvSpPr>
            <a:spLocks xmlns:a="http://schemas.openxmlformats.org/drawingml/2006/main" noGrp="1"/>
          </p:cNvSpPr>
          <p:nvPr/>
        </p:nvSpPr>
        <p:spPr>
          <a:xfrm xmlns:a="http://schemas.openxmlformats.org/drawingml/2006/main">
            <a:off x="609600" y="16954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C4E9F368-E7CE-4A2F-B15C-6D84938CFA2C}"/>
              </a:ext>
            </a:extLst>
          </p:cNvPr>
          <p:cNvSpPr>
            <a:spLocks xmlns:a="http://schemas.openxmlformats.org/drawingml/2006/main" noGrp="1"/>
          </p:cNvSpPr>
          <p:nvPr/>
        </p:nvSpPr>
        <p:spPr>
          <a:xfrm xmlns:a="http://schemas.openxmlformats.org/drawingml/2006/main">
            <a:off x="1428750" y="1695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반복 뉴스</a:t>
            </a:r>
          </a:p>
        </p:txBody>
      </p:sp>
      <p:sp>
        <p:nvSpPr>
          <p:cNvPr id="6" name="">
            <a:extLst xmlns:a="http://schemas.openxmlformats.org/drawingml/2006/main">
              <a:ext uri="{FF2B5EF4-FFF2-40B4-BE49-F238E27FC236}">
                <a16:creationId xmlns:a16="http://schemas.microsoft.com/office/drawing/2014/main" id="{AB7EF664-F02A-4761-B858-B42BD7027E5C}"/>
              </a:ext>
            </a:extLst>
          </p:cNvPr>
          <p:cNvSpPr>
            <a:spLocks xmlns:a="http://schemas.openxmlformats.org/drawingml/2006/main" noGrp="1"/>
          </p:cNvSpPr>
          <p:nvPr/>
        </p:nvSpPr>
        <p:spPr>
          <a:xfrm xmlns:a="http://schemas.openxmlformats.org/drawingml/2006/main">
            <a:off x="3429000" y="16954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유사 제목을 통합해 한 이슈로 표시</a:t>
            </a:r>
          </a:p>
        </p:txBody>
      </p:sp>
      <p:sp>
        <p:nvSpPr>
          <p:cNvPr id="7" name="">
            <a:extLst xmlns:a="http://schemas.openxmlformats.org/drawingml/2006/main">
              <a:ext uri="{FF2B5EF4-FFF2-40B4-BE49-F238E27FC236}">
                <a16:creationId xmlns:a16="http://schemas.microsoft.com/office/drawing/2014/main" id="{678DBDF3-E704-43BF-8C07-481273FF642E}"/>
              </a:ext>
            </a:extLst>
          </p:cNvPr>
          <p:cNvSpPr>
            <a:spLocks xmlns:a="http://schemas.openxmlformats.org/drawingml/2006/main" noGrp="1"/>
          </p:cNvSpPr>
          <p:nvPr/>
        </p:nvSpPr>
        <p:spPr>
          <a:xfrm xmlns:a="http://schemas.openxmlformats.org/drawingml/2006/main">
            <a:off x="609600" y="26098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02</a:t>
            </a:r>
          </a:p>
        </p:txBody>
      </p:sp>
      <p:sp>
        <p:nvSpPr>
          <p:cNvPr id="8" name="">
            <a:extLst xmlns:a="http://schemas.openxmlformats.org/drawingml/2006/main">
              <a:ext uri="{FF2B5EF4-FFF2-40B4-BE49-F238E27FC236}">
                <a16:creationId xmlns:a16="http://schemas.microsoft.com/office/drawing/2014/main" id="{8C5DE573-4AA3-4091-A69E-94760605A889}"/>
              </a:ext>
            </a:extLst>
          </p:cNvPr>
          <p:cNvSpPr>
            <a:spLocks xmlns:a="http://schemas.openxmlformats.org/drawingml/2006/main" noGrp="1"/>
          </p:cNvSpPr>
          <p:nvPr/>
        </p:nvSpPr>
        <p:spPr>
          <a:xfrm xmlns:a="http://schemas.openxmlformats.org/drawingml/2006/main">
            <a:off x="1428750" y="2609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모호한 점수</a:t>
            </a:r>
          </a:p>
        </p:txBody>
      </p:sp>
      <p:sp>
        <p:nvSpPr>
          <p:cNvPr id="9" name="">
            <a:extLst xmlns:a="http://schemas.openxmlformats.org/drawingml/2006/main">
              <a:ext uri="{FF2B5EF4-FFF2-40B4-BE49-F238E27FC236}">
                <a16:creationId xmlns:a16="http://schemas.microsoft.com/office/drawing/2014/main" id="{A9210989-6812-4A9B-A8B4-FBD3EA4A9253}"/>
              </a:ext>
            </a:extLst>
          </p:cNvPr>
          <p:cNvSpPr>
            <a:spLocks xmlns:a="http://schemas.openxmlformats.org/drawingml/2006/main" noGrp="1"/>
          </p:cNvSpPr>
          <p:nvPr/>
        </p:nvSpPr>
        <p:spPr>
          <a:xfrm xmlns:a="http://schemas.openxmlformats.org/drawingml/2006/main">
            <a:off x="3429000" y="26098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확인 필요·관찰 강화 상태로 변경</a:t>
            </a:r>
          </a:p>
        </p:txBody>
      </p:sp>
      <p:sp>
        <p:nvSpPr>
          <p:cNvPr id="10" name="">
            <a:extLst xmlns:a="http://schemas.openxmlformats.org/drawingml/2006/main">
              <a:ext uri="{FF2B5EF4-FFF2-40B4-BE49-F238E27FC236}">
                <a16:creationId xmlns:a16="http://schemas.microsoft.com/office/drawing/2014/main" id="{D04A72C6-FAC6-4A69-AC08-96859893AF44}"/>
              </a:ext>
            </a:extLst>
          </p:cNvPr>
          <p:cNvSpPr>
            <a:spLocks xmlns:a="http://schemas.openxmlformats.org/drawingml/2006/main" noGrp="1"/>
          </p:cNvSpPr>
          <p:nvPr/>
        </p:nvSpPr>
        <p:spPr>
          <a:xfrm xmlns:a="http://schemas.openxmlformats.org/drawingml/2006/main">
            <a:off x="609600" y="35242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B42266CE-BD4D-4530-9C18-8DD8A22FE5B1}"/>
              </a:ext>
            </a:extLst>
          </p:cNvPr>
          <p:cNvSpPr>
            <a:spLocks xmlns:a="http://schemas.openxmlformats.org/drawingml/2006/main" noGrp="1"/>
          </p:cNvSpPr>
          <p:nvPr/>
        </p:nvSpPr>
        <p:spPr>
          <a:xfrm xmlns:a="http://schemas.openxmlformats.org/drawingml/2006/main">
            <a:off x="1428750" y="3524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기업 비교</a:t>
            </a:r>
          </a:p>
        </p:txBody>
      </p:sp>
      <p:sp>
        <p:nvSpPr>
          <p:cNvPr id="12" name="">
            <a:extLst xmlns:a="http://schemas.openxmlformats.org/drawingml/2006/main">
              <a:ext uri="{FF2B5EF4-FFF2-40B4-BE49-F238E27FC236}">
                <a16:creationId xmlns:a16="http://schemas.microsoft.com/office/drawing/2014/main" id="{DD954F3F-D968-4C21-8894-0BE6AD29D2F9}"/>
              </a:ext>
            </a:extLst>
          </p:cNvPr>
          <p:cNvSpPr>
            <a:spLocks xmlns:a="http://schemas.openxmlformats.org/drawingml/2006/main" noGrp="1"/>
          </p:cNvSpPr>
          <p:nvPr/>
        </p:nvSpPr>
        <p:spPr>
          <a:xfrm xmlns:a="http://schemas.openxmlformats.org/drawingml/2006/main">
            <a:off x="3429000" y="35242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경쟁사 히트맵과 주가 비교 추가</a:t>
            </a:r>
          </a:p>
        </p:txBody>
      </p:sp>
      <p:sp>
        <p:nvSpPr>
          <p:cNvPr id="13" name="">
            <a:extLst xmlns:a="http://schemas.openxmlformats.org/drawingml/2006/main">
              <a:ext uri="{FF2B5EF4-FFF2-40B4-BE49-F238E27FC236}">
                <a16:creationId xmlns:a16="http://schemas.microsoft.com/office/drawing/2014/main" id="{ECA0A50C-40C3-4985-A84F-61BC5F925E08}"/>
              </a:ext>
            </a:extLst>
          </p:cNvPr>
          <p:cNvSpPr>
            <a:spLocks xmlns:a="http://schemas.openxmlformats.org/drawingml/2006/main" noGrp="1"/>
          </p:cNvSpPr>
          <p:nvPr/>
        </p:nvSpPr>
        <p:spPr>
          <a:xfrm xmlns:a="http://schemas.openxmlformats.org/drawingml/2006/main">
            <a:off x="609600" y="4438650"/>
            <a:ext cx="685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8B8AA"/>
                </a:solidFill>
                <a:latin typeface="Malgun Gothic"/>
                <a:ea typeface="Malgun Gothic"/>
                <a:cs typeface="Malgun Gothic"/>
              </a:defRPr>
            </a:pPr>
            <a:r>
              <a:rPr sz="2100" b="1">
                <a:solidFill>
                  <a:srgbClr val="18B8AA"/>
                </a:solidFill>
                <a:latin typeface="Malgun Gothic"/>
                <a:ea typeface="Malgun Gothic"/>
                <a:cs typeface="Malgun Gothic"/>
              </a:rPr>
              <a:t>04</a:t>
            </a:r>
          </a:p>
        </p:txBody>
      </p:sp>
      <p:sp>
        <p:nvSpPr>
          <p:cNvPr id="14" name="">
            <a:extLst xmlns:a="http://schemas.openxmlformats.org/drawingml/2006/main">
              <a:ext uri="{FF2B5EF4-FFF2-40B4-BE49-F238E27FC236}">
                <a16:creationId xmlns:a16="http://schemas.microsoft.com/office/drawing/2014/main" id="{A8760D19-431F-40EF-AB02-9A8BC0B68774}"/>
              </a:ext>
            </a:extLst>
          </p:cNvPr>
          <p:cNvSpPr>
            <a:spLocks xmlns:a="http://schemas.openxmlformats.org/drawingml/2006/main" noGrp="1"/>
          </p:cNvSpPr>
          <p:nvPr/>
        </p:nvSpPr>
        <p:spPr>
          <a:xfrm xmlns:a="http://schemas.openxmlformats.org/drawingml/2006/main">
            <a:off x="1428750" y="44386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12B46"/>
                </a:solidFill>
                <a:latin typeface="Malgun Gothic"/>
                <a:ea typeface="Malgun Gothic"/>
                <a:cs typeface="Malgun Gothic"/>
              </a:defRPr>
            </a:pPr>
            <a:r>
              <a:rPr sz="1725" b="1">
                <a:solidFill>
                  <a:srgbClr val="112B46"/>
                </a:solidFill>
                <a:latin typeface="Malgun Gothic"/>
                <a:ea typeface="Malgun Gothic"/>
                <a:cs typeface="Malgun Gothic"/>
              </a:rPr>
              <a:t>재무 가독성</a:t>
            </a:r>
          </a:p>
        </p:txBody>
      </p:sp>
      <p:sp>
        <p:nvSpPr>
          <p:cNvPr id="15" name="">
            <a:extLst xmlns:a="http://schemas.openxmlformats.org/drawingml/2006/main">
              <a:ext uri="{FF2B5EF4-FFF2-40B4-BE49-F238E27FC236}">
                <a16:creationId xmlns:a16="http://schemas.microsoft.com/office/drawing/2014/main" id="{8A8842D2-4980-43DD-9CE4-27F25DCA5AA2}"/>
              </a:ext>
            </a:extLst>
          </p:cNvPr>
          <p:cNvSpPr>
            <a:spLocks xmlns:a="http://schemas.openxmlformats.org/drawingml/2006/main" noGrp="1"/>
          </p:cNvSpPr>
          <p:nvPr/>
        </p:nvSpPr>
        <p:spPr>
          <a:xfrm xmlns:a="http://schemas.openxmlformats.org/drawingml/2006/main">
            <a:off x="3429000" y="4438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697D90"/>
                </a:solidFill>
                <a:latin typeface="Malgun Gothic"/>
                <a:ea typeface="Malgun Gothic"/>
                <a:cs typeface="Malgun Gothic"/>
              </a:defRPr>
            </a:pPr>
            <a:r>
              <a:rPr sz="1575" b="0">
                <a:solidFill>
                  <a:srgbClr val="697D90"/>
                </a:solidFill>
                <a:latin typeface="Malgun Gothic"/>
                <a:ea typeface="Malgun Gothic"/>
                <a:cs typeface="Malgun Gothic"/>
              </a:rPr>
              <a:t>연간·분기, 연결·별도 구분</a:t>
            </a:r>
          </a:p>
        </p:txBody>
      </p:sp>
      <p:sp>
        <p:nvSpPr>
          <p:cNvPr id="16" name="">
            <a:extLst xmlns:a="http://schemas.openxmlformats.org/drawingml/2006/main">
              <a:ext uri="{FF2B5EF4-FFF2-40B4-BE49-F238E27FC236}">
                <a16:creationId xmlns:a16="http://schemas.microsoft.com/office/drawing/2014/main" id="{23E94BEE-9174-4088-A17E-A8810D3D9FC9}"/>
              </a:ext>
            </a:extLst>
          </p:cNvPr>
          <p:cNvSpPr>
            <a:spLocks xmlns:a="http://schemas.openxmlformats.org/drawingml/2006/main" noGrp="1"/>
          </p:cNvSpPr>
          <p:nvPr/>
        </p:nvSpPr>
        <p:spPr>
          <a:xfrm xmlns:a="http://schemas.openxmlformats.org/drawingml/2006/main">
            <a:off x="8096250" y="1695450"/>
            <a:ext cx="3486150" cy="3619500"/>
          </a:xfrm>
          <a:prstGeom xmlns:a="http://schemas.openxmlformats.org/drawingml/2006/main" prst="rect">
            <a:avLst/>
          </a:prstGeom>
          <a:solidFill xmlns:a="http://schemas.openxmlformats.org/drawingml/2006/main">
            <a:srgbClr val="081D3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IMPLEMENTED STACK</a:t>
            </a:r>
          </a:p>
          <a:p xmlns:a="http://schemas.openxmlformats.org/drawingml/2006/main">
            <a:r>
              <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React + Vite</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FastAPI + SQLite</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OpenDART / RSS / KOMIS</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Gemini / OpenAI</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LangSmith</a:t>
            </a:r>
          </a:p>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Telegram / Gmail SMTP</a:t>
            </a:r>
          </a:p>
        </p:txBody>
      </p:sp>
      <p:sp>
        <p:nvSpPr>
          <p:cNvPr id="17" name="">
            <a:extLst xmlns:a="http://schemas.openxmlformats.org/drawingml/2006/main">
              <a:ext uri="{FF2B5EF4-FFF2-40B4-BE49-F238E27FC236}">
                <a16:creationId xmlns:a16="http://schemas.microsoft.com/office/drawing/2014/main" id="{E2716F9C-7241-42D6-8EC6-41434A61D576}"/>
              </a:ext>
            </a:extLst>
          </p:cNvPr>
          <p:cNvSpPr>
            <a:spLocks xmlns:a="http://schemas.openxmlformats.org/drawingml/2006/main" noGrp="1"/>
          </p:cNvSpPr>
          <p:nvPr/>
        </p:nvSpPr>
        <p:spPr>
          <a:xfrm xmlns:a="http://schemas.openxmlformats.org/drawingml/2006/main">
            <a:off x="8096250" y="5524500"/>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97D90"/>
                </a:solidFill>
                <a:latin typeface="Malgun Gothic"/>
                <a:ea typeface="Malgun Gothic"/>
                <a:cs typeface="Malgun Gothic"/>
              </a:defRPr>
            </a:pPr>
            <a:r>
              <a:rPr sz="1125" b="0">
                <a:solidFill>
                  <a:srgbClr val="697D90"/>
                </a:solidFill>
                <a:latin typeface="Malgun Gothic"/>
                <a:ea typeface="Malgun Gothic"/>
                <a:cs typeface="Malgun Gothic"/>
              </a:rPr>
              <a:t>교육 주차와 멘토링 내용은</a:t>
            </a:r>
          </a:p>
          <a:p xmlns:a="http://schemas.openxmlformats.org/drawingml/2006/main">
            <a:pPr algn="ctr">
              <a:defRPr sz="1125" b="0">
                <a:solidFill>
                  <a:srgbClr val="697D90"/>
                </a:solidFill>
                <a:latin typeface="Malgun Gothic"/>
                <a:ea typeface="Malgun Gothic"/>
                <a:cs typeface="Malgun Gothic"/>
              </a:defRPr>
            </a:pPr>
            <a:r>
              <a:rPr sz="1125" b="0">
                <a:solidFill>
                  <a:srgbClr val="697D90"/>
                </a:solidFill>
                <a:latin typeface="Malgun Gothic"/>
                <a:ea typeface="Malgun Gothic"/>
                <a:cs typeface="Malgun Gothic"/>
              </a:rPr>
              <a:t>실제 기록 확인 후 보완</a:t>
            </a:r>
          </a:p>
        </p:txBody>
      </p:sp>
    </p:spTree>
    <p:extLst>
      <p:ext uri="{BB962C8B-B14F-4D97-AF65-F5344CB8AC3E}">
        <p14:creationId xmlns:p14="http://schemas.microsoft.com/office/powerpoint/2010/main" val="35785166"/>
      </p:ext>
    </p:extLst>
  </p:cSld>
</p:sld>
</file>

<file path=ppt/slides/slide13.xml><?xml version="1.0" encoding="utf-8"?>
<p:sld xmlns:p="http://schemas.openxmlformats.org/presentationml/2006/main">
  <p:cSld>
    <p:bg>
      <p:bgPr>
        <a:solidFill xmlns:a="http://schemas.openxmlformats.org/drawingml/2006/main">
          <a:srgbClr val="081D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0BF117-1429-405A-BEC3-7CF04188D867}"/>
              </a:ext>
            </a:extLst>
          </p:cNvPr>
          <p:cNvSpPr>
            <a:spLocks xmlns:a="http://schemas.openxmlformats.org/drawingml/2006/main" noGrp="1"/>
          </p:cNvSpPr>
          <p:nvPr/>
        </p:nvSpPr>
        <p:spPr>
          <a:xfrm xmlns:a="http://schemas.openxmlformats.org/drawingml/2006/main">
            <a:off x="609600" y="4953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71E1D4"/>
                </a:solidFill>
                <a:latin typeface="Malgun Gothic"/>
                <a:ea typeface="Malgun Gothic"/>
                <a:cs typeface="Malgun Gothic"/>
              </a:defRPr>
            </a:pPr>
            <a:r>
              <a:rPr sz="1200" b="1">
                <a:solidFill>
                  <a:srgbClr val="71E1D4"/>
                </a:solidFill>
                <a:latin typeface="Malgun Gothic"/>
                <a:ea typeface="Malgun Gothic"/>
                <a:cs typeface="Malgun Gothic"/>
              </a:rPr>
              <a:t>FUTURE:M RADAR</a:t>
            </a:r>
          </a:p>
        </p:txBody>
      </p:sp>
      <p:sp>
        <p:nvSpPr>
          <p:cNvPr id="2" name="">
            <a:extLst xmlns:a="http://schemas.openxmlformats.org/drawingml/2006/main">
              <a:ext uri="{FF2B5EF4-FFF2-40B4-BE49-F238E27FC236}">
                <a16:creationId xmlns:a16="http://schemas.microsoft.com/office/drawing/2014/main" id="{6B7CE159-861A-480E-99E9-7D613920461A}"/>
              </a:ext>
            </a:extLst>
          </p:cNvPr>
          <p:cNvSpPr>
            <a:spLocks xmlns:a="http://schemas.openxmlformats.org/drawingml/2006/main" noGrp="1"/>
          </p:cNvSpPr>
          <p:nvPr/>
        </p:nvSpPr>
        <p:spPr>
          <a:xfrm xmlns:a="http://schemas.openxmlformats.org/drawingml/2006/main">
            <a:off x="609600" y="12573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발견에서 공유까지,</a:t>
            </a:r>
          </a:p>
          <a:p xmlns:a="http://schemas.openxmlformats.org/drawingml/2006/main">
            <a:pPr algn="l">
              <a:defRPr sz="3750" b="1">
                <a:solidFill>
                  <a:srgbClr val="FFFFFF"/>
                </a:solidFill>
                <a:latin typeface="Malgun Gothic"/>
                <a:ea typeface="Malgun Gothic"/>
                <a:cs typeface="Malgun Gothic"/>
              </a:defRPr>
            </a:pPr>
            <a:r>
              <a:rPr sz="3750" b="1">
                <a:solidFill>
                  <a:srgbClr val="FFFFFF"/>
                </a:solidFill>
                <a:latin typeface="Malgun Gothic"/>
                <a:ea typeface="Malgun Gothic"/>
                <a:cs typeface="Malgun Gothic"/>
              </a:rPr>
              <a:t>하나의 경영 판단 흐름</a:t>
            </a:r>
          </a:p>
        </p:txBody>
      </p:sp>
      <p:sp>
        <p:nvSpPr>
          <p:cNvPr id="3" name="">
            <a:extLst xmlns:a="http://schemas.openxmlformats.org/drawingml/2006/main">
              <a:ext uri="{FF2B5EF4-FFF2-40B4-BE49-F238E27FC236}">
                <a16:creationId xmlns:a16="http://schemas.microsoft.com/office/drawing/2014/main" id="{6C304D0B-50C2-41FF-9B78-7C8E39B2ECB0}"/>
              </a:ext>
            </a:extLst>
          </p:cNvPr>
          <p:cNvSpPr>
            <a:spLocks xmlns:a="http://schemas.openxmlformats.org/drawingml/2006/main" noGrp="1"/>
          </p:cNvSpPr>
          <p:nvPr/>
        </p:nvSpPr>
        <p:spPr>
          <a:xfrm xmlns:a="http://schemas.openxmlformats.org/drawingml/2006/main">
            <a:off x="609600" y="34290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CD29EDCB-453D-4128-B913-AC65555DBBE2}"/>
              </a:ext>
            </a:extLst>
          </p:cNvPr>
          <p:cNvSpPr>
            <a:spLocks xmlns:a="http://schemas.openxmlformats.org/drawingml/2006/main" noGrp="1"/>
          </p:cNvSpPr>
          <p:nvPr/>
        </p:nvSpPr>
        <p:spPr>
          <a:xfrm xmlns:a="http://schemas.openxmlformats.org/drawingml/2006/main">
            <a:off x="1285875" y="34290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분산된 외부 정보를 기업 기준으로 통합</a:t>
            </a:r>
          </a:p>
        </p:txBody>
      </p:sp>
      <p:sp>
        <p:nvSpPr>
          <p:cNvPr id="5" name="">
            <a:extLst xmlns:a="http://schemas.openxmlformats.org/drawingml/2006/main">
              <a:ext uri="{FF2B5EF4-FFF2-40B4-BE49-F238E27FC236}">
                <a16:creationId xmlns:a16="http://schemas.microsoft.com/office/drawing/2014/main" id="{0D69A4AE-DAD9-4D36-9FA7-F08E267E40CB}"/>
              </a:ext>
            </a:extLst>
          </p:cNvPr>
          <p:cNvSpPr>
            <a:spLocks xmlns:a="http://schemas.openxmlformats.org/drawingml/2006/main" noGrp="1"/>
          </p:cNvSpPr>
          <p:nvPr/>
        </p:nvSpPr>
        <p:spPr>
          <a:xfrm xmlns:a="http://schemas.openxmlformats.org/drawingml/2006/main">
            <a:off x="609600" y="4333875"/>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3EBBA249-C1DB-4561-AE5E-642F7A73D636}"/>
              </a:ext>
            </a:extLst>
          </p:cNvPr>
          <p:cNvSpPr>
            <a:spLocks xmlns:a="http://schemas.openxmlformats.org/drawingml/2006/main" noGrp="1"/>
          </p:cNvSpPr>
          <p:nvPr/>
        </p:nvSpPr>
        <p:spPr>
          <a:xfrm xmlns:a="http://schemas.openxmlformats.org/drawingml/2006/main">
            <a:off x="1285875" y="43338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AI가 사업 영향과 확인 과제를 구조화</a:t>
            </a:r>
          </a:p>
        </p:txBody>
      </p:sp>
      <p:sp>
        <p:nvSpPr>
          <p:cNvPr id="7" name="">
            <a:extLst xmlns:a="http://schemas.openxmlformats.org/drawingml/2006/main">
              <a:ext uri="{FF2B5EF4-FFF2-40B4-BE49-F238E27FC236}">
                <a16:creationId xmlns:a16="http://schemas.microsoft.com/office/drawing/2014/main" id="{31F0300B-0163-4488-A22B-D2D9EB5C4FD4}"/>
              </a:ext>
            </a:extLst>
          </p:cNvPr>
          <p:cNvSpPr>
            <a:spLocks xmlns:a="http://schemas.openxmlformats.org/drawingml/2006/main" noGrp="1"/>
          </p:cNvSpPr>
          <p:nvPr/>
        </p:nvSpPr>
        <p:spPr>
          <a:xfrm xmlns:a="http://schemas.openxmlformats.org/drawingml/2006/main">
            <a:off x="609600" y="52387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71E1D4"/>
                </a:solidFill>
                <a:latin typeface="Malgun Gothic"/>
                <a:ea typeface="Malgun Gothic"/>
                <a:cs typeface="Malgun Gothic"/>
              </a:defRPr>
            </a:pPr>
            <a:r>
              <a:rPr sz="2250" b="1">
                <a:solidFill>
                  <a:srgbClr val="71E1D4"/>
                </a:solidFill>
                <a:latin typeface="Malgun Gothic"/>
                <a:ea typeface="Malgun Gothic"/>
                <a:cs typeface="Malgun Gothic"/>
              </a:rPr>
              <a:t>03</a:t>
            </a:r>
          </a:p>
        </p:txBody>
      </p:sp>
      <p:sp>
        <p:nvSpPr>
          <p:cNvPr id="8" name="">
            <a:extLst xmlns:a="http://schemas.openxmlformats.org/drawingml/2006/main">
              <a:ext uri="{FF2B5EF4-FFF2-40B4-BE49-F238E27FC236}">
                <a16:creationId xmlns:a16="http://schemas.microsoft.com/office/drawing/2014/main" id="{090EF3A8-4D3B-43BE-A14A-E48E914790A5}"/>
              </a:ext>
            </a:extLst>
          </p:cNvPr>
          <p:cNvSpPr>
            <a:spLocks xmlns:a="http://schemas.openxmlformats.org/drawingml/2006/main" noGrp="1"/>
          </p:cNvSpPr>
          <p:nvPr/>
        </p:nvSpPr>
        <p:spPr>
          <a:xfrm xmlns:a="http://schemas.openxmlformats.org/drawingml/2006/main">
            <a:off x="1285875" y="5238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중요 공시를 지정 수신자에게 전달</a:t>
            </a:r>
          </a:p>
        </p:txBody>
      </p:sp>
      <p:sp>
        <p:nvSpPr>
          <p:cNvPr id="9" name="">
            <a:extLst xmlns:a="http://schemas.openxmlformats.org/drawingml/2006/main">
              <a:ext uri="{FF2B5EF4-FFF2-40B4-BE49-F238E27FC236}">
                <a16:creationId xmlns:a16="http://schemas.microsoft.com/office/drawing/2014/main" id="{56499E96-DBAE-49AF-9594-1478FA1E2DCE}"/>
              </a:ext>
            </a:extLst>
          </p:cNvPr>
          <p:cNvSpPr>
            <a:spLocks xmlns:a="http://schemas.openxmlformats.org/drawingml/2006/main" noGrp="1"/>
          </p:cNvSpPr>
          <p:nvPr/>
        </p:nvSpPr>
        <p:spPr>
          <a:xfrm xmlns:a="http://schemas.openxmlformats.org/drawingml/2006/main">
            <a:off x="6572250" y="3286125"/>
            <a:ext cx="5010150" cy="2324100"/>
          </a:xfrm>
          <a:prstGeom xmlns:a="http://schemas.openxmlformats.org/drawingml/2006/main" prst="rect">
            <a:avLst/>
          </a:prstGeom>
          <a:solidFill xmlns:a="http://schemas.openxmlformats.org/drawingml/2006/main">
            <a:srgbClr val="12385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NEXT VALIDATION</a:t>
            </a:r>
          </a:p>
          <a:p xmlns:a="http://schemas.openxmlformats.org/drawingml/2006/main">
            <a:r>
              <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감지 지연과 누락률</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AI 요약 검토 정확도</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사용자 확인 시간</a:t>
            </a:r>
          </a:p>
          <a:p xmlns:a="http://schemas.openxmlformats.org/drawingml/2006/main">
            <a:pPr algn="ct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실제 의사결정 활용 사례</a:t>
            </a:r>
          </a:p>
        </p:txBody>
      </p:sp>
      <p:sp>
        <p:nvSpPr>
          <p:cNvPr id="10" name="">
            <a:extLst xmlns:a="http://schemas.openxmlformats.org/drawingml/2006/main">
              <a:ext uri="{FF2B5EF4-FFF2-40B4-BE49-F238E27FC236}">
                <a16:creationId xmlns:a16="http://schemas.microsoft.com/office/drawing/2014/main" id="{91E6FADA-CA76-4201-BCA4-A3977EF24BA9}"/>
              </a:ext>
            </a:extLst>
          </p:cNvPr>
          <p:cNvSpPr>
            <a:spLocks xmlns:a="http://schemas.openxmlformats.org/drawingml/2006/main" noGrp="1"/>
          </p:cNvSpPr>
          <p:nvPr/>
        </p:nvSpPr>
        <p:spPr>
          <a:xfrm xmlns:a="http://schemas.openxmlformats.org/drawingml/2006/main">
            <a:off x="609600" y="62293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9DB5CA"/>
                </a:solidFill>
                <a:latin typeface="Malgun Gothic"/>
                <a:ea typeface="Malgun Gothic"/>
                <a:cs typeface="Malgun Gothic"/>
              </a:defRPr>
            </a:pPr>
            <a:r>
              <a:rPr sz="1350" b="0">
                <a:solidFill>
                  <a:srgbClr val="9DB5CA"/>
                </a:solidFill>
                <a:latin typeface="Malgun Gothic"/>
                <a:ea typeface="Malgun Gothic"/>
                <a:cs typeface="Malgun Gothic"/>
              </a:rPr>
              <a:t>경영진이 더 빨리 확인하고, 더 근거 있게 논의하도록 지원합니다</a:t>
            </a:r>
          </a:p>
        </p:txBody>
      </p:sp>
    </p:spTree>
    <p:extLst>
      <p:ext uri="{BB962C8B-B14F-4D97-AF65-F5344CB8AC3E}">
        <p14:creationId xmlns:p14="http://schemas.microsoft.com/office/powerpoint/2010/main" val="1312585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2026-09-08T08:19:10.6700000Z</dcterms:created>
  <dcterms:modified xsi:type="dcterms:W3CDTF">2026-09-08T08:19:10.6710000Z</dcterms:modified>
</coreProperties>
</file>