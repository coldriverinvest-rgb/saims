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중요 공시 자동 알림 기능만 따로 자세히 말씀드리겠습니다. 대시보드는 사람이 들어와야 보이지만, 이 기능은 반대로 시스템이 사람에게 밀어주는 구조입니다. 5분마다 감시하고 Telegram과 이메일 두 채널로 동시에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알림 기능을 따로 만들었냐면, 대시보드는 사람이 들어와야 보이기 때문입니다. 퇴근 후나 회의 중에 접수된 계약 공시는 다음 날에야 알게 됩니다. 그래서 Pull이 아니라 Push가 맞다고 판단했습니다.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파이프라인은 여섯 단계입니다. 여기서 제가 가장 신경 쓴 최적화가 왼쪽 아래인데, AI 분석을 보낼 사람이 있을 때만 호출한다는 점입니다. 5분마다 스캔이 도니까 이 조건이 없으면 같은 공시로 LLM을 계속 호출하게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무엇을 중요 공시로 볼 것인가를 12개 유형으로 정의했습니다. 여기서 판단한 게 하나 있는데, 중요도 판정에 LLM을 쓰지 않았다는 점입니다. LLM은 같은 입력에도 다르게 답할 수 있고 5분마다 전건 호출하면 비용도 큽니다. 그래서 무엇을 보낼지는 규칙으로 고정하고, LLM은 무슨 의미인지 해석에만 쓰도록 역할을 나눴습니다.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단계는 원문 수집입니다. 보고서명만으로는 계약금액이나 지분율 같은 숫자를 알 수 없어서 원문 HTML을 직접 파싱했습니다. 여기서 꽤 애를 먹은 게 인코딩이었는데, DART 뷰어가 응답 헤더로는 한글 레거시 charset을 가리키는데 실제 본문은 UTF-8이었습니다. 헤더를 믿고 디코딩하면 전부 깨집니다.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AI 분석 단계입니다. 여기서 핵심은 자유 서술을 받지 않고 출력 스키마를 강제했다는 점입니다. 특히 임원 주요주주 소유상황 보고서는 보고서명만 보면 내용을 알 수 없어서, 원문 표에서 지분율과 주식 수를 반드시 찾아 쓰도록 프롬프트에 명시했고 원문에 없는 값은 추정하지 말라고 못 박았습니다.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Telegram 메시지 구성입니다. 왼쪽이 실제로 도착하는 형태인데, 감정에 따라 헤더 이모지가 바뀌어서 알림 목록에서 제목만 봐도 성격이 구분됩니다. HTML 포맷을 쓰되 모든 변수를 이스케이프해서 태그 주입을 막았고, 텔레그램 4096자 제한에 맞춰 잘라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이메일은 HTML과 텍스트를 함께 보내는 멀티파트로 구성했습니다. 제목에 우선순위를 머리말로 붙여서 메일함에서 필터링이 가능하게 했고, 본문은 다크 헤더와 전략 시사점 강조 블록, 그리고 DART 원문 버튼으로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알림 기능에서 제가 가장 신경 쓴 부분입니다. 당일 공시는 자정까지 계속 조회 결과에 남기 때문에, 5분마다 스캔하면 같은 공시가 하루에 수백 번 감지됩니다. 수신자·접수번호·채널 세 개를 복합 기본키로 묶어서 해결했고, 중요한 건 실제 발송에 성공했을 때만 이력을 남긴다는 점입니다. 실패하면 이력이 없으니 다음 주기에 자동으로 재시도됩니다.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모델은 테이블 두 개입니다. 수신자 테이블과 발송 이력 테이블인데, 이력 테이블의 복합 기본키가 중복 차단의 핵심입니다. 오른쪽 아래가 조금 자랑하고 싶은 부분인데, 처음엔 텔레그램 전용으로 만들었다가 이메일을 추가할 때 기존 데이터를 잃지 않도록 자동 마이그레이션을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 페이지입니다. 수신자를 코드나 환경변수에 하드코딩하면 사람이 바뀔 때마다 개발자가 배포해야 하니, 운영자가 직접 관리할 수 있게 화면으로 뺐습니다. 테스트 발송 기능을 넣은 이유가 중요한데, 텔레그램은 수신자가 봇과 먼저 대화를 해야 하고 Gmail은 앱 비밀번호가 필요해서, 설정이 맞는지 확인하려면 실제 공시를 기다려야 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봇 토큰과 메일 비밀번호를 다루는 기능이라 보안을 따로 정리했습니다. 관리자 인증은 상수 시간 비교를 썼고, 시크릿은 어떤 응답에도 담기지 않게 했습니다. 다만 마지막에 적은 것처럼 비밀번호 시도 횟수 제한이 없는 건 남은 한계라 솔직하게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기능을 만들며 막혔던 지점 다섯 가지입니다. 1번 중복 발송과 2번 인코딩이 가장 오래 걸렸습니다. 4번은 성능이 아니라 비용 문제였는데, 감지될 때마다 분석하다 보니 대부분 이미 보낸 건에 대해 LLM을 호출하고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왼쪽이 구현한 것이고 오른쪽이 설계에서 지킨 원칙입니다. 한 줄로 요약하면, 5분마다 도는 스캔에서 같은 것을 두 번 보내지 않으면서 동시에 실패하면 다시 보내야 한다는 두 조건을 함께 만족시키는 게 이 기능의 핵심이었습니다.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713232" y="1179576"/>
            <a:ext cx="91440" cy="91440"/>
          </a:xfrm>
          <a:prstGeom prst="rect">
            <a:avLst/>
          </a:prstGeom>
          <a:solidFill>
            <a:srgbClr val="E0A76D"/>
          </a:solidFill>
          <a:ln w="12700">
            <a:solidFill>
              <a:srgbClr val="E0A76D"/>
            </a:solidFill>
            <a:prstDash val="solid"/>
          </a:ln>
        </p:spPr>
      </p:sp>
      <p:sp>
        <p:nvSpPr>
          <p:cNvPr id="3" name="Text 1"/>
          <p:cNvSpPr txBox="1"/>
          <p:nvPr/>
        </p:nvSpPr>
        <p:spPr>
          <a:xfrm>
            <a:off x="932688" y="1133856"/>
            <a:ext cx="7315200" cy="237744"/>
          </a:xfrm>
          <a:prstGeom prst="rect">
            <a:avLst/>
          </a:prstGeom>
          <a:noFill/>
          <a:ln/>
        </p:spPr>
        <p:txBody>
          <a:bodyPr wrap="square" lIns="0" tIns="0" rIns="0" bIns="0" rtlCol="0" anchor="t"/>
          <a:lstStyle/>
          <a:p>
            <a:pPr indent="0" marL="0">
              <a:buNone/>
            </a:pPr>
            <a:r>
              <a:rPr lang="en-US" sz="1050" b="1" spc="240" kern="0" dirty="0">
                <a:solidFill>
                  <a:srgbClr val="E0A76D"/>
                </a:solidFill>
                <a:latin typeface="Malgun Gothic" pitchFamily="34" charset="0"/>
                <a:ea typeface="Malgun Gothic" pitchFamily="34" charset="-122"/>
                <a:cs typeface="Malgun Gothic" pitchFamily="34" charset="-120"/>
              </a:rPr>
              <a:t>FEATURE DEEP DIVE   ·   ALERT PIPELINE</a:t>
            </a:r>
            <a:endParaRPr lang="en-US" sz="1050" dirty="0"/>
          </a:p>
        </p:txBody>
      </p:sp>
      <p:sp>
        <p:nvSpPr>
          <p:cNvPr id="4" name="Text 2"/>
          <p:cNvSpPr txBox="1"/>
          <p:nvPr/>
        </p:nvSpPr>
        <p:spPr>
          <a:xfrm>
            <a:off x="713232" y="1645920"/>
            <a:ext cx="8595360" cy="822960"/>
          </a:xfrm>
          <a:prstGeom prst="rect">
            <a:avLst/>
          </a:prstGeom>
          <a:noFill/>
          <a:ln/>
        </p:spPr>
        <p:txBody>
          <a:bodyPr wrap="square" lIns="0" tIns="0" rIns="0" bIns="0" rtlCol="0" anchor="t"/>
          <a:lstStyle/>
          <a:p>
            <a:pPr indent="0" marL="0">
              <a:buNone/>
            </a:pPr>
            <a:r>
              <a:rPr lang="en-US" sz="4600" b="1" dirty="0">
                <a:solidFill>
                  <a:srgbClr val="FFFFFF"/>
                </a:solidFill>
                <a:latin typeface="Malgun Gothic" pitchFamily="34" charset="0"/>
                <a:ea typeface="Malgun Gothic" pitchFamily="34" charset="-122"/>
                <a:cs typeface="Malgun Gothic" pitchFamily="34" charset="-120"/>
              </a:rPr>
              <a:t>중요 공시 자동 알림</a:t>
            </a:r>
            <a:endParaRPr lang="en-US" sz="4600" dirty="0"/>
          </a:p>
        </p:txBody>
      </p:sp>
      <p:sp>
        <p:nvSpPr>
          <p:cNvPr id="5" name="Text 3"/>
          <p:cNvSpPr txBox="1"/>
          <p:nvPr/>
        </p:nvSpPr>
        <p:spPr>
          <a:xfrm>
            <a:off x="713232" y="2578608"/>
            <a:ext cx="7863840" cy="365760"/>
          </a:xfrm>
          <a:prstGeom prst="rect">
            <a:avLst/>
          </a:prstGeom>
          <a:noFill/>
          <a:ln/>
        </p:spPr>
        <p:txBody>
          <a:bodyPr wrap="square" lIns="0" tIns="0" rIns="0" bIns="0" rtlCol="0" anchor="t"/>
          <a:lstStyle/>
          <a:p>
            <a:pPr indent="0" marL="0">
              <a:buNone/>
            </a:pPr>
            <a:r>
              <a:rPr lang="en-US" sz="1700" dirty="0">
                <a:solidFill>
                  <a:srgbClr val="9FADBB"/>
                </a:solidFill>
                <a:latin typeface="Malgun Gothic" pitchFamily="34" charset="0"/>
                <a:ea typeface="Malgun Gothic" pitchFamily="34" charset="-122"/>
                <a:cs typeface="Malgun Gothic" pitchFamily="34" charset="-120"/>
              </a:rPr>
              <a:t>Telegram · 이메일 이중 채널 발송 파이프라인</a:t>
            </a:r>
            <a:endParaRPr lang="en-US" sz="1700" dirty="0"/>
          </a:p>
        </p:txBody>
      </p:sp>
      <p:sp>
        <p:nvSpPr>
          <p:cNvPr id="6" name="Shape 4"/>
          <p:cNvSpPr/>
          <p:nvPr/>
        </p:nvSpPr>
        <p:spPr>
          <a:xfrm>
            <a:off x="713232" y="3200400"/>
            <a:ext cx="822960" cy="10973"/>
          </a:xfrm>
          <a:prstGeom prst="rect">
            <a:avLst/>
          </a:prstGeom>
          <a:solidFill>
            <a:srgbClr val="B0703A"/>
          </a:solidFill>
          <a:ln w="12700">
            <a:solidFill>
              <a:srgbClr val="B0703A"/>
            </a:solidFill>
            <a:prstDash val="solid"/>
          </a:ln>
        </p:spPr>
      </p:sp>
      <p:sp>
        <p:nvSpPr>
          <p:cNvPr id="7" name="Text 5"/>
          <p:cNvSpPr txBox="1"/>
          <p:nvPr/>
        </p:nvSpPr>
        <p:spPr>
          <a:xfrm>
            <a:off x="713232" y="3456432"/>
            <a:ext cx="7315200" cy="914400"/>
          </a:xfrm>
          <a:prstGeom prst="rect">
            <a:avLst/>
          </a:prstGeom>
          <a:noFill/>
          <a:ln/>
        </p:spPr>
        <p:txBody>
          <a:bodyPr wrap="square" lIns="0" tIns="0" rIns="0" bIns="0" rtlCol="0" anchor="t"/>
          <a:lstStyle/>
          <a:p>
            <a:pPr indent="0" marL="0">
              <a:lnSpc>
                <a:spcPts val="3200"/>
              </a:lnSpc>
              <a:buNone/>
            </a:pPr>
            <a:r>
              <a:rPr lang="en-US" sz="1900" b="1" dirty="0">
                <a:solidFill>
                  <a:srgbClr val="FFFFFF"/>
                </a:solidFill>
                <a:latin typeface="Malgun Gothic" pitchFamily="34" charset="0"/>
                <a:ea typeface="Malgun Gothic" pitchFamily="34" charset="-122"/>
                <a:cs typeface="Malgun Gothic" pitchFamily="34" charset="-120"/>
              </a:rPr>
              <a:t>사람이 DART를 들여다보지 않아도</a:t>
            </a:r>
            <a:endParaRPr lang="en-US" sz="1900" dirty="0"/>
          </a:p>
          <a:p>
            <a:pPr indent="0" marL="0">
              <a:lnSpc>
                <a:spcPts val="3200"/>
              </a:lnSpc>
              <a:buNone/>
            </a:pPr>
            <a:r>
              <a:rPr lang="en-US" sz="1900" b="1" dirty="0">
                <a:solidFill>
                  <a:srgbClr val="FFFFFF"/>
                </a:solidFill>
                <a:latin typeface="Malgun Gothic" pitchFamily="34" charset="0"/>
                <a:ea typeface="Malgun Gothic" pitchFamily="34" charset="-122"/>
                <a:cs typeface="Malgun Gothic" pitchFamily="34" charset="-120"/>
              </a:rPr>
              <a:t>중요 공시가 5분 이내에 담당자에게 도착합니다.</a:t>
            </a:r>
            <a:endParaRPr lang="en-US" sz="1900" dirty="0"/>
          </a:p>
        </p:txBody>
      </p:sp>
      <p:sp>
        <p:nvSpPr>
          <p:cNvPr id="8" name="Shape 6"/>
          <p:cNvSpPr/>
          <p:nvPr/>
        </p:nvSpPr>
        <p:spPr>
          <a:xfrm>
            <a:off x="713232" y="4828032"/>
            <a:ext cx="118872" cy="118872"/>
          </a:xfrm>
          <a:prstGeom prst="rect">
            <a:avLst/>
          </a:prstGeom>
          <a:solidFill>
            <a:srgbClr val="2B3A4B"/>
          </a:solidFill>
          <a:ln w="12700">
            <a:solidFill>
              <a:srgbClr val="2B3A4B"/>
            </a:solidFill>
            <a:prstDash val="solid"/>
          </a:ln>
        </p:spPr>
      </p:sp>
      <p:sp>
        <p:nvSpPr>
          <p:cNvPr id="9" name="Shape 7"/>
          <p:cNvSpPr/>
          <p:nvPr/>
        </p:nvSpPr>
        <p:spPr>
          <a:xfrm>
            <a:off x="900684" y="4828032"/>
            <a:ext cx="118872" cy="118872"/>
          </a:xfrm>
          <a:prstGeom prst="rect">
            <a:avLst/>
          </a:prstGeom>
          <a:solidFill>
            <a:srgbClr val="2B3A4B"/>
          </a:solidFill>
          <a:ln w="12700">
            <a:solidFill>
              <a:srgbClr val="2B3A4B"/>
            </a:solidFill>
            <a:prstDash val="solid"/>
          </a:ln>
        </p:spPr>
      </p:sp>
      <p:sp>
        <p:nvSpPr>
          <p:cNvPr id="10" name="Shape 8"/>
          <p:cNvSpPr/>
          <p:nvPr/>
        </p:nvSpPr>
        <p:spPr>
          <a:xfrm>
            <a:off x="1088136" y="4828032"/>
            <a:ext cx="118872" cy="118872"/>
          </a:xfrm>
          <a:prstGeom prst="rect">
            <a:avLst/>
          </a:prstGeom>
          <a:solidFill>
            <a:srgbClr val="2B3A4B"/>
          </a:solidFill>
          <a:ln w="12700">
            <a:solidFill>
              <a:srgbClr val="2B3A4B"/>
            </a:solidFill>
            <a:prstDash val="solid"/>
          </a:ln>
        </p:spPr>
      </p:sp>
      <p:sp>
        <p:nvSpPr>
          <p:cNvPr id="11" name="Shape 9"/>
          <p:cNvSpPr/>
          <p:nvPr/>
        </p:nvSpPr>
        <p:spPr>
          <a:xfrm>
            <a:off x="1275588" y="4828032"/>
            <a:ext cx="118872" cy="118872"/>
          </a:xfrm>
          <a:prstGeom prst="rect">
            <a:avLst/>
          </a:prstGeom>
          <a:solidFill>
            <a:srgbClr val="2B3A4B"/>
          </a:solidFill>
          <a:ln w="12700">
            <a:solidFill>
              <a:srgbClr val="2B3A4B"/>
            </a:solidFill>
            <a:prstDash val="solid"/>
          </a:ln>
        </p:spPr>
      </p:sp>
      <p:sp>
        <p:nvSpPr>
          <p:cNvPr id="12" name="Shape 10"/>
          <p:cNvSpPr/>
          <p:nvPr/>
        </p:nvSpPr>
        <p:spPr>
          <a:xfrm>
            <a:off x="1463040" y="4828032"/>
            <a:ext cx="118872" cy="208026"/>
          </a:xfrm>
          <a:prstGeom prst="rect">
            <a:avLst/>
          </a:prstGeom>
          <a:solidFill>
            <a:srgbClr val="B0703A"/>
          </a:solidFill>
          <a:ln w="12700">
            <a:solidFill>
              <a:srgbClr val="B0703A"/>
            </a:solidFill>
            <a:prstDash val="solid"/>
          </a:ln>
        </p:spPr>
      </p:sp>
      <p:sp>
        <p:nvSpPr>
          <p:cNvPr id="13" name="Shape 11"/>
          <p:cNvSpPr/>
          <p:nvPr/>
        </p:nvSpPr>
        <p:spPr>
          <a:xfrm>
            <a:off x="1650492" y="4828032"/>
            <a:ext cx="118872" cy="118872"/>
          </a:xfrm>
          <a:prstGeom prst="rect">
            <a:avLst/>
          </a:prstGeom>
          <a:solidFill>
            <a:srgbClr val="2B3A4B"/>
          </a:solidFill>
          <a:ln w="12700">
            <a:solidFill>
              <a:srgbClr val="2B3A4B"/>
            </a:solidFill>
            <a:prstDash val="solid"/>
          </a:ln>
        </p:spPr>
      </p:sp>
      <p:sp>
        <p:nvSpPr>
          <p:cNvPr id="14" name="Shape 12"/>
          <p:cNvSpPr/>
          <p:nvPr/>
        </p:nvSpPr>
        <p:spPr>
          <a:xfrm>
            <a:off x="1837944" y="4828032"/>
            <a:ext cx="118872" cy="118872"/>
          </a:xfrm>
          <a:prstGeom prst="rect">
            <a:avLst/>
          </a:prstGeom>
          <a:solidFill>
            <a:srgbClr val="2B3A4B"/>
          </a:solidFill>
          <a:ln w="12700">
            <a:solidFill>
              <a:srgbClr val="2B3A4B"/>
            </a:solidFill>
            <a:prstDash val="solid"/>
          </a:ln>
        </p:spPr>
      </p:sp>
      <p:sp>
        <p:nvSpPr>
          <p:cNvPr id="15" name="Shape 13"/>
          <p:cNvSpPr/>
          <p:nvPr/>
        </p:nvSpPr>
        <p:spPr>
          <a:xfrm>
            <a:off x="2025396" y="4828032"/>
            <a:ext cx="118872" cy="118872"/>
          </a:xfrm>
          <a:prstGeom prst="rect">
            <a:avLst/>
          </a:prstGeom>
          <a:solidFill>
            <a:srgbClr val="2B3A4B"/>
          </a:solidFill>
          <a:ln w="12700">
            <a:solidFill>
              <a:srgbClr val="2B3A4B"/>
            </a:solidFill>
            <a:prstDash val="solid"/>
          </a:ln>
        </p:spPr>
      </p:sp>
      <p:sp>
        <p:nvSpPr>
          <p:cNvPr id="16" name="Shape 14"/>
          <p:cNvSpPr/>
          <p:nvPr/>
        </p:nvSpPr>
        <p:spPr>
          <a:xfrm>
            <a:off x="2212848" y="4828032"/>
            <a:ext cx="118872" cy="118872"/>
          </a:xfrm>
          <a:prstGeom prst="rect">
            <a:avLst/>
          </a:prstGeom>
          <a:solidFill>
            <a:srgbClr val="2B3A4B"/>
          </a:solidFill>
          <a:ln w="12700">
            <a:solidFill>
              <a:srgbClr val="2B3A4B"/>
            </a:solidFill>
            <a:prstDash val="solid"/>
          </a:ln>
        </p:spPr>
      </p:sp>
      <p:sp>
        <p:nvSpPr>
          <p:cNvPr id="17" name="Shape 15"/>
          <p:cNvSpPr/>
          <p:nvPr/>
        </p:nvSpPr>
        <p:spPr>
          <a:xfrm>
            <a:off x="2400300" y="4828032"/>
            <a:ext cx="118872" cy="118872"/>
          </a:xfrm>
          <a:prstGeom prst="rect">
            <a:avLst/>
          </a:prstGeom>
          <a:solidFill>
            <a:srgbClr val="2B3A4B"/>
          </a:solidFill>
          <a:ln w="12700">
            <a:solidFill>
              <a:srgbClr val="2B3A4B"/>
            </a:solidFill>
            <a:prstDash val="solid"/>
          </a:ln>
        </p:spPr>
      </p:sp>
      <p:sp>
        <p:nvSpPr>
          <p:cNvPr id="18" name="Shape 16"/>
          <p:cNvSpPr/>
          <p:nvPr/>
        </p:nvSpPr>
        <p:spPr>
          <a:xfrm>
            <a:off x="2587752" y="4828032"/>
            <a:ext cx="118872" cy="118872"/>
          </a:xfrm>
          <a:prstGeom prst="rect">
            <a:avLst/>
          </a:prstGeom>
          <a:solidFill>
            <a:srgbClr val="2B3A4B"/>
          </a:solidFill>
          <a:ln w="12700">
            <a:solidFill>
              <a:srgbClr val="2B3A4B"/>
            </a:solidFill>
            <a:prstDash val="solid"/>
          </a:ln>
        </p:spPr>
      </p:sp>
      <p:sp>
        <p:nvSpPr>
          <p:cNvPr id="19" name="Shape 17"/>
          <p:cNvSpPr/>
          <p:nvPr/>
        </p:nvSpPr>
        <p:spPr>
          <a:xfrm>
            <a:off x="2775204" y="4828032"/>
            <a:ext cx="118872" cy="208026"/>
          </a:xfrm>
          <a:prstGeom prst="rect">
            <a:avLst/>
          </a:prstGeom>
          <a:solidFill>
            <a:srgbClr val="B0703A"/>
          </a:solidFill>
          <a:ln w="12700">
            <a:solidFill>
              <a:srgbClr val="B0703A"/>
            </a:solidFill>
            <a:prstDash val="solid"/>
          </a:ln>
        </p:spPr>
      </p:sp>
      <p:sp>
        <p:nvSpPr>
          <p:cNvPr id="20" name="Shape 18"/>
          <p:cNvSpPr/>
          <p:nvPr/>
        </p:nvSpPr>
        <p:spPr>
          <a:xfrm>
            <a:off x="2962656" y="4828032"/>
            <a:ext cx="118872" cy="118872"/>
          </a:xfrm>
          <a:prstGeom prst="rect">
            <a:avLst/>
          </a:prstGeom>
          <a:solidFill>
            <a:srgbClr val="2B3A4B"/>
          </a:solidFill>
          <a:ln w="12700">
            <a:solidFill>
              <a:srgbClr val="2B3A4B"/>
            </a:solidFill>
            <a:prstDash val="solid"/>
          </a:ln>
        </p:spPr>
      </p:sp>
      <p:sp>
        <p:nvSpPr>
          <p:cNvPr id="21" name="Shape 19"/>
          <p:cNvSpPr/>
          <p:nvPr/>
        </p:nvSpPr>
        <p:spPr>
          <a:xfrm>
            <a:off x="3150108" y="4828032"/>
            <a:ext cx="118872" cy="118872"/>
          </a:xfrm>
          <a:prstGeom prst="rect">
            <a:avLst/>
          </a:prstGeom>
          <a:solidFill>
            <a:srgbClr val="2B3A4B"/>
          </a:solidFill>
          <a:ln w="12700">
            <a:solidFill>
              <a:srgbClr val="2B3A4B"/>
            </a:solidFill>
            <a:prstDash val="solid"/>
          </a:ln>
        </p:spPr>
      </p:sp>
      <p:sp>
        <p:nvSpPr>
          <p:cNvPr id="22" name="Shape 20"/>
          <p:cNvSpPr/>
          <p:nvPr/>
        </p:nvSpPr>
        <p:spPr>
          <a:xfrm>
            <a:off x="3337560" y="4828032"/>
            <a:ext cx="118872" cy="118872"/>
          </a:xfrm>
          <a:prstGeom prst="rect">
            <a:avLst/>
          </a:prstGeom>
          <a:solidFill>
            <a:srgbClr val="2B3A4B"/>
          </a:solidFill>
          <a:ln w="12700">
            <a:solidFill>
              <a:srgbClr val="2B3A4B"/>
            </a:solidFill>
            <a:prstDash val="solid"/>
          </a:ln>
        </p:spPr>
      </p:sp>
      <p:sp>
        <p:nvSpPr>
          <p:cNvPr id="23" name="Shape 21"/>
          <p:cNvSpPr/>
          <p:nvPr/>
        </p:nvSpPr>
        <p:spPr>
          <a:xfrm>
            <a:off x="3525012" y="4828032"/>
            <a:ext cx="118872" cy="118872"/>
          </a:xfrm>
          <a:prstGeom prst="rect">
            <a:avLst/>
          </a:prstGeom>
          <a:solidFill>
            <a:srgbClr val="2B3A4B"/>
          </a:solidFill>
          <a:ln w="12700">
            <a:solidFill>
              <a:srgbClr val="2B3A4B"/>
            </a:solidFill>
            <a:prstDash val="solid"/>
          </a:ln>
        </p:spPr>
      </p:sp>
      <p:sp>
        <p:nvSpPr>
          <p:cNvPr id="24" name="Shape 22"/>
          <p:cNvSpPr/>
          <p:nvPr/>
        </p:nvSpPr>
        <p:spPr>
          <a:xfrm>
            <a:off x="3712464" y="4828032"/>
            <a:ext cx="118872" cy="118872"/>
          </a:xfrm>
          <a:prstGeom prst="rect">
            <a:avLst/>
          </a:prstGeom>
          <a:solidFill>
            <a:srgbClr val="2B3A4B"/>
          </a:solidFill>
          <a:ln w="12700">
            <a:solidFill>
              <a:srgbClr val="2B3A4B"/>
            </a:solidFill>
            <a:prstDash val="solid"/>
          </a:ln>
        </p:spPr>
      </p:sp>
      <p:sp>
        <p:nvSpPr>
          <p:cNvPr id="25" name="Shape 23"/>
          <p:cNvSpPr/>
          <p:nvPr/>
        </p:nvSpPr>
        <p:spPr>
          <a:xfrm>
            <a:off x="3899916" y="4828032"/>
            <a:ext cx="118872" cy="118872"/>
          </a:xfrm>
          <a:prstGeom prst="rect">
            <a:avLst/>
          </a:prstGeom>
          <a:solidFill>
            <a:srgbClr val="2B3A4B"/>
          </a:solidFill>
          <a:ln w="12700">
            <a:solidFill>
              <a:srgbClr val="2B3A4B"/>
            </a:solidFill>
            <a:prstDash val="solid"/>
          </a:ln>
        </p:spPr>
      </p:sp>
      <p:sp>
        <p:nvSpPr>
          <p:cNvPr id="26" name="Shape 24"/>
          <p:cNvSpPr/>
          <p:nvPr/>
        </p:nvSpPr>
        <p:spPr>
          <a:xfrm>
            <a:off x="4087368" y="4828032"/>
            <a:ext cx="118872" cy="118872"/>
          </a:xfrm>
          <a:prstGeom prst="rect">
            <a:avLst/>
          </a:prstGeom>
          <a:solidFill>
            <a:srgbClr val="2B3A4B"/>
          </a:solidFill>
          <a:ln w="12700">
            <a:solidFill>
              <a:srgbClr val="2B3A4B"/>
            </a:solidFill>
            <a:prstDash val="solid"/>
          </a:ln>
        </p:spPr>
      </p:sp>
      <p:sp>
        <p:nvSpPr>
          <p:cNvPr id="27" name="Shape 25"/>
          <p:cNvSpPr/>
          <p:nvPr/>
        </p:nvSpPr>
        <p:spPr>
          <a:xfrm>
            <a:off x="4274820" y="4828032"/>
            <a:ext cx="118872" cy="208026"/>
          </a:xfrm>
          <a:prstGeom prst="rect">
            <a:avLst/>
          </a:prstGeom>
          <a:solidFill>
            <a:srgbClr val="B0703A"/>
          </a:solidFill>
          <a:ln w="12700">
            <a:solidFill>
              <a:srgbClr val="B0703A"/>
            </a:solidFill>
            <a:prstDash val="solid"/>
          </a:ln>
        </p:spPr>
      </p:sp>
      <p:sp>
        <p:nvSpPr>
          <p:cNvPr id="28" name="Shape 26"/>
          <p:cNvSpPr/>
          <p:nvPr/>
        </p:nvSpPr>
        <p:spPr>
          <a:xfrm>
            <a:off x="4462272" y="4828032"/>
            <a:ext cx="118872" cy="118872"/>
          </a:xfrm>
          <a:prstGeom prst="rect">
            <a:avLst/>
          </a:prstGeom>
          <a:solidFill>
            <a:srgbClr val="2B3A4B"/>
          </a:solidFill>
          <a:ln w="12700">
            <a:solidFill>
              <a:srgbClr val="2B3A4B"/>
            </a:solidFill>
            <a:prstDash val="solid"/>
          </a:ln>
        </p:spPr>
      </p:sp>
      <p:sp>
        <p:nvSpPr>
          <p:cNvPr id="29" name="Shape 27"/>
          <p:cNvSpPr/>
          <p:nvPr/>
        </p:nvSpPr>
        <p:spPr>
          <a:xfrm>
            <a:off x="4649724" y="4828032"/>
            <a:ext cx="118872" cy="118872"/>
          </a:xfrm>
          <a:prstGeom prst="rect">
            <a:avLst/>
          </a:prstGeom>
          <a:solidFill>
            <a:srgbClr val="2B3A4B"/>
          </a:solidFill>
          <a:ln w="12700">
            <a:solidFill>
              <a:srgbClr val="2B3A4B"/>
            </a:solidFill>
            <a:prstDash val="solid"/>
          </a:ln>
        </p:spPr>
      </p:sp>
      <p:sp>
        <p:nvSpPr>
          <p:cNvPr id="30" name="Shape 28"/>
          <p:cNvSpPr/>
          <p:nvPr/>
        </p:nvSpPr>
        <p:spPr>
          <a:xfrm>
            <a:off x="4837176" y="4828032"/>
            <a:ext cx="118872" cy="118872"/>
          </a:xfrm>
          <a:prstGeom prst="rect">
            <a:avLst/>
          </a:prstGeom>
          <a:solidFill>
            <a:srgbClr val="2B3A4B"/>
          </a:solidFill>
          <a:ln w="12700">
            <a:solidFill>
              <a:srgbClr val="2B3A4B"/>
            </a:solidFill>
            <a:prstDash val="solid"/>
          </a:ln>
        </p:spPr>
      </p:sp>
      <p:sp>
        <p:nvSpPr>
          <p:cNvPr id="31" name="Shape 29"/>
          <p:cNvSpPr/>
          <p:nvPr/>
        </p:nvSpPr>
        <p:spPr>
          <a:xfrm>
            <a:off x="5024628" y="4828032"/>
            <a:ext cx="118872" cy="118872"/>
          </a:xfrm>
          <a:prstGeom prst="rect">
            <a:avLst/>
          </a:prstGeom>
          <a:solidFill>
            <a:srgbClr val="2B3A4B"/>
          </a:solidFill>
          <a:ln w="12700">
            <a:solidFill>
              <a:srgbClr val="2B3A4B"/>
            </a:solidFill>
            <a:prstDash val="solid"/>
          </a:ln>
        </p:spPr>
      </p:sp>
      <p:sp>
        <p:nvSpPr>
          <p:cNvPr id="32" name="Shape 30"/>
          <p:cNvSpPr/>
          <p:nvPr/>
        </p:nvSpPr>
        <p:spPr>
          <a:xfrm>
            <a:off x="5212080" y="4828032"/>
            <a:ext cx="118872" cy="118872"/>
          </a:xfrm>
          <a:prstGeom prst="rect">
            <a:avLst/>
          </a:prstGeom>
          <a:solidFill>
            <a:srgbClr val="2B3A4B"/>
          </a:solidFill>
          <a:ln w="12700">
            <a:solidFill>
              <a:srgbClr val="2B3A4B"/>
            </a:solidFill>
            <a:prstDash val="solid"/>
          </a:ln>
        </p:spPr>
      </p:sp>
      <p:sp>
        <p:nvSpPr>
          <p:cNvPr id="33" name="Shape 31"/>
          <p:cNvSpPr/>
          <p:nvPr/>
        </p:nvSpPr>
        <p:spPr>
          <a:xfrm>
            <a:off x="5399532" y="4828032"/>
            <a:ext cx="118872" cy="118872"/>
          </a:xfrm>
          <a:prstGeom prst="rect">
            <a:avLst/>
          </a:prstGeom>
          <a:solidFill>
            <a:srgbClr val="2B3A4B"/>
          </a:solidFill>
          <a:ln w="12700">
            <a:solidFill>
              <a:srgbClr val="2B3A4B"/>
            </a:solidFill>
            <a:prstDash val="solid"/>
          </a:ln>
        </p:spPr>
      </p:sp>
      <p:sp>
        <p:nvSpPr>
          <p:cNvPr id="34" name="Text 32"/>
          <p:cNvSpPr txBox="1"/>
          <p:nvPr/>
        </p:nvSpPr>
        <p:spPr>
          <a:xfrm>
            <a:off x="713232" y="5230368"/>
            <a:ext cx="2011680" cy="219456"/>
          </a:xfrm>
          <a:prstGeom prst="rect">
            <a:avLst/>
          </a:prstGeom>
          <a:noFill/>
          <a:ln/>
        </p:spPr>
        <p:txBody>
          <a:bodyPr wrap="square" lIns="0" tIns="0" rIns="0" bIns="0" rtlCol="0" anchor="t"/>
          <a:lstStyle/>
          <a:p>
            <a:pPr indent="0" marL="0">
              <a:buNone/>
            </a:pPr>
            <a:r>
              <a:rPr lang="en-US" sz="950" dirty="0">
                <a:solidFill>
                  <a:srgbClr val="6E7F91"/>
                </a:solidFill>
                <a:latin typeface="Malgun Gothic" pitchFamily="34" charset="0"/>
                <a:ea typeface="Malgun Gothic" pitchFamily="34" charset="-122"/>
                <a:cs typeface="Malgun Gothic" pitchFamily="34" charset="-120"/>
              </a:rPr>
              <a:t>당일 공시 전체</a:t>
            </a:r>
            <a:endParaRPr lang="en-US" sz="950" dirty="0"/>
          </a:p>
        </p:txBody>
      </p:sp>
      <p:sp>
        <p:nvSpPr>
          <p:cNvPr id="35" name="Text 33"/>
          <p:cNvSpPr txBox="1"/>
          <p:nvPr/>
        </p:nvSpPr>
        <p:spPr>
          <a:xfrm>
            <a:off x="2816352" y="5230368"/>
            <a:ext cx="2377440" cy="219456"/>
          </a:xfrm>
          <a:prstGeom prst="rect">
            <a:avLst/>
          </a:prstGeom>
          <a:noFill/>
          <a:ln/>
        </p:spPr>
        <p:txBody>
          <a:bodyPr wrap="square" lIns="0" tIns="0" rIns="0" bIns="0" rtlCol="0" anchor="t"/>
          <a:lstStyle/>
          <a:p>
            <a:pPr indent="0" marL="0">
              <a:buNone/>
            </a:pPr>
            <a:r>
              <a:rPr lang="en-US" sz="950" b="1" dirty="0">
                <a:solidFill>
                  <a:srgbClr val="E0A76D"/>
                </a:solidFill>
                <a:latin typeface="Malgun Gothic" pitchFamily="34" charset="0"/>
                <a:ea typeface="Malgun Gothic" pitchFamily="34" charset="-122"/>
                <a:cs typeface="Malgun Gothic" pitchFamily="34" charset="-120"/>
              </a:rPr>
              <a:t>주요 공시만 발송</a:t>
            </a:r>
            <a:endParaRPr lang="en-US" sz="950" dirty="0"/>
          </a:p>
        </p:txBody>
      </p:sp>
      <p:sp>
        <p:nvSpPr>
          <p:cNvPr id="36" name="Shape 34"/>
          <p:cNvSpPr/>
          <p:nvPr/>
        </p:nvSpPr>
        <p:spPr>
          <a:xfrm>
            <a:off x="8278063" y="1133856"/>
            <a:ext cx="18288" cy="4114800"/>
          </a:xfrm>
          <a:prstGeom prst="rect">
            <a:avLst/>
          </a:prstGeom>
          <a:solidFill>
            <a:srgbClr val="2B3A4B"/>
          </a:solidFill>
          <a:ln w="12700">
            <a:solidFill>
              <a:srgbClr val="333333"/>
            </a:solidFill>
            <a:prstDash val="solid"/>
          </a:ln>
        </p:spPr>
      </p:sp>
      <p:sp>
        <p:nvSpPr>
          <p:cNvPr id="37" name="Text 35"/>
          <p:cNvSpPr txBox="1"/>
          <p:nvPr/>
        </p:nvSpPr>
        <p:spPr>
          <a:xfrm>
            <a:off x="8643823" y="1133856"/>
            <a:ext cx="2834640" cy="219456"/>
          </a:xfrm>
          <a:prstGeom prst="rect">
            <a:avLst/>
          </a:prstGeom>
          <a:noFill/>
          <a:ln/>
        </p:spPr>
        <p:txBody>
          <a:bodyPr wrap="square" lIns="0" tIns="0" rIns="0" bIns="0" rtlCol="0" anchor="t"/>
          <a:lstStyle/>
          <a:p>
            <a:pPr indent="0" marL="0">
              <a:buNone/>
            </a:pPr>
            <a:r>
              <a:rPr lang="en-US" sz="950" spc="120" kern="0" dirty="0">
                <a:solidFill>
                  <a:srgbClr val="6E7F91"/>
                </a:solidFill>
                <a:latin typeface="Malgun Gothic" pitchFamily="34" charset="0"/>
                <a:ea typeface="Malgun Gothic" pitchFamily="34" charset="-122"/>
                <a:cs typeface="Malgun Gothic" pitchFamily="34" charset="-120"/>
              </a:rPr>
              <a:t>감지 주기</a:t>
            </a:r>
            <a:endParaRPr lang="en-US" sz="950" dirty="0"/>
          </a:p>
        </p:txBody>
      </p:sp>
      <p:sp>
        <p:nvSpPr>
          <p:cNvPr id="38" name="Text 36"/>
          <p:cNvSpPr txBox="1"/>
          <p:nvPr/>
        </p:nvSpPr>
        <p:spPr>
          <a:xfrm>
            <a:off x="8643823" y="1408176"/>
            <a:ext cx="2834640"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5분</a:t>
            </a:r>
            <a:endParaRPr lang="en-US" sz="1300" dirty="0"/>
          </a:p>
        </p:txBody>
      </p:sp>
      <p:sp>
        <p:nvSpPr>
          <p:cNvPr id="39" name="Text 37"/>
          <p:cNvSpPr txBox="1"/>
          <p:nvPr/>
        </p:nvSpPr>
        <p:spPr>
          <a:xfrm>
            <a:off x="8643823" y="2185416"/>
            <a:ext cx="2834640" cy="219456"/>
          </a:xfrm>
          <a:prstGeom prst="rect">
            <a:avLst/>
          </a:prstGeom>
          <a:noFill/>
          <a:ln/>
        </p:spPr>
        <p:txBody>
          <a:bodyPr wrap="square" lIns="0" tIns="0" rIns="0" bIns="0" rtlCol="0" anchor="t"/>
          <a:lstStyle/>
          <a:p>
            <a:pPr indent="0" marL="0">
              <a:buNone/>
            </a:pPr>
            <a:r>
              <a:rPr lang="en-US" sz="950" spc="120" kern="0" dirty="0">
                <a:solidFill>
                  <a:srgbClr val="6E7F91"/>
                </a:solidFill>
                <a:latin typeface="Malgun Gothic" pitchFamily="34" charset="0"/>
                <a:ea typeface="Malgun Gothic" pitchFamily="34" charset="-122"/>
                <a:cs typeface="Malgun Gothic" pitchFamily="34" charset="-120"/>
              </a:rPr>
              <a:t>감시 대상</a:t>
            </a:r>
            <a:endParaRPr lang="en-US" sz="950" dirty="0"/>
          </a:p>
        </p:txBody>
      </p:sp>
      <p:sp>
        <p:nvSpPr>
          <p:cNvPr id="40" name="Text 38"/>
          <p:cNvSpPr txBox="1"/>
          <p:nvPr/>
        </p:nvSpPr>
        <p:spPr>
          <a:xfrm>
            <a:off x="8643823" y="2459736"/>
            <a:ext cx="2834640"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9개사 · 12개 공시 유형</a:t>
            </a:r>
            <a:endParaRPr lang="en-US" sz="1300" dirty="0"/>
          </a:p>
        </p:txBody>
      </p:sp>
      <p:sp>
        <p:nvSpPr>
          <p:cNvPr id="41" name="Text 39"/>
          <p:cNvSpPr txBox="1"/>
          <p:nvPr/>
        </p:nvSpPr>
        <p:spPr>
          <a:xfrm>
            <a:off x="8643823" y="3236976"/>
            <a:ext cx="2834640" cy="219456"/>
          </a:xfrm>
          <a:prstGeom prst="rect">
            <a:avLst/>
          </a:prstGeom>
          <a:noFill/>
          <a:ln/>
        </p:spPr>
        <p:txBody>
          <a:bodyPr wrap="square" lIns="0" tIns="0" rIns="0" bIns="0" rtlCol="0" anchor="t"/>
          <a:lstStyle/>
          <a:p>
            <a:pPr indent="0" marL="0">
              <a:buNone/>
            </a:pPr>
            <a:r>
              <a:rPr lang="en-US" sz="950" spc="120" kern="0" dirty="0">
                <a:solidFill>
                  <a:srgbClr val="6E7F91"/>
                </a:solidFill>
                <a:latin typeface="Malgun Gothic" pitchFamily="34" charset="0"/>
                <a:ea typeface="Malgun Gothic" pitchFamily="34" charset="-122"/>
                <a:cs typeface="Malgun Gothic" pitchFamily="34" charset="-120"/>
              </a:rPr>
              <a:t>발송 채널</a:t>
            </a:r>
            <a:endParaRPr lang="en-US" sz="950" dirty="0"/>
          </a:p>
        </p:txBody>
      </p:sp>
      <p:sp>
        <p:nvSpPr>
          <p:cNvPr id="42" name="Text 40"/>
          <p:cNvSpPr txBox="1"/>
          <p:nvPr/>
        </p:nvSpPr>
        <p:spPr>
          <a:xfrm>
            <a:off x="8643823" y="3511296"/>
            <a:ext cx="2834640"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Telegram · 이메일</a:t>
            </a:r>
            <a:endParaRPr lang="en-US" sz="1300" dirty="0"/>
          </a:p>
        </p:txBody>
      </p:sp>
      <p:sp>
        <p:nvSpPr>
          <p:cNvPr id="43" name="Text 41"/>
          <p:cNvSpPr txBox="1"/>
          <p:nvPr/>
        </p:nvSpPr>
        <p:spPr>
          <a:xfrm>
            <a:off x="8643823" y="4288536"/>
            <a:ext cx="2834640" cy="219456"/>
          </a:xfrm>
          <a:prstGeom prst="rect">
            <a:avLst/>
          </a:prstGeom>
          <a:noFill/>
          <a:ln/>
        </p:spPr>
        <p:txBody>
          <a:bodyPr wrap="square" lIns="0" tIns="0" rIns="0" bIns="0" rtlCol="0" anchor="t"/>
          <a:lstStyle/>
          <a:p>
            <a:pPr indent="0" marL="0">
              <a:buNone/>
            </a:pPr>
            <a:r>
              <a:rPr lang="en-US" sz="950" spc="120" kern="0" dirty="0">
                <a:solidFill>
                  <a:srgbClr val="6E7F91"/>
                </a:solidFill>
                <a:latin typeface="Malgun Gothic" pitchFamily="34" charset="0"/>
                <a:ea typeface="Malgun Gothic" pitchFamily="34" charset="-122"/>
                <a:cs typeface="Malgun Gothic" pitchFamily="34" charset="-120"/>
              </a:rPr>
              <a:t>중복 발송</a:t>
            </a:r>
            <a:endParaRPr lang="en-US" sz="950" dirty="0"/>
          </a:p>
        </p:txBody>
      </p:sp>
      <p:sp>
        <p:nvSpPr>
          <p:cNvPr id="44" name="Text 42"/>
          <p:cNvSpPr txBox="1"/>
          <p:nvPr/>
        </p:nvSpPr>
        <p:spPr>
          <a:xfrm>
            <a:off x="8643823" y="4562856"/>
            <a:ext cx="2834640"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복합키로 원천 차단</a:t>
            </a:r>
            <a:endParaRPr lang="en-US" sz="1300" dirty="0"/>
          </a:p>
        </p:txBody>
      </p:sp>
      <p:sp>
        <p:nvSpPr>
          <p:cNvPr id="45" name="Text 43"/>
          <p:cNvSpPr txBox="1"/>
          <p:nvPr/>
        </p:nvSpPr>
        <p:spPr>
          <a:xfrm>
            <a:off x="713232" y="6089904"/>
            <a:ext cx="7315200" cy="237744"/>
          </a:xfrm>
          <a:prstGeom prst="rect">
            <a:avLst/>
          </a:prstGeom>
          <a:noFill/>
          <a:ln/>
        </p:spPr>
        <p:txBody>
          <a:bodyPr wrap="square" lIns="0" tIns="0" rIns="0" bIns="0" rtlCol="0" anchor="t"/>
          <a:lstStyle/>
          <a:p>
            <a:pPr indent="0" marL="0">
              <a:buNone/>
            </a:pPr>
            <a:r>
              <a:rPr lang="en-US" sz="950" dirty="0">
                <a:solidFill>
                  <a:srgbClr val="6E7F91"/>
                </a:solidFill>
                <a:latin typeface="Malgun Gothic" pitchFamily="34" charset="0"/>
                <a:ea typeface="Malgun Gothic" pitchFamily="34" charset="-122"/>
                <a:cs typeface="Malgun Gothic" pitchFamily="34" charset="-120"/>
              </a:rPr>
              <a:t>FUTURE:M RADAR  ·  backend/services/alert_monitor.py</a:t>
            </a:r>
            <a:endParaRPr lang="en-US" sz="950" dirty="0"/>
          </a:p>
        </p:txBody>
      </p:sp>
      <p:sp>
        <p:nvSpPr>
          <p:cNvPr id="46" name="Text 4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6E7F91"/>
                </a:solidFill>
                <a:latin typeface="Malgun Gothic" pitchFamily="34" charset="0"/>
                <a:ea typeface="Malgun Gothic" pitchFamily="34" charset="-122"/>
                <a:cs typeface="Malgun Gothic"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WHY</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대시보드만으로는 부족했습니다</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화면은 사람이 들어와야 보입니다. 중요한 공시일수록 그 시차가 문제였습니다</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02</a:t>
            </a:r>
            <a:endParaRPr lang="en-US" sz="950" dirty="0"/>
          </a:p>
        </p:txBody>
      </p:sp>
      <p:sp>
        <p:nvSpPr>
          <p:cNvPr id="7" name="Shape 5"/>
          <p:cNvSpPr/>
          <p:nvPr/>
        </p:nvSpPr>
        <p:spPr>
          <a:xfrm>
            <a:off x="713232" y="1792224"/>
            <a:ext cx="3401568" cy="2103120"/>
          </a:xfrm>
          <a:prstGeom prst="rect">
            <a:avLst/>
          </a:prstGeom>
          <a:solidFill>
            <a:srgbClr val="FFFFFF"/>
          </a:solidFill>
          <a:ln w="9525">
            <a:solidFill>
              <a:srgbClr val="DFE3E8"/>
            </a:solidFill>
            <a:prstDash val="solid"/>
          </a:ln>
        </p:spPr>
      </p:sp>
      <p:sp>
        <p:nvSpPr>
          <p:cNvPr id="8" name="Shape 6"/>
          <p:cNvSpPr/>
          <p:nvPr/>
        </p:nvSpPr>
        <p:spPr>
          <a:xfrm>
            <a:off x="1024128" y="2066544"/>
            <a:ext cx="91440" cy="91440"/>
          </a:xfrm>
          <a:prstGeom prst="rect">
            <a:avLst/>
          </a:prstGeom>
          <a:solidFill>
            <a:srgbClr val="A8443E"/>
          </a:solidFill>
          <a:ln w="12700">
            <a:solidFill>
              <a:srgbClr val="A8443E"/>
            </a:solidFill>
            <a:prstDash val="solid"/>
          </a:ln>
        </p:spPr>
      </p:sp>
      <p:sp>
        <p:nvSpPr>
          <p:cNvPr id="9" name="Text 7"/>
          <p:cNvSpPr txBox="1"/>
          <p:nvPr/>
        </p:nvSpPr>
        <p:spPr>
          <a:xfrm>
            <a:off x="1024128" y="2322576"/>
            <a:ext cx="2834640" cy="310896"/>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보지 않으면 모른다</a:t>
            </a:r>
            <a:endParaRPr lang="en-US" sz="1500" dirty="0"/>
          </a:p>
        </p:txBody>
      </p:sp>
      <p:sp>
        <p:nvSpPr>
          <p:cNvPr id="10" name="Text 8"/>
          <p:cNvSpPr txBox="1"/>
          <p:nvPr/>
        </p:nvSpPr>
        <p:spPr>
          <a:xfrm>
            <a:off x="1024128" y="2743200"/>
            <a:ext cx="2798064" cy="969264"/>
          </a:xfrm>
          <a:prstGeom prst="rect">
            <a:avLst/>
          </a:prstGeom>
          <a:noFill/>
          <a:ln/>
        </p:spPr>
        <p:txBody>
          <a:bodyPr wrap="square" lIns="0" tIns="0" rIns="0" bIns="0" rtlCol="0" anchor="t"/>
          <a:lstStyle/>
          <a:p>
            <a:pPr indent="0" marL="0">
              <a:lnSpc>
                <a:spcPts val="1800"/>
              </a:lnSpc>
              <a:buNone/>
            </a:pPr>
            <a:r>
              <a:rPr lang="en-US" sz="1100" dirty="0">
                <a:solidFill>
                  <a:srgbClr val="4A5560"/>
                </a:solidFill>
                <a:latin typeface="Malgun Gothic" pitchFamily="34" charset="0"/>
                <a:ea typeface="Malgun Gothic" pitchFamily="34" charset="-122"/>
                <a:cs typeface="Malgun Gothic" pitchFamily="34" charset="-120"/>
              </a:rPr>
              <a:t>대시보드는 접속해야 확인됩니다. 퇴근 후나 회의 중에 접수된 계약·증자 공시는 다음 날에야 인지됩니다.</a:t>
            </a:r>
            <a:endParaRPr lang="en-US" sz="1100" dirty="0"/>
          </a:p>
        </p:txBody>
      </p:sp>
      <p:sp>
        <p:nvSpPr>
          <p:cNvPr id="11" name="Shape 9"/>
          <p:cNvSpPr/>
          <p:nvPr/>
        </p:nvSpPr>
        <p:spPr>
          <a:xfrm>
            <a:off x="4370832" y="1792224"/>
            <a:ext cx="3401568" cy="2103120"/>
          </a:xfrm>
          <a:prstGeom prst="rect">
            <a:avLst/>
          </a:prstGeom>
          <a:solidFill>
            <a:srgbClr val="FFFFFF"/>
          </a:solidFill>
          <a:ln w="9525">
            <a:solidFill>
              <a:srgbClr val="DFE3E8"/>
            </a:solidFill>
            <a:prstDash val="solid"/>
          </a:ln>
        </p:spPr>
      </p:sp>
      <p:sp>
        <p:nvSpPr>
          <p:cNvPr id="12" name="Shape 10"/>
          <p:cNvSpPr/>
          <p:nvPr/>
        </p:nvSpPr>
        <p:spPr>
          <a:xfrm>
            <a:off x="4681728" y="2066544"/>
            <a:ext cx="91440" cy="91440"/>
          </a:xfrm>
          <a:prstGeom prst="rect">
            <a:avLst/>
          </a:prstGeom>
          <a:solidFill>
            <a:srgbClr val="B0703A"/>
          </a:solidFill>
          <a:ln w="12700">
            <a:solidFill>
              <a:srgbClr val="B0703A"/>
            </a:solidFill>
            <a:prstDash val="solid"/>
          </a:ln>
        </p:spPr>
      </p:sp>
      <p:sp>
        <p:nvSpPr>
          <p:cNvPr id="13" name="Text 11"/>
          <p:cNvSpPr txBox="1"/>
          <p:nvPr/>
        </p:nvSpPr>
        <p:spPr>
          <a:xfrm>
            <a:off x="4681728" y="2322576"/>
            <a:ext cx="2834640" cy="310896"/>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중요한 건일수록 빠르다</a:t>
            </a:r>
            <a:endParaRPr lang="en-US" sz="1500" dirty="0"/>
          </a:p>
        </p:txBody>
      </p:sp>
      <p:sp>
        <p:nvSpPr>
          <p:cNvPr id="14" name="Text 12"/>
          <p:cNvSpPr txBox="1"/>
          <p:nvPr/>
        </p:nvSpPr>
        <p:spPr>
          <a:xfrm>
            <a:off x="4681728" y="2743200"/>
            <a:ext cx="2798064" cy="969264"/>
          </a:xfrm>
          <a:prstGeom prst="rect">
            <a:avLst/>
          </a:prstGeom>
          <a:noFill/>
          <a:ln/>
        </p:spPr>
        <p:txBody>
          <a:bodyPr wrap="square" lIns="0" tIns="0" rIns="0" bIns="0" rtlCol="0" anchor="t"/>
          <a:lstStyle/>
          <a:p>
            <a:pPr indent="0" marL="0">
              <a:lnSpc>
                <a:spcPts val="1800"/>
              </a:lnSpc>
              <a:buNone/>
            </a:pPr>
            <a:r>
              <a:rPr lang="en-US" sz="1100" dirty="0">
                <a:solidFill>
                  <a:srgbClr val="4A5560"/>
                </a:solidFill>
                <a:latin typeface="Malgun Gothic" pitchFamily="34" charset="0"/>
                <a:ea typeface="Malgun Gothic" pitchFamily="34" charset="-122"/>
                <a:cs typeface="Malgun Gothic" pitchFamily="34" charset="-120"/>
              </a:rPr>
              <a:t>공급계약 체결이나 유상증자 결정은 당일 주가와 경쟁 대응에 직접 영향을 줍니다. 하루 늦으면 대응 시점을 놓칩니다.</a:t>
            </a:r>
            <a:endParaRPr lang="en-US" sz="1100" dirty="0"/>
          </a:p>
        </p:txBody>
      </p:sp>
      <p:sp>
        <p:nvSpPr>
          <p:cNvPr id="15" name="Shape 13"/>
          <p:cNvSpPr/>
          <p:nvPr/>
        </p:nvSpPr>
        <p:spPr>
          <a:xfrm>
            <a:off x="8028432" y="1792224"/>
            <a:ext cx="3401568" cy="2103120"/>
          </a:xfrm>
          <a:prstGeom prst="rect">
            <a:avLst/>
          </a:prstGeom>
          <a:solidFill>
            <a:srgbClr val="FFFFFF"/>
          </a:solidFill>
          <a:ln w="9525">
            <a:solidFill>
              <a:srgbClr val="DFE3E8"/>
            </a:solidFill>
            <a:prstDash val="solid"/>
          </a:ln>
        </p:spPr>
      </p:sp>
      <p:sp>
        <p:nvSpPr>
          <p:cNvPr id="16" name="Shape 14"/>
          <p:cNvSpPr/>
          <p:nvPr/>
        </p:nvSpPr>
        <p:spPr>
          <a:xfrm>
            <a:off x="8339328" y="2066544"/>
            <a:ext cx="91440" cy="91440"/>
          </a:xfrm>
          <a:prstGeom prst="rect">
            <a:avLst/>
          </a:prstGeom>
          <a:solidFill>
            <a:srgbClr val="35618F"/>
          </a:solidFill>
          <a:ln w="12700">
            <a:solidFill>
              <a:srgbClr val="35618F"/>
            </a:solidFill>
            <a:prstDash val="solid"/>
          </a:ln>
        </p:spPr>
      </p:sp>
      <p:sp>
        <p:nvSpPr>
          <p:cNvPr id="17" name="Text 15"/>
          <p:cNvSpPr txBox="1"/>
          <p:nvPr/>
        </p:nvSpPr>
        <p:spPr>
          <a:xfrm>
            <a:off x="8339328" y="2322576"/>
            <a:ext cx="2834640" cy="310896"/>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공유가 사람 손에 달려 있다</a:t>
            </a:r>
            <a:endParaRPr lang="en-US" sz="1500" dirty="0"/>
          </a:p>
        </p:txBody>
      </p:sp>
      <p:sp>
        <p:nvSpPr>
          <p:cNvPr id="18" name="Text 16"/>
          <p:cNvSpPr txBox="1"/>
          <p:nvPr/>
        </p:nvSpPr>
        <p:spPr>
          <a:xfrm>
            <a:off x="8339328" y="2743200"/>
            <a:ext cx="2798064" cy="969264"/>
          </a:xfrm>
          <a:prstGeom prst="rect">
            <a:avLst/>
          </a:prstGeom>
          <a:noFill/>
          <a:ln/>
        </p:spPr>
        <p:txBody>
          <a:bodyPr wrap="square" lIns="0" tIns="0" rIns="0" bIns="0" rtlCol="0" anchor="t"/>
          <a:lstStyle/>
          <a:p>
            <a:pPr indent="0" marL="0">
              <a:lnSpc>
                <a:spcPts val="1800"/>
              </a:lnSpc>
              <a:buNone/>
            </a:pPr>
            <a:r>
              <a:rPr lang="en-US" sz="1100" dirty="0">
                <a:solidFill>
                  <a:srgbClr val="4A5560"/>
                </a:solidFill>
                <a:latin typeface="Malgun Gothic" pitchFamily="34" charset="0"/>
                <a:ea typeface="Malgun Gothic" pitchFamily="34" charset="-122"/>
                <a:cs typeface="Malgun Gothic" pitchFamily="34" charset="-120"/>
              </a:rPr>
              <a:t>확인한 사람이 따로 요약해 메일로 돌려야 조직에 전달됩니다. 그 과정에서 누락과 지연이 생깁니다.</a:t>
            </a:r>
            <a:endParaRPr lang="en-US" sz="1100" dirty="0"/>
          </a:p>
        </p:txBody>
      </p:sp>
      <p:sp>
        <p:nvSpPr>
          <p:cNvPr id="19" name="Shape 17"/>
          <p:cNvSpPr/>
          <p:nvPr/>
        </p:nvSpPr>
        <p:spPr>
          <a:xfrm>
            <a:off x="713232" y="4169664"/>
            <a:ext cx="10765231" cy="2011680"/>
          </a:xfrm>
          <a:prstGeom prst="rect">
            <a:avLst/>
          </a:prstGeom>
          <a:solidFill>
            <a:srgbClr val="0E1621"/>
          </a:solidFill>
          <a:ln w="12700">
            <a:solidFill>
              <a:srgbClr val="333333"/>
            </a:solidFill>
            <a:prstDash val="solid"/>
          </a:ln>
        </p:spPr>
      </p:sp>
      <p:sp>
        <p:nvSpPr>
          <p:cNvPr id="20" name="Text 18"/>
          <p:cNvSpPr txBox="1"/>
          <p:nvPr/>
        </p:nvSpPr>
        <p:spPr>
          <a:xfrm>
            <a:off x="1097280" y="4407408"/>
            <a:ext cx="2743200" cy="256032"/>
          </a:xfrm>
          <a:prstGeom prst="rect">
            <a:avLst/>
          </a:prstGeom>
          <a:noFill/>
          <a:ln/>
        </p:spPr>
        <p:txBody>
          <a:bodyPr wrap="square" lIns="0" tIns="0" rIns="0" bIns="0" rtlCol="0" anchor="t"/>
          <a:lstStyle/>
          <a:p>
            <a:pPr indent="0" marL="0">
              <a:buNone/>
            </a:pPr>
            <a:r>
              <a:rPr lang="en-US" sz="1100" b="1" spc="140" kern="0" dirty="0">
                <a:solidFill>
                  <a:srgbClr val="E0A76D"/>
                </a:solidFill>
                <a:latin typeface="Malgun Gothic" pitchFamily="34" charset="0"/>
                <a:ea typeface="Malgun Gothic" pitchFamily="34" charset="-122"/>
                <a:cs typeface="Malgun Gothic" pitchFamily="34" charset="-120"/>
              </a:rPr>
              <a:t>그래서 정한 원칙</a:t>
            </a:r>
            <a:endParaRPr lang="en-US" sz="1100" dirty="0"/>
          </a:p>
        </p:txBody>
      </p:sp>
      <p:sp>
        <p:nvSpPr>
          <p:cNvPr id="21" name="Text 19"/>
          <p:cNvSpPr txBox="1"/>
          <p:nvPr/>
        </p:nvSpPr>
        <p:spPr>
          <a:xfrm>
            <a:off x="1097280" y="4754880"/>
            <a:ext cx="10058400" cy="365760"/>
          </a:xfrm>
          <a:prstGeom prst="rect">
            <a:avLst/>
          </a:prstGeom>
          <a:noFill/>
          <a:ln/>
        </p:spPr>
        <p:txBody>
          <a:bodyPr wrap="square" lIns="0" tIns="0" rIns="0" bIns="0" rtlCol="0" anchor="t"/>
          <a:lstStyle/>
          <a:p>
            <a:pPr indent="0" marL="0">
              <a:buNone/>
            </a:pPr>
            <a:r>
              <a:rPr lang="en-US" sz="2100" b="1" dirty="0">
                <a:solidFill>
                  <a:srgbClr val="FFFFFF"/>
                </a:solidFill>
                <a:latin typeface="Malgun Gothic" pitchFamily="34" charset="0"/>
                <a:ea typeface="Malgun Gothic" pitchFamily="34" charset="-122"/>
                <a:cs typeface="Malgun Gothic" pitchFamily="34" charset="-120"/>
              </a:rPr>
              <a:t>중요 공시는 사람이 찾으러 가는 것이 아니라, 시스템이 채널로 밀어주는 것이 맞다.</a:t>
            </a:r>
            <a:endParaRPr lang="en-US" sz="2100" dirty="0"/>
          </a:p>
        </p:txBody>
      </p:sp>
      <p:sp>
        <p:nvSpPr>
          <p:cNvPr id="22" name="Shape 20"/>
          <p:cNvSpPr/>
          <p:nvPr/>
        </p:nvSpPr>
        <p:spPr>
          <a:xfrm>
            <a:off x="1097280" y="5321808"/>
            <a:ext cx="10058400" cy="10973"/>
          </a:xfrm>
          <a:prstGeom prst="rect">
            <a:avLst/>
          </a:prstGeom>
          <a:solidFill>
            <a:srgbClr val="2B3A4B"/>
          </a:solidFill>
          <a:ln w="12700">
            <a:solidFill>
              <a:srgbClr val="2B3A4B"/>
            </a:solidFill>
            <a:prstDash val="solid"/>
          </a:ln>
        </p:spPr>
      </p:sp>
      <p:sp>
        <p:nvSpPr>
          <p:cNvPr id="23" name="Text 21"/>
          <p:cNvSpPr txBox="1"/>
          <p:nvPr/>
        </p:nvSpPr>
        <p:spPr>
          <a:xfrm>
            <a:off x="1097280" y="5504688"/>
            <a:ext cx="1371600" cy="256032"/>
          </a:xfrm>
          <a:prstGeom prst="rect">
            <a:avLst/>
          </a:prstGeom>
          <a:noFill/>
          <a:ln/>
        </p:spPr>
        <p:txBody>
          <a:bodyPr wrap="square" lIns="0" tIns="0" rIns="0" bIns="0" rtlCol="0" anchor="t"/>
          <a:lstStyle/>
          <a:p>
            <a:pPr indent="0" marL="0">
              <a:buNone/>
            </a:pPr>
            <a:r>
              <a:rPr lang="en-US" sz="1250" b="1" dirty="0">
                <a:solidFill>
                  <a:srgbClr val="6E7F91"/>
                </a:solidFill>
                <a:latin typeface="Malgun Gothic" pitchFamily="34" charset="0"/>
                <a:ea typeface="Malgun Gothic" pitchFamily="34" charset="-122"/>
                <a:cs typeface="Malgun Gothic" pitchFamily="34" charset="-120"/>
              </a:rPr>
              <a:t>Pull 방식</a:t>
            </a:r>
            <a:endParaRPr lang="en-US" sz="1250" dirty="0"/>
          </a:p>
        </p:txBody>
      </p:sp>
      <p:sp>
        <p:nvSpPr>
          <p:cNvPr id="24" name="Text 22"/>
          <p:cNvSpPr txBox="1"/>
          <p:nvPr/>
        </p:nvSpPr>
        <p:spPr>
          <a:xfrm>
            <a:off x="2560320" y="5522976"/>
            <a:ext cx="2743200" cy="237744"/>
          </a:xfrm>
          <a:prstGeom prst="rect">
            <a:avLst/>
          </a:prstGeom>
          <a:noFill/>
          <a:ln/>
        </p:spPr>
        <p:txBody>
          <a:bodyPr wrap="square" lIns="0" tIns="0" rIns="0" bIns="0" rtlCol="0" anchor="t"/>
          <a:lstStyle/>
          <a:p>
            <a:pPr indent="0" marL="0">
              <a:buNone/>
            </a:pPr>
            <a:r>
              <a:rPr lang="en-US" sz="1050" dirty="0">
                <a:solidFill>
                  <a:srgbClr val="6E7F91"/>
                </a:solidFill>
                <a:latin typeface="Malgun Gothic" pitchFamily="34" charset="0"/>
                <a:ea typeface="Malgun Gothic" pitchFamily="34" charset="-122"/>
                <a:cs typeface="Malgun Gothic" pitchFamily="34" charset="-120"/>
              </a:rPr>
              <a:t>사람이 화면에 들어와야 확인</a:t>
            </a:r>
            <a:endParaRPr lang="en-US" sz="1050" dirty="0"/>
          </a:p>
        </p:txBody>
      </p:sp>
      <p:sp>
        <p:nvSpPr>
          <p:cNvPr id="25" name="Text 23"/>
          <p:cNvSpPr txBox="1"/>
          <p:nvPr/>
        </p:nvSpPr>
        <p:spPr>
          <a:xfrm>
            <a:off x="5303520" y="5522976"/>
            <a:ext cx="822960" cy="237744"/>
          </a:xfrm>
          <a:prstGeom prst="rect">
            <a:avLst/>
          </a:prstGeom>
          <a:noFill/>
          <a:ln/>
        </p:spPr>
        <p:txBody>
          <a:bodyPr wrap="square" lIns="0" tIns="0" rIns="0" bIns="0" rtlCol="0" anchor="t"/>
          <a:lstStyle/>
          <a:p>
            <a:pPr algn="r" indent="0" marL="0">
              <a:buNone/>
            </a:pPr>
            <a:r>
              <a:rPr lang="en-US" sz="950" dirty="0">
                <a:solidFill>
                  <a:srgbClr val="6E7F91"/>
                </a:solidFill>
                <a:latin typeface="Malgun Gothic" pitchFamily="34" charset="0"/>
                <a:ea typeface="Malgun Gothic" pitchFamily="34" charset="-122"/>
                <a:cs typeface="Malgun Gothic" pitchFamily="34" charset="-120"/>
              </a:rPr>
              <a:t>대시보드</a:t>
            </a:r>
            <a:endParaRPr lang="en-US" sz="950" dirty="0"/>
          </a:p>
        </p:txBody>
      </p:sp>
      <p:sp>
        <p:nvSpPr>
          <p:cNvPr id="26" name="Text 24"/>
          <p:cNvSpPr txBox="1"/>
          <p:nvPr/>
        </p:nvSpPr>
        <p:spPr>
          <a:xfrm>
            <a:off x="6217920" y="5504688"/>
            <a:ext cx="1371600" cy="256032"/>
          </a:xfrm>
          <a:prstGeom prst="rect">
            <a:avLst/>
          </a:prstGeom>
          <a:noFill/>
          <a:ln/>
        </p:spPr>
        <p:txBody>
          <a:bodyPr wrap="square" lIns="0" tIns="0" rIns="0" bIns="0" rtlCol="0" anchor="t"/>
          <a:lstStyle/>
          <a:p>
            <a:pPr indent="0" marL="0">
              <a:buNone/>
            </a:pPr>
            <a:r>
              <a:rPr lang="en-US" sz="1250" b="1" dirty="0">
                <a:solidFill>
                  <a:srgbClr val="E0A76D"/>
                </a:solidFill>
                <a:latin typeface="Malgun Gothic" pitchFamily="34" charset="0"/>
                <a:ea typeface="Malgun Gothic" pitchFamily="34" charset="-122"/>
                <a:cs typeface="Malgun Gothic" pitchFamily="34" charset="-120"/>
              </a:rPr>
              <a:t>Push 방식</a:t>
            </a:r>
            <a:endParaRPr lang="en-US" sz="1250" dirty="0"/>
          </a:p>
        </p:txBody>
      </p:sp>
      <p:sp>
        <p:nvSpPr>
          <p:cNvPr id="27" name="Text 25"/>
          <p:cNvSpPr txBox="1"/>
          <p:nvPr/>
        </p:nvSpPr>
        <p:spPr>
          <a:xfrm>
            <a:off x="7680960" y="5522976"/>
            <a:ext cx="2743200" cy="237744"/>
          </a:xfrm>
          <a:prstGeom prst="rect">
            <a:avLst/>
          </a:prstGeom>
          <a:noFill/>
          <a:ln/>
        </p:spPr>
        <p:txBody>
          <a:bodyPr wrap="square" lIns="0" tIns="0" rIns="0" bIns="0" rtlCol="0" anchor="t"/>
          <a:lstStyle/>
          <a:p>
            <a:pPr indent="0" marL="0">
              <a:buNone/>
            </a:pPr>
            <a:r>
              <a:rPr lang="en-US" sz="1050" dirty="0">
                <a:solidFill>
                  <a:srgbClr val="FFFFFF"/>
                </a:solidFill>
                <a:latin typeface="Malgun Gothic" pitchFamily="34" charset="0"/>
                <a:ea typeface="Malgun Gothic" pitchFamily="34" charset="-122"/>
                <a:cs typeface="Malgun Gothic" pitchFamily="34" charset="-120"/>
              </a:rPr>
              <a:t>시스템이 담당자에게 직접 전달</a:t>
            </a:r>
            <a:endParaRPr lang="en-US" sz="1050" dirty="0"/>
          </a:p>
        </p:txBody>
      </p:sp>
      <p:sp>
        <p:nvSpPr>
          <p:cNvPr id="28" name="Text 26"/>
          <p:cNvSpPr txBox="1"/>
          <p:nvPr/>
        </p:nvSpPr>
        <p:spPr>
          <a:xfrm>
            <a:off x="10424160" y="5522976"/>
            <a:ext cx="822960" cy="237744"/>
          </a:xfrm>
          <a:prstGeom prst="rect">
            <a:avLst/>
          </a:prstGeom>
          <a:noFill/>
          <a:ln/>
        </p:spPr>
        <p:txBody>
          <a:bodyPr wrap="square" lIns="0" tIns="0" rIns="0" bIns="0" rtlCol="0" anchor="t"/>
          <a:lstStyle/>
          <a:p>
            <a:pPr algn="r" indent="0" marL="0">
              <a:buNone/>
            </a:pPr>
            <a:r>
              <a:rPr lang="en-US" sz="950" dirty="0">
                <a:solidFill>
                  <a:srgbClr val="6E7F91"/>
                </a:solidFill>
                <a:latin typeface="Malgun Gothic" pitchFamily="34" charset="0"/>
                <a:ea typeface="Malgun Gothic" pitchFamily="34" charset="-122"/>
                <a:cs typeface="Malgun Gothic" pitchFamily="34" charset="-120"/>
              </a:rPr>
              <a:t>이번 기능</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PIPELINE</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6단계 자동 발송 파이프라인</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FastAPI lifespan에서 asyncio 백그라운드 태스크로 상시 실행됩니다</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03</a:t>
            </a:r>
            <a:endParaRPr lang="en-US" sz="950" dirty="0"/>
          </a:p>
        </p:txBody>
      </p:sp>
      <p:sp>
        <p:nvSpPr>
          <p:cNvPr id="7" name="Shape 5"/>
          <p:cNvSpPr/>
          <p:nvPr/>
        </p:nvSpPr>
        <p:spPr>
          <a:xfrm>
            <a:off x="713232" y="1792224"/>
            <a:ext cx="1673352" cy="2286000"/>
          </a:xfrm>
          <a:prstGeom prst="rect">
            <a:avLst/>
          </a:prstGeom>
          <a:solidFill>
            <a:srgbClr val="FFFFFF"/>
          </a:solidFill>
          <a:ln w="9525">
            <a:solidFill>
              <a:srgbClr val="DFE3E8"/>
            </a:solidFill>
            <a:prstDash val="solid"/>
          </a:ln>
        </p:spPr>
      </p:sp>
      <p:sp>
        <p:nvSpPr>
          <p:cNvPr id="8" name="Text 6"/>
          <p:cNvSpPr txBox="1"/>
          <p:nvPr/>
        </p:nvSpPr>
        <p:spPr>
          <a:xfrm>
            <a:off x="932688" y="1975104"/>
            <a:ext cx="384048" cy="219456"/>
          </a:xfrm>
          <a:prstGeom prst="rect">
            <a:avLst/>
          </a:prstGeom>
          <a:noFill/>
          <a:ln/>
        </p:spPr>
        <p:txBody>
          <a:bodyPr wrap="square" lIns="0" tIns="0" rIns="0" bIns="0" rtlCol="0" anchor="t"/>
          <a:lstStyle/>
          <a:p>
            <a:pPr indent="0" marL="0">
              <a:buNone/>
            </a:pPr>
            <a:r>
              <a:rPr lang="en-US" sz="1000" b="1" dirty="0">
                <a:solidFill>
                  <a:srgbClr val="B0703A"/>
                </a:solidFill>
                <a:latin typeface="Malgun Gothic" pitchFamily="34" charset="0"/>
                <a:ea typeface="Malgun Gothic" pitchFamily="34" charset="-122"/>
                <a:cs typeface="Malgun Gothic" pitchFamily="34" charset="-120"/>
              </a:rPr>
              <a:t>01</a:t>
            </a:r>
            <a:endParaRPr lang="en-US" sz="1000" dirty="0"/>
          </a:p>
        </p:txBody>
      </p:sp>
      <p:sp>
        <p:nvSpPr>
          <p:cNvPr id="9" name="Text 7"/>
          <p:cNvSpPr txBox="1"/>
          <p:nvPr/>
        </p:nvSpPr>
        <p:spPr>
          <a:xfrm>
            <a:off x="932688" y="2267712"/>
            <a:ext cx="1252728" cy="274320"/>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주기 스캔</a:t>
            </a:r>
            <a:endParaRPr lang="en-US" sz="1300" dirty="0"/>
          </a:p>
        </p:txBody>
      </p:sp>
      <p:sp>
        <p:nvSpPr>
          <p:cNvPr id="10" name="Text 8"/>
          <p:cNvSpPr txBox="1"/>
          <p:nvPr/>
        </p:nvSpPr>
        <p:spPr>
          <a:xfrm>
            <a:off x="932688"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5분마다 9개사</a:t>
            </a: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당일 공시 조회</a:t>
            </a:r>
            <a:endParaRPr lang="en-US" sz="1000" dirty="0"/>
          </a:p>
        </p:txBody>
      </p:sp>
      <p:sp>
        <p:nvSpPr>
          <p:cNvPr id="11" name="Shape 9"/>
          <p:cNvSpPr/>
          <p:nvPr/>
        </p:nvSpPr>
        <p:spPr>
          <a:xfrm>
            <a:off x="932688" y="3346704"/>
            <a:ext cx="1234440" cy="10973"/>
          </a:xfrm>
          <a:prstGeom prst="rect">
            <a:avLst/>
          </a:prstGeom>
          <a:solidFill>
            <a:srgbClr val="DFE3E8"/>
          </a:solidFill>
          <a:ln w="12700">
            <a:solidFill>
              <a:srgbClr val="DFE3E8"/>
            </a:solidFill>
            <a:prstDash val="solid"/>
          </a:ln>
        </p:spPr>
      </p:sp>
      <p:sp>
        <p:nvSpPr>
          <p:cNvPr id="12" name="Text 10"/>
          <p:cNvSpPr txBox="1"/>
          <p:nvPr/>
        </p:nvSpPr>
        <p:spPr>
          <a:xfrm>
            <a:off x="932688"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alert_monitor.py</a:t>
            </a:r>
            <a:endParaRPr lang="en-US" sz="850" dirty="0"/>
          </a:p>
        </p:txBody>
      </p:sp>
      <p:sp>
        <p:nvSpPr>
          <p:cNvPr id="13" name="Shape 11"/>
          <p:cNvSpPr/>
          <p:nvPr/>
        </p:nvSpPr>
        <p:spPr>
          <a:xfrm>
            <a:off x="2532888" y="1792224"/>
            <a:ext cx="1673352" cy="2286000"/>
          </a:xfrm>
          <a:prstGeom prst="rect">
            <a:avLst/>
          </a:prstGeom>
          <a:solidFill>
            <a:srgbClr val="FFFFFF"/>
          </a:solidFill>
          <a:ln w="9525">
            <a:solidFill>
              <a:srgbClr val="DFE3E8"/>
            </a:solidFill>
            <a:prstDash val="solid"/>
          </a:ln>
        </p:spPr>
      </p:sp>
      <p:sp>
        <p:nvSpPr>
          <p:cNvPr id="14" name="Text 12"/>
          <p:cNvSpPr txBox="1"/>
          <p:nvPr/>
        </p:nvSpPr>
        <p:spPr>
          <a:xfrm>
            <a:off x="2752344" y="1975104"/>
            <a:ext cx="384048" cy="219456"/>
          </a:xfrm>
          <a:prstGeom prst="rect">
            <a:avLst/>
          </a:prstGeom>
          <a:noFill/>
          <a:ln/>
        </p:spPr>
        <p:txBody>
          <a:bodyPr wrap="square" lIns="0" tIns="0" rIns="0" bIns="0" rtlCol="0" anchor="t"/>
          <a:lstStyle/>
          <a:p>
            <a:pPr indent="0" marL="0">
              <a:buNone/>
            </a:pPr>
            <a:r>
              <a:rPr lang="en-US" sz="1000" b="1" dirty="0">
                <a:solidFill>
                  <a:srgbClr val="B0703A"/>
                </a:solidFill>
                <a:latin typeface="Malgun Gothic" pitchFamily="34" charset="0"/>
                <a:ea typeface="Malgun Gothic" pitchFamily="34" charset="-122"/>
                <a:cs typeface="Malgun Gothic" pitchFamily="34" charset="-120"/>
              </a:rPr>
              <a:t>02</a:t>
            </a:r>
            <a:endParaRPr lang="en-US" sz="1000" dirty="0"/>
          </a:p>
        </p:txBody>
      </p:sp>
      <p:sp>
        <p:nvSpPr>
          <p:cNvPr id="15" name="Text 13"/>
          <p:cNvSpPr txBox="1"/>
          <p:nvPr/>
        </p:nvSpPr>
        <p:spPr>
          <a:xfrm>
            <a:off x="2752344" y="2267712"/>
            <a:ext cx="1252728" cy="274320"/>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중요도 판별</a:t>
            </a:r>
            <a:endParaRPr lang="en-US" sz="1300" dirty="0"/>
          </a:p>
        </p:txBody>
      </p:sp>
      <p:sp>
        <p:nvSpPr>
          <p:cNvPr id="16" name="Text 14"/>
          <p:cNvSpPr txBox="1"/>
          <p:nvPr/>
        </p:nvSpPr>
        <p:spPr>
          <a:xfrm>
            <a:off x="2752344"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12개 주요 공시</a:t>
            </a: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유형 규칙 매칭</a:t>
            </a:r>
            <a:endParaRPr lang="en-US" sz="1000" dirty="0"/>
          </a:p>
        </p:txBody>
      </p:sp>
      <p:sp>
        <p:nvSpPr>
          <p:cNvPr id="17" name="Shape 15"/>
          <p:cNvSpPr/>
          <p:nvPr/>
        </p:nvSpPr>
        <p:spPr>
          <a:xfrm>
            <a:off x="2752344" y="3346704"/>
            <a:ext cx="1234440" cy="10973"/>
          </a:xfrm>
          <a:prstGeom prst="rect">
            <a:avLst/>
          </a:prstGeom>
          <a:solidFill>
            <a:srgbClr val="DFE3E8"/>
          </a:solidFill>
          <a:ln w="12700">
            <a:solidFill>
              <a:srgbClr val="DFE3E8"/>
            </a:solidFill>
            <a:prstDash val="solid"/>
          </a:ln>
        </p:spPr>
      </p:sp>
      <p:sp>
        <p:nvSpPr>
          <p:cNvPr id="18" name="Text 16"/>
          <p:cNvSpPr txBox="1"/>
          <p:nvPr/>
        </p:nvSpPr>
        <p:spPr>
          <a:xfrm>
            <a:off x="2752344"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dart_service.py</a:t>
            </a:r>
            <a:endParaRPr lang="en-US" sz="850" dirty="0"/>
          </a:p>
        </p:txBody>
      </p:sp>
      <p:sp>
        <p:nvSpPr>
          <p:cNvPr id="19" name="Shape 17"/>
          <p:cNvSpPr/>
          <p:nvPr/>
        </p:nvSpPr>
        <p:spPr>
          <a:xfrm>
            <a:off x="4352544" y="1792224"/>
            <a:ext cx="1673352" cy="2286000"/>
          </a:xfrm>
          <a:prstGeom prst="rect">
            <a:avLst/>
          </a:prstGeom>
          <a:solidFill>
            <a:srgbClr val="FFFFFF"/>
          </a:solidFill>
          <a:ln w="9525">
            <a:solidFill>
              <a:srgbClr val="DFE3E8"/>
            </a:solidFill>
            <a:prstDash val="solid"/>
          </a:ln>
        </p:spPr>
      </p:sp>
      <p:sp>
        <p:nvSpPr>
          <p:cNvPr id="20" name="Text 18"/>
          <p:cNvSpPr txBox="1"/>
          <p:nvPr/>
        </p:nvSpPr>
        <p:spPr>
          <a:xfrm>
            <a:off x="4572000" y="1975104"/>
            <a:ext cx="384048" cy="219456"/>
          </a:xfrm>
          <a:prstGeom prst="rect">
            <a:avLst/>
          </a:prstGeom>
          <a:noFill/>
          <a:ln/>
        </p:spPr>
        <p:txBody>
          <a:bodyPr wrap="square" lIns="0" tIns="0" rIns="0" bIns="0" rtlCol="0" anchor="t"/>
          <a:lstStyle/>
          <a:p>
            <a:pPr indent="0" marL="0">
              <a:buNone/>
            </a:pPr>
            <a:r>
              <a:rPr lang="en-US" sz="1000" b="1" dirty="0">
                <a:solidFill>
                  <a:srgbClr val="B0703A"/>
                </a:solidFill>
                <a:latin typeface="Malgun Gothic" pitchFamily="34" charset="0"/>
                <a:ea typeface="Malgun Gothic" pitchFamily="34" charset="-122"/>
                <a:cs typeface="Malgun Gothic" pitchFamily="34" charset="-120"/>
              </a:rPr>
              <a:t>03</a:t>
            </a:r>
            <a:endParaRPr lang="en-US" sz="1000" dirty="0"/>
          </a:p>
        </p:txBody>
      </p:sp>
      <p:sp>
        <p:nvSpPr>
          <p:cNvPr id="21" name="Text 19"/>
          <p:cNvSpPr txBox="1"/>
          <p:nvPr/>
        </p:nvSpPr>
        <p:spPr>
          <a:xfrm>
            <a:off x="4572000" y="2267712"/>
            <a:ext cx="1252728" cy="274320"/>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원문 수집</a:t>
            </a:r>
            <a:endParaRPr lang="en-US" sz="1300" dirty="0"/>
          </a:p>
        </p:txBody>
      </p:sp>
      <p:sp>
        <p:nvSpPr>
          <p:cNvPr id="22" name="Text 20"/>
          <p:cNvSpPr txBox="1"/>
          <p:nvPr/>
        </p:nvSpPr>
        <p:spPr>
          <a:xfrm>
            <a:off x="4572000"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DART 뷰어 HTML</a:t>
            </a: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직접 파싱</a:t>
            </a:r>
            <a:endParaRPr lang="en-US" sz="1000" dirty="0"/>
          </a:p>
        </p:txBody>
      </p:sp>
      <p:sp>
        <p:nvSpPr>
          <p:cNvPr id="23" name="Shape 21"/>
          <p:cNvSpPr/>
          <p:nvPr/>
        </p:nvSpPr>
        <p:spPr>
          <a:xfrm>
            <a:off x="4572000" y="3346704"/>
            <a:ext cx="1234440" cy="10973"/>
          </a:xfrm>
          <a:prstGeom prst="rect">
            <a:avLst/>
          </a:prstGeom>
          <a:solidFill>
            <a:srgbClr val="DFE3E8"/>
          </a:solidFill>
          <a:ln w="12700">
            <a:solidFill>
              <a:srgbClr val="DFE3E8"/>
            </a:solidFill>
            <a:prstDash val="solid"/>
          </a:ln>
        </p:spPr>
      </p:sp>
      <p:sp>
        <p:nvSpPr>
          <p:cNvPr id="24" name="Text 22"/>
          <p:cNvSpPr txBox="1"/>
          <p:nvPr/>
        </p:nvSpPr>
        <p:spPr>
          <a:xfrm>
            <a:off x="4572000"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disclosure_text</a:t>
            </a:r>
            <a:endParaRPr lang="en-US" sz="850" dirty="0"/>
          </a:p>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_service.py</a:t>
            </a:r>
            <a:endParaRPr lang="en-US" sz="850" dirty="0"/>
          </a:p>
        </p:txBody>
      </p:sp>
      <p:sp>
        <p:nvSpPr>
          <p:cNvPr id="25" name="Shape 23"/>
          <p:cNvSpPr/>
          <p:nvPr/>
        </p:nvSpPr>
        <p:spPr>
          <a:xfrm>
            <a:off x="6172200" y="1792224"/>
            <a:ext cx="1673352" cy="2286000"/>
          </a:xfrm>
          <a:prstGeom prst="rect">
            <a:avLst/>
          </a:prstGeom>
          <a:solidFill>
            <a:srgbClr val="FFFFFF"/>
          </a:solidFill>
          <a:ln w="9525">
            <a:solidFill>
              <a:srgbClr val="DFE3E8"/>
            </a:solidFill>
            <a:prstDash val="solid"/>
          </a:ln>
        </p:spPr>
      </p:sp>
      <p:sp>
        <p:nvSpPr>
          <p:cNvPr id="26" name="Text 24"/>
          <p:cNvSpPr txBox="1"/>
          <p:nvPr/>
        </p:nvSpPr>
        <p:spPr>
          <a:xfrm>
            <a:off x="6391656" y="1975104"/>
            <a:ext cx="384048" cy="219456"/>
          </a:xfrm>
          <a:prstGeom prst="rect">
            <a:avLst/>
          </a:prstGeom>
          <a:noFill/>
          <a:ln/>
        </p:spPr>
        <p:txBody>
          <a:bodyPr wrap="square" lIns="0" tIns="0" rIns="0" bIns="0" rtlCol="0" anchor="t"/>
          <a:lstStyle/>
          <a:p>
            <a:pPr indent="0" marL="0">
              <a:buNone/>
            </a:pPr>
            <a:r>
              <a:rPr lang="en-US" sz="1000" b="1" dirty="0">
                <a:solidFill>
                  <a:srgbClr val="B0703A"/>
                </a:solidFill>
                <a:latin typeface="Malgun Gothic" pitchFamily="34" charset="0"/>
                <a:ea typeface="Malgun Gothic" pitchFamily="34" charset="-122"/>
                <a:cs typeface="Malgun Gothic" pitchFamily="34" charset="-120"/>
              </a:rPr>
              <a:t>04</a:t>
            </a:r>
            <a:endParaRPr lang="en-US" sz="1000" dirty="0"/>
          </a:p>
        </p:txBody>
      </p:sp>
      <p:sp>
        <p:nvSpPr>
          <p:cNvPr id="27" name="Text 25"/>
          <p:cNvSpPr txBox="1"/>
          <p:nvPr/>
        </p:nvSpPr>
        <p:spPr>
          <a:xfrm>
            <a:off x="6391656" y="2267712"/>
            <a:ext cx="1252728" cy="274320"/>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AI 분석</a:t>
            </a:r>
            <a:endParaRPr lang="en-US" sz="1300" dirty="0"/>
          </a:p>
        </p:txBody>
      </p:sp>
      <p:sp>
        <p:nvSpPr>
          <p:cNvPr id="28" name="Text 26"/>
          <p:cNvSpPr txBox="1"/>
          <p:nvPr/>
        </p:nvSpPr>
        <p:spPr>
          <a:xfrm>
            <a:off x="6391656"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요약 3문장 +</a:t>
            </a: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핵심 수치 추출</a:t>
            </a:r>
            <a:endParaRPr lang="en-US" sz="1000" dirty="0"/>
          </a:p>
        </p:txBody>
      </p:sp>
      <p:sp>
        <p:nvSpPr>
          <p:cNvPr id="29" name="Shape 27"/>
          <p:cNvSpPr/>
          <p:nvPr/>
        </p:nvSpPr>
        <p:spPr>
          <a:xfrm>
            <a:off x="6391656" y="3346704"/>
            <a:ext cx="1234440" cy="10973"/>
          </a:xfrm>
          <a:prstGeom prst="rect">
            <a:avLst/>
          </a:prstGeom>
          <a:solidFill>
            <a:srgbClr val="DFE3E8"/>
          </a:solidFill>
          <a:ln w="12700">
            <a:solidFill>
              <a:srgbClr val="DFE3E8"/>
            </a:solidFill>
            <a:prstDash val="solid"/>
          </a:ln>
        </p:spPr>
      </p:sp>
      <p:sp>
        <p:nvSpPr>
          <p:cNvPr id="30" name="Text 28"/>
          <p:cNvSpPr txBox="1"/>
          <p:nvPr/>
        </p:nvSpPr>
        <p:spPr>
          <a:xfrm>
            <a:off x="6391656"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ai_service.py</a:t>
            </a:r>
            <a:endParaRPr lang="en-US" sz="850" dirty="0"/>
          </a:p>
        </p:txBody>
      </p:sp>
      <p:sp>
        <p:nvSpPr>
          <p:cNvPr id="31" name="Shape 29"/>
          <p:cNvSpPr/>
          <p:nvPr/>
        </p:nvSpPr>
        <p:spPr>
          <a:xfrm>
            <a:off x="7991856" y="1792224"/>
            <a:ext cx="1673352" cy="2286000"/>
          </a:xfrm>
          <a:prstGeom prst="rect">
            <a:avLst/>
          </a:prstGeom>
          <a:solidFill>
            <a:srgbClr val="FFFFFF"/>
          </a:solidFill>
          <a:ln w="9525">
            <a:solidFill>
              <a:srgbClr val="DFE3E8"/>
            </a:solidFill>
            <a:prstDash val="solid"/>
          </a:ln>
        </p:spPr>
      </p:sp>
      <p:sp>
        <p:nvSpPr>
          <p:cNvPr id="32" name="Text 30"/>
          <p:cNvSpPr txBox="1"/>
          <p:nvPr/>
        </p:nvSpPr>
        <p:spPr>
          <a:xfrm>
            <a:off x="8211312" y="1975104"/>
            <a:ext cx="384048" cy="219456"/>
          </a:xfrm>
          <a:prstGeom prst="rect">
            <a:avLst/>
          </a:prstGeom>
          <a:noFill/>
          <a:ln/>
        </p:spPr>
        <p:txBody>
          <a:bodyPr wrap="square" lIns="0" tIns="0" rIns="0" bIns="0" rtlCol="0" anchor="t"/>
          <a:lstStyle/>
          <a:p>
            <a:pPr indent="0" marL="0">
              <a:buNone/>
            </a:pPr>
            <a:r>
              <a:rPr lang="en-US" sz="1000" b="1" dirty="0">
                <a:solidFill>
                  <a:srgbClr val="B0703A"/>
                </a:solidFill>
                <a:latin typeface="Malgun Gothic" pitchFamily="34" charset="0"/>
                <a:ea typeface="Malgun Gothic" pitchFamily="34" charset="-122"/>
                <a:cs typeface="Malgun Gothic" pitchFamily="34" charset="-120"/>
              </a:rPr>
              <a:t>05</a:t>
            </a:r>
            <a:endParaRPr lang="en-US" sz="1000" dirty="0"/>
          </a:p>
        </p:txBody>
      </p:sp>
      <p:sp>
        <p:nvSpPr>
          <p:cNvPr id="33" name="Text 31"/>
          <p:cNvSpPr txBox="1"/>
          <p:nvPr/>
        </p:nvSpPr>
        <p:spPr>
          <a:xfrm>
            <a:off x="8211312" y="2267712"/>
            <a:ext cx="1252728" cy="274320"/>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채널 발송</a:t>
            </a:r>
            <a:endParaRPr lang="en-US" sz="1300" dirty="0"/>
          </a:p>
        </p:txBody>
      </p:sp>
      <p:sp>
        <p:nvSpPr>
          <p:cNvPr id="34" name="Text 32"/>
          <p:cNvSpPr txBox="1"/>
          <p:nvPr/>
        </p:nvSpPr>
        <p:spPr>
          <a:xfrm>
            <a:off x="8211312"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Telegram · 이메일</a:t>
            </a: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동시 전송</a:t>
            </a:r>
            <a:endParaRPr lang="en-US" sz="1000" dirty="0"/>
          </a:p>
        </p:txBody>
      </p:sp>
      <p:sp>
        <p:nvSpPr>
          <p:cNvPr id="35" name="Shape 33"/>
          <p:cNvSpPr/>
          <p:nvPr/>
        </p:nvSpPr>
        <p:spPr>
          <a:xfrm>
            <a:off x="8211312" y="3346704"/>
            <a:ext cx="1234440" cy="10973"/>
          </a:xfrm>
          <a:prstGeom prst="rect">
            <a:avLst/>
          </a:prstGeom>
          <a:solidFill>
            <a:srgbClr val="DFE3E8"/>
          </a:solidFill>
          <a:ln w="12700">
            <a:solidFill>
              <a:srgbClr val="DFE3E8"/>
            </a:solidFill>
            <a:prstDash val="solid"/>
          </a:ln>
        </p:spPr>
      </p:sp>
      <p:sp>
        <p:nvSpPr>
          <p:cNvPr id="36" name="Text 34"/>
          <p:cNvSpPr txBox="1"/>
          <p:nvPr/>
        </p:nvSpPr>
        <p:spPr>
          <a:xfrm>
            <a:off x="8211312"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telegram / email</a:t>
            </a:r>
            <a:endParaRPr lang="en-US" sz="850" dirty="0"/>
          </a:p>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_service.py</a:t>
            </a:r>
            <a:endParaRPr lang="en-US" sz="850" dirty="0"/>
          </a:p>
        </p:txBody>
      </p:sp>
      <p:sp>
        <p:nvSpPr>
          <p:cNvPr id="37" name="Shape 35"/>
          <p:cNvSpPr/>
          <p:nvPr/>
        </p:nvSpPr>
        <p:spPr>
          <a:xfrm>
            <a:off x="9811512" y="1792224"/>
            <a:ext cx="1673352" cy="2286000"/>
          </a:xfrm>
          <a:prstGeom prst="rect">
            <a:avLst/>
          </a:prstGeom>
          <a:solidFill>
            <a:srgbClr val="0E1621"/>
          </a:solidFill>
          <a:ln w="12700">
            <a:solidFill>
              <a:srgbClr val="333333"/>
            </a:solidFill>
            <a:prstDash val="solid"/>
          </a:ln>
        </p:spPr>
      </p:sp>
      <p:sp>
        <p:nvSpPr>
          <p:cNvPr id="38" name="Text 36"/>
          <p:cNvSpPr txBox="1"/>
          <p:nvPr/>
        </p:nvSpPr>
        <p:spPr>
          <a:xfrm>
            <a:off x="10030968" y="1975104"/>
            <a:ext cx="384048" cy="219456"/>
          </a:xfrm>
          <a:prstGeom prst="rect">
            <a:avLst/>
          </a:prstGeom>
          <a:noFill/>
          <a:ln/>
        </p:spPr>
        <p:txBody>
          <a:bodyPr wrap="square" lIns="0" tIns="0" rIns="0" bIns="0" rtlCol="0" anchor="t"/>
          <a:lstStyle/>
          <a:p>
            <a:pPr indent="0" marL="0">
              <a:buNone/>
            </a:pPr>
            <a:r>
              <a:rPr lang="en-US" sz="1000" b="1" dirty="0">
                <a:solidFill>
                  <a:srgbClr val="E0A76D"/>
                </a:solidFill>
                <a:latin typeface="Malgun Gothic" pitchFamily="34" charset="0"/>
                <a:ea typeface="Malgun Gothic" pitchFamily="34" charset="-122"/>
                <a:cs typeface="Malgun Gothic" pitchFamily="34" charset="-120"/>
              </a:rPr>
              <a:t>06</a:t>
            </a:r>
            <a:endParaRPr lang="en-US" sz="1000" dirty="0"/>
          </a:p>
        </p:txBody>
      </p:sp>
      <p:sp>
        <p:nvSpPr>
          <p:cNvPr id="39" name="Text 37"/>
          <p:cNvSpPr txBox="1"/>
          <p:nvPr/>
        </p:nvSpPr>
        <p:spPr>
          <a:xfrm>
            <a:off x="10030968" y="2267712"/>
            <a:ext cx="1252728"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이력 기록</a:t>
            </a:r>
            <a:endParaRPr lang="en-US" sz="1300" dirty="0"/>
          </a:p>
        </p:txBody>
      </p:sp>
      <p:sp>
        <p:nvSpPr>
          <p:cNvPr id="40" name="Text 38"/>
          <p:cNvSpPr txBox="1"/>
          <p:nvPr/>
        </p:nvSpPr>
        <p:spPr>
          <a:xfrm>
            <a:off x="10030968" y="2633472"/>
            <a:ext cx="1252728" cy="548640"/>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복합키 저장으로</a:t>
            </a:r>
            <a:endParaRPr lang="en-US" sz="1000" dirty="0"/>
          </a:p>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중복 발송 차단</a:t>
            </a:r>
            <a:endParaRPr lang="en-US" sz="1000" dirty="0"/>
          </a:p>
        </p:txBody>
      </p:sp>
      <p:sp>
        <p:nvSpPr>
          <p:cNvPr id="41" name="Shape 39"/>
          <p:cNvSpPr/>
          <p:nvPr/>
        </p:nvSpPr>
        <p:spPr>
          <a:xfrm>
            <a:off x="10030968" y="3346704"/>
            <a:ext cx="1234440" cy="10973"/>
          </a:xfrm>
          <a:prstGeom prst="rect">
            <a:avLst/>
          </a:prstGeom>
          <a:solidFill>
            <a:srgbClr val="2B3A4B"/>
          </a:solidFill>
          <a:ln w="12700">
            <a:solidFill>
              <a:srgbClr val="2B3A4B"/>
            </a:solidFill>
            <a:prstDash val="solid"/>
          </a:ln>
        </p:spPr>
      </p:sp>
      <p:sp>
        <p:nvSpPr>
          <p:cNvPr id="42" name="Text 40"/>
          <p:cNvSpPr txBox="1"/>
          <p:nvPr/>
        </p:nvSpPr>
        <p:spPr>
          <a:xfrm>
            <a:off x="10030968" y="3493008"/>
            <a:ext cx="1271016" cy="402336"/>
          </a:xfrm>
          <a:prstGeom prst="rect">
            <a:avLst/>
          </a:prstGeom>
          <a:noFill/>
          <a:ln/>
        </p:spPr>
        <p:txBody>
          <a:bodyPr wrap="square" lIns="0" tIns="0" rIns="0" bIns="0" rtlCol="0" anchor="t"/>
          <a:lstStyle/>
          <a:p>
            <a:pPr indent="0" marL="0">
              <a:lnSpc>
                <a:spcPts val="1200"/>
              </a:lnSpc>
              <a:buNone/>
            </a:pPr>
            <a:r>
              <a:rPr lang="en-US" sz="850" dirty="0">
                <a:solidFill>
                  <a:srgbClr val="6E7F91"/>
                </a:solidFill>
                <a:latin typeface="Malgun Gothic" pitchFamily="34" charset="0"/>
                <a:ea typeface="Malgun Gothic" pitchFamily="34" charset="-122"/>
                <a:cs typeface="Malgun Gothic" pitchFamily="34" charset="-120"/>
              </a:rPr>
              <a:t>recipient_service.py</a:t>
            </a:r>
            <a:endParaRPr lang="en-US" sz="850" dirty="0"/>
          </a:p>
        </p:txBody>
      </p:sp>
      <p:sp>
        <p:nvSpPr>
          <p:cNvPr id="43" name="Shape 41"/>
          <p:cNvSpPr/>
          <p:nvPr/>
        </p:nvSpPr>
        <p:spPr>
          <a:xfrm>
            <a:off x="713232" y="4315968"/>
            <a:ext cx="5230368" cy="1810512"/>
          </a:xfrm>
          <a:prstGeom prst="rect">
            <a:avLst/>
          </a:prstGeom>
          <a:solidFill>
            <a:srgbClr val="FFFFFF"/>
          </a:solidFill>
          <a:ln w="9525">
            <a:solidFill>
              <a:srgbClr val="DFE3E8"/>
            </a:solidFill>
            <a:prstDash val="solid"/>
          </a:ln>
        </p:spPr>
      </p:sp>
      <p:sp>
        <p:nvSpPr>
          <p:cNvPr id="44" name="Text 42"/>
          <p:cNvSpPr txBox="1"/>
          <p:nvPr/>
        </p:nvSpPr>
        <p:spPr>
          <a:xfrm>
            <a:off x="1005840" y="4517136"/>
            <a:ext cx="4663440" cy="256032"/>
          </a:xfrm>
          <a:prstGeom prst="rect">
            <a:avLst/>
          </a:prstGeom>
          <a:noFill/>
          <a:ln/>
        </p:spPr>
        <p:txBody>
          <a:bodyPr wrap="square" lIns="0" tIns="0" rIns="0" bIns="0" rtlCol="0" anchor="t"/>
          <a:lstStyle/>
          <a:p>
            <a:pPr indent="0" marL="0">
              <a:buNone/>
            </a:pPr>
            <a:r>
              <a:rPr lang="en-US" sz="1250" b="1" dirty="0">
                <a:solidFill>
                  <a:srgbClr val="0E1621"/>
                </a:solidFill>
                <a:latin typeface="Malgun Gothic" pitchFamily="34" charset="0"/>
                <a:ea typeface="Malgun Gothic" pitchFamily="34" charset="-122"/>
                <a:cs typeface="Malgun Gothic" pitchFamily="34" charset="-120"/>
              </a:rPr>
              <a:t>핵심 최적화 — AI는 보낼 사람이 있을 때만 호출</a:t>
            </a:r>
            <a:endParaRPr lang="en-US" sz="1250" dirty="0"/>
          </a:p>
        </p:txBody>
      </p:sp>
      <p:sp>
        <p:nvSpPr>
          <p:cNvPr id="45" name="Text 43"/>
          <p:cNvSpPr txBox="1"/>
          <p:nvPr/>
        </p:nvSpPr>
        <p:spPr>
          <a:xfrm>
            <a:off x="1005840" y="4828032"/>
            <a:ext cx="4709160" cy="658368"/>
          </a:xfrm>
          <a:prstGeom prst="rect">
            <a:avLst/>
          </a:prstGeom>
          <a:noFill/>
          <a:ln/>
        </p:spPr>
        <p:txBody>
          <a:bodyPr wrap="square" lIns="0" tIns="0" rIns="0" bIns="0" rtlCol="0" anchor="t"/>
          <a:lstStyle/>
          <a:p>
            <a:pPr indent="0" marL="0">
              <a:lnSpc>
                <a:spcPts val="1600"/>
              </a:lnSpc>
              <a:buNone/>
            </a:pPr>
            <a:r>
              <a:rPr lang="en-US" sz="1050" dirty="0">
                <a:solidFill>
                  <a:srgbClr val="68747F"/>
                </a:solidFill>
                <a:latin typeface="Malgun Gothic" pitchFamily="34" charset="0"/>
                <a:ea typeface="Malgun Gothic" pitchFamily="34" charset="-122"/>
                <a:cs typeface="Malgun Gothic" pitchFamily="34" charset="-120"/>
              </a:rPr>
              <a:t>공시를 감지해도 모든 수신자가 이미 받은 건이면 AI 분석을 건너뜁니다. 발송 대상(pending)을 먼저 계산하고, 비어 있으면 원문 수집과 LLM 호출 자체를 하지 않습니다.</a:t>
            </a:r>
            <a:endParaRPr lang="en-US" sz="1050" dirty="0"/>
          </a:p>
        </p:txBody>
      </p:sp>
      <p:sp>
        <p:nvSpPr>
          <p:cNvPr id="46" name="Text 44"/>
          <p:cNvSpPr txBox="1"/>
          <p:nvPr/>
        </p:nvSpPr>
        <p:spPr>
          <a:xfrm>
            <a:off x="1005840" y="5559552"/>
            <a:ext cx="4709160" cy="402336"/>
          </a:xfrm>
          <a:prstGeom prst="rect">
            <a:avLst/>
          </a:prstGeom>
          <a:noFill/>
          <a:ln/>
        </p:spPr>
        <p:txBody>
          <a:bodyPr wrap="square" lIns="0" tIns="0" rIns="0" bIns="0" rtlCol="0" anchor="t"/>
          <a:lstStyle/>
          <a:p>
            <a:pPr indent="0" marL="0">
              <a:lnSpc>
                <a:spcPts val="1500"/>
              </a:lnSpc>
              <a:buNone/>
            </a:pPr>
            <a:r>
              <a:rPr lang="en-US" sz="1000" b="1" dirty="0">
                <a:solidFill>
                  <a:srgbClr val="8E5729"/>
                </a:solidFill>
                <a:latin typeface="Malgun Gothic" pitchFamily="34" charset="0"/>
                <a:ea typeface="Malgun Gothic" pitchFamily="34" charset="-122"/>
                <a:cs typeface="Malgun Gothic" pitchFamily="34" charset="-120"/>
              </a:rPr>
              <a:t>5분마다 스캔이 도는 구조에서 이 조건이 없으면 같은 공시로 LLM을 반복 호출하게 됩니다.</a:t>
            </a:r>
            <a:endParaRPr lang="en-US" sz="1000" dirty="0"/>
          </a:p>
        </p:txBody>
      </p:sp>
      <p:sp>
        <p:nvSpPr>
          <p:cNvPr id="47" name="Shape 45"/>
          <p:cNvSpPr/>
          <p:nvPr/>
        </p:nvSpPr>
        <p:spPr>
          <a:xfrm>
            <a:off x="6245352" y="4315968"/>
            <a:ext cx="5230368" cy="1810512"/>
          </a:xfrm>
          <a:prstGeom prst="rect">
            <a:avLst/>
          </a:prstGeom>
          <a:solidFill>
            <a:srgbClr val="FFFFFF"/>
          </a:solidFill>
          <a:ln w="9525">
            <a:solidFill>
              <a:srgbClr val="DFE3E8"/>
            </a:solidFill>
            <a:prstDash val="solid"/>
          </a:ln>
        </p:spPr>
      </p:sp>
      <p:sp>
        <p:nvSpPr>
          <p:cNvPr id="48" name="Text 46"/>
          <p:cNvSpPr txBox="1"/>
          <p:nvPr/>
        </p:nvSpPr>
        <p:spPr>
          <a:xfrm>
            <a:off x="6537960" y="4517136"/>
            <a:ext cx="4663440" cy="256032"/>
          </a:xfrm>
          <a:prstGeom prst="rect">
            <a:avLst/>
          </a:prstGeom>
          <a:noFill/>
          <a:ln/>
        </p:spPr>
        <p:txBody>
          <a:bodyPr wrap="square" lIns="0" tIns="0" rIns="0" bIns="0" rtlCol="0" anchor="t"/>
          <a:lstStyle/>
          <a:p>
            <a:pPr indent="0" marL="0">
              <a:buNone/>
            </a:pPr>
            <a:r>
              <a:rPr lang="en-US" sz="1250" b="1" dirty="0">
                <a:solidFill>
                  <a:srgbClr val="0E1621"/>
                </a:solidFill>
                <a:latin typeface="Malgun Gothic" pitchFamily="34" charset="0"/>
                <a:ea typeface="Malgun Gothic" pitchFamily="34" charset="-122"/>
                <a:cs typeface="Malgun Gothic" pitchFamily="34" charset="-120"/>
              </a:rPr>
              <a:t>감지 범위를 정한 방식</a:t>
            </a:r>
            <a:endParaRPr lang="en-US" sz="1250" dirty="0"/>
          </a:p>
        </p:txBody>
      </p:sp>
      <p:sp>
        <p:nvSpPr>
          <p:cNvPr id="49" name="Shape 47"/>
          <p:cNvSpPr/>
          <p:nvPr/>
        </p:nvSpPr>
        <p:spPr>
          <a:xfrm>
            <a:off x="6537960" y="4910328"/>
            <a:ext cx="64008" cy="64008"/>
          </a:xfrm>
          <a:prstGeom prst="rect">
            <a:avLst/>
          </a:prstGeom>
          <a:solidFill>
            <a:srgbClr val="B0703A"/>
          </a:solidFill>
          <a:ln w="12700">
            <a:solidFill>
              <a:srgbClr val="B0703A"/>
            </a:solidFill>
            <a:prstDash val="solid"/>
          </a:ln>
        </p:spPr>
      </p:sp>
      <p:sp>
        <p:nvSpPr>
          <p:cNvPr id="50" name="Text 48"/>
          <p:cNvSpPr txBox="1"/>
          <p:nvPr/>
        </p:nvSpPr>
        <p:spPr>
          <a:xfrm>
            <a:off x="6720840" y="4846320"/>
            <a:ext cx="1554480" cy="237744"/>
          </a:xfrm>
          <a:prstGeom prst="rect">
            <a:avLst/>
          </a:prstGeom>
          <a:noFill/>
          <a:ln/>
        </p:spPr>
        <p:txBody>
          <a:bodyPr wrap="square" lIns="0" tIns="0" rIns="0" bIns="0" rtlCol="0" anchor="t"/>
          <a:lstStyle/>
          <a:p>
            <a:pPr indent="0" marL="0">
              <a:buNone/>
            </a:pPr>
            <a:r>
              <a:rPr lang="en-US" sz="1050" b="1" dirty="0">
                <a:solidFill>
                  <a:srgbClr val="8E5729"/>
                </a:solidFill>
                <a:latin typeface="Malgun Gothic" pitchFamily="34" charset="0"/>
                <a:ea typeface="Malgun Gothic" pitchFamily="34" charset="-122"/>
                <a:cs typeface="Malgun Gothic" pitchFamily="34" charset="-120"/>
              </a:rPr>
              <a:t>조회는 2일치</a:t>
            </a:r>
            <a:endParaRPr lang="en-US" sz="1050" dirty="0"/>
          </a:p>
        </p:txBody>
      </p:sp>
      <p:sp>
        <p:nvSpPr>
          <p:cNvPr id="51" name="Text 49"/>
          <p:cNvSpPr txBox="1"/>
          <p:nvPr/>
        </p:nvSpPr>
        <p:spPr>
          <a:xfrm>
            <a:off x="8321040" y="4855464"/>
            <a:ext cx="2926080" cy="365760"/>
          </a:xfrm>
          <a:prstGeom prst="rect">
            <a:avLst/>
          </a:prstGeom>
          <a:noFill/>
          <a:ln/>
        </p:spPr>
        <p:txBody>
          <a:bodyPr wrap="square" lIns="0" tIns="0" rIns="0" bIns="0" rtlCol="0" anchor="t"/>
          <a:lstStyle/>
          <a:p>
            <a:pPr indent="0" marL="0">
              <a:lnSpc>
                <a:spcPts val="1300"/>
              </a:lnSpc>
              <a:buNone/>
            </a:pPr>
            <a:r>
              <a:rPr lang="en-US" sz="900" dirty="0">
                <a:solidFill>
                  <a:srgbClr val="68747F"/>
                </a:solidFill>
                <a:latin typeface="Malgun Gothic" pitchFamily="34" charset="0"/>
                <a:ea typeface="Malgun Gothic" pitchFamily="34" charset="-122"/>
                <a:cs typeface="Malgun Gothic" pitchFamily="34" charset="-120"/>
              </a:rPr>
              <a:t>fetch_disclosures(days=2) — 자정 경계에서 놓치지 않도록 여유를 둠</a:t>
            </a:r>
            <a:endParaRPr lang="en-US" sz="900" dirty="0"/>
          </a:p>
        </p:txBody>
      </p:sp>
      <p:sp>
        <p:nvSpPr>
          <p:cNvPr id="52" name="Shape 50"/>
          <p:cNvSpPr/>
          <p:nvPr/>
        </p:nvSpPr>
        <p:spPr>
          <a:xfrm>
            <a:off x="6537960" y="5312664"/>
            <a:ext cx="64008" cy="64008"/>
          </a:xfrm>
          <a:prstGeom prst="rect">
            <a:avLst/>
          </a:prstGeom>
          <a:solidFill>
            <a:srgbClr val="B0703A"/>
          </a:solidFill>
          <a:ln w="12700">
            <a:solidFill>
              <a:srgbClr val="B0703A"/>
            </a:solidFill>
            <a:prstDash val="solid"/>
          </a:ln>
        </p:spPr>
      </p:sp>
      <p:sp>
        <p:nvSpPr>
          <p:cNvPr id="53" name="Text 51"/>
          <p:cNvSpPr txBox="1"/>
          <p:nvPr/>
        </p:nvSpPr>
        <p:spPr>
          <a:xfrm>
            <a:off x="6720840" y="5248656"/>
            <a:ext cx="1554480" cy="237744"/>
          </a:xfrm>
          <a:prstGeom prst="rect">
            <a:avLst/>
          </a:prstGeom>
          <a:noFill/>
          <a:ln/>
        </p:spPr>
        <p:txBody>
          <a:bodyPr wrap="square" lIns="0" tIns="0" rIns="0" bIns="0" rtlCol="0" anchor="t"/>
          <a:lstStyle/>
          <a:p>
            <a:pPr indent="0" marL="0">
              <a:buNone/>
            </a:pPr>
            <a:r>
              <a:rPr lang="en-US" sz="1050" b="1" dirty="0">
                <a:solidFill>
                  <a:srgbClr val="8E5729"/>
                </a:solidFill>
                <a:latin typeface="Malgun Gothic" pitchFamily="34" charset="0"/>
                <a:ea typeface="Malgun Gothic" pitchFamily="34" charset="-122"/>
                <a:cs typeface="Malgun Gothic" pitchFamily="34" charset="-120"/>
              </a:rPr>
              <a:t>발송은 당일분만</a:t>
            </a:r>
            <a:endParaRPr lang="en-US" sz="1050" dirty="0"/>
          </a:p>
        </p:txBody>
      </p:sp>
      <p:sp>
        <p:nvSpPr>
          <p:cNvPr id="54" name="Text 52"/>
          <p:cNvSpPr txBox="1"/>
          <p:nvPr/>
        </p:nvSpPr>
        <p:spPr>
          <a:xfrm>
            <a:off x="8321040" y="5257800"/>
            <a:ext cx="2926080" cy="365760"/>
          </a:xfrm>
          <a:prstGeom prst="rect">
            <a:avLst/>
          </a:prstGeom>
          <a:noFill/>
          <a:ln/>
        </p:spPr>
        <p:txBody>
          <a:bodyPr wrap="square" lIns="0" tIns="0" rIns="0" bIns="0" rtlCol="0" anchor="t"/>
          <a:lstStyle/>
          <a:p>
            <a:pPr indent="0" marL="0">
              <a:lnSpc>
                <a:spcPts val="1300"/>
              </a:lnSpc>
              <a:buNone/>
            </a:pPr>
            <a:r>
              <a:rPr lang="en-US" sz="900" dirty="0">
                <a:solidFill>
                  <a:srgbClr val="68747F"/>
                </a:solidFill>
                <a:latin typeface="Malgun Gothic" pitchFamily="34" charset="0"/>
                <a:ea typeface="Malgun Gothic" pitchFamily="34" charset="-122"/>
                <a:cs typeface="Malgun Gothic" pitchFamily="34" charset="-120"/>
              </a:rPr>
              <a:t>rcept_dt == 오늘 인 건만 필터링해 과거 공시 재발송 방지</a:t>
            </a:r>
            <a:endParaRPr lang="en-US" sz="900" dirty="0"/>
          </a:p>
        </p:txBody>
      </p:sp>
      <p:sp>
        <p:nvSpPr>
          <p:cNvPr id="55" name="Shape 53"/>
          <p:cNvSpPr/>
          <p:nvPr/>
        </p:nvSpPr>
        <p:spPr>
          <a:xfrm>
            <a:off x="6537960" y="5715000"/>
            <a:ext cx="64008" cy="64008"/>
          </a:xfrm>
          <a:prstGeom prst="rect">
            <a:avLst/>
          </a:prstGeom>
          <a:solidFill>
            <a:srgbClr val="B0703A"/>
          </a:solidFill>
          <a:ln w="12700">
            <a:solidFill>
              <a:srgbClr val="B0703A"/>
            </a:solidFill>
            <a:prstDash val="solid"/>
          </a:ln>
        </p:spPr>
      </p:sp>
      <p:sp>
        <p:nvSpPr>
          <p:cNvPr id="56" name="Text 54"/>
          <p:cNvSpPr txBox="1"/>
          <p:nvPr/>
        </p:nvSpPr>
        <p:spPr>
          <a:xfrm>
            <a:off x="6720840" y="5650992"/>
            <a:ext cx="1554480" cy="237744"/>
          </a:xfrm>
          <a:prstGeom prst="rect">
            <a:avLst/>
          </a:prstGeom>
          <a:noFill/>
          <a:ln/>
        </p:spPr>
        <p:txBody>
          <a:bodyPr wrap="square" lIns="0" tIns="0" rIns="0" bIns="0" rtlCol="0" anchor="t"/>
          <a:lstStyle/>
          <a:p>
            <a:pPr indent="0" marL="0">
              <a:buNone/>
            </a:pPr>
            <a:r>
              <a:rPr lang="en-US" sz="1050" b="1" dirty="0">
                <a:solidFill>
                  <a:srgbClr val="8E5729"/>
                </a:solidFill>
                <a:latin typeface="Malgun Gothic" pitchFamily="34" charset="0"/>
                <a:ea typeface="Malgun Gothic" pitchFamily="34" charset="-122"/>
                <a:cs typeface="Malgun Gothic" pitchFamily="34" charset="-120"/>
              </a:rPr>
              <a:t>접수번호로 중복 제거</a:t>
            </a:r>
            <a:endParaRPr lang="en-US" sz="1050" dirty="0"/>
          </a:p>
        </p:txBody>
      </p:sp>
      <p:sp>
        <p:nvSpPr>
          <p:cNvPr id="57" name="Text 55"/>
          <p:cNvSpPr txBox="1"/>
          <p:nvPr/>
        </p:nvSpPr>
        <p:spPr>
          <a:xfrm>
            <a:off x="8321040" y="5660136"/>
            <a:ext cx="2926080" cy="365760"/>
          </a:xfrm>
          <a:prstGeom prst="rect">
            <a:avLst/>
          </a:prstGeom>
          <a:noFill/>
          <a:ln/>
        </p:spPr>
        <p:txBody>
          <a:bodyPr wrap="square" lIns="0" tIns="0" rIns="0" bIns="0" rtlCol="0" anchor="t"/>
          <a:lstStyle/>
          <a:p>
            <a:pPr indent="0" marL="0">
              <a:lnSpc>
                <a:spcPts val="1300"/>
              </a:lnSpc>
              <a:buNone/>
            </a:pPr>
            <a:r>
              <a:rPr lang="en-US" sz="900" dirty="0">
                <a:solidFill>
                  <a:srgbClr val="68747F"/>
                </a:solidFill>
                <a:latin typeface="Malgun Gothic" pitchFamily="34" charset="0"/>
                <a:ea typeface="Malgun Gothic" pitchFamily="34" charset="-122"/>
                <a:cs typeface="Malgun Gothic" pitchFamily="34" charset="-120"/>
              </a:rPr>
              <a:t>여러 기업 조회 결과를 rcept_no 기준 dict로 합쳐 1건으로 정리</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01 — 02</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무엇을 ‘중요 공시’로 볼 것인가</a:t>
            </a:r>
            <a:endParaRPr lang="en-US" sz="2800" dirty="0"/>
          </a:p>
        </p:txBody>
      </p:sp>
      <p:sp>
        <p:nvSpPr>
          <p:cNvPr id="5" name="Text 3"/>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04</a:t>
            </a:r>
            <a:endParaRPr lang="en-US" sz="950" dirty="0"/>
          </a:p>
        </p:txBody>
      </p:sp>
      <p:sp>
        <p:nvSpPr>
          <p:cNvPr id="6" name="Text 4"/>
          <p:cNvSpPr txBox="1"/>
          <p:nvPr/>
        </p:nvSpPr>
        <p:spPr>
          <a:xfrm>
            <a:off x="713232" y="1810512"/>
            <a:ext cx="548640" cy="274320"/>
          </a:xfrm>
          <a:prstGeom prst="rect">
            <a:avLst/>
          </a:prstGeom>
          <a:noFill/>
          <a:ln/>
        </p:spPr>
        <p:txBody>
          <a:bodyPr wrap="square" lIns="0" tIns="0" rIns="0" bIns="0" rtlCol="0" anchor="t"/>
          <a:lstStyle/>
          <a:p>
            <a:pPr indent="0" marL="0">
              <a:buNone/>
            </a:pPr>
            <a:r>
              <a:rPr lang="en-US" sz="1200" b="1" dirty="0">
                <a:solidFill>
                  <a:srgbClr val="B0703A"/>
                </a:solidFill>
                <a:latin typeface="Malgun Gothic" pitchFamily="34" charset="0"/>
                <a:ea typeface="Malgun Gothic" pitchFamily="34" charset="-122"/>
                <a:cs typeface="Malgun Gothic" pitchFamily="34" charset="-120"/>
              </a:rPr>
              <a:t>01·02</a:t>
            </a:r>
            <a:endParaRPr lang="en-US" sz="1200" dirty="0"/>
          </a:p>
        </p:txBody>
      </p:sp>
      <p:sp>
        <p:nvSpPr>
          <p:cNvPr id="7" name="Text 5"/>
          <p:cNvSpPr txBox="1"/>
          <p:nvPr/>
        </p:nvSpPr>
        <p:spPr>
          <a:xfrm>
            <a:off x="1280160" y="1773936"/>
            <a:ext cx="4754880" cy="310896"/>
          </a:xfrm>
          <a:prstGeom prst="rect">
            <a:avLst/>
          </a:prstGeom>
          <a:noFill/>
          <a:ln/>
        </p:spPr>
        <p:txBody>
          <a:bodyPr wrap="square" lIns="0" tIns="0" rIns="0" bIns="0" rtlCol="0" anchor="t"/>
          <a:lstStyle/>
          <a:p>
            <a:pPr indent="0" marL="0">
              <a:buNone/>
            </a:pPr>
            <a:r>
              <a:rPr lang="en-US" sz="1600" b="1" dirty="0">
                <a:solidFill>
                  <a:srgbClr val="0E1621"/>
                </a:solidFill>
                <a:latin typeface="Malgun Gothic" pitchFamily="34" charset="0"/>
                <a:ea typeface="Malgun Gothic" pitchFamily="34" charset="-122"/>
                <a:cs typeface="Malgun Gothic" pitchFamily="34" charset="-120"/>
              </a:rPr>
              <a:t>주기 스캔 · 중요도 판별</a:t>
            </a:r>
            <a:endParaRPr lang="en-US" sz="1600" dirty="0"/>
          </a:p>
        </p:txBody>
      </p:sp>
      <p:sp>
        <p:nvSpPr>
          <p:cNvPr id="8" name="Text 6"/>
          <p:cNvSpPr txBox="1"/>
          <p:nvPr/>
        </p:nvSpPr>
        <p:spPr>
          <a:xfrm>
            <a:off x="6199632" y="1828800"/>
            <a:ext cx="5303520" cy="256032"/>
          </a:xfrm>
          <a:prstGeom prst="rect">
            <a:avLst/>
          </a:prstGeom>
          <a:noFill/>
          <a:ln/>
        </p:spPr>
        <p:txBody>
          <a:bodyPr wrap="square" lIns="0" tIns="0" rIns="0" bIns="0" rtlCol="0" anchor="t"/>
          <a:lstStyle/>
          <a:p>
            <a:pPr algn="r" indent="0" marL="0">
              <a:buNone/>
            </a:pPr>
            <a:r>
              <a:rPr lang="en-US" sz="1100" dirty="0">
                <a:solidFill>
                  <a:srgbClr val="68747F"/>
                </a:solidFill>
                <a:latin typeface="Malgun Gothic" pitchFamily="34" charset="0"/>
                <a:ea typeface="Malgun Gothic" pitchFamily="34" charset="-122"/>
                <a:cs typeface="Malgun Gothic" pitchFamily="34" charset="-120"/>
              </a:rPr>
              <a:t>보고서명에 12개 유형 키워드가 포함되면 주요 공시로 승격</a:t>
            </a:r>
            <a:endParaRPr lang="en-US" sz="1100" dirty="0"/>
          </a:p>
        </p:txBody>
      </p:sp>
      <p:sp>
        <p:nvSpPr>
          <p:cNvPr id="9" name="Shape 7"/>
          <p:cNvSpPr/>
          <p:nvPr/>
        </p:nvSpPr>
        <p:spPr>
          <a:xfrm>
            <a:off x="713232" y="2212848"/>
            <a:ext cx="10765231" cy="10973"/>
          </a:xfrm>
          <a:prstGeom prst="rect">
            <a:avLst/>
          </a:prstGeom>
          <a:solidFill>
            <a:srgbClr val="DFE3E8"/>
          </a:solidFill>
          <a:ln w="12700">
            <a:solidFill>
              <a:srgbClr val="DFE3E8"/>
            </a:solidFill>
            <a:prstDash val="solid"/>
          </a:ln>
        </p:spPr>
      </p:sp>
      <p:sp>
        <p:nvSpPr>
          <p:cNvPr id="10" name="Shape 8"/>
          <p:cNvSpPr/>
          <p:nvPr/>
        </p:nvSpPr>
        <p:spPr>
          <a:xfrm>
            <a:off x="713232" y="2395728"/>
            <a:ext cx="6492240" cy="3566160"/>
          </a:xfrm>
          <a:prstGeom prst="rect">
            <a:avLst/>
          </a:prstGeom>
          <a:solidFill>
            <a:srgbClr val="FFFFFF"/>
          </a:solidFill>
          <a:ln w="9525">
            <a:solidFill>
              <a:srgbClr val="DFE3E8"/>
            </a:solidFill>
            <a:prstDash val="solid"/>
          </a:ln>
        </p:spPr>
      </p:sp>
      <p:sp>
        <p:nvSpPr>
          <p:cNvPr id="11" name="Text 9"/>
          <p:cNvSpPr txBox="1"/>
          <p:nvPr/>
        </p:nvSpPr>
        <p:spPr>
          <a:xfrm>
            <a:off x="1024128" y="2615184"/>
            <a:ext cx="3657600" cy="256032"/>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주요 공시 12개 유형</a:t>
            </a:r>
            <a:endParaRPr lang="en-US" sz="1300" dirty="0"/>
          </a:p>
        </p:txBody>
      </p:sp>
      <p:sp>
        <p:nvSpPr>
          <p:cNvPr id="12" name="Text 10"/>
          <p:cNvSpPr txBox="1"/>
          <p:nvPr/>
        </p:nvSpPr>
        <p:spPr>
          <a:xfrm>
            <a:off x="1024128" y="2907792"/>
            <a:ext cx="5852160" cy="219456"/>
          </a:xfrm>
          <a:prstGeom prst="rect">
            <a:avLst/>
          </a:prstGeom>
          <a:noFill/>
          <a:ln/>
        </p:spPr>
        <p:txBody>
          <a:bodyPr wrap="square" lIns="0" tIns="0" rIns="0" bIns="0" rtlCol="0" anchor="t"/>
          <a:lstStyle/>
          <a:p>
            <a:pPr indent="0" marL="0">
              <a:buNone/>
            </a:pPr>
            <a:r>
              <a:rPr lang="en-US" sz="1000" dirty="0">
                <a:solidFill>
                  <a:srgbClr val="68747F"/>
                </a:solidFill>
                <a:latin typeface="Malgun Gothic" pitchFamily="34" charset="0"/>
                <a:ea typeface="Malgun Gothic" pitchFamily="34" charset="-122"/>
                <a:cs typeface="Malgun Gothic" pitchFamily="34" charset="-120"/>
              </a:rPr>
              <a:t>공백을 제거한 보고서명에 아래 문자열이 포함되면 is_major = True</a:t>
            </a:r>
            <a:endParaRPr lang="en-US" sz="1000" dirty="0"/>
          </a:p>
        </p:txBody>
      </p:sp>
      <p:sp>
        <p:nvSpPr>
          <p:cNvPr id="13" name="Shape 11"/>
          <p:cNvSpPr/>
          <p:nvPr/>
        </p:nvSpPr>
        <p:spPr>
          <a:xfrm>
            <a:off x="1024128" y="3319272"/>
            <a:ext cx="64008" cy="64008"/>
          </a:xfrm>
          <a:prstGeom prst="rect">
            <a:avLst/>
          </a:prstGeom>
          <a:solidFill>
            <a:srgbClr val="2E7358"/>
          </a:solidFill>
          <a:ln w="12700">
            <a:solidFill>
              <a:srgbClr val="2E7358"/>
            </a:solidFill>
            <a:prstDash val="solid"/>
          </a:ln>
        </p:spPr>
      </p:sp>
      <p:sp>
        <p:nvSpPr>
          <p:cNvPr id="14" name="Text 12"/>
          <p:cNvSpPr txBox="1"/>
          <p:nvPr/>
        </p:nvSpPr>
        <p:spPr>
          <a:xfrm>
            <a:off x="1207008" y="3255264"/>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단일판매·공급계약체결</a:t>
            </a:r>
            <a:endParaRPr lang="en-US" sz="1050" dirty="0"/>
          </a:p>
        </p:txBody>
      </p:sp>
      <p:sp>
        <p:nvSpPr>
          <p:cNvPr id="15" name="Text 13"/>
          <p:cNvSpPr txBox="1"/>
          <p:nvPr/>
        </p:nvSpPr>
        <p:spPr>
          <a:xfrm>
            <a:off x="3346704" y="3273552"/>
            <a:ext cx="585216" cy="219456"/>
          </a:xfrm>
          <a:prstGeom prst="rect">
            <a:avLst/>
          </a:prstGeom>
          <a:noFill/>
          <a:ln/>
        </p:spPr>
        <p:txBody>
          <a:bodyPr wrap="square" lIns="0" tIns="0" rIns="0" bIns="0" rtlCol="0" anchor="t"/>
          <a:lstStyle/>
          <a:p>
            <a:pPr indent="0" marL="0">
              <a:buNone/>
            </a:pPr>
            <a:r>
              <a:rPr lang="en-US" sz="900" dirty="0">
                <a:solidFill>
                  <a:srgbClr val="2E7358"/>
                </a:solidFill>
                <a:latin typeface="Malgun Gothic" pitchFamily="34" charset="0"/>
                <a:ea typeface="Malgun Gothic" pitchFamily="34" charset="-122"/>
                <a:cs typeface="Malgun Gothic" pitchFamily="34" charset="-120"/>
              </a:rPr>
              <a:t>수주</a:t>
            </a:r>
            <a:endParaRPr lang="en-US" sz="900" dirty="0"/>
          </a:p>
        </p:txBody>
      </p:sp>
      <p:sp>
        <p:nvSpPr>
          <p:cNvPr id="16" name="Shape 14"/>
          <p:cNvSpPr/>
          <p:nvPr/>
        </p:nvSpPr>
        <p:spPr>
          <a:xfrm>
            <a:off x="4078224" y="3319272"/>
            <a:ext cx="64008" cy="64008"/>
          </a:xfrm>
          <a:prstGeom prst="rect">
            <a:avLst/>
          </a:prstGeom>
          <a:solidFill>
            <a:srgbClr val="A8443E"/>
          </a:solidFill>
          <a:ln w="12700">
            <a:solidFill>
              <a:srgbClr val="A8443E"/>
            </a:solidFill>
            <a:prstDash val="solid"/>
          </a:ln>
        </p:spPr>
      </p:sp>
      <p:sp>
        <p:nvSpPr>
          <p:cNvPr id="17" name="Text 15"/>
          <p:cNvSpPr txBox="1"/>
          <p:nvPr/>
        </p:nvSpPr>
        <p:spPr>
          <a:xfrm>
            <a:off x="4261104" y="3255264"/>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단일판매·공급계약해지</a:t>
            </a:r>
            <a:endParaRPr lang="en-US" sz="1050" dirty="0"/>
          </a:p>
        </p:txBody>
      </p:sp>
      <p:sp>
        <p:nvSpPr>
          <p:cNvPr id="18" name="Text 16"/>
          <p:cNvSpPr txBox="1"/>
          <p:nvPr/>
        </p:nvSpPr>
        <p:spPr>
          <a:xfrm>
            <a:off x="6400800" y="3273552"/>
            <a:ext cx="585216" cy="219456"/>
          </a:xfrm>
          <a:prstGeom prst="rect">
            <a:avLst/>
          </a:prstGeom>
          <a:noFill/>
          <a:ln/>
        </p:spPr>
        <p:txBody>
          <a:bodyPr wrap="square" lIns="0" tIns="0" rIns="0" bIns="0" rtlCol="0" anchor="t"/>
          <a:lstStyle/>
          <a:p>
            <a:pPr indent="0" marL="0">
              <a:buNone/>
            </a:pPr>
            <a:r>
              <a:rPr lang="en-US" sz="900" dirty="0">
                <a:solidFill>
                  <a:srgbClr val="A8443E"/>
                </a:solidFill>
                <a:latin typeface="Malgun Gothic" pitchFamily="34" charset="0"/>
                <a:ea typeface="Malgun Gothic" pitchFamily="34" charset="-122"/>
                <a:cs typeface="Malgun Gothic" pitchFamily="34" charset="-120"/>
              </a:rPr>
              <a:t>리스크</a:t>
            </a:r>
            <a:endParaRPr lang="en-US" sz="900" dirty="0"/>
          </a:p>
        </p:txBody>
      </p:sp>
      <p:sp>
        <p:nvSpPr>
          <p:cNvPr id="19" name="Shape 17"/>
          <p:cNvSpPr/>
          <p:nvPr/>
        </p:nvSpPr>
        <p:spPr>
          <a:xfrm>
            <a:off x="1024128" y="3813048"/>
            <a:ext cx="64008" cy="64008"/>
          </a:xfrm>
          <a:prstGeom prst="rect">
            <a:avLst/>
          </a:prstGeom>
          <a:solidFill>
            <a:srgbClr val="35618F"/>
          </a:solidFill>
          <a:ln w="12700">
            <a:solidFill>
              <a:srgbClr val="35618F"/>
            </a:solidFill>
            <a:prstDash val="solid"/>
          </a:ln>
        </p:spPr>
      </p:sp>
      <p:sp>
        <p:nvSpPr>
          <p:cNvPr id="20" name="Text 18"/>
          <p:cNvSpPr txBox="1"/>
          <p:nvPr/>
        </p:nvSpPr>
        <p:spPr>
          <a:xfrm>
            <a:off x="1207008" y="3749040"/>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신규시설투자</a:t>
            </a:r>
            <a:endParaRPr lang="en-US" sz="1050" dirty="0"/>
          </a:p>
        </p:txBody>
      </p:sp>
      <p:sp>
        <p:nvSpPr>
          <p:cNvPr id="21" name="Text 19"/>
          <p:cNvSpPr txBox="1"/>
          <p:nvPr/>
        </p:nvSpPr>
        <p:spPr>
          <a:xfrm>
            <a:off x="3346704" y="3767328"/>
            <a:ext cx="585216" cy="219456"/>
          </a:xfrm>
          <a:prstGeom prst="rect">
            <a:avLst/>
          </a:prstGeom>
          <a:noFill/>
          <a:ln/>
        </p:spPr>
        <p:txBody>
          <a:bodyPr wrap="square" lIns="0" tIns="0" rIns="0" bIns="0" rtlCol="0" anchor="t"/>
          <a:lstStyle/>
          <a:p>
            <a:pPr indent="0" marL="0">
              <a:buNone/>
            </a:pPr>
            <a:r>
              <a:rPr lang="en-US" sz="900" dirty="0">
                <a:solidFill>
                  <a:srgbClr val="35618F"/>
                </a:solidFill>
                <a:latin typeface="Malgun Gothic" pitchFamily="34" charset="0"/>
                <a:ea typeface="Malgun Gothic" pitchFamily="34" charset="-122"/>
                <a:cs typeface="Malgun Gothic" pitchFamily="34" charset="-120"/>
              </a:rPr>
              <a:t>투자</a:t>
            </a:r>
            <a:endParaRPr lang="en-US" sz="900" dirty="0"/>
          </a:p>
        </p:txBody>
      </p:sp>
      <p:sp>
        <p:nvSpPr>
          <p:cNvPr id="22" name="Shape 20"/>
          <p:cNvSpPr/>
          <p:nvPr/>
        </p:nvSpPr>
        <p:spPr>
          <a:xfrm>
            <a:off x="4078224" y="3813048"/>
            <a:ext cx="64008" cy="64008"/>
          </a:xfrm>
          <a:prstGeom prst="rect">
            <a:avLst/>
          </a:prstGeom>
          <a:solidFill>
            <a:srgbClr val="35618F"/>
          </a:solidFill>
          <a:ln w="12700">
            <a:solidFill>
              <a:srgbClr val="35618F"/>
            </a:solidFill>
            <a:prstDash val="solid"/>
          </a:ln>
        </p:spPr>
      </p:sp>
      <p:sp>
        <p:nvSpPr>
          <p:cNvPr id="23" name="Text 21"/>
          <p:cNvSpPr txBox="1"/>
          <p:nvPr/>
        </p:nvSpPr>
        <p:spPr>
          <a:xfrm>
            <a:off x="4261104" y="3749040"/>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타법인주식및출자증권취득결정</a:t>
            </a:r>
            <a:endParaRPr lang="en-US" sz="1050" dirty="0"/>
          </a:p>
        </p:txBody>
      </p:sp>
      <p:sp>
        <p:nvSpPr>
          <p:cNvPr id="24" name="Text 22"/>
          <p:cNvSpPr txBox="1"/>
          <p:nvPr/>
        </p:nvSpPr>
        <p:spPr>
          <a:xfrm>
            <a:off x="6400800" y="3767328"/>
            <a:ext cx="585216" cy="219456"/>
          </a:xfrm>
          <a:prstGeom prst="rect">
            <a:avLst/>
          </a:prstGeom>
          <a:noFill/>
          <a:ln/>
        </p:spPr>
        <p:txBody>
          <a:bodyPr wrap="square" lIns="0" tIns="0" rIns="0" bIns="0" rtlCol="0" anchor="t"/>
          <a:lstStyle/>
          <a:p>
            <a:pPr indent="0" marL="0">
              <a:buNone/>
            </a:pPr>
            <a:r>
              <a:rPr lang="en-US" sz="900" dirty="0">
                <a:solidFill>
                  <a:srgbClr val="35618F"/>
                </a:solidFill>
                <a:latin typeface="Malgun Gothic" pitchFamily="34" charset="0"/>
                <a:ea typeface="Malgun Gothic" pitchFamily="34" charset="-122"/>
                <a:cs typeface="Malgun Gothic" pitchFamily="34" charset="-120"/>
              </a:rPr>
              <a:t>투자</a:t>
            </a:r>
            <a:endParaRPr lang="en-US" sz="900" dirty="0"/>
          </a:p>
        </p:txBody>
      </p:sp>
      <p:sp>
        <p:nvSpPr>
          <p:cNvPr id="25" name="Shape 23"/>
          <p:cNvSpPr/>
          <p:nvPr/>
        </p:nvSpPr>
        <p:spPr>
          <a:xfrm>
            <a:off x="1024128" y="4306824"/>
            <a:ext cx="64008" cy="64008"/>
          </a:xfrm>
          <a:prstGeom prst="rect">
            <a:avLst/>
          </a:prstGeom>
          <a:solidFill>
            <a:srgbClr val="A8443E"/>
          </a:solidFill>
          <a:ln w="12700">
            <a:solidFill>
              <a:srgbClr val="A8443E"/>
            </a:solidFill>
            <a:prstDash val="solid"/>
          </a:ln>
        </p:spPr>
      </p:sp>
      <p:sp>
        <p:nvSpPr>
          <p:cNvPr id="26" name="Text 24"/>
          <p:cNvSpPr txBox="1"/>
          <p:nvPr/>
        </p:nvSpPr>
        <p:spPr>
          <a:xfrm>
            <a:off x="1207008" y="4242816"/>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유상증자</a:t>
            </a:r>
            <a:endParaRPr lang="en-US" sz="1050" dirty="0"/>
          </a:p>
        </p:txBody>
      </p:sp>
      <p:sp>
        <p:nvSpPr>
          <p:cNvPr id="27" name="Text 25"/>
          <p:cNvSpPr txBox="1"/>
          <p:nvPr/>
        </p:nvSpPr>
        <p:spPr>
          <a:xfrm>
            <a:off x="3346704" y="4261104"/>
            <a:ext cx="585216" cy="219456"/>
          </a:xfrm>
          <a:prstGeom prst="rect">
            <a:avLst/>
          </a:prstGeom>
          <a:noFill/>
          <a:ln/>
        </p:spPr>
        <p:txBody>
          <a:bodyPr wrap="square" lIns="0" tIns="0" rIns="0" bIns="0" rtlCol="0" anchor="t"/>
          <a:lstStyle/>
          <a:p>
            <a:pPr indent="0" marL="0">
              <a:buNone/>
            </a:pPr>
            <a:r>
              <a:rPr lang="en-US" sz="900" dirty="0">
                <a:solidFill>
                  <a:srgbClr val="A8443E"/>
                </a:solidFill>
                <a:latin typeface="Malgun Gothic" pitchFamily="34" charset="0"/>
                <a:ea typeface="Malgun Gothic" pitchFamily="34" charset="-122"/>
                <a:cs typeface="Malgun Gothic" pitchFamily="34" charset="-120"/>
              </a:rPr>
              <a:t>리스크</a:t>
            </a:r>
            <a:endParaRPr lang="en-US" sz="900" dirty="0"/>
          </a:p>
        </p:txBody>
      </p:sp>
      <p:sp>
        <p:nvSpPr>
          <p:cNvPr id="28" name="Shape 26"/>
          <p:cNvSpPr/>
          <p:nvPr/>
        </p:nvSpPr>
        <p:spPr>
          <a:xfrm>
            <a:off x="4078224" y="4306824"/>
            <a:ext cx="64008" cy="64008"/>
          </a:xfrm>
          <a:prstGeom prst="rect">
            <a:avLst/>
          </a:prstGeom>
          <a:solidFill>
            <a:srgbClr val="5C4E86"/>
          </a:solidFill>
          <a:ln w="12700">
            <a:solidFill>
              <a:srgbClr val="5C4E86"/>
            </a:solidFill>
            <a:prstDash val="solid"/>
          </a:ln>
        </p:spPr>
      </p:sp>
      <p:sp>
        <p:nvSpPr>
          <p:cNvPr id="29" name="Text 27"/>
          <p:cNvSpPr txBox="1"/>
          <p:nvPr/>
        </p:nvSpPr>
        <p:spPr>
          <a:xfrm>
            <a:off x="4261104" y="4242816"/>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영업양수도</a:t>
            </a:r>
            <a:endParaRPr lang="en-US" sz="1050" dirty="0"/>
          </a:p>
        </p:txBody>
      </p:sp>
      <p:sp>
        <p:nvSpPr>
          <p:cNvPr id="30" name="Text 28"/>
          <p:cNvSpPr txBox="1"/>
          <p:nvPr/>
        </p:nvSpPr>
        <p:spPr>
          <a:xfrm>
            <a:off x="6400800" y="4261104"/>
            <a:ext cx="585216" cy="219456"/>
          </a:xfrm>
          <a:prstGeom prst="rect">
            <a:avLst/>
          </a:prstGeom>
          <a:noFill/>
          <a:ln/>
        </p:spPr>
        <p:txBody>
          <a:bodyPr wrap="square" lIns="0" tIns="0" rIns="0" bIns="0" rtlCol="0" anchor="t"/>
          <a:lstStyle/>
          <a:p>
            <a:pPr indent="0" marL="0">
              <a:buNone/>
            </a:pPr>
            <a:r>
              <a:rPr lang="en-US" sz="900" dirty="0">
                <a:solidFill>
                  <a:srgbClr val="5C4E86"/>
                </a:solidFill>
                <a:latin typeface="Malgun Gothic" pitchFamily="34" charset="0"/>
                <a:ea typeface="Malgun Gothic" pitchFamily="34" charset="-122"/>
                <a:cs typeface="Malgun Gothic" pitchFamily="34" charset="-120"/>
              </a:rPr>
              <a:t>구조</a:t>
            </a:r>
            <a:endParaRPr lang="en-US" sz="900" dirty="0"/>
          </a:p>
        </p:txBody>
      </p:sp>
      <p:sp>
        <p:nvSpPr>
          <p:cNvPr id="31" name="Shape 29"/>
          <p:cNvSpPr/>
          <p:nvPr/>
        </p:nvSpPr>
        <p:spPr>
          <a:xfrm>
            <a:off x="1024128" y="4800600"/>
            <a:ext cx="64008" cy="64008"/>
          </a:xfrm>
          <a:prstGeom prst="rect">
            <a:avLst/>
          </a:prstGeom>
          <a:solidFill>
            <a:srgbClr val="35618F"/>
          </a:solidFill>
          <a:ln w="12700">
            <a:solidFill>
              <a:srgbClr val="35618F"/>
            </a:solidFill>
            <a:prstDash val="solid"/>
          </a:ln>
        </p:spPr>
      </p:sp>
      <p:sp>
        <p:nvSpPr>
          <p:cNvPr id="32" name="Text 30"/>
          <p:cNvSpPr txBox="1"/>
          <p:nvPr/>
        </p:nvSpPr>
        <p:spPr>
          <a:xfrm>
            <a:off x="1207008" y="4736592"/>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유형자산취득</a:t>
            </a:r>
            <a:endParaRPr lang="en-US" sz="1050" dirty="0"/>
          </a:p>
        </p:txBody>
      </p:sp>
      <p:sp>
        <p:nvSpPr>
          <p:cNvPr id="33" name="Text 31"/>
          <p:cNvSpPr txBox="1"/>
          <p:nvPr/>
        </p:nvSpPr>
        <p:spPr>
          <a:xfrm>
            <a:off x="3346704" y="4754880"/>
            <a:ext cx="585216" cy="219456"/>
          </a:xfrm>
          <a:prstGeom prst="rect">
            <a:avLst/>
          </a:prstGeom>
          <a:noFill/>
          <a:ln/>
        </p:spPr>
        <p:txBody>
          <a:bodyPr wrap="square" lIns="0" tIns="0" rIns="0" bIns="0" rtlCol="0" anchor="t"/>
          <a:lstStyle/>
          <a:p>
            <a:pPr indent="0" marL="0">
              <a:buNone/>
            </a:pPr>
            <a:r>
              <a:rPr lang="en-US" sz="900" dirty="0">
                <a:solidFill>
                  <a:srgbClr val="35618F"/>
                </a:solidFill>
                <a:latin typeface="Malgun Gothic" pitchFamily="34" charset="0"/>
                <a:ea typeface="Malgun Gothic" pitchFamily="34" charset="-122"/>
                <a:cs typeface="Malgun Gothic" pitchFamily="34" charset="-120"/>
              </a:rPr>
              <a:t>투자</a:t>
            </a:r>
            <a:endParaRPr lang="en-US" sz="900" dirty="0"/>
          </a:p>
        </p:txBody>
      </p:sp>
      <p:sp>
        <p:nvSpPr>
          <p:cNvPr id="34" name="Shape 32"/>
          <p:cNvSpPr/>
          <p:nvPr/>
        </p:nvSpPr>
        <p:spPr>
          <a:xfrm>
            <a:off x="4078224" y="4800600"/>
            <a:ext cx="64008" cy="64008"/>
          </a:xfrm>
          <a:prstGeom prst="rect">
            <a:avLst/>
          </a:prstGeom>
          <a:solidFill>
            <a:srgbClr val="A8443E"/>
          </a:solidFill>
          <a:ln w="12700">
            <a:solidFill>
              <a:srgbClr val="A8443E"/>
            </a:solidFill>
            <a:prstDash val="solid"/>
          </a:ln>
        </p:spPr>
      </p:sp>
      <p:sp>
        <p:nvSpPr>
          <p:cNvPr id="35" name="Text 33"/>
          <p:cNvSpPr txBox="1"/>
          <p:nvPr/>
        </p:nvSpPr>
        <p:spPr>
          <a:xfrm>
            <a:off x="4261104" y="4736592"/>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타인에대한채무보증결정</a:t>
            </a:r>
            <a:endParaRPr lang="en-US" sz="1050" dirty="0"/>
          </a:p>
        </p:txBody>
      </p:sp>
      <p:sp>
        <p:nvSpPr>
          <p:cNvPr id="36" name="Text 34"/>
          <p:cNvSpPr txBox="1"/>
          <p:nvPr/>
        </p:nvSpPr>
        <p:spPr>
          <a:xfrm>
            <a:off x="6400800" y="4754880"/>
            <a:ext cx="585216" cy="219456"/>
          </a:xfrm>
          <a:prstGeom prst="rect">
            <a:avLst/>
          </a:prstGeom>
          <a:noFill/>
          <a:ln/>
        </p:spPr>
        <p:txBody>
          <a:bodyPr wrap="square" lIns="0" tIns="0" rIns="0" bIns="0" rtlCol="0" anchor="t"/>
          <a:lstStyle/>
          <a:p>
            <a:pPr indent="0" marL="0">
              <a:buNone/>
            </a:pPr>
            <a:r>
              <a:rPr lang="en-US" sz="900" dirty="0">
                <a:solidFill>
                  <a:srgbClr val="A8443E"/>
                </a:solidFill>
                <a:latin typeface="Malgun Gothic" pitchFamily="34" charset="0"/>
                <a:ea typeface="Malgun Gothic" pitchFamily="34" charset="-122"/>
                <a:cs typeface="Malgun Gothic" pitchFamily="34" charset="-120"/>
              </a:rPr>
              <a:t>리스크</a:t>
            </a:r>
            <a:endParaRPr lang="en-US" sz="900" dirty="0"/>
          </a:p>
        </p:txBody>
      </p:sp>
      <p:sp>
        <p:nvSpPr>
          <p:cNvPr id="37" name="Shape 35"/>
          <p:cNvSpPr/>
          <p:nvPr/>
        </p:nvSpPr>
        <p:spPr>
          <a:xfrm>
            <a:off x="1024128" y="5294376"/>
            <a:ext cx="64008" cy="64008"/>
          </a:xfrm>
          <a:prstGeom prst="rect">
            <a:avLst/>
          </a:prstGeom>
          <a:solidFill>
            <a:srgbClr val="A8443E"/>
          </a:solidFill>
          <a:ln w="12700">
            <a:solidFill>
              <a:srgbClr val="A8443E"/>
            </a:solidFill>
            <a:prstDash val="solid"/>
          </a:ln>
        </p:spPr>
      </p:sp>
      <p:sp>
        <p:nvSpPr>
          <p:cNvPr id="38" name="Text 36"/>
          <p:cNvSpPr txBox="1"/>
          <p:nvPr/>
        </p:nvSpPr>
        <p:spPr>
          <a:xfrm>
            <a:off x="1207008" y="5230368"/>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소송등의제기</a:t>
            </a:r>
            <a:endParaRPr lang="en-US" sz="1050" dirty="0"/>
          </a:p>
        </p:txBody>
      </p:sp>
      <p:sp>
        <p:nvSpPr>
          <p:cNvPr id="39" name="Text 37"/>
          <p:cNvSpPr txBox="1"/>
          <p:nvPr/>
        </p:nvSpPr>
        <p:spPr>
          <a:xfrm>
            <a:off x="3346704" y="5248656"/>
            <a:ext cx="585216" cy="219456"/>
          </a:xfrm>
          <a:prstGeom prst="rect">
            <a:avLst/>
          </a:prstGeom>
          <a:noFill/>
          <a:ln/>
        </p:spPr>
        <p:txBody>
          <a:bodyPr wrap="square" lIns="0" tIns="0" rIns="0" bIns="0" rtlCol="0" anchor="t"/>
          <a:lstStyle/>
          <a:p>
            <a:pPr indent="0" marL="0">
              <a:buNone/>
            </a:pPr>
            <a:r>
              <a:rPr lang="en-US" sz="900" dirty="0">
                <a:solidFill>
                  <a:srgbClr val="A8443E"/>
                </a:solidFill>
                <a:latin typeface="Malgun Gothic" pitchFamily="34" charset="0"/>
                <a:ea typeface="Malgun Gothic" pitchFamily="34" charset="-122"/>
                <a:cs typeface="Malgun Gothic" pitchFamily="34" charset="-120"/>
              </a:rPr>
              <a:t>리스크</a:t>
            </a:r>
            <a:endParaRPr lang="en-US" sz="900" dirty="0"/>
          </a:p>
        </p:txBody>
      </p:sp>
      <p:sp>
        <p:nvSpPr>
          <p:cNvPr id="40" name="Shape 38"/>
          <p:cNvSpPr/>
          <p:nvPr/>
        </p:nvSpPr>
        <p:spPr>
          <a:xfrm>
            <a:off x="4078224" y="5294376"/>
            <a:ext cx="64008" cy="64008"/>
          </a:xfrm>
          <a:prstGeom prst="rect">
            <a:avLst/>
          </a:prstGeom>
          <a:solidFill>
            <a:srgbClr val="B0703A"/>
          </a:solidFill>
          <a:ln w="12700">
            <a:solidFill>
              <a:srgbClr val="B0703A"/>
            </a:solidFill>
            <a:prstDash val="solid"/>
          </a:ln>
        </p:spPr>
      </p:sp>
      <p:sp>
        <p:nvSpPr>
          <p:cNvPr id="41" name="Text 39"/>
          <p:cNvSpPr txBox="1"/>
          <p:nvPr/>
        </p:nvSpPr>
        <p:spPr>
          <a:xfrm>
            <a:off x="4261104" y="5230368"/>
            <a:ext cx="2103120" cy="237744"/>
          </a:xfrm>
          <a:prstGeom prst="rect">
            <a:avLst/>
          </a:prstGeom>
          <a:noFill/>
          <a:ln/>
        </p:spPr>
        <p:txBody>
          <a:bodyPr wrap="square" lIns="0" tIns="0" rIns="0" bIns="0" rtlCol="0" anchor="t"/>
          <a:lstStyle/>
          <a:p>
            <a:pPr indent="0" marL="0">
              <a:buNone/>
            </a:pPr>
            <a:r>
              <a:rPr lang="en-US" sz="1050" dirty="0">
                <a:solidFill>
                  <a:srgbClr val="4A5560"/>
                </a:solidFill>
                <a:latin typeface="Malgun Gothic" pitchFamily="34" charset="0"/>
                <a:ea typeface="Malgun Gothic" pitchFamily="34" charset="-122"/>
                <a:cs typeface="Malgun Gothic" pitchFamily="34" charset="-120"/>
              </a:rPr>
              <a:t>연결재무제표기준영업(잠정)실적</a:t>
            </a:r>
            <a:endParaRPr lang="en-US" sz="1050" dirty="0"/>
          </a:p>
        </p:txBody>
      </p:sp>
      <p:sp>
        <p:nvSpPr>
          <p:cNvPr id="42" name="Text 40"/>
          <p:cNvSpPr txBox="1"/>
          <p:nvPr/>
        </p:nvSpPr>
        <p:spPr>
          <a:xfrm>
            <a:off x="6400800" y="5248656"/>
            <a:ext cx="585216" cy="219456"/>
          </a:xfrm>
          <a:prstGeom prst="rect">
            <a:avLst/>
          </a:prstGeom>
          <a:noFill/>
          <a:ln/>
        </p:spPr>
        <p:txBody>
          <a:bodyPr wrap="square" lIns="0" tIns="0" rIns="0" bIns="0" rtlCol="0" anchor="t"/>
          <a:lstStyle/>
          <a:p>
            <a:pPr indent="0" marL="0">
              <a:buNone/>
            </a:pPr>
            <a:r>
              <a:rPr lang="en-US" sz="900" dirty="0">
                <a:solidFill>
                  <a:srgbClr val="B0703A"/>
                </a:solidFill>
                <a:latin typeface="Malgun Gothic" pitchFamily="34" charset="0"/>
                <a:ea typeface="Malgun Gothic" pitchFamily="34" charset="-122"/>
                <a:cs typeface="Malgun Gothic" pitchFamily="34" charset="-120"/>
              </a:rPr>
              <a:t>실적</a:t>
            </a:r>
            <a:endParaRPr lang="en-US" sz="900" dirty="0"/>
          </a:p>
        </p:txBody>
      </p:sp>
      <p:sp>
        <p:nvSpPr>
          <p:cNvPr id="43" name="Text 41"/>
          <p:cNvSpPr txBox="1"/>
          <p:nvPr/>
        </p:nvSpPr>
        <p:spPr>
          <a:xfrm>
            <a:off x="1024128" y="5596128"/>
            <a:ext cx="5852160" cy="219456"/>
          </a:xfrm>
          <a:prstGeom prst="rect">
            <a:avLst/>
          </a:prstGeom>
          <a:noFill/>
          <a:ln/>
        </p:spPr>
        <p:txBody>
          <a:bodyPr wrap="square" lIns="0" tIns="0" rIns="0" bIns="0" rtlCol="0" anchor="t"/>
          <a:lstStyle/>
          <a:p>
            <a:pPr indent="0" marL="0">
              <a:buNone/>
            </a:pPr>
            <a:r>
              <a:rPr lang="en-US" sz="950" dirty="0">
                <a:solidFill>
                  <a:srgbClr val="97A2AD"/>
                </a:solidFill>
                <a:latin typeface="Malgun Gothic" pitchFamily="34" charset="0"/>
                <a:ea typeface="Malgun Gothic" pitchFamily="34" charset="-122"/>
                <a:cs typeface="Malgun Gothic" pitchFamily="34" charset="-120"/>
              </a:rPr>
              <a:t>가운뎃점(·)과 아래아점(ㆍ) 표기가 혼용되어 두 형태를 모두 등록했습니다.</a:t>
            </a:r>
            <a:endParaRPr lang="en-US" sz="950" dirty="0"/>
          </a:p>
        </p:txBody>
      </p:sp>
      <p:sp>
        <p:nvSpPr>
          <p:cNvPr id="44" name="Shape 42"/>
          <p:cNvSpPr/>
          <p:nvPr/>
        </p:nvSpPr>
        <p:spPr>
          <a:xfrm>
            <a:off x="7461504" y="2395728"/>
            <a:ext cx="4014216" cy="1700784"/>
          </a:xfrm>
          <a:prstGeom prst="rect">
            <a:avLst/>
          </a:prstGeom>
          <a:solidFill>
            <a:srgbClr val="0E1621"/>
          </a:solidFill>
          <a:ln w="12700">
            <a:solidFill>
              <a:srgbClr val="333333"/>
            </a:solidFill>
            <a:prstDash val="solid"/>
          </a:ln>
        </p:spPr>
      </p:sp>
      <p:sp>
        <p:nvSpPr>
          <p:cNvPr id="45" name="Text 43"/>
          <p:cNvSpPr txBox="1"/>
          <p:nvPr/>
        </p:nvSpPr>
        <p:spPr>
          <a:xfrm>
            <a:off x="7772400" y="2633472"/>
            <a:ext cx="1828800" cy="457200"/>
          </a:xfrm>
          <a:prstGeom prst="rect">
            <a:avLst/>
          </a:prstGeom>
          <a:noFill/>
          <a:ln/>
        </p:spPr>
        <p:txBody>
          <a:bodyPr wrap="square" lIns="0" tIns="0" rIns="0" bIns="0" rtlCol="0" anchor="t"/>
          <a:lstStyle/>
          <a:p>
            <a:pPr indent="0" marL="0">
              <a:buNone/>
            </a:pPr>
            <a:r>
              <a:rPr lang="en-US" sz="3400" b="1" dirty="0">
                <a:solidFill>
                  <a:srgbClr val="E0A76D"/>
                </a:solidFill>
                <a:latin typeface="Malgun Gothic" pitchFamily="34" charset="0"/>
                <a:ea typeface="Malgun Gothic" pitchFamily="34" charset="-122"/>
                <a:cs typeface="Malgun Gothic" pitchFamily="34" charset="-120"/>
              </a:rPr>
              <a:t>5분</a:t>
            </a:r>
            <a:endParaRPr lang="en-US" sz="3400" dirty="0"/>
          </a:p>
        </p:txBody>
      </p:sp>
      <p:sp>
        <p:nvSpPr>
          <p:cNvPr id="46" name="Text 44"/>
          <p:cNvSpPr txBox="1"/>
          <p:nvPr/>
        </p:nvSpPr>
        <p:spPr>
          <a:xfrm>
            <a:off x="7772400" y="3127248"/>
            <a:ext cx="3108960" cy="237744"/>
          </a:xfrm>
          <a:prstGeom prst="rect">
            <a:avLst/>
          </a:prstGeom>
          <a:noFill/>
          <a:ln/>
        </p:spPr>
        <p:txBody>
          <a:bodyPr wrap="square" lIns="0" tIns="0" rIns="0" bIns="0" rtlCol="0" anchor="t"/>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감지 주기</a:t>
            </a:r>
            <a:endParaRPr lang="en-US" sz="1150" dirty="0"/>
          </a:p>
        </p:txBody>
      </p:sp>
      <p:sp>
        <p:nvSpPr>
          <p:cNvPr id="47" name="Text 45"/>
          <p:cNvSpPr txBox="1"/>
          <p:nvPr/>
        </p:nvSpPr>
        <p:spPr>
          <a:xfrm>
            <a:off x="7772400" y="3419856"/>
            <a:ext cx="3401568" cy="512064"/>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ALERT_POLL_SECONDS 환경변수로 조정하되, 최소 60초로 하한을 걸어 DART 과다 호출을 막았습니다.</a:t>
            </a:r>
            <a:endParaRPr lang="en-US" sz="1000" dirty="0"/>
          </a:p>
        </p:txBody>
      </p:sp>
      <p:sp>
        <p:nvSpPr>
          <p:cNvPr id="48" name="Shape 46"/>
          <p:cNvSpPr/>
          <p:nvPr/>
        </p:nvSpPr>
        <p:spPr>
          <a:xfrm>
            <a:off x="7461504" y="4261104"/>
            <a:ext cx="4014216" cy="1700784"/>
          </a:xfrm>
          <a:prstGeom prst="rect">
            <a:avLst/>
          </a:prstGeom>
          <a:solidFill>
            <a:srgbClr val="FFFFFF"/>
          </a:solidFill>
          <a:ln w="9525">
            <a:solidFill>
              <a:srgbClr val="DFE3E8"/>
            </a:solidFill>
            <a:prstDash val="solid"/>
          </a:ln>
        </p:spPr>
      </p:sp>
      <p:sp>
        <p:nvSpPr>
          <p:cNvPr id="49" name="Text 47"/>
          <p:cNvSpPr txBox="1"/>
          <p:nvPr/>
        </p:nvSpPr>
        <p:spPr>
          <a:xfrm>
            <a:off x="7772400" y="4480560"/>
            <a:ext cx="3108960" cy="237744"/>
          </a:xfrm>
          <a:prstGeom prst="rect">
            <a:avLst/>
          </a:prstGeom>
          <a:noFill/>
          <a:ln/>
        </p:spPr>
        <p:txBody>
          <a:bodyPr wrap="square" lIns="0" tIns="0" rIns="0" bIns="0" rtlCol="0" anchor="t"/>
          <a:lstStyle/>
          <a:p>
            <a:pPr indent="0" marL="0">
              <a:buNone/>
            </a:pPr>
            <a:r>
              <a:rPr lang="en-US" sz="1200" b="1" dirty="0">
                <a:solidFill>
                  <a:srgbClr val="0E1621"/>
                </a:solidFill>
                <a:latin typeface="Malgun Gothic" pitchFamily="34" charset="0"/>
                <a:ea typeface="Malgun Gothic" pitchFamily="34" charset="-122"/>
                <a:cs typeface="Malgun Gothic" pitchFamily="34" charset="-120"/>
              </a:rPr>
              <a:t>왜 규칙 기반인가</a:t>
            </a:r>
            <a:endParaRPr lang="en-US" sz="1200" dirty="0"/>
          </a:p>
        </p:txBody>
      </p:sp>
      <p:sp>
        <p:nvSpPr>
          <p:cNvPr id="50" name="Text 48"/>
          <p:cNvSpPr txBox="1"/>
          <p:nvPr/>
        </p:nvSpPr>
        <p:spPr>
          <a:xfrm>
            <a:off x="7772400" y="4773168"/>
            <a:ext cx="3419856" cy="1042416"/>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중요도 판정에 LLM을 쓰면 같은 공시가 실행할 때마다 다르게 분류될 수 있고, 5분마다 전건을 호출하는 비용도 감당하기 어렵습니다.</a:t>
            </a:r>
            <a:endParaRPr lang="en-US" sz="1000" dirty="0"/>
          </a:p>
          <a:p>
            <a:pPr indent="0" marL="0">
              <a:lnSpc>
                <a:spcPts val="1500"/>
              </a:lnSpc>
              <a:buNone/>
            </a:pPr>
            <a:endParaRPr lang="en-US" sz="1000" dirty="0"/>
          </a:p>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그래서 ‘무엇을 보낼지’는 결정론적 규칙으로 고정하고, LLM은 ‘무슨 의미인지’ 해석에만 쓰도록 역할을 나눴습니다.</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03</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요약이 아니라 원문에서 뽑습니다</a:t>
            </a:r>
            <a:endParaRPr lang="en-US" sz="2800" dirty="0"/>
          </a:p>
        </p:txBody>
      </p:sp>
      <p:sp>
        <p:nvSpPr>
          <p:cNvPr id="5" name="Text 3"/>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05</a:t>
            </a:r>
            <a:endParaRPr lang="en-US" sz="950" dirty="0"/>
          </a:p>
        </p:txBody>
      </p:sp>
      <p:sp>
        <p:nvSpPr>
          <p:cNvPr id="6" name="Text 4"/>
          <p:cNvSpPr txBox="1"/>
          <p:nvPr/>
        </p:nvSpPr>
        <p:spPr>
          <a:xfrm>
            <a:off x="713232" y="1810512"/>
            <a:ext cx="548640" cy="274320"/>
          </a:xfrm>
          <a:prstGeom prst="rect">
            <a:avLst/>
          </a:prstGeom>
          <a:noFill/>
          <a:ln/>
        </p:spPr>
        <p:txBody>
          <a:bodyPr wrap="square" lIns="0" tIns="0" rIns="0" bIns="0" rtlCol="0" anchor="t"/>
          <a:lstStyle/>
          <a:p>
            <a:pPr indent="0" marL="0">
              <a:buNone/>
            </a:pPr>
            <a:r>
              <a:rPr lang="en-US" sz="1200" b="1" dirty="0">
                <a:solidFill>
                  <a:srgbClr val="B0703A"/>
                </a:solidFill>
                <a:latin typeface="Malgun Gothic" pitchFamily="34" charset="0"/>
                <a:ea typeface="Malgun Gothic" pitchFamily="34" charset="-122"/>
                <a:cs typeface="Malgun Gothic" pitchFamily="34" charset="-120"/>
              </a:rPr>
              <a:t>03</a:t>
            </a:r>
            <a:endParaRPr lang="en-US" sz="1200" dirty="0"/>
          </a:p>
        </p:txBody>
      </p:sp>
      <p:sp>
        <p:nvSpPr>
          <p:cNvPr id="7" name="Text 5"/>
          <p:cNvSpPr txBox="1"/>
          <p:nvPr/>
        </p:nvSpPr>
        <p:spPr>
          <a:xfrm>
            <a:off x="1280160" y="1773936"/>
            <a:ext cx="4754880" cy="310896"/>
          </a:xfrm>
          <a:prstGeom prst="rect">
            <a:avLst/>
          </a:prstGeom>
          <a:noFill/>
          <a:ln/>
        </p:spPr>
        <p:txBody>
          <a:bodyPr wrap="square" lIns="0" tIns="0" rIns="0" bIns="0" rtlCol="0" anchor="t"/>
          <a:lstStyle/>
          <a:p>
            <a:pPr indent="0" marL="0">
              <a:buNone/>
            </a:pPr>
            <a:r>
              <a:rPr lang="en-US" sz="1600" b="1" dirty="0">
                <a:solidFill>
                  <a:srgbClr val="0E1621"/>
                </a:solidFill>
                <a:latin typeface="Malgun Gothic" pitchFamily="34" charset="0"/>
                <a:ea typeface="Malgun Gothic" pitchFamily="34" charset="-122"/>
                <a:cs typeface="Malgun Gothic" pitchFamily="34" charset="-120"/>
              </a:rPr>
              <a:t>공시 원문 본문 수집</a:t>
            </a:r>
            <a:endParaRPr lang="en-US" sz="1600" dirty="0"/>
          </a:p>
        </p:txBody>
      </p:sp>
      <p:sp>
        <p:nvSpPr>
          <p:cNvPr id="8" name="Text 6"/>
          <p:cNvSpPr txBox="1"/>
          <p:nvPr/>
        </p:nvSpPr>
        <p:spPr>
          <a:xfrm>
            <a:off x="6199632" y="1828800"/>
            <a:ext cx="5303520" cy="256032"/>
          </a:xfrm>
          <a:prstGeom prst="rect">
            <a:avLst/>
          </a:prstGeom>
          <a:noFill/>
          <a:ln/>
        </p:spPr>
        <p:txBody>
          <a:bodyPr wrap="square" lIns="0" tIns="0" rIns="0" bIns="0" rtlCol="0" anchor="t"/>
          <a:lstStyle/>
          <a:p>
            <a:pPr algn="r" indent="0" marL="0">
              <a:buNone/>
            </a:pPr>
            <a:r>
              <a:rPr lang="en-US" sz="1100" dirty="0">
                <a:solidFill>
                  <a:srgbClr val="68747F"/>
                </a:solidFill>
                <a:latin typeface="Malgun Gothic" pitchFamily="34" charset="0"/>
                <a:ea typeface="Malgun Gothic" pitchFamily="34" charset="-122"/>
                <a:cs typeface="Malgun Gothic" pitchFamily="34" charset="-120"/>
              </a:rPr>
              <a:t>보고서명만으로는 계약금액·지분율 같은 숫자를 알 수 없음</a:t>
            </a:r>
            <a:endParaRPr lang="en-US" sz="1100" dirty="0"/>
          </a:p>
        </p:txBody>
      </p:sp>
      <p:sp>
        <p:nvSpPr>
          <p:cNvPr id="9" name="Shape 7"/>
          <p:cNvSpPr/>
          <p:nvPr/>
        </p:nvSpPr>
        <p:spPr>
          <a:xfrm>
            <a:off x="713232" y="2212848"/>
            <a:ext cx="10765231" cy="10973"/>
          </a:xfrm>
          <a:prstGeom prst="rect">
            <a:avLst/>
          </a:prstGeom>
          <a:solidFill>
            <a:srgbClr val="DFE3E8"/>
          </a:solidFill>
          <a:ln w="12700">
            <a:solidFill>
              <a:srgbClr val="DFE3E8"/>
            </a:solidFill>
            <a:prstDash val="solid"/>
          </a:ln>
        </p:spPr>
      </p:sp>
      <p:sp>
        <p:nvSpPr>
          <p:cNvPr id="10" name="Shape 8"/>
          <p:cNvSpPr/>
          <p:nvPr/>
        </p:nvSpPr>
        <p:spPr>
          <a:xfrm>
            <a:off x="713232" y="2432304"/>
            <a:ext cx="6858000" cy="786384"/>
          </a:xfrm>
          <a:prstGeom prst="rect">
            <a:avLst/>
          </a:prstGeom>
          <a:solidFill>
            <a:srgbClr val="FFFFFF"/>
          </a:solidFill>
          <a:ln w="9525">
            <a:solidFill>
              <a:srgbClr val="DFE3E8"/>
            </a:solidFill>
            <a:prstDash val="solid"/>
          </a:ln>
        </p:spPr>
      </p:sp>
      <p:sp>
        <p:nvSpPr>
          <p:cNvPr id="11" name="Text 9"/>
          <p:cNvSpPr txBox="1"/>
          <p:nvPr/>
        </p:nvSpPr>
        <p:spPr>
          <a:xfrm>
            <a:off x="987552" y="2578608"/>
            <a:ext cx="914400" cy="237744"/>
          </a:xfrm>
          <a:prstGeom prst="rect">
            <a:avLst/>
          </a:prstGeom>
          <a:noFill/>
          <a:ln/>
        </p:spPr>
        <p:txBody>
          <a:bodyPr wrap="square" lIns="0" tIns="0" rIns="0" bIns="0" rtlCol="0" anchor="t"/>
          <a:lstStyle/>
          <a:p>
            <a:pPr indent="0" marL="0">
              <a:buNone/>
            </a:pPr>
            <a:r>
              <a:rPr lang="en-US" sz="1050" b="1" dirty="0">
                <a:solidFill>
                  <a:srgbClr val="2E7358"/>
                </a:solidFill>
                <a:latin typeface="Malgun Gothic" pitchFamily="34" charset="0"/>
                <a:ea typeface="Malgun Gothic" pitchFamily="34" charset="-122"/>
                <a:cs typeface="Malgun Gothic" pitchFamily="34" charset="-120"/>
              </a:rPr>
              <a:t>1차</a:t>
            </a:r>
            <a:endParaRPr lang="en-US" sz="1050" dirty="0"/>
          </a:p>
        </p:txBody>
      </p:sp>
      <p:sp>
        <p:nvSpPr>
          <p:cNvPr id="12" name="Text 10"/>
          <p:cNvSpPr txBox="1"/>
          <p:nvPr/>
        </p:nvSpPr>
        <p:spPr>
          <a:xfrm>
            <a:off x="1993392" y="2560320"/>
            <a:ext cx="2651760" cy="256032"/>
          </a:xfrm>
          <a:prstGeom prst="rect">
            <a:avLst/>
          </a:prstGeom>
          <a:noFill/>
          <a:ln/>
        </p:spPr>
        <p:txBody>
          <a:bodyPr wrap="square" lIns="0" tIns="0" rIns="0" bIns="0" rtlCol="0" anchor="t"/>
          <a:lstStyle/>
          <a:p>
            <a:pPr indent="0" marL="0">
              <a:buNone/>
            </a:pPr>
            <a:r>
              <a:rPr lang="en-US" sz="1200" b="1" dirty="0">
                <a:solidFill>
                  <a:srgbClr val="0E1621"/>
                </a:solidFill>
                <a:latin typeface="Malgun Gothic" pitchFamily="34" charset="0"/>
                <a:ea typeface="Malgun Gothic" pitchFamily="34" charset="-122"/>
                <a:cs typeface="Malgun Gothic" pitchFamily="34" charset="-120"/>
              </a:rPr>
              <a:t>OpenDartReader.document()</a:t>
            </a:r>
            <a:endParaRPr lang="en-US" sz="1200" dirty="0"/>
          </a:p>
        </p:txBody>
      </p:sp>
      <p:sp>
        <p:nvSpPr>
          <p:cNvPr id="13" name="Text 11"/>
          <p:cNvSpPr txBox="1"/>
          <p:nvPr/>
        </p:nvSpPr>
        <p:spPr>
          <a:xfrm>
            <a:off x="1993392" y="2834640"/>
            <a:ext cx="5394960" cy="365760"/>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라이브러리가 제공하는 공식 문서 조회를 먼저 시도합니다.</a:t>
            </a:r>
            <a:endParaRPr lang="en-US" sz="950" dirty="0"/>
          </a:p>
        </p:txBody>
      </p:sp>
      <p:sp>
        <p:nvSpPr>
          <p:cNvPr id="14" name="Text 12"/>
          <p:cNvSpPr txBox="1"/>
          <p:nvPr/>
        </p:nvSpPr>
        <p:spPr>
          <a:xfrm>
            <a:off x="1280160" y="3218688"/>
            <a:ext cx="329184" cy="109728"/>
          </a:xfrm>
          <a:prstGeom prst="rect">
            <a:avLst/>
          </a:prstGeom>
          <a:noFill/>
          <a:ln/>
        </p:spPr>
        <p:txBody>
          <a:bodyPr wrap="square" lIns="0" tIns="0" rIns="0" bIns="0" rtlCol="0" anchor="t"/>
          <a:lstStyle/>
          <a:p>
            <a:pPr algn="ctr" indent="0" marL="0">
              <a:buNone/>
            </a:pPr>
            <a:r>
              <a:rPr lang="en-US" sz="1000" dirty="0">
                <a:solidFill>
                  <a:srgbClr val="B0703A"/>
                </a:solidFill>
                <a:latin typeface="Malgun Gothic" pitchFamily="34" charset="0"/>
                <a:ea typeface="Malgun Gothic" pitchFamily="34" charset="-122"/>
                <a:cs typeface="Malgun Gothic" pitchFamily="34" charset="-120"/>
              </a:rPr>
              <a:t>↓</a:t>
            </a:r>
            <a:endParaRPr lang="en-US" sz="1000" dirty="0"/>
          </a:p>
        </p:txBody>
      </p:sp>
      <p:sp>
        <p:nvSpPr>
          <p:cNvPr id="15" name="Shape 13"/>
          <p:cNvSpPr/>
          <p:nvPr/>
        </p:nvSpPr>
        <p:spPr>
          <a:xfrm>
            <a:off x="713232" y="3328416"/>
            <a:ext cx="6858000" cy="786384"/>
          </a:xfrm>
          <a:prstGeom prst="rect">
            <a:avLst/>
          </a:prstGeom>
          <a:solidFill>
            <a:srgbClr val="FFFFFF"/>
          </a:solidFill>
          <a:ln w="9525">
            <a:solidFill>
              <a:srgbClr val="DFE3E8"/>
            </a:solidFill>
            <a:prstDash val="solid"/>
          </a:ln>
        </p:spPr>
      </p:sp>
      <p:sp>
        <p:nvSpPr>
          <p:cNvPr id="16" name="Text 14"/>
          <p:cNvSpPr txBox="1"/>
          <p:nvPr/>
        </p:nvSpPr>
        <p:spPr>
          <a:xfrm>
            <a:off x="987552" y="3474720"/>
            <a:ext cx="914400" cy="237744"/>
          </a:xfrm>
          <a:prstGeom prst="rect">
            <a:avLst/>
          </a:prstGeom>
          <a:noFill/>
          <a:ln/>
        </p:spPr>
        <p:txBody>
          <a:bodyPr wrap="square" lIns="0" tIns="0" rIns="0" bIns="0" rtlCol="0" anchor="t"/>
          <a:lstStyle/>
          <a:p>
            <a:pPr indent="0" marL="0">
              <a:buNone/>
            </a:pPr>
            <a:r>
              <a:rPr lang="en-US" sz="1050" b="1" dirty="0">
                <a:solidFill>
                  <a:srgbClr val="B0703A"/>
                </a:solidFill>
                <a:latin typeface="Malgun Gothic" pitchFamily="34" charset="0"/>
                <a:ea typeface="Malgun Gothic" pitchFamily="34" charset="-122"/>
                <a:cs typeface="Malgun Gothic" pitchFamily="34" charset="-120"/>
              </a:rPr>
              <a:t>2차 폴백</a:t>
            </a:r>
            <a:endParaRPr lang="en-US" sz="1050" dirty="0"/>
          </a:p>
        </p:txBody>
      </p:sp>
      <p:sp>
        <p:nvSpPr>
          <p:cNvPr id="17" name="Text 15"/>
          <p:cNvSpPr txBox="1"/>
          <p:nvPr/>
        </p:nvSpPr>
        <p:spPr>
          <a:xfrm>
            <a:off x="1993392" y="3456432"/>
            <a:ext cx="2651760" cy="256032"/>
          </a:xfrm>
          <a:prstGeom prst="rect">
            <a:avLst/>
          </a:prstGeom>
          <a:noFill/>
          <a:ln/>
        </p:spPr>
        <p:txBody>
          <a:bodyPr wrap="square" lIns="0" tIns="0" rIns="0" bIns="0" rtlCol="0" anchor="t"/>
          <a:lstStyle/>
          <a:p>
            <a:pPr indent="0" marL="0">
              <a:buNone/>
            </a:pPr>
            <a:r>
              <a:rPr lang="en-US" sz="1200" b="1" dirty="0">
                <a:solidFill>
                  <a:srgbClr val="0E1621"/>
                </a:solidFill>
                <a:latin typeface="Malgun Gothic" pitchFamily="34" charset="0"/>
                <a:ea typeface="Malgun Gothic" pitchFamily="34" charset="-122"/>
                <a:cs typeface="Malgun Gothic" pitchFamily="34" charset="-120"/>
              </a:rPr>
              <a:t>DART 뷰어 직접 파싱</a:t>
            </a:r>
            <a:endParaRPr lang="en-US" sz="1200" dirty="0"/>
          </a:p>
        </p:txBody>
      </p:sp>
      <p:sp>
        <p:nvSpPr>
          <p:cNvPr id="18" name="Text 16"/>
          <p:cNvSpPr txBox="1"/>
          <p:nvPr/>
        </p:nvSpPr>
        <p:spPr>
          <a:xfrm>
            <a:off x="1993392" y="3730752"/>
            <a:ext cx="5394960" cy="365760"/>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1차가 비면 dsaf001/main.do 페이지에서 node1 파라미터(dcmNo·eleId·offset·length·dtd)를 정규식으로 추출해 viewer.do를 최대 12개 섹션까지 호출합니다.</a:t>
            </a:r>
            <a:endParaRPr lang="en-US" sz="950" dirty="0"/>
          </a:p>
        </p:txBody>
      </p:sp>
      <p:sp>
        <p:nvSpPr>
          <p:cNvPr id="19" name="Text 17"/>
          <p:cNvSpPr txBox="1"/>
          <p:nvPr/>
        </p:nvSpPr>
        <p:spPr>
          <a:xfrm>
            <a:off x="1280160" y="4114800"/>
            <a:ext cx="329184" cy="109728"/>
          </a:xfrm>
          <a:prstGeom prst="rect">
            <a:avLst/>
          </a:prstGeom>
          <a:noFill/>
          <a:ln/>
        </p:spPr>
        <p:txBody>
          <a:bodyPr wrap="square" lIns="0" tIns="0" rIns="0" bIns="0" rtlCol="0" anchor="t"/>
          <a:lstStyle/>
          <a:p>
            <a:pPr algn="ctr" indent="0" marL="0">
              <a:buNone/>
            </a:pPr>
            <a:r>
              <a:rPr lang="en-US" sz="1000" dirty="0">
                <a:solidFill>
                  <a:srgbClr val="B0703A"/>
                </a:solidFill>
                <a:latin typeface="Malgun Gothic" pitchFamily="34" charset="0"/>
                <a:ea typeface="Malgun Gothic" pitchFamily="34" charset="-122"/>
                <a:cs typeface="Malgun Gothic" pitchFamily="34" charset="-120"/>
              </a:rPr>
              <a:t>↓</a:t>
            </a:r>
            <a:endParaRPr lang="en-US" sz="1000" dirty="0"/>
          </a:p>
        </p:txBody>
      </p:sp>
      <p:sp>
        <p:nvSpPr>
          <p:cNvPr id="20" name="Shape 18"/>
          <p:cNvSpPr/>
          <p:nvPr/>
        </p:nvSpPr>
        <p:spPr>
          <a:xfrm>
            <a:off x="713232" y="4224528"/>
            <a:ext cx="6858000" cy="786384"/>
          </a:xfrm>
          <a:prstGeom prst="rect">
            <a:avLst/>
          </a:prstGeom>
          <a:solidFill>
            <a:srgbClr val="FFFFFF"/>
          </a:solidFill>
          <a:ln w="9525">
            <a:solidFill>
              <a:srgbClr val="DFE3E8"/>
            </a:solidFill>
            <a:prstDash val="solid"/>
          </a:ln>
        </p:spPr>
      </p:sp>
      <p:sp>
        <p:nvSpPr>
          <p:cNvPr id="21" name="Text 19"/>
          <p:cNvSpPr txBox="1"/>
          <p:nvPr/>
        </p:nvSpPr>
        <p:spPr>
          <a:xfrm>
            <a:off x="987552" y="4370832"/>
            <a:ext cx="914400" cy="237744"/>
          </a:xfrm>
          <a:prstGeom prst="rect">
            <a:avLst/>
          </a:prstGeom>
          <a:noFill/>
          <a:ln/>
        </p:spPr>
        <p:txBody>
          <a:bodyPr wrap="square" lIns="0" tIns="0" rIns="0" bIns="0" rtlCol="0" anchor="t"/>
          <a:lstStyle/>
          <a:p>
            <a:pPr indent="0" marL="0">
              <a:buNone/>
            </a:pPr>
            <a:r>
              <a:rPr lang="en-US" sz="1050" b="1" dirty="0">
                <a:solidFill>
                  <a:srgbClr val="35618F"/>
                </a:solidFill>
                <a:latin typeface="Malgun Gothic" pitchFamily="34" charset="0"/>
                <a:ea typeface="Malgun Gothic" pitchFamily="34" charset="-122"/>
                <a:cs typeface="Malgun Gothic" pitchFamily="34" charset="-120"/>
              </a:rPr>
              <a:t>본문 추출</a:t>
            </a:r>
            <a:endParaRPr lang="en-US" sz="1050" dirty="0"/>
          </a:p>
        </p:txBody>
      </p:sp>
      <p:sp>
        <p:nvSpPr>
          <p:cNvPr id="22" name="Text 20"/>
          <p:cNvSpPr txBox="1"/>
          <p:nvPr/>
        </p:nvSpPr>
        <p:spPr>
          <a:xfrm>
            <a:off x="1993392" y="4352544"/>
            <a:ext cx="2651760" cy="256032"/>
          </a:xfrm>
          <a:prstGeom prst="rect">
            <a:avLst/>
          </a:prstGeom>
          <a:noFill/>
          <a:ln/>
        </p:spPr>
        <p:txBody>
          <a:bodyPr wrap="square" lIns="0" tIns="0" rIns="0" bIns="0" rtlCol="0" anchor="t"/>
          <a:lstStyle/>
          <a:p>
            <a:pPr indent="0" marL="0">
              <a:buNone/>
            </a:pPr>
            <a:r>
              <a:rPr lang="en-US" sz="1200" b="1" dirty="0">
                <a:solidFill>
                  <a:srgbClr val="0E1621"/>
                </a:solidFill>
                <a:latin typeface="Malgun Gothic" pitchFamily="34" charset="0"/>
                <a:ea typeface="Malgun Gothic" pitchFamily="34" charset="-122"/>
                <a:cs typeface="Malgun Gothic" pitchFamily="34" charset="-120"/>
              </a:rPr>
              <a:t>HTMLParser 텍스트화</a:t>
            </a:r>
            <a:endParaRPr lang="en-US" sz="1200" dirty="0"/>
          </a:p>
        </p:txBody>
      </p:sp>
      <p:sp>
        <p:nvSpPr>
          <p:cNvPr id="23" name="Text 21"/>
          <p:cNvSpPr txBox="1"/>
          <p:nvPr/>
        </p:nvSpPr>
        <p:spPr>
          <a:xfrm>
            <a:off x="1993392" y="4626864"/>
            <a:ext cx="5394960" cy="365760"/>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script·style 태그를 건너뛰고 공백을 정규화해 순수 텍스트만 남깁니다.</a:t>
            </a:r>
            <a:endParaRPr lang="en-US" sz="950" dirty="0"/>
          </a:p>
        </p:txBody>
      </p:sp>
      <p:sp>
        <p:nvSpPr>
          <p:cNvPr id="24" name="Text 22"/>
          <p:cNvSpPr txBox="1"/>
          <p:nvPr/>
        </p:nvSpPr>
        <p:spPr>
          <a:xfrm>
            <a:off x="1280160" y="5010912"/>
            <a:ext cx="329184" cy="109728"/>
          </a:xfrm>
          <a:prstGeom prst="rect">
            <a:avLst/>
          </a:prstGeom>
          <a:noFill/>
          <a:ln/>
        </p:spPr>
        <p:txBody>
          <a:bodyPr wrap="square" lIns="0" tIns="0" rIns="0" bIns="0" rtlCol="0" anchor="t"/>
          <a:lstStyle/>
          <a:p>
            <a:pPr algn="ctr" indent="0" marL="0">
              <a:buNone/>
            </a:pPr>
            <a:r>
              <a:rPr lang="en-US" sz="1000" dirty="0">
                <a:solidFill>
                  <a:srgbClr val="B0703A"/>
                </a:solidFill>
                <a:latin typeface="Malgun Gothic" pitchFamily="34" charset="0"/>
                <a:ea typeface="Malgun Gothic" pitchFamily="34" charset="-122"/>
                <a:cs typeface="Malgun Gothic" pitchFamily="34" charset="-120"/>
              </a:rPr>
              <a:t>↓</a:t>
            </a:r>
            <a:endParaRPr lang="en-US" sz="1000" dirty="0"/>
          </a:p>
        </p:txBody>
      </p:sp>
      <p:sp>
        <p:nvSpPr>
          <p:cNvPr id="25" name="Shape 23"/>
          <p:cNvSpPr/>
          <p:nvPr/>
        </p:nvSpPr>
        <p:spPr>
          <a:xfrm>
            <a:off x="713232" y="5120640"/>
            <a:ext cx="6858000" cy="786384"/>
          </a:xfrm>
          <a:prstGeom prst="rect">
            <a:avLst/>
          </a:prstGeom>
          <a:solidFill>
            <a:srgbClr val="FFFFFF"/>
          </a:solidFill>
          <a:ln w="9525">
            <a:solidFill>
              <a:srgbClr val="DFE3E8"/>
            </a:solidFill>
            <a:prstDash val="solid"/>
          </a:ln>
        </p:spPr>
      </p:sp>
      <p:sp>
        <p:nvSpPr>
          <p:cNvPr id="26" name="Text 24"/>
          <p:cNvSpPr txBox="1"/>
          <p:nvPr/>
        </p:nvSpPr>
        <p:spPr>
          <a:xfrm>
            <a:off x="987552" y="5266944"/>
            <a:ext cx="914400" cy="237744"/>
          </a:xfrm>
          <a:prstGeom prst="rect">
            <a:avLst/>
          </a:prstGeom>
          <a:noFill/>
          <a:ln/>
        </p:spPr>
        <p:txBody>
          <a:bodyPr wrap="square" lIns="0" tIns="0" rIns="0" bIns="0" rtlCol="0" anchor="t"/>
          <a:lstStyle/>
          <a:p>
            <a:pPr indent="0" marL="0">
              <a:buNone/>
            </a:pPr>
            <a:r>
              <a:rPr lang="en-US" sz="1050" b="1" dirty="0">
                <a:solidFill>
                  <a:srgbClr val="5C4E86"/>
                </a:solidFill>
                <a:latin typeface="Malgun Gothic" pitchFamily="34" charset="0"/>
                <a:ea typeface="Malgun Gothic" pitchFamily="34" charset="-122"/>
                <a:cs typeface="Malgun Gothic" pitchFamily="34" charset="-120"/>
              </a:rPr>
              <a:t>분량 압축</a:t>
            </a:r>
            <a:endParaRPr lang="en-US" sz="1050" dirty="0"/>
          </a:p>
        </p:txBody>
      </p:sp>
      <p:sp>
        <p:nvSpPr>
          <p:cNvPr id="27" name="Text 25"/>
          <p:cNvSpPr txBox="1"/>
          <p:nvPr/>
        </p:nvSpPr>
        <p:spPr>
          <a:xfrm>
            <a:off x="1993392" y="5248656"/>
            <a:ext cx="2651760" cy="256032"/>
          </a:xfrm>
          <a:prstGeom prst="rect">
            <a:avLst/>
          </a:prstGeom>
          <a:noFill/>
          <a:ln/>
        </p:spPr>
        <p:txBody>
          <a:bodyPr wrap="square" lIns="0" tIns="0" rIns="0" bIns="0" rtlCol="0" anchor="t"/>
          <a:lstStyle/>
          <a:p>
            <a:pPr indent="0" marL="0">
              <a:buNone/>
            </a:pPr>
            <a:r>
              <a:rPr lang="en-US" sz="1200" b="1" dirty="0">
                <a:solidFill>
                  <a:srgbClr val="0E1621"/>
                </a:solidFill>
                <a:latin typeface="Malgun Gothic" pitchFamily="34" charset="0"/>
                <a:ea typeface="Malgun Gothic" pitchFamily="34" charset="-122"/>
                <a:cs typeface="Malgun Gothic" pitchFamily="34" charset="-120"/>
              </a:rPr>
              <a:t>focus_relevant_text()</a:t>
            </a:r>
            <a:endParaRPr lang="en-US" sz="1200" dirty="0"/>
          </a:p>
        </p:txBody>
      </p:sp>
      <p:sp>
        <p:nvSpPr>
          <p:cNvPr id="28" name="Text 26"/>
          <p:cNvSpPr txBox="1"/>
          <p:nvPr/>
        </p:nvSpPr>
        <p:spPr>
          <a:xfrm>
            <a:off x="1993392" y="5522976"/>
            <a:ext cx="5394960" cy="365760"/>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3만 자를 넘으면 앞부분 4천 자에 더해 ‘지분율·취득·처분·주식수’ 등 키워드 주변만 발췌해 이어붙입니다.</a:t>
            </a:r>
            <a:endParaRPr lang="en-US" sz="950" dirty="0"/>
          </a:p>
        </p:txBody>
      </p:sp>
      <p:sp>
        <p:nvSpPr>
          <p:cNvPr id="29" name="Shape 27"/>
          <p:cNvSpPr/>
          <p:nvPr/>
        </p:nvSpPr>
        <p:spPr>
          <a:xfrm>
            <a:off x="7827264" y="2432304"/>
            <a:ext cx="3648456" cy="3529584"/>
          </a:xfrm>
          <a:prstGeom prst="rect">
            <a:avLst/>
          </a:prstGeom>
          <a:solidFill>
            <a:srgbClr val="0E1621"/>
          </a:solidFill>
          <a:ln w="12700">
            <a:solidFill>
              <a:srgbClr val="333333"/>
            </a:solidFill>
            <a:prstDash val="solid"/>
          </a:ln>
        </p:spPr>
      </p:sp>
      <p:sp>
        <p:nvSpPr>
          <p:cNvPr id="30" name="Text 28"/>
          <p:cNvSpPr txBox="1"/>
          <p:nvPr/>
        </p:nvSpPr>
        <p:spPr>
          <a:xfrm>
            <a:off x="8119872" y="2651760"/>
            <a:ext cx="3108960" cy="256032"/>
          </a:xfrm>
          <a:prstGeom prst="rect">
            <a:avLst/>
          </a:prstGeom>
          <a:noFill/>
          <a:ln/>
        </p:spPr>
        <p:txBody>
          <a:bodyPr wrap="square" lIns="0" tIns="0" rIns="0" bIns="0" rtlCol="0" anchor="t"/>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인코딩 문제</a:t>
            </a:r>
            <a:endParaRPr lang="en-US" sz="1250" dirty="0"/>
          </a:p>
        </p:txBody>
      </p:sp>
      <p:sp>
        <p:nvSpPr>
          <p:cNvPr id="31" name="Text 29"/>
          <p:cNvSpPr txBox="1"/>
          <p:nvPr/>
        </p:nvSpPr>
        <p:spPr>
          <a:xfrm>
            <a:off x="8119872" y="2962656"/>
            <a:ext cx="3200400" cy="731520"/>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DART 뷰어는 응답 메타데이터가 한글 레거시 charset을 가리키는 경우가 있지만 실제 본문은 UTF-8입니다. 메타데이터를 믿고 디코딩하면 전부 깨집니다.</a:t>
            </a:r>
            <a:endParaRPr lang="en-US" sz="1000" dirty="0"/>
          </a:p>
        </p:txBody>
      </p:sp>
      <p:sp>
        <p:nvSpPr>
          <p:cNvPr id="32" name="Shape 30"/>
          <p:cNvSpPr/>
          <p:nvPr/>
        </p:nvSpPr>
        <p:spPr>
          <a:xfrm>
            <a:off x="8119872" y="3785616"/>
            <a:ext cx="3108960" cy="402336"/>
          </a:xfrm>
          <a:prstGeom prst="roundRect">
            <a:avLst>
              <a:gd name="adj" fmla="val 13636"/>
            </a:avLst>
          </a:prstGeom>
          <a:solidFill>
            <a:srgbClr val="1B2635"/>
          </a:solidFill>
          <a:ln w="12700">
            <a:solidFill>
              <a:srgbClr val="333333"/>
            </a:solidFill>
            <a:prstDash val="solid"/>
          </a:ln>
        </p:spPr>
      </p:sp>
      <p:sp>
        <p:nvSpPr>
          <p:cNvPr id="33" name="Text 31"/>
          <p:cNvSpPr txBox="1"/>
          <p:nvPr/>
        </p:nvSpPr>
        <p:spPr>
          <a:xfrm>
            <a:off x="8247888" y="3895344"/>
            <a:ext cx="2926080" cy="219456"/>
          </a:xfrm>
          <a:prstGeom prst="rect">
            <a:avLst/>
          </a:prstGeom>
          <a:noFill/>
          <a:ln/>
        </p:spPr>
        <p:txBody>
          <a:bodyPr wrap="square" lIns="0" tIns="0" rIns="0" bIns="0" rtlCol="0" anchor="t"/>
          <a:lstStyle/>
          <a:p>
            <a:pPr indent="0" marL="0">
              <a:buNone/>
            </a:pPr>
            <a:r>
              <a:rPr lang="en-US" sz="900" dirty="0">
                <a:solidFill>
                  <a:srgbClr val="E0A76D"/>
                </a:solidFill>
                <a:latin typeface="Malgun Gothic" pitchFamily="34" charset="0"/>
                <a:ea typeface="Malgun Gothic" pitchFamily="34" charset="-122"/>
                <a:cs typeface="Malgun Gothic" pitchFamily="34" charset="-120"/>
              </a:rPr>
              <a:t>content.decode("utf-8", errors="replace")</a:t>
            </a:r>
            <a:endParaRPr lang="en-US" sz="900" dirty="0"/>
          </a:p>
        </p:txBody>
      </p:sp>
      <p:sp>
        <p:nvSpPr>
          <p:cNvPr id="34" name="Text 32"/>
          <p:cNvSpPr txBox="1"/>
          <p:nvPr/>
        </p:nvSpPr>
        <p:spPr>
          <a:xfrm>
            <a:off x="8119872" y="4297680"/>
            <a:ext cx="3200400" cy="566928"/>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메타데이터 대신 UTF-8로 강제 디코딩하고, 깨지는 문자는 대체 문자로 넘겨 전체 파싱이 멈추지 않게 했습니다.</a:t>
            </a:r>
            <a:endParaRPr lang="en-US" sz="1000" dirty="0"/>
          </a:p>
        </p:txBody>
      </p:sp>
      <p:sp>
        <p:nvSpPr>
          <p:cNvPr id="35" name="Shape 33"/>
          <p:cNvSpPr/>
          <p:nvPr/>
        </p:nvSpPr>
        <p:spPr>
          <a:xfrm>
            <a:off x="8119872" y="5010912"/>
            <a:ext cx="3108960" cy="10973"/>
          </a:xfrm>
          <a:prstGeom prst="rect">
            <a:avLst/>
          </a:prstGeom>
          <a:solidFill>
            <a:srgbClr val="2B3A4B"/>
          </a:solidFill>
          <a:ln w="12700">
            <a:solidFill>
              <a:srgbClr val="2B3A4B"/>
            </a:solidFill>
            <a:prstDash val="solid"/>
          </a:ln>
        </p:spPr>
      </p:sp>
      <p:sp>
        <p:nvSpPr>
          <p:cNvPr id="36" name="Text 34"/>
          <p:cNvSpPr txBox="1"/>
          <p:nvPr/>
        </p:nvSpPr>
        <p:spPr>
          <a:xfrm>
            <a:off x="8119872" y="5175504"/>
            <a:ext cx="3108960" cy="237744"/>
          </a:xfrm>
          <a:prstGeom prst="rect">
            <a:avLst/>
          </a:prstGeom>
          <a:noFill/>
          <a:ln/>
        </p:spPr>
        <p:txBody>
          <a:bodyPr wrap="square" lIns="0" tIns="0" rIns="0" bIns="0" rtlCol="0" anchor="t"/>
          <a:lstStyle/>
          <a:p>
            <a:pPr indent="0" marL="0">
              <a:buNone/>
            </a:pPr>
            <a:r>
              <a:rPr lang="en-US" sz="1100" b="1" dirty="0">
                <a:solidFill>
                  <a:srgbClr val="E0A76D"/>
                </a:solidFill>
                <a:latin typeface="Malgun Gothic" pitchFamily="34" charset="0"/>
                <a:ea typeface="Malgun Gothic" pitchFamily="34" charset="-122"/>
                <a:cs typeface="Malgun Gothic" pitchFamily="34" charset="-120"/>
              </a:rPr>
              <a:t>원문 수집에 실패하면</a:t>
            </a:r>
            <a:endParaRPr lang="en-US" sz="1100" dirty="0"/>
          </a:p>
        </p:txBody>
      </p:sp>
      <p:sp>
        <p:nvSpPr>
          <p:cNvPr id="37" name="Text 35"/>
          <p:cNvSpPr txBox="1"/>
          <p:nvPr/>
        </p:nvSpPr>
        <p:spPr>
          <a:xfrm>
            <a:off x="8119872" y="5449824"/>
            <a:ext cx="3200400" cy="457200"/>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빈 문자열을 돌려주고, 상위에서 보고서명만으로 분석을 진행합니다. 알림 자체가 중단되지는 않습니다.</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04</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AI에게 무엇을 강제했는가</a:t>
            </a:r>
            <a:endParaRPr lang="en-US" sz="2800" dirty="0"/>
          </a:p>
        </p:txBody>
      </p:sp>
      <p:sp>
        <p:nvSpPr>
          <p:cNvPr id="5" name="Text 3"/>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06</a:t>
            </a:r>
            <a:endParaRPr lang="en-US" sz="950" dirty="0"/>
          </a:p>
        </p:txBody>
      </p:sp>
      <p:sp>
        <p:nvSpPr>
          <p:cNvPr id="6" name="Text 4"/>
          <p:cNvSpPr txBox="1"/>
          <p:nvPr/>
        </p:nvSpPr>
        <p:spPr>
          <a:xfrm>
            <a:off x="713232" y="1810512"/>
            <a:ext cx="548640" cy="274320"/>
          </a:xfrm>
          <a:prstGeom prst="rect">
            <a:avLst/>
          </a:prstGeom>
          <a:noFill/>
          <a:ln/>
        </p:spPr>
        <p:txBody>
          <a:bodyPr wrap="square" lIns="0" tIns="0" rIns="0" bIns="0" rtlCol="0" anchor="t"/>
          <a:lstStyle/>
          <a:p>
            <a:pPr indent="0" marL="0">
              <a:buNone/>
            </a:pPr>
            <a:r>
              <a:rPr lang="en-US" sz="1200" b="1" dirty="0">
                <a:solidFill>
                  <a:srgbClr val="B0703A"/>
                </a:solidFill>
                <a:latin typeface="Malgun Gothic" pitchFamily="34" charset="0"/>
                <a:ea typeface="Malgun Gothic" pitchFamily="34" charset="-122"/>
                <a:cs typeface="Malgun Gothic" pitchFamily="34" charset="-120"/>
              </a:rPr>
              <a:t>04</a:t>
            </a:r>
            <a:endParaRPr lang="en-US" sz="1200" dirty="0"/>
          </a:p>
        </p:txBody>
      </p:sp>
      <p:sp>
        <p:nvSpPr>
          <p:cNvPr id="7" name="Text 5"/>
          <p:cNvSpPr txBox="1"/>
          <p:nvPr/>
        </p:nvSpPr>
        <p:spPr>
          <a:xfrm>
            <a:off x="1280160" y="1773936"/>
            <a:ext cx="4754880" cy="310896"/>
          </a:xfrm>
          <a:prstGeom prst="rect">
            <a:avLst/>
          </a:prstGeom>
          <a:noFill/>
          <a:ln/>
        </p:spPr>
        <p:txBody>
          <a:bodyPr wrap="square" lIns="0" tIns="0" rIns="0" bIns="0" rtlCol="0" anchor="t"/>
          <a:lstStyle/>
          <a:p>
            <a:pPr indent="0" marL="0">
              <a:buNone/>
            </a:pPr>
            <a:r>
              <a:rPr lang="en-US" sz="1600" b="1" dirty="0">
                <a:solidFill>
                  <a:srgbClr val="0E1621"/>
                </a:solidFill>
                <a:latin typeface="Malgun Gothic" pitchFamily="34" charset="0"/>
                <a:ea typeface="Malgun Gothic" pitchFamily="34" charset="-122"/>
                <a:cs typeface="Malgun Gothic" pitchFamily="34" charset="-120"/>
              </a:rPr>
              <a:t>AI 구조화 분석</a:t>
            </a:r>
            <a:endParaRPr lang="en-US" sz="1600" dirty="0"/>
          </a:p>
        </p:txBody>
      </p:sp>
      <p:sp>
        <p:nvSpPr>
          <p:cNvPr id="8" name="Text 6"/>
          <p:cNvSpPr txBox="1"/>
          <p:nvPr/>
        </p:nvSpPr>
        <p:spPr>
          <a:xfrm>
            <a:off x="6199632" y="1828800"/>
            <a:ext cx="5303520" cy="256032"/>
          </a:xfrm>
          <a:prstGeom prst="rect">
            <a:avLst/>
          </a:prstGeom>
          <a:noFill/>
          <a:ln/>
        </p:spPr>
        <p:txBody>
          <a:bodyPr wrap="square" lIns="0" tIns="0" rIns="0" bIns="0" rtlCol="0" anchor="t"/>
          <a:lstStyle/>
          <a:p>
            <a:pPr algn="r" indent="0" marL="0">
              <a:buNone/>
            </a:pPr>
            <a:r>
              <a:rPr lang="en-US" sz="1100" dirty="0">
                <a:solidFill>
                  <a:srgbClr val="68747F"/>
                </a:solidFill>
                <a:latin typeface="Malgun Gothic" pitchFamily="34" charset="0"/>
                <a:ea typeface="Malgun Gothic" pitchFamily="34" charset="-122"/>
                <a:cs typeface="Malgun Gothic" pitchFamily="34" charset="-120"/>
              </a:rPr>
              <a:t>요약이 아니라 ‘자사 관점 판단 재료’를 출력하도록 계약을 고정</a:t>
            </a:r>
            <a:endParaRPr lang="en-US" sz="1100" dirty="0"/>
          </a:p>
        </p:txBody>
      </p:sp>
      <p:sp>
        <p:nvSpPr>
          <p:cNvPr id="9" name="Shape 7"/>
          <p:cNvSpPr/>
          <p:nvPr/>
        </p:nvSpPr>
        <p:spPr>
          <a:xfrm>
            <a:off x="713232" y="2212848"/>
            <a:ext cx="10765231" cy="10973"/>
          </a:xfrm>
          <a:prstGeom prst="rect">
            <a:avLst/>
          </a:prstGeom>
          <a:solidFill>
            <a:srgbClr val="DFE3E8"/>
          </a:solidFill>
          <a:ln w="12700">
            <a:solidFill>
              <a:srgbClr val="DFE3E8"/>
            </a:solidFill>
            <a:prstDash val="solid"/>
          </a:ln>
        </p:spPr>
      </p:sp>
      <p:sp>
        <p:nvSpPr>
          <p:cNvPr id="10" name="Shape 8"/>
          <p:cNvSpPr/>
          <p:nvPr/>
        </p:nvSpPr>
        <p:spPr>
          <a:xfrm>
            <a:off x="713232" y="2395728"/>
            <a:ext cx="5230368" cy="3566160"/>
          </a:xfrm>
          <a:prstGeom prst="rect">
            <a:avLst/>
          </a:prstGeom>
          <a:solidFill>
            <a:srgbClr val="FFFFFF"/>
          </a:solidFill>
          <a:ln w="9525">
            <a:solidFill>
              <a:srgbClr val="DFE3E8"/>
            </a:solidFill>
            <a:prstDash val="solid"/>
          </a:ln>
        </p:spPr>
      </p:sp>
      <p:sp>
        <p:nvSpPr>
          <p:cNvPr id="11" name="Text 9"/>
          <p:cNvSpPr txBox="1"/>
          <p:nvPr/>
        </p:nvSpPr>
        <p:spPr>
          <a:xfrm>
            <a:off x="1005840" y="2615184"/>
            <a:ext cx="4023360" cy="256032"/>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출력 스키마로 강제한 항목</a:t>
            </a:r>
            <a:endParaRPr lang="en-US" sz="1300" dirty="0"/>
          </a:p>
        </p:txBody>
      </p:sp>
      <p:sp>
        <p:nvSpPr>
          <p:cNvPr id="12" name="Shape 10"/>
          <p:cNvSpPr/>
          <p:nvPr/>
        </p:nvSpPr>
        <p:spPr>
          <a:xfrm>
            <a:off x="1005840" y="3026664"/>
            <a:ext cx="73152" cy="73152"/>
          </a:xfrm>
          <a:prstGeom prst="rect">
            <a:avLst/>
          </a:prstGeom>
          <a:solidFill>
            <a:srgbClr val="B0703A"/>
          </a:solidFill>
          <a:ln w="12700">
            <a:solidFill>
              <a:srgbClr val="B0703A"/>
            </a:solidFill>
            <a:prstDash val="solid"/>
          </a:ln>
        </p:spPr>
      </p:sp>
      <p:sp>
        <p:nvSpPr>
          <p:cNvPr id="13" name="Text 11"/>
          <p:cNvSpPr txBox="1"/>
          <p:nvPr/>
        </p:nvSpPr>
        <p:spPr>
          <a:xfrm>
            <a:off x="1188720" y="2962656"/>
            <a:ext cx="2011680" cy="237744"/>
          </a:xfrm>
          <a:prstGeom prst="rect">
            <a:avLst/>
          </a:prstGeom>
          <a:noFill/>
          <a:ln/>
        </p:spPr>
        <p:txBody>
          <a:bodyPr wrap="square" lIns="0" tIns="0" rIns="0" bIns="0" rtlCol="0" anchor="t"/>
          <a:lstStyle/>
          <a:p>
            <a:pPr indent="0" marL="0">
              <a:buNone/>
            </a:pPr>
            <a:r>
              <a:rPr lang="en-US" sz="1100" b="1" dirty="0">
                <a:solidFill>
                  <a:srgbClr val="8E5729"/>
                </a:solidFill>
                <a:latin typeface="Malgun Gothic" pitchFamily="34" charset="0"/>
                <a:ea typeface="Malgun Gothic" pitchFamily="34" charset="-122"/>
                <a:cs typeface="Malgun Gothic" pitchFamily="34" charset="-120"/>
              </a:rPr>
              <a:t>summary_points</a:t>
            </a:r>
            <a:endParaRPr lang="en-US" sz="1100" dirty="0"/>
          </a:p>
        </p:txBody>
      </p:sp>
      <p:sp>
        <p:nvSpPr>
          <p:cNvPr id="14" name="Text 12"/>
          <p:cNvSpPr txBox="1"/>
          <p:nvPr/>
        </p:nvSpPr>
        <p:spPr>
          <a:xfrm>
            <a:off x="3273552" y="2962656"/>
            <a:ext cx="23774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정확히 3문장</a:t>
            </a:r>
            <a:endParaRPr lang="en-US" sz="1000" dirty="0"/>
          </a:p>
        </p:txBody>
      </p:sp>
      <p:sp>
        <p:nvSpPr>
          <p:cNvPr id="15" name="Text 13"/>
          <p:cNvSpPr txBox="1"/>
          <p:nvPr/>
        </p:nvSpPr>
        <p:spPr>
          <a:xfrm>
            <a:off x="1188720" y="3218688"/>
            <a:ext cx="4526280" cy="402336"/>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① 핵심 사실과 즉시 사업 영향 ② 밸류체인 시사점 ③ 자사 대응 방향 — 문장마다 역할을 따로 지정</a:t>
            </a:r>
            <a:endParaRPr lang="en-US" sz="950" dirty="0"/>
          </a:p>
        </p:txBody>
      </p:sp>
      <p:sp>
        <p:nvSpPr>
          <p:cNvPr id="16" name="Shape 14"/>
          <p:cNvSpPr/>
          <p:nvPr/>
        </p:nvSpPr>
        <p:spPr>
          <a:xfrm>
            <a:off x="1005840" y="3758184"/>
            <a:ext cx="73152" cy="73152"/>
          </a:xfrm>
          <a:prstGeom prst="rect">
            <a:avLst/>
          </a:prstGeom>
          <a:solidFill>
            <a:srgbClr val="B0703A"/>
          </a:solidFill>
          <a:ln w="12700">
            <a:solidFill>
              <a:srgbClr val="B0703A"/>
            </a:solidFill>
            <a:prstDash val="solid"/>
          </a:ln>
        </p:spPr>
      </p:sp>
      <p:sp>
        <p:nvSpPr>
          <p:cNvPr id="17" name="Text 15"/>
          <p:cNvSpPr txBox="1"/>
          <p:nvPr/>
        </p:nvSpPr>
        <p:spPr>
          <a:xfrm>
            <a:off x="1188720" y="3694176"/>
            <a:ext cx="2011680" cy="237744"/>
          </a:xfrm>
          <a:prstGeom prst="rect">
            <a:avLst/>
          </a:prstGeom>
          <a:noFill/>
          <a:ln/>
        </p:spPr>
        <p:txBody>
          <a:bodyPr wrap="square" lIns="0" tIns="0" rIns="0" bIns="0" rtlCol="0" anchor="t"/>
          <a:lstStyle/>
          <a:p>
            <a:pPr indent="0" marL="0">
              <a:buNone/>
            </a:pPr>
            <a:r>
              <a:rPr lang="en-US" sz="1100" b="1" dirty="0">
                <a:solidFill>
                  <a:srgbClr val="8E5729"/>
                </a:solidFill>
                <a:latin typeface="Malgun Gothic" pitchFamily="34" charset="0"/>
                <a:ea typeface="Malgun Gothic" pitchFamily="34" charset="-122"/>
                <a:cs typeface="Malgun Gothic" pitchFamily="34" charset="-120"/>
              </a:rPr>
              <a:t>sentiment</a:t>
            </a:r>
            <a:endParaRPr lang="en-US" sz="1100" dirty="0"/>
          </a:p>
        </p:txBody>
      </p:sp>
      <p:sp>
        <p:nvSpPr>
          <p:cNvPr id="18" name="Text 16"/>
          <p:cNvSpPr txBox="1"/>
          <p:nvPr/>
        </p:nvSpPr>
        <p:spPr>
          <a:xfrm>
            <a:off x="3273552" y="3694176"/>
            <a:ext cx="23774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기회 / 주의 / 중립</a:t>
            </a:r>
            <a:endParaRPr lang="en-US" sz="1000" dirty="0"/>
          </a:p>
        </p:txBody>
      </p:sp>
      <p:sp>
        <p:nvSpPr>
          <p:cNvPr id="19" name="Text 17"/>
          <p:cNvSpPr txBox="1"/>
          <p:nvPr/>
        </p:nvSpPr>
        <p:spPr>
          <a:xfrm>
            <a:off x="1188720" y="3950208"/>
            <a:ext cx="4526280" cy="402336"/>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화이트리스트 밖의 값이 오면 ‘중립’으로 교정</a:t>
            </a:r>
            <a:endParaRPr lang="en-US" sz="950" dirty="0"/>
          </a:p>
        </p:txBody>
      </p:sp>
      <p:sp>
        <p:nvSpPr>
          <p:cNvPr id="20" name="Shape 18"/>
          <p:cNvSpPr/>
          <p:nvPr/>
        </p:nvSpPr>
        <p:spPr>
          <a:xfrm>
            <a:off x="1005840" y="4489704"/>
            <a:ext cx="73152" cy="73152"/>
          </a:xfrm>
          <a:prstGeom prst="rect">
            <a:avLst/>
          </a:prstGeom>
          <a:solidFill>
            <a:srgbClr val="B0703A"/>
          </a:solidFill>
          <a:ln w="12700">
            <a:solidFill>
              <a:srgbClr val="B0703A"/>
            </a:solidFill>
            <a:prstDash val="solid"/>
          </a:ln>
        </p:spPr>
      </p:sp>
      <p:sp>
        <p:nvSpPr>
          <p:cNvPr id="21" name="Text 19"/>
          <p:cNvSpPr txBox="1"/>
          <p:nvPr/>
        </p:nvSpPr>
        <p:spPr>
          <a:xfrm>
            <a:off x="1188720" y="4425696"/>
            <a:ext cx="2011680" cy="237744"/>
          </a:xfrm>
          <a:prstGeom prst="rect">
            <a:avLst/>
          </a:prstGeom>
          <a:noFill/>
          <a:ln/>
        </p:spPr>
        <p:txBody>
          <a:bodyPr wrap="square" lIns="0" tIns="0" rIns="0" bIns="0" rtlCol="0" anchor="t"/>
          <a:lstStyle/>
          <a:p>
            <a:pPr indent="0" marL="0">
              <a:buNone/>
            </a:pPr>
            <a:r>
              <a:rPr lang="en-US" sz="1100" b="1" dirty="0">
                <a:solidFill>
                  <a:srgbClr val="8E5729"/>
                </a:solidFill>
                <a:latin typeface="Malgun Gothic" pitchFamily="34" charset="0"/>
                <a:ea typeface="Malgun Gothic" pitchFamily="34" charset="-122"/>
                <a:cs typeface="Malgun Gothic" pitchFamily="34" charset="-120"/>
              </a:rPr>
              <a:t>priority</a:t>
            </a:r>
            <a:endParaRPr lang="en-US" sz="1100" dirty="0"/>
          </a:p>
        </p:txBody>
      </p:sp>
      <p:sp>
        <p:nvSpPr>
          <p:cNvPr id="22" name="Text 20"/>
          <p:cNvSpPr txBox="1"/>
          <p:nvPr/>
        </p:nvSpPr>
        <p:spPr>
          <a:xfrm>
            <a:off x="3273552" y="4425696"/>
            <a:ext cx="23774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HIGH / MID / LOW</a:t>
            </a:r>
            <a:endParaRPr lang="en-US" sz="1000" dirty="0"/>
          </a:p>
        </p:txBody>
      </p:sp>
      <p:sp>
        <p:nvSpPr>
          <p:cNvPr id="23" name="Text 21"/>
          <p:cNvSpPr txBox="1"/>
          <p:nvPr/>
        </p:nvSpPr>
        <p:spPr>
          <a:xfrm>
            <a:off x="1188720" y="4681728"/>
            <a:ext cx="4526280" cy="402336"/>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이메일 제목 머리말과 Telegram 헤더에 그대로 사용</a:t>
            </a:r>
            <a:endParaRPr lang="en-US" sz="950" dirty="0"/>
          </a:p>
        </p:txBody>
      </p:sp>
      <p:sp>
        <p:nvSpPr>
          <p:cNvPr id="24" name="Shape 22"/>
          <p:cNvSpPr/>
          <p:nvPr/>
        </p:nvSpPr>
        <p:spPr>
          <a:xfrm>
            <a:off x="1005840" y="5221224"/>
            <a:ext cx="73152" cy="73152"/>
          </a:xfrm>
          <a:prstGeom prst="rect">
            <a:avLst/>
          </a:prstGeom>
          <a:solidFill>
            <a:srgbClr val="B0703A"/>
          </a:solidFill>
          <a:ln w="12700">
            <a:solidFill>
              <a:srgbClr val="B0703A"/>
            </a:solidFill>
            <a:prstDash val="solid"/>
          </a:ln>
        </p:spPr>
      </p:sp>
      <p:sp>
        <p:nvSpPr>
          <p:cNvPr id="25" name="Text 23"/>
          <p:cNvSpPr txBox="1"/>
          <p:nvPr/>
        </p:nvSpPr>
        <p:spPr>
          <a:xfrm>
            <a:off x="1188720" y="5157216"/>
            <a:ext cx="2011680" cy="237744"/>
          </a:xfrm>
          <a:prstGeom prst="rect">
            <a:avLst/>
          </a:prstGeom>
          <a:noFill/>
          <a:ln/>
        </p:spPr>
        <p:txBody>
          <a:bodyPr wrap="square" lIns="0" tIns="0" rIns="0" bIns="0" rtlCol="0" anchor="t"/>
          <a:lstStyle/>
          <a:p>
            <a:pPr indent="0" marL="0">
              <a:buNone/>
            </a:pPr>
            <a:r>
              <a:rPr lang="en-US" sz="1100" b="1" dirty="0">
                <a:solidFill>
                  <a:srgbClr val="8E5729"/>
                </a:solidFill>
                <a:latin typeface="Malgun Gothic" pitchFamily="34" charset="0"/>
                <a:ea typeface="Malgun Gothic" pitchFamily="34" charset="-122"/>
                <a:cs typeface="Malgun Gothic" pitchFamily="34" charset="-120"/>
              </a:rPr>
              <a:t>key_figures</a:t>
            </a:r>
            <a:endParaRPr lang="en-US" sz="1100" dirty="0"/>
          </a:p>
        </p:txBody>
      </p:sp>
      <p:sp>
        <p:nvSpPr>
          <p:cNvPr id="26" name="Text 24"/>
          <p:cNvSpPr txBox="1"/>
          <p:nvPr/>
        </p:nvSpPr>
        <p:spPr>
          <a:xfrm>
            <a:off x="3273552" y="5157216"/>
            <a:ext cx="23774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최대 6개</a:t>
            </a:r>
            <a:endParaRPr lang="en-US" sz="1000" dirty="0"/>
          </a:p>
        </p:txBody>
      </p:sp>
      <p:sp>
        <p:nvSpPr>
          <p:cNvPr id="27" name="Text 25"/>
          <p:cNvSpPr txBox="1"/>
          <p:nvPr/>
        </p:nvSpPr>
        <p:spPr>
          <a:xfrm>
            <a:off x="1188720" y="5413248"/>
            <a:ext cx="4526280" cy="402336"/>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계약금액·주식 수·지분율 등 원문 수치를 label·value 쌍으로 추출</a:t>
            </a:r>
            <a:endParaRPr lang="en-US" sz="950" dirty="0"/>
          </a:p>
        </p:txBody>
      </p:sp>
      <p:sp>
        <p:nvSpPr>
          <p:cNvPr id="28" name="Shape 26"/>
          <p:cNvSpPr/>
          <p:nvPr/>
        </p:nvSpPr>
        <p:spPr>
          <a:xfrm>
            <a:off x="6245352" y="2395728"/>
            <a:ext cx="5230368" cy="1700784"/>
          </a:xfrm>
          <a:prstGeom prst="rect">
            <a:avLst/>
          </a:prstGeom>
          <a:solidFill>
            <a:srgbClr val="FFFFFF"/>
          </a:solidFill>
          <a:ln w="9525">
            <a:solidFill>
              <a:srgbClr val="DFE3E8"/>
            </a:solidFill>
            <a:prstDash val="solid"/>
          </a:ln>
        </p:spPr>
      </p:sp>
      <p:sp>
        <p:nvSpPr>
          <p:cNvPr id="29" name="Text 27"/>
          <p:cNvSpPr txBox="1"/>
          <p:nvPr/>
        </p:nvSpPr>
        <p:spPr>
          <a:xfrm>
            <a:off x="6537960" y="2615184"/>
            <a:ext cx="4572000" cy="256032"/>
          </a:xfrm>
          <a:prstGeom prst="rect">
            <a:avLst/>
          </a:prstGeom>
          <a:noFill/>
          <a:ln/>
        </p:spPr>
        <p:txBody>
          <a:bodyPr wrap="square" lIns="0" tIns="0" rIns="0" bIns="0" rtlCol="0" anchor="t"/>
          <a:lstStyle/>
          <a:p>
            <a:pPr indent="0" marL="0">
              <a:buNone/>
            </a:pPr>
            <a:r>
              <a:rPr lang="en-US" sz="1250" b="1" dirty="0">
                <a:solidFill>
                  <a:srgbClr val="0E1621"/>
                </a:solidFill>
                <a:latin typeface="Malgun Gothic" pitchFamily="34" charset="0"/>
                <a:ea typeface="Malgun Gothic" pitchFamily="34" charset="-122"/>
                <a:cs typeface="Malgun Gothic" pitchFamily="34" charset="-120"/>
              </a:rPr>
              <a:t>임원·주요주주 소유상황 보고서 특별 처리</a:t>
            </a:r>
            <a:endParaRPr lang="en-US" sz="1250" dirty="0"/>
          </a:p>
        </p:txBody>
      </p:sp>
      <p:sp>
        <p:nvSpPr>
          <p:cNvPr id="30" name="Text 28"/>
          <p:cNvSpPr txBox="1"/>
          <p:nvPr/>
        </p:nvSpPr>
        <p:spPr>
          <a:xfrm>
            <a:off x="6537960" y="2926080"/>
            <a:ext cx="4663440" cy="1005840"/>
          </a:xfrm>
          <a:prstGeom prst="rect">
            <a:avLst/>
          </a:prstGeom>
          <a:noFill/>
          <a:ln/>
        </p:spPr>
        <p:txBody>
          <a:bodyPr wrap="square" lIns="0" tIns="0" rIns="0" bIns="0" rtlCol="0" anchor="t"/>
          <a:lstStyle/>
          <a:p>
            <a:pPr indent="0" marL="0">
              <a:lnSpc>
                <a:spcPts val="1500"/>
              </a:lnSpc>
              <a:buNone/>
            </a:pPr>
            <a:r>
              <a:rPr lang="en-US" sz="1000" dirty="0">
                <a:solidFill>
                  <a:srgbClr val="68747F"/>
                </a:solidFill>
                <a:latin typeface="Malgun Gothic" pitchFamily="34" charset="0"/>
                <a:ea typeface="Malgun Gothic" pitchFamily="34" charset="-122"/>
                <a:cs typeface="Malgun Gothic" pitchFamily="34" charset="-120"/>
              </a:rPr>
              <a:t>이 유형은 보고서명만 보면 내용을 전혀 알 수 없어, 프롬프트에서 원문 표에서 보고자·취득/처분 구분·변동 주식 수·변동 전후 지분율을 반드시 찾아 쓰도록 지시했습니다. 숫자는 쉼표와 단위를 포함해 정확히 옮기고, 원문에 없는 값은 추정하지 말라고 명시했습니다.</a:t>
            </a:r>
            <a:endParaRPr lang="en-US" sz="1000" dirty="0"/>
          </a:p>
        </p:txBody>
      </p:sp>
      <p:sp>
        <p:nvSpPr>
          <p:cNvPr id="31" name="Shape 29"/>
          <p:cNvSpPr/>
          <p:nvPr/>
        </p:nvSpPr>
        <p:spPr>
          <a:xfrm>
            <a:off x="6245352" y="4261104"/>
            <a:ext cx="5230368" cy="1700784"/>
          </a:xfrm>
          <a:prstGeom prst="rect">
            <a:avLst/>
          </a:prstGeom>
          <a:solidFill>
            <a:srgbClr val="0E1621"/>
          </a:solidFill>
          <a:ln w="12700">
            <a:solidFill>
              <a:srgbClr val="333333"/>
            </a:solidFill>
            <a:prstDash val="solid"/>
          </a:ln>
        </p:spPr>
      </p:sp>
      <p:sp>
        <p:nvSpPr>
          <p:cNvPr id="32" name="Text 30"/>
          <p:cNvSpPr txBox="1"/>
          <p:nvPr/>
        </p:nvSpPr>
        <p:spPr>
          <a:xfrm>
            <a:off x="6537960" y="4480560"/>
            <a:ext cx="2743200" cy="256032"/>
          </a:xfrm>
          <a:prstGeom prst="rect">
            <a:avLst/>
          </a:prstGeom>
          <a:noFill/>
          <a:ln/>
        </p:spPr>
        <p:txBody>
          <a:bodyPr wrap="square" lIns="0" tIns="0" rIns="0" bIns="0" rtlCol="0" anchor="t"/>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3단 폴백</a:t>
            </a:r>
            <a:endParaRPr lang="en-US" sz="1250" dirty="0"/>
          </a:p>
        </p:txBody>
      </p:sp>
      <p:sp>
        <p:nvSpPr>
          <p:cNvPr id="33" name="Text 31"/>
          <p:cNvSpPr txBox="1"/>
          <p:nvPr/>
        </p:nvSpPr>
        <p:spPr>
          <a:xfrm>
            <a:off x="6537960" y="4809744"/>
            <a:ext cx="457200" cy="219456"/>
          </a:xfrm>
          <a:prstGeom prst="rect">
            <a:avLst/>
          </a:prstGeom>
          <a:noFill/>
          <a:ln/>
        </p:spPr>
        <p:txBody>
          <a:bodyPr wrap="square" lIns="0" tIns="0" rIns="0" bIns="0" rtlCol="0" anchor="t"/>
          <a:lstStyle/>
          <a:p>
            <a:pPr indent="0" marL="0">
              <a:buNone/>
            </a:pPr>
            <a:r>
              <a:rPr lang="en-US" sz="1000" b="1" dirty="0">
                <a:solidFill>
                  <a:srgbClr val="E0A76D"/>
                </a:solidFill>
                <a:latin typeface="Malgun Gothic" pitchFamily="34" charset="0"/>
                <a:ea typeface="Malgun Gothic" pitchFamily="34" charset="-122"/>
                <a:cs typeface="Malgun Gothic" pitchFamily="34" charset="-120"/>
              </a:rPr>
              <a:t>1차</a:t>
            </a:r>
            <a:endParaRPr lang="en-US" sz="1000" dirty="0"/>
          </a:p>
        </p:txBody>
      </p:sp>
      <p:sp>
        <p:nvSpPr>
          <p:cNvPr id="34" name="Text 32"/>
          <p:cNvSpPr txBox="1"/>
          <p:nvPr/>
        </p:nvSpPr>
        <p:spPr>
          <a:xfrm>
            <a:off x="7068312" y="4809744"/>
            <a:ext cx="1920240" cy="219456"/>
          </a:xfrm>
          <a:prstGeom prst="rect">
            <a:avLst/>
          </a:prstGeom>
          <a:noFill/>
          <a:ln/>
        </p:spPr>
        <p:txBody>
          <a:bodyPr wrap="square" lIns="0" tIns="0" rIns="0" bIns="0" rtlCol="0" anchor="t"/>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Gemini flash-lite</a:t>
            </a:r>
            <a:endParaRPr lang="en-US" sz="1050" dirty="0"/>
          </a:p>
        </p:txBody>
      </p:sp>
      <p:sp>
        <p:nvSpPr>
          <p:cNvPr id="35" name="Text 33"/>
          <p:cNvSpPr txBox="1"/>
          <p:nvPr/>
        </p:nvSpPr>
        <p:spPr>
          <a:xfrm>
            <a:off x="9034272" y="4818888"/>
            <a:ext cx="2194560" cy="219456"/>
          </a:xfrm>
          <a:prstGeom prst="rect">
            <a:avLst/>
          </a:prstGeom>
          <a:noFill/>
          <a:ln/>
        </p:spPr>
        <p:txBody>
          <a:bodyPr wrap="square" lIns="0" tIns="0" rIns="0" bIns="0" rtlCol="0" anchor="t"/>
          <a:lstStyle/>
          <a:p>
            <a:pPr indent="0" marL="0">
              <a:buNone/>
            </a:pPr>
            <a:r>
              <a:rPr lang="en-US" sz="900" dirty="0">
                <a:solidFill>
                  <a:srgbClr val="6E7F91"/>
                </a:solidFill>
                <a:latin typeface="Malgun Gothic" pitchFamily="34" charset="0"/>
                <a:ea typeface="Malgun Gothic" pitchFamily="34" charset="-122"/>
                <a:cs typeface="Malgun Gothic" pitchFamily="34" charset="-120"/>
              </a:rPr>
              <a:t>responseMimeType: application/json</a:t>
            </a:r>
            <a:endParaRPr lang="en-US" sz="900" dirty="0"/>
          </a:p>
        </p:txBody>
      </p:sp>
      <p:sp>
        <p:nvSpPr>
          <p:cNvPr id="36" name="Text 34"/>
          <p:cNvSpPr txBox="1"/>
          <p:nvPr/>
        </p:nvSpPr>
        <p:spPr>
          <a:xfrm>
            <a:off x="6537960" y="5193792"/>
            <a:ext cx="457200" cy="219456"/>
          </a:xfrm>
          <a:prstGeom prst="rect">
            <a:avLst/>
          </a:prstGeom>
          <a:noFill/>
          <a:ln/>
        </p:spPr>
        <p:txBody>
          <a:bodyPr wrap="square" lIns="0" tIns="0" rIns="0" bIns="0" rtlCol="0" anchor="t"/>
          <a:lstStyle/>
          <a:p>
            <a:pPr indent="0" marL="0">
              <a:buNone/>
            </a:pPr>
            <a:r>
              <a:rPr lang="en-US" sz="1000" b="1" dirty="0">
                <a:solidFill>
                  <a:srgbClr val="E0A76D"/>
                </a:solidFill>
                <a:latin typeface="Malgun Gothic" pitchFamily="34" charset="0"/>
                <a:ea typeface="Malgun Gothic" pitchFamily="34" charset="-122"/>
                <a:cs typeface="Malgun Gothic" pitchFamily="34" charset="-120"/>
              </a:rPr>
              <a:t>2차</a:t>
            </a:r>
            <a:endParaRPr lang="en-US" sz="1000" dirty="0"/>
          </a:p>
        </p:txBody>
      </p:sp>
      <p:sp>
        <p:nvSpPr>
          <p:cNvPr id="37" name="Text 35"/>
          <p:cNvSpPr txBox="1"/>
          <p:nvPr/>
        </p:nvSpPr>
        <p:spPr>
          <a:xfrm>
            <a:off x="7068312" y="5193792"/>
            <a:ext cx="1920240" cy="219456"/>
          </a:xfrm>
          <a:prstGeom prst="rect">
            <a:avLst/>
          </a:prstGeom>
          <a:noFill/>
          <a:ln/>
        </p:spPr>
        <p:txBody>
          <a:bodyPr wrap="square" lIns="0" tIns="0" rIns="0" bIns="0" rtlCol="0" anchor="t"/>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OpenAI GPT-4o</a:t>
            </a:r>
            <a:endParaRPr lang="en-US" sz="1050" dirty="0"/>
          </a:p>
        </p:txBody>
      </p:sp>
      <p:sp>
        <p:nvSpPr>
          <p:cNvPr id="38" name="Text 36"/>
          <p:cNvSpPr txBox="1"/>
          <p:nvPr/>
        </p:nvSpPr>
        <p:spPr>
          <a:xfrm>
            <a:off x="9034272" y="5202936"/>
            <a:ext cx="2194560" cy="219456"/>
          </a:xfrm>
          <a:prstGeom prst="rect">
            <a:avLst/>
          </a:prstGeom>
          <a:noFill/>
          <a:ln/>
        </p:spPr>
        <p:txBody>
          <a:bodyPr wrap="square" lIns="0" tIns="0" rIns="0" bIns="0" rtlCol="0" anchor="t"/>
          <a:lstStyle/>
          <a:p>
            <a:pPr indent="0" marL="0">
              <a:buNone/>
            </a:pPr>
            <a:r>
              <a:rPr lang="en-US" sz="900" dirty="0">
                <a:solidFill>
                  <a:srgbClr val="6E7F91"/>
                </a:solidFill>
                <a:latin typeface="Malgun Gothic" pitchFamily="34" charset="0"/>
                <a:ea typeface="Malgun Gothic" pitchFamily="34" charset="-122"/>
                <a:cs typeface="Malgun Gothic" pitchFamily="34" charset="-120"/>
              </a:rPr>
              <a:t>response_format: json_object</a:t>
            </a:r>
            <a:endParaRPr lang="en-US" sz="900" dirty="0"/>
          </a:p>
        </p:txBody>
      </p:sp>
      <p:sp>
        <p:nvSpPr>
          <p:cNvPr id="39" name="Text 37"/>
          <p:cNvSpPr txBox="1"/>
          <p:nvPr/>
        </p:nvSpPr>
        <p:spPr>
          <a:xfrm>
            <a:off x="6537960" y="5577840"/>
            <a:ext cx="457200" cy="219456"/>
          </a:xfrm>
          <a:prstGeom prst="rect">
            <a:avLst/>
          </a:prstGeom>
          <a:noFill/>
          <a:ln/>
        </p:spPr>
        <p:txBody>
          <a:bodyPr wrap="square" lIns="0" tIns="0" rIns="0" bIns="0" rtlCol="0" anchor="t"/>
          <a:lstStyle/>
          <a:p>
            <a:pPr indent="0" marL="0">
              <a:buNone/>
            </a:pPr>
            <a:r>
              <a:rPr lang="en-US" sz="1000" b="1" dirty="0">
                <a:solidFill>
                  <a:srgbClr val="E0A76D"/>
                </a:solidFill>
                <a:latin typeface="Malgun Gothic" pitchFamily="34" charset="0"/>
                <a:ea typeface="Malgun Gothic" pitchFamily="34" charset="-122"/>
                <a:cs typeface="Malgun Gothic" pitchFamily="34" charset="-120"/>
              </a:rPr>
              <a:t>3차</a:t>
            </a:r>
            <a:endParaRPr lang="en-US" sz="1000" dirty="0"/>
          </a:p>
        </p:txBody>
      </p:sp>
      <p:sp>
        <p:nvSpPr>
          <p:cNvPr id="40" name="Text 38"/>
          <p:cNvSpPr txBox="1"/>
          <p:nvPr/>
        </p:nvSpPr>
        <p:spPr>
          <a:xfrm>
            <a:off x="7068312" y="5577840"/>
            <a:ext cx="1920240" cy="219456"/>
          </a:xfrm>
          <a:prstGeom prst="rect">
            <a:avLst/>
          </a:prstGeom>
          <a:noFill/>
          <a:ln/>
        </p:spPr>
        <p:txBody>
          <a:bodyPr wrap="square" lIns="0" tIns="0" rIns="0" bIns="0" rtlCol="0" anchor="t"/>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사전 정의 기본 결과</a:t>
            </a:r>
            <a:endParaRPr lang="en-US" sz="1050" dirty="0"/>
          </a:p>
        </p:txBody>
      </p:sp>
      <p:sp>
        <p:nvSpPr>
          <p:cNvPr id="41" name="Text 39"/>
          <p:cNvSpPr txBox="1"/>
          <p:nvPr/>
        </p:nvSpPr>
        <p:spPr>
          <a:xfrm>
            <a:off x="9034272" y="5586984"/>
            <a:ext cx="2194560" cy="219456"/>
          </a:xfrm>
          <a:prstGeom prst="rect">
            <a:avLst/>
          </a:prstGeom>
          <a:noFill/>
          <a:ln/>
        </p:spPr>
        <p:txBody>
          <a:bodyPr wrap="square" lIns="0" tIns="0" rIns="0" bIns="0" rtlCol="0" anchor="t"/>
          <a:lstStyle/>
          <a:p>
            <a:pPr indent="0" marL="0">
              <a:buNone/>
            </a:pPr>
            <a:r>
              <a:rPr lang="en-US" sz="900" dirty="0">
                <a:solidFill>
                  <a:srgbClr val="6E7F91"/>
                </a:solidFill>
                <a:latin typeface="Malgun Gothic" pitchFamily="34" charset="0"/>
                <a:ea typeface="Malgun Gothic" pitchFamily="34" charset="-122"/>
                <a:cs typeface="Malgun Gothic" pitchFamily="34" charset="-120"/>
              </a:rPr>
              <a:t>‘확인 필요’ 문구로 채운 안전한 응답</a:t>
            </a:r>
            <a:endParaRPr lang="en-US" sz="900" dirty="0"/>
          </a:p>
        </p:txBody>
      </p:sp>
      <p:sp>
        <p:nvSpPr>
          <p:cNvPr id="42" name="Text 40"/>
          <p:cNvSpPr txBox="1"/>
          <p:nvPr/>
        </p:nvSpPr>
        <p:spPr>
          <a:xfrm>
            <a:off x="6537960" y="5614416"/>
            <a:ext cx="4663440" cy="219456"/>
          </a:xfrm>
          <a:prstGeom prst="rect">
            <a:avLst/>
          </a:prstGeom>
          <a:noFill/>
          <a:ln/>
        </p:spPr>
        <p:txBody>
          <a:bodyPr wrap="square" lIns="0" tIns="0" rIns="0" bIns="0" rtlCol="0" anchor="t"/>
          <a:lstStyle/>
          <a:p>
            <a:pPr indent="0" marL="0">
              <a:buNone/>
            </a:pPr>
            <a:r>
              <a:rPr lang="en-US" sz="950" dirty="0">
                <a:solidFill>
                  <a:srgbClr val="E0A76D"/>
                </a:solidFill>
                <a:latin typeface="Malgun Gothic" pitchFamily="34" charset="0"/>
                <a:ea typeface="Malgun Gothic" pitchFamily="34" charset="-122"/>
                <a:cs typeface="Malgun Gothic" pitchFamily="34" charset="-120"/>
              </a:rPr>
              <a:t>어느 단계로 떨어져도 발송 포맷은 동일해 알림이 끊기지 않습니다.</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05 — A</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Telegram 메시지 구성</a:t>
            </a:r>
            <a:endParaRPr lang="en-US" sz="2800" dirty="0"/>
          </a:p>
        </p:txBody>
      </p:sp>
      <p:sp>
        <p:nvSpPr>
          <p:cNvPr id="5" name="Text 3"/>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07</a:t>
            </a:r>
            <a:endParaRPr lang="en-US" sz="950" dirty="0"/>
          </a:p>
        </p:txBody>
      </p:sp>
      <p:sp>
        <p:nvSpPr>
          <p:cNvPr id="6" name="Text 4"/>
          <p:cNvSpPr txBox="1"/>
          <p:nvPr/>
        </p:nvSpPr>
        <p:spPr>
          <a:xfrm>
            <a:off x="713232" y="1810512"/>
            <a:ext cx="548640" cy="274320"/>
          </a:xfrm>
          <a:prstGeom prst="rect">
            <a:avLst/>
          </a:prstGeom>
          <a:noFill/>
          <a:ln/>
        </p:spPr>
        <p:txBody>
          <a:bodyPr wrap="square" lIns="0" tIns="0" rIns="0" bIns="0" rtlCol="0" anchor="t"/>
          <a:lstStyle/>
          <a:p>
            <a:pPr indent="0" marL="0">
              <a:buNone/>
            </a:pPr>
            <a:r>
              <a:rPr lang="en-US" sz="1200" b="1" dirty="0">
                <a:solidFill>
                  <a:srgbClr val="B0703A"/>
                </a:solidFill>
                <a:latin typeface="Malgun Gothic" pitchFamily="34" charset="0"/>
                <a:ea typeface="Malgun Gothic" pitchFamily="34" charset="-122"/>
                <a:cs typeface="Malgun Gothic" pitchFamily="34" charset="-120"/>
              </a:rPr>
              <a:t>05-A</a:t>
            </a:r>
            <a:endParaRPr lang="en-US" sz="1200" dirty="0"/>
          </a:p>
        </p:txBody>
      </p:sp>
      <p:sp>
        <p:nvSpPr>
          <p:cNvPr id="7" name="Text 5"/>
          <p:cNvSpPr txBox="1"/>
          <p:nvPr/>
        </p:nvSpPr>
        <p:spPr>
          <a:xfrm>
            <a:off x="1280160" y="1773936"/>
            <a:ext cx="4754880" cy="310896"/>
          </a:xfrm>
          <a:prstGeom prst="rect">
            <a:avLst/>
          </a:prstGeom>
          <a:noFill/>
          <a:ln/>
        </p:spPr>
        <p:txBody>
          <a:bodyPr wrap="square" lIns="0" tIns="0" rIns="0" bIns="0" rtlCol="0" anchor="t"/>
          <a:lstStyle/>
          <a:p>
            <a:pPr indent="0" marL="0">
              <a:buNone/>
            </a:pPr>
            <a:r>
              <a:rPr lang="en-US" sz="1600" b="1" dirty="0">
                <a:solidFill>
                  <a:srgbClr val="0E1621"/>
                </a:solidFill>
                <a:latin typeface="Malgun Gothic" pitchFamily="34" charset="0"/>
                <a:ea typeface="Malgun Gothic" pitchFamily="34" charset="-122"/>
                <a:cs typeface="Malgun Gothic" pitchFamily="34" charset="-120"/>
              </a:rPr>
              <a:t>Telegram Bot API 발송</a:t>
            </a:r>
            <a:endParaRPr lang="en-US" sz="1600" dirty="0"/>
          </a:p>
        </p:txBody>
      </p:sp>
      <p:sp>
        <p:nvSpPr>
          <p:cNvPr id="8" name="Text 6"/>
          <p:cNvSpPr txBox="1"/>
          <p:nvPr/>
        </p:nvSpPr>
        <p:spPr>
          <a:xfrm>
            <a:off x="6199632" y="1828800"/>
            <a:ext cx="5303520" cy="256032"/>
          </a:xfrm>
          <a:prstGeom prst="rect">
            <a:avLst/>
          </a:prstGeom>
          <a:noFill/>
          <a:ln/>
        </p:spPr>
        <p:txBody>
          <a:bodyPr wrap="square" lIns="0" tIns="0" rIns="0" bIns="0" rtlCol="0" anchor="t"/>
          <a:lstStyle/>
          <a:p>
            <a:pPr algn="r" indent="0" marL="0">
              <a:buNone/>
            </a:pPr>
            <a:r>
              <a:rPr lang="en-US" sz="1100" dirty="0">
                <a:solidFill>
                  <a:srgbClr val="68747F"/>
                </a:solidFill>
                <a:latin typeface="Malgun Gothic" pitchFamily="34" charset="0"/>
                <a:ea typeface="Malgun Gothic" pitchFamily="34" charset="-122"/>
                <a:cs typeface="Malgun Gothic" pitchFamily="34" charset="-120"/>
              </a:rPr>
              <a:t>감정별 헤더 · HTML 포맷 · 4096자 제한 대응</a:t>
            </a:r>
            <a:endParaRPr lang="en-US" sz="1100" dirty="0"/>
          </a:p>
        </p:txBody>
      </p:sp>
      <p:sp>
        <p:nvSpPr>
          <p:cNvPr id="9" name="Shape 7"/>
          <p:cNvSpPr/>
          <p:nvPr/>
        </p:nvSpPr>
        <p:spPr>
          <a:xfrm>
            <a:off x="713232" y="2212848"/>
            <a:ext cx="10765231" cy="10973"/>
          </a:xfrm>
          <a:prstGeom prst="rect">
            <a:avLst/>
          </a:prstGeom>
          <a:solidFill>
            <a:srgbClr val="DFE3E8"/>
          </a:solidFill>
          <a:ln w="12700">
            <a:solidFill>
              <a:srgbClr val="DFE3E8"/>
            </a:solidFill>
            <a:prstDash val="solid"/>
          </a:ln>
        </p:spPr>
      </p:sp>
      <p:sp>
        <p:nvSpPr>
          <p:cNvPr id="10" name="Shape 8"/>
          <p:cNvSpPr/>
          <p:nvPr/>
        </p:nvSpPr>
        <p:spPr>
          <a:xfrm>
            <a:off x="713232" y="2395728"/>
            <a:ext cx="5029200" cy="3566160"/>
          </a:xfrm>
          <a:prstGeom prst="rect">
            <a:avLst/>
          </a:prstGeom>
          <a:solidFill>
            <a:srgbClr val="E8F2F8"/>
          </a:solidFill>
          <a:ln w="9525">
            <a:solidFill>
              <a:srgbClr val="DFE3E8"/>
            </a:solidFill>
            <a:prstDash val="solid"/>
          </a:ln>
        </p:spPr>
      </p:sp>
      <p:sp>
        <p:nvSpPr>
          <p:cNvPr id="11" name="Shape 9"/>
          <p:cNvSpPr/>
          <p:nvPr/>
        </p:nvSpPr>
        <p:spPr>
          <a:xfrm>
            <a:off x="987552" y="2615184"/>
            <a:ext cx="4480560" cy="3127248"/>
          </a:xfrm>
          <a:prstGeom prst="roundRect">
            <a:avLst>
              <a:gd name="adj" fmla="val 2339"/>
            </a:avLst>
          </a:prstGeom>
          <a:solidFill>
            <a:srgbClr val="FFFFFF"/>
          </a:solidFill>
          <a:ln w="9525">
            <a:solidFill>
              <a:srgbClr val="C9DEEA"/>
            </a:solidFill>
            <a:prstDash val="solid"/>
          </a:ln>
        </p:spPr>
      </p:sp>
      <p:sp>
        <p:nvSpPr>
          <p:cNvPr id="12" name="Shape 10"/>
          <p:cNvSpPr/>
          <p:nvPr/>
        </p:nvSpPr>
        <p:spPr>
          <a:xfrm>
            <a:off x="1170432" y="2798064"/>
            <a:ext cx="475488" cy="201168"/>
          </a:xfrm>
          <a:prstGeom prst="roundRect">
            <a:avLst>
              <a:gd name="adj" fmla="val 18182"/>
            </a:avLst>
          </a:prstGeom>
          <a:solidFill>
            <a:srgbClr val="F6E2E1"/>
          </a:solidFill>
          <a:ln w="9525">
            <a:solidFill>
              <a:srgbClr val="E8C4C2"/>
            </a:solidFill>
            <a:prstDash val="solid"/>
          </a:ln>
        </p:spPr>
      </p:sp>
      <p:sp>
        <p:nvSpPr>
          <p:cNvPr id="13" name="Text 11"/>
          <p:cNvSpPr txBox="1"/>
          <p:nvPr/>
        </p:nvSpPr>
        <p:spPr>
          <a:xfrm>
            <a:off x="1170432" y="2825496"/>
            <a:ext cx="475488" cy="164592"/>
          </a:xfrm>
          <a:prstGeom prst="rect">
            <a:avLst/>
          </a:prstGeom>
          <a:noFill/>
          <a:ln/>
        </p:spPr>
        <p:txBody>
          <a:bodyPr wrap="square" lIns="0" tIns="0" rIns="0" bIns="0" rtlCol="0" anchor="t"/>
          <a:lstStyle/>
          <a:p>
            <a:pPr algn="ctr" indent="0" marL="0">
              <a:buNone/>
            </a:pPr>
            <a:r>
              <a:rPr lang="en-US" sz="850" b="1" dirty="0">
                <a:solidFill>
                  <a:srgbClr val="A8443E"/>
                </a:solidFill>
                <a:latin typeface="Malgun Gothic" pitchFamily="34" charset="0"/>
                <a:ea typeface="Malgun Gothic" pitchFamily="34" charset="-122"/>
                <a:cs typeface="Malgun Gothic" pitchFamily="34" charset="-120"/>
              </a:rPr>
              <a:t>주의</a:t>
            </a:r>
            <a:endParaRPr lang="en-US" sz="850" dirty="0"/>
          </a:p>
        </p:txBody>
      </p:sp>
      <p:sp>
        <p:nvSpPr>
          <p:cNvPr id="14" name="Text 12"/>
          <p:cNvSpPr txBox="1"/>
          <p:nvPr/>
        </p:nvSpPr>
        <p:spPr>
          <a:xfrm>
            <a:off x="1719072" y="2779776"/>
            <a:ext cx="3566160" cy="237744"/>
          </a:xfrm>
          <a:prstGeom prst="rect">
            <a:avLst/>
          </a:prstGeom>
          <a:noFill/>
          <a:ln/>
        </p:spPr>
        <p:txBody>
          <a:bodyPr wrap="square" lIns="0" tIns="0" rIns="0" bIns="0" rtlCol="0" anchor="t"/>
          <a:lstStyle/>
          <a:p>
            <a:pPr indent="0" marL="0">
              <a:buNone/>
            </a:pPr>
            <a:r>
              <a:rPr lang="en-US" sz="1150" b="1" dirty="0">
                <a:solidFill>
                  <a:srgbClr val="0E1621"/>
                </a:solidFill>
                <a:latin typeface="Malgun Gothic" pitchFamily="34" charset="0"/>
                <a:ea typeface="Malgun Gothic" pitchFamily="34" charset="-122"/>
                <a:cs typeface="Malgun Gothic" pitchFamily="34" charset="-120"/>
              </a:rPr>
              <a:t>FUTURE:M RADAR</a:t>
            </a:r>
            <a:endParaRPr lang="en-US" sz="1150" dirty="0"/>
          </a:p>
        </p:txBody>
      </p:sp>
      <p:sp>
        <p:nvSpPr>
          <p:cNvPr id="15" name="Shape 13"/>
          <p:cNvSpPr/>
          <p:nvPr/>
        </p:nvSpPr>
        <p:spPr>
          <a:xfrm>
            <a:off x="1170432" y="3090672"/>
            <a:ext cx="4114800" cy="10973"/>
          </a:xfrm>
          <a:prstGeom prst="rect">
            <a:avLst/>
          </a:prstGeom>
          <a:solidFill>
            <a:srgbClr val="E2E9EE"/>
          </a:solidFill>
          <a:ln w="12700">
            <a:solidFill>
              <a:srgbClr val="E2E9EE"/>
            </a:solidFill>
            <a:prstDash val="solid"/>
          </a:ln>
        </p:spPr>
      </p:sp>
      <p:sp>
        <p:nvSpPr>
          <p:cNvPr id="16" name="Text 14"/>
          <p:cNvSpPr txBox="1"/>
          <p:nvPr/>
        </p:nvSpPr>
        <p:spPr>
          <a:xfrm>
            <a:off x="1170432" y="3200400"/>
            <a:ext cx="411480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[기재정정]타인에대한채무보증결정</a:t>
            </a:r>
            <a:endParaRPr lang="en-US" sz="1100" dirty="0"/>
          </a:p>
        </p:txBody>
      </p:sp>
      <p:sp>
        <p:nvSpPr>
          <p:cNvPr id="17" name="Text 15"/>
          <p:cNvSpPr txBox="1"/>
          <p:nvPr/>
        </p:nvSpPr>
        <p:spPr>
          <a:xfrm>
            <a:off x="1170432" y="3474720"/>
            <a:ext cx="4114800" cy="548640"/>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기업: 포스코퓨처엠</a:t>
            </a:r>
            <a:endParaRPr lang="en-US" sz="950" dirty="0"/>
          </a:p>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우선순위: HIGH</a:t>
            </a:r>
            <a:endParaRPr lang="en-US" sz="950" dirty="0"/>
          </a:p>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감지시각: 2026-09-10 14:35:02</a:t>
            </a:r>
            <a:endParaRPr lang="en-US" sz="950" dirty="0"/>
          </a:p>
        </p:txBody>
      </p:sp>
      <p:sp>
        <p:nvSpPr>
          <p:cNvPr id="18" name="Text 16"/>
          <p:cNvSpPr txBox="1"/>
          <p:nvPr/>
        </p:nvSpPr>
        <p:spPr>
          <a:xfrm>
            <a:off x="1170432" y="4078224"/>
            <a:ext cx="4114800" cy="219456"/>
          </a:xfrm>
          <a:prstGeom prst="rect">
            <a:avLst/>
          </a:prstGeom>
          <a:noFill/>
          <a:ln/>
        </p:spPr>
        <p:txBody>
          <a:bodyPr wrap="square" lIns="0" tIns="0" rIns="0" bIns="0" rtlCol="0" anchor="t"/>
          <a:lstStyle/>
          <a:p>
            <a:pPr indent="0" marL="0">
              <a:buNone/>
            </a:pPr>
            <a:r>
              <a:rPr lang="en-US" sz="1000" b="1" dirty="0">
                <a:solidFill>
                  <a:srgbClr val="0E1621"/>
                </a:solidFill>
                <a:latin typeface="Malgun Gothic" pitchFamily="34" charset="0"/>
                <a:ea typeface="Malgun Gothic" pitchFamily="34" charset="-122"/>
                <a:cs typeface="Malgun Gothic" pitchFamily="34" charset="-120"/>
              </a:rPr>
              <a:t>AI 핵심 요약</a:t>
            </a:r>
            <a:endParaRPr lang="en-US" sz="1000" dirty="0"/>
          </a:p>
        </p:txBody>
      </p:sp>
      <p:sp>
        <p:nvSpPr>
          <p:cNvPr id="19" name="Text 17"/>
          <p:cNvSpPr txBox="1"/>
          <p:nvPr/>
        </p:nvSpPr>
        <p:spPr>
          <a:xfrm>
            <a:off x="1170432" y="4315968"/>
            <a:ext cx="4114800" cy="548640"/>
          </a:xfrm>
          <a:prstGeom prst="rect">
            <a:avLst/>
          </a:prstGeom>
          <a:noFill/>
          <a:ln/>
        </p:spPr>
        <p:txBody>
          <a:bodyPr wrap="square" lIns="0" tIns="0" rIns="0" bIns="0" rtlCol="0" anchor="t"/>
          <a:lstStyle/>
          <a:p>
            <a:pPr indent="0" marL="0">
              <a:lnSpc>
                <a:spcPts val="1400"/>
              </a:lnSpc>
              <a:buNone/>
            </a:pPr>
            <a:r>
              <a:rPr lang="en-US" sz="950" dirty="0">
                <a:solidFill>
                  <a:srgbClr val="4A5560"/>
                </a:solidFill>
                <a:latin typeface="Malgun Gothic" pitchFamily="34" charset="0"/>
                <a:ea typeface="Malgun Gothic" pitchFamily="34" charset="-122"/>
                <a:cs typeface="Malgun Gothic" pitchFamily="34" charset="-120"/>
              </a:rPr>
              <a:t>• 핵심 사실과 즉시 사업 영향</a:t>
            </a:r>
            <a:endParaRPr lang="en-US" sz="950" dirty="0"/>
          </a:p>
          <a:p>
            <a:pPr indent="0" marL="0">
              <a:lnSpc>
                <a:spcPts val="1400"/>
              </a:lnSpc>
              <a:buNone/>
            </a:pPr>
            <a:r>
              <a:rPr lang="en-US" sz="950" dirty="0">
                <a:solidFill>
                  <a:srgbClr val="4A5560"/>
                </a:solidFill>
                <a:latin typeface="Malgun Gothic" pitchFamily="34" charset="0"/>
                <a:ea typeface="Malgun Gothic" pitchFamily="34" charset="-122"/>
                <a:cs typeface="Malgun Gothic" pitchFamily="34" charset="-120"/>
              </a:rPr>
              <a:t>• 밸류체인 관점의 시사점</a:t>
            </a:r>
            <a:endParaRPr lang="en-US" sz="950" dirty="0"/>
          </a:p>
          <a:p>
            <a:pPr indent="0" marL="0">
              <a:lnSpc>
                <a:spcPts val="1400"/>
              </a:lnSpc>
              <a:buNone/>
            </a:pPr>
            <a:r>
              <a:rPr lang="en-US" sz="950" dirty="0">
                <a:solidFill>
                  <a:srgbClr val="4A5560"/>
                </a:solidFill>
                <a:latin typeface="Malgun Gothic" pitchFamily="34" charset="0"/>
                <a:ea typeface="Malgun Gothic" pitchFamily="34" charset="-122"/>
                <a:cs typeface="Malgun Gothic" pitchFamily="34" charset="-120"/>
              </a:rPr>
              <a:t>• 자사 영업·투자·기술 대응 방향</a:t>
            </a:r>
            <a:endParaRPr lang="en-US" sz="950" dirty="0"/>
          </a:p>
        </p:txBody>
      </p:sp>
      <p:sp>
        <p:nvSpPr>
          <p:cNvPr id="20" name="Text 18"/>
          <p:cNvSpPr txBox="1"/>
          <p:nvPr/>
        </p:nvSpPr>
        <p:spPr>
          <a:xfrm>
            <a:off x="1170432" y="4919472"/>
            <a:ext cx="4114800" cy="219456"/>
          </a:xfrm>
          <a:prstGeom prst="rect">
            <a:avLst/>
          </a:prstGeom>
          <a:noFill/>
          <a:ln/>
        </p:spPr>
        <p:txBody>
          <a:bodyPr wrap="square" lIns="0" tIns="0" rIns="0" bIns="0" rtlCol="0" anchor="t"/>
          <a:lstStyle/>
          <a:p>
            <a:pPr indent="0" marL="0">
              <a:buNone/>
            </a:pPr>
            <a:r>
              <a:rPr lang="en-US" sz="1000" b="1" dirty="0">
                <a:solidFill>
                  <a:srgbClr val="0E1621"/>
                </a:solidFill>
                <a:latin typeface="Malgun Gothic" pitchFamily="34" charset="0"/>
                <a:ea typeface="Malgun Gothic" pitchFamily="34" charset="-122"/>
                <a:cs typeface="Malgun Gothic" pitchFamily="34" charset="-120"/>
              </a:rPr>
              <a:t>전략 시사점</a:t>
            </a:r>
            <a:endParaRPr lang="en-US" sz="1000" dirty="0"/>
          </a:p>
        </p:txBody>
      </p:sp>
      <p:sp>
        <p:nvSpPr>
          <p:cNvPr id="21" name="Text 19"/>
          <p:cNvSpPr txBox="1"/>
          <p:nvPr/>
        </p:nvSpPr>
        <p:spPr>
          <a:xfrm>
            <a:off x="1170432" y="5157216"/>
            <a:ext cx="4114800" cy="219456"/>
          </a:xfrm>
          <a:prstGeom prst="rect">
            <a:avLst/>
          </a:prstGeom>
          <a:noFill/>
          <a:ln/>
        </p:spPr>
        <p:txBody>
          <a:bodyPr wrap="square" lIns="0" tIns="0" rIns="0" bIns="0" rtlCol="0" anchor="t"/>
          <a:lstStyle/>
          <a:p>
            <a:pPr indent="0" marL="0">
              <a:buNone/>
            </a:pPr>
            <a:r>
              <a:rPr lang="en-US" sz="950" dirty="0">
                <a:solidFill>
                  <a:srgbClr val="4A5560"/>
                </a:solidFill>
                <a:latin typeface="Malgun Gothic" pitchFamily="34" charset="0"/>
                <a:ea typeface="Malgun Gothic" pitchFamily="34" charset="-122"/>
                <a:cs typeface="Malgun Gothic" pitchFamily="34" charset="-120"/>
              </a:rPr>
              <a:t>경영진이 검토해야 할 한 줄 제언</a:t>
            </a:r>
            <a:endParaRPr lang="en-US" sz="950" dirty="0"/>
          </a:p>
        </p:txBody>
      </p:sp>
      <p:sp>
        <p:nvSpPr>
          <p:cNvPr id="22" name="Shape 20"/>
          <p:cNvSpPr/>
          <p:nvPr/>
        </p:nvSpPr>
        <p:spPr>
          <a:xfrm>
            <a:off x="1170432" y="5431536"/>
            <a:ext cx="1828800" cy="256032"/>
          </a:xfrm>
          <a:prstGeom prst="roundRect">
            <a:avLst>
              <a:gd name="adj" fmla="val 17857"/>
            </a:avLst>
          </a:prstGeom>
          <a:solidFill>
            <a:srgbClr val="DCEBF5"/>
          </a:solidFill>
          <a:ln w="9525">
            <a:solidFill>
              <a:srgbClr val="BCD9EA"/>
            </a:solidFill>
            <a:prstDash val="solid"/>
          </a:ln>
        </p:spPr>
      </p:sp>
      <p:sp>
        <p:nvSpPr>
          <p:cNvPr id="23" name="Text 21"/>
          <p:cNvSpPr txBox="1"/>
          <p:nvPr/>
        </p:nvSpPr>
        <p:spPr>
          <a:xfrm>
            <a:off x="1170432" y="5486400"/>
            <a:ext cx="1828800" cy="201168"/>
          </a:xfrm>
          <a:prstGeom prst="rect">
            <a:avLst/>
          </a:prstGeom>
          <a:noFill/>
          <a:ln/>
        </p:spPr>
        <p:txBody>
          <a:bodyPr wrap="square" lIns="0" tIns="0" rIns="0" bIns="0" rtlCol="0" anchor="t"/>
          <a:lstStyle/>
          <a:p>
            <a:pPr algn="ctr" indent="0" marL="0">
              <a:buNone/>
            </a:pPr>
            <a:r>
              <a:rPr lang="en-US" sz="900" b="1" dirty="0">
                <a:solidFill>
                  <a:srgbClr val="1B6F9C"/>
                </a:solidFill>
                <a:latin typeface="Malgun Gothic" pitchFamily="34" charset="0"/>
                <a:ea typeface="Malgun Gothic" pitchFamily="34" charset="-122"/>
                <a:cs typeface="Malgun Gothic" pitchFamily="34" charset="-120"/>
              </a:rPr>
              <a:t>원문 바로가기  ↗</a:t>
            </a:r>
            <a:endParaRPr lang="en-US" sz="900" dirty="0"/>
          </a:p>
        </p:txBody>
      </p:sp>
      <p:sp>
        <p:nvSpPr>
          <p:cNvPr id="24" name="Shape 22"/>
          <p:cNvSpPr/>
          <p:nvPr/>
        </p:nvSpPr>
        <p:spPr>
          <a:xfrm>
            <a:off x="5998464" y="2395728"/>
            <a:ext cx="5477256" cy="640080"/>
          </a:xfrm>
          <a:prstGeom prst="rect">
            <a:avLst/>
          </a:prstGeom>
          <a:solidFill>
            <a:srgbClr val="FFFFFF"/>
          </a:solidFill>
          <a:ln w="9525">
            <a:solidFill>
              <a:srgbClr val="DFE3E8"/>
            </a:solidFill>
            <a:prstDash val="solid"/>
          </a:ln>
        </p:spPr>
      </p:sp>
      <p:sp>
        <p:nvSpPr>
          <p:cNvPr id="25" name="Shape 23"/>
          <p:cNvSpPr/>
          <p:nvPr/>
        </p:nvSpPr>
        <p:spPr>
          <a:xfrm>
            <a:off x="6254496" y="2542032"/>
            <a:ext cx="73152" cy="73152"/>
          </a:xfrm>
          <a:prstGeom prst="rect">
            <a:avLst/>
          </a:prstGeom>
          <a:solidFill>
            <a:srgbClr val="2AA0DA"/>
          </a:solidFill>
          <a:ln w="12700">
            <a:solidFill>
              <a:srgbClr val="2AA0DA"/>
            </a:solidFill>
            <a:prstDash val="solid"/>
          </a:ln>
        </p:spPr>
      </p:sp>
      <p:sp>
        <p:nvSpPr>
          <p:cNvPr id="26" name="Text 24"/>
          <p:cNvSpPr txBox="1"/>
          <p:nvPr/>
        </p:nvSpPr>
        <p:spPr>
          <a:xfrm>
            <a:off x="6437376" y="2468880"/>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감정별 헤더 이모지</a:t>
            </a:r>
            <a:endParaRPr lang="en-US" sz="1100" dirty="0"/>
          </a:p>
        </p:txBody>
      </p:sp>
      <p:sp>
        <p:nvSpPr>
          <p:cNvPr id="27" name="Text 25"/>
          <p:cNvSpPr txBox="1"/>
          <p:nvPr/>
        </p:nvSpPr>
        <p:spPr>
          <a:xfrm>
            <a:off x="6437376" y="2706624"/>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주의·기회·중립에 각각 다른 이모지를 붙여, 알림 목록에서 제목만 봐도 성격이 구분됩니다.</a:t>
            </a:r>
            <a:endParaRPr lang="en-US" sz="950" dirty="0"/>
          </a:p>
        </p:txBody>
      </p:sp>
      <p:sp>
        <p:nvSpPr>
          <p:cNvPr id="28" name="Shape 26"/>
          <p:cNvSpPr/>
          <p:nvPr/>
        </p:nvSpPr>
        <p:spPr>
          <a:xfrm>
            <a:off x="5998464" y="3118104"/>
            <a:ext cx="5477256" cy="640080"/>
          </a:xfrm>
          <a:prstGeom prst="rect">
            <a:avLst/>
          </a:prstGeom>
          <a:solidFill>
            <a:srgbClr val="FFFFFF"/>
          </a:solidFill>
          <a:ln w="9525">
            <a:solidFill>
              <a:srgbClr val="DFE3E8"/>
            </a:solidFill>
            <a:prstDash val="solid"/>
          </a:ln>
        </p:spPr>
      </p:sp>
      <p:sp>
        <p:nvSpPr>
          <p:cNvPr id="29" name="Shape 27"/>
          <p:cNvSpPr/>
          <p:nvPr/>
        </p:nvSpPr>
        <p:spPr>
          <a:xfrm>
            <a:off x="6254496" y="3264408"/>
            <a:ext cx="73152" cy="73152"/>
          </a:xfrm>
          <a:prstGeom prst="rect">
            <a:avLst/>
          </a:prstGeom>
          <a:solidFill>
            <a:srgbClr val="2AA0DA"/>
          </a:solidFill>
          <a:ln w="12700">
            <a:solidFill>
              <a:srgbClr val="2AA0DA"/>
            </a:solidFill>
            <a:prstDash val="solid"/>
          </a:ln>
        </p:spPr>
      </p:sp>
      <p:sp>
        <p:nvSpPr>
          <p:cNvPr id="30" name="Text 28"/>
          <p:cNvSpPr txBox="1"/>
          <p:nvPr/>
        </p:nvSpPr>
        <p:spPr>
          <a:xfrm>
            <a:off x="6437376" y="3191256"/>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HTML parse_mode</a:t>
            </a:r>
            <a:endParaRPr lang="en-US" sz="1100" dirty="0"/>
          </a:p>
        </p:txBody>
      </p:sp>
      <p:sp>
        <p:nvSpPr>
          <p:cNvPr id="31" name="Text 29"/>
          <p:cNvSpPr txBox="1"/>
          <p:nvPr/>
        </p:nvSpPr>
        <p:spPr>
          <a:xfrm>
            <a:off x="6437376" y="3429000"/>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굵게·링크를 쓰되 모든 변수는 html.escape()로 이스케이프해 태그 주입을 막았습니다.</a:t>
            </a:r>
            <a:endParaRPr lang="en-US" sz="950" dirty="0"/>
          </a:p>
        </p:txBody>
      </p:sp>
      <p:sp>
        <p:nvSpPr>
          <p:cNvPr id="32" name="Shape 30"/>
          <p:cNvSpPr/>
          <p:nvPr/>
        </p:nvSpPr>
        <p:spPr>
          <a:xfrm>
            <a:off x="5998464" y="3840480"/>
            <a:ext cx="5477256" cy="640080"/>
          </a:xfrm>
          <a:prstGeom prst="rect">
            <a:avLst/>
          </a:prstGeom>
          <a:solidFill>
            <a:srgbClr val="FFFFFF"/>
          </a:solidFill>
          <a:ln w="9525">
            <a:solidFill>
              <a:srgbClr val="DFE3E8"/>
            </a:solidFill>
            <a:prstDash val="solid"/>
          </a:ln>
        </p:spPr>
      </p:sp>
      <p:sp>
        <p:nvSpPr>
          <p:cNvPr id="33" name="Shape 31"/>
          <p:cNvSpPr/>
          <p:nvPr/>
        </p:nvSpPr>
        <p:spPr>
          <a:xfrm>
            <a:off x="6254496" y="3986784"/>
            <a:ext cx="73152" cy="73152"/>
          </a:xfrm>
          <a:prstGeom prst="rect">
            <a:avLst/>
          </a:prstGeom>
          <a:solidFill>
            <a:srgbClr val="2AA0DA"/>
          </a:solidFill>
          <a:ln w="12700">
            <a:solidFill>
              <a:srgbClr val="2AA0DA"/>
            </a:solidFill>
            <a:prstDash val="solid"/>
          </a:ln>
        </p:spPr>
      </p:sp>
      <p:sp>
        <p:nvSpPr>
          <p:cNvPr id="34" name="Text 32"/>
          <p:cNvSpPr txBox="1"/>
          <p:nvPr/>
        </p:nvSpPr>
        <p:spPr>
          <a:xfrm>
            <a:off x="6437376" y="3913632"/>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4096자 절단</a:t>
            </a:r>
            <a:endParaRPr lang="en-US" sz="1100" dirty="0"/>
          </a:p>
        </p:txBody>
      </p:sp>
      <p:sp>
        <p:nvSpPr>
          <p:cNvPr id="35" name="Text 33"/>
          <p:cNvSpPr txBox="1"/>
          <p:nvPr/>
        </p:nvSpPr>
        <p:spPr>
          <a:xfrm>
            <a:off x="6437376" y="4151376"/>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Telegram 메시지 길이 상한에 맞춰 message[:4096]으로 잘라 전송 실패를 예방했습니다.</a:t>
            </a:r>
            <a:endParaRPr lang="en-US" sz="950" dirty="0"/>
          </a:p>
        </p:txBody>
      </p:sp>
      <p:sp>
        <p:nvSpPr>
          <p:cNvPr id="36" name="Shape 34"/>
          <p:cNvSpPr/>
          <p:nvPr/>
        </p:nvSpPr>
        <p:spPr>
          <a:xfrm>
            <a:off x="5998464" y="4562856"/>
            <a:ext cx="5477256" cy="640080"/>
          </a:xfrm>
          <a:prstGeom prst="rect">
            <a:avLst/>
          </a:prstGeom>
          <a:solidFill>
            <a:srgbClr val="FFFFFF"/>
          </a:solidFill>
          <a:ln w="9525">
            <a:solidFill>
              <a:srgbClr val="DFE3E8"/>
            </a:solidFill>
            <a:prstDash val="solid"/>
          </a:ln>
        </p:spPr>
      </p:sp>
      <p:sp>
        <p:nvSpPr>
          <p:cNvPr id="37" name="Shape 35"/>
          <p:cNvSpPr/>
          <p:nvPr/>
        </p:nvSpPr>
        <p:spPr>
          <a:xfrm>
            <a:off x="6254496" y="4709160"/>
            <a:ext cx="73152" cy="73152"/>
          </a:xfrm>
          <a:prstGeom prst="rect">
            <a:avLst/>
          </a:prstGeom>
          <a:solidFill>
            <a:srgbClr val="2AA0DA"/>
          </a:solidFill>
          <a:ln w="12700">
            <a:solidFill>
              <a:srgbClr val="2AA0DA"/>
            </a:solidFill>
            <a:prstDash val="solid"/>
          </a:ln>
        </p:spPr>
      </p:sp>
      <p:sp>
        <p:nvSpPr>
          <p:cNvPr id="38" name="Text 36"/>
          <p:cNvSpPr txBox="1"/>
          <p:nvPr/>
        </p:nvSpPr>
        <p:spPr>
          <a:xfrm>
            <a:off x="6437376" y="4636008"/>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링크 미리보기 차단</a:t>
            </a:r>
            <a:endParaRPr lang="en-US" sz="1100" dirty="0"/>
          </a:p>
        </p:txBody>
      </p:sp>
      <p:sp>
        <p:nvSpPr>
          <p:cNvPr id="39" name="Text 37"/>
          <p:cNvSpPr txBox="1"/>
          <p:nvPr/>
        </p:nvSpPr>
        <p:spPr>
          <a:xfrm>
            <a:off x="6437376" y="4873752"/>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link_preview_options.is_disabled — DART 링크 썸네일이 본문을 밀어내지 않도록 했습니다.</a:t>
            </a:r>
            <a:endParaRPr lang="en-US" sz="950" dirty="0"/>
          </a:p>
        </p:txBody>
      </p:sp>
      <p:sp>
        <p:nvSpPr>
          <p:cNvPr id="40" name="Shape 38"/>
          <p:cNvSpPr/>
          <p:nvPr/>
        </p:nvSpPr>
        <p:spPr>
          <a:xfrm>
            <a:off x="5998464" y="5285232"/>
            <a:ext cx="5477256" cy="640080"/>
          </a:xfrm>
          <a:prstGeom prst="rect">
            <a:avLst/>
          </a:prstGeom>
          <a:solidFill>
            <a:srgbClr val="FFFFFF"/>
          </a:solidFill>
          <a:ln w="9525">
            <a:solidFill>
              <a:srgbClr val="DFE3E8"/>
            </a:solidFill>
            <a:prstDash val="solid"/>
          </a:ln>
        </p:spPr>
      </p:sp>
      <p:sp>
        <p:nvSpPr>
          <p:cNvPr id="41" name="Shape 39"/>
          <p:cNvSpPr/>
          <p:nvPr/>
        </p:nvSpPr>
        <p:spPr>
          <a:xfrm>
            <a:off x="6254496" y="5431536"/>
            <a:ext cx="73152" cy="73152"/>
          </a:xfrm>
          <a:prstGeom prst="rect">
            <a:avLst/>
          </a:prstGeom>
          <a:solidFill>
            <a:srgbClr val="2AA0DA"/>
          </a:solidFill>
          <a:ln w="12700">
            <a:solidFill>
              <a:srgbClr val="2AA0DA"/>
            </a:solidFill>
            <a:prstDash val="solid"/>
          </a:ln>
        </p:spPr>
      </p:sp>
      <p:sp>
        <p:nvSpPr>
          <p:cNvPr id="42" name="Text 40"/>
          <p:cNvSpPr txBox="1"/>
          <p:nvPr/>
        </p:nvSpPr>
        <p:spPr>
          <a:xfrm>
            <a:off x="6437376" y="5358384"/>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봇 상태 점검</a:t>
            </a:r>
            <a:endParaRPr lang="en-US" sz="1100" dirty="0"/>
          </a:p>
        </p:txBody>
      </p:sp>
      <p:sp>
        <p:nvSpPr>
          <p:cNvPr id="43" name="Text 41"/>
          <p:cNvSpPr txBox="1"/>
          <p:nvPr/>
        </p:nvSpPr>
        <p:spPr>
          <a:xfrm>
            <a:off x="6437376" y="5596128"/>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getMe로 연결 여부와 봇 username을 관리자 화면에 표시합니다.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05 — B</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이메일 메시지 구성</a:t>
            </a:r>
            <a:endParaRPr lang="en-US" sz="2800" dirty="0"/>
          </a:p>
        </p:txBody>
      </p:sp>
      <p:sp>
        <p:nvSpPr>
          <p:cNvPr id="5" name="Text 3"/>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08</a:t>
            </a:r>
            <a:endParaRPr lang="en-US" sz="950" dirty="0"/>
          </a:p>
        </p:txBody>
      </p:sp>
      <p:sp>
        <p:nvSpPr>
          <p:cNvPr id="6" name="Text 4"/>
          <p:cNvSpPr txBox="1"/>
          <p:nvPr/>
        </p:nvSpPr>
        <p:spPr>
          <a:xfrm>
            <a:off x="713232" y="1810512"/>
            <a:ext cx="548640" cy="274320"/>
          </a:xfrm>
          <a:prstGeom prst="rect">
            <a:avLst/>
          </a:prstGeom>
          <a:noFill/>
          <a:ln/>
        </p:spPr>
        <p:txBody>
          <a:bodyPr wrap="square" lIns="0" tIns="0" rIns="0" bIns="0" rtlCol="0" anchor="t"/>
          <a:lstStyle/>
          <a:p>
            <a:pPr indent="0" marL="0">
              <a:buNone/>
            </a:pPr>
            <a:r>
              <a:rPr lang="en-US" sz="1200" b="1" dirty="0">
                <a:solidFill>
                  <a:srgbClr val="B0703A"/>
                </a:solidFill>
                <a:latin typeface="Malgun Gothic" pitchFamily="34" charset="0"/>
                <a:ea typeface="Malgun Gothic" pitchFamily="34" charset="-122"/>
                <a:cs typeface="Malgun Gothic" pitchFamily="34" charset="-120"/>
              </a:rPr>
              <a:t>05-B</a:t>
            </a:r>
            <a:endParaRPr lang="en-US" sz="1200" dirty="0"/>
          </a:p>
        </p:txBody>
      </p:sp>
      <p:sp>
        <p:nvSpPr>
          <p:cNvPr id="7" name="Text 5"/>
          <p:cNvSpPr txBox="1"/>
          <p:nvPr/>
        </p:nvSpPr>
        <p:spPr>
          <a:xfrm>
            <a:off x="1280160" y="1773936"/>
            <a:ext cx="4754880" cy="310896"/>
          </a:xfrm>
          <a:prstGeom prst="rect">
            <a:avLst/>
          </a:prstGeom>
          <a:noFill/>
          <a:ln/>
        </p:spPr>
        <p:txBody>
          <a:bodyPr wrap="square" lIns="0" tIns="0" rIns="0" bIns="0" rtlCol="0" anchor="t"/>
          <a:lstStyle/>
          <a:p>
            <a:pPr indent="0" marL="0">
              <a:buNone/>
            </a:pPr>
            <a:r>
              <a:rPr lang="en-US" sz="1600" b="1" dirty="0">
                <a:solidFill>
                  <a:srgbClr val="0E1621"/>
                </a:solidFill>
                <a:latin typeface="Malgun Gothic" pitchFamily="34" charset="0"/>
                <a:ea typeface="Malgun Gothic" pitchFamily="34" charset="-122"/>
                <a:cs typeface="Malgun Gothic" pitchFamily="34" charset="-120"/>
              </a:rPr>
              <a:t>SMTP 멀티파트 발송</a:t>
            </a:r>
            <a:endParaRPr lang="en-US" sz="1600" dirty="0"/>
          </a:p>
        </p:txBody>
      </p:sp>
      <p:sp>
        <p:nvSpPr>
          <p:cNvPr id="8" name="Text 6"/>
          <p:cNvSpPr txBox="1"/>
          <p:nvPr/>
        </p:nvSpPr>
        <p:spPr>
          <a:xfrm>
            <a:off x="6199632" y="1828800"/>
            <a:ext cx="5303520" cy="256032"/>
          </a:xfrm>
          <a:prstGeom prst="rect">
            <a:avLst/>
          </a:prstGeom>
          <a:noFill/>
          <a:ln/>
        </p:spPr>
        <p:txBody>
          <a:bodyPr wrap="square" lIns="0" tIns="0" rIns="0" bIns="0" rtlCol="0" anchor="t"/>
          <a:lstStyle/>
          <a:p>
            <a:pPr algn="r" indent="0" marL="0">
              <a:buNone/>
            </a:pPr>
            <a:r>
              <a:rPr lang="en-US" sz="1100" dirty="0">
                <a:solidFill>
                  <a:srgbClr val="68747F"/>
                </a:solidFill>
                <a:latin typeface="Malgun Gothic" pitchFamily="34" charset="0"/>
                <a:ea typeface="Malgun Gothic" pitchFamily="34" charset="-122"/>
                <a:cs typeface="Malgun Gothic" pitchFamily="34" charset="-120"/>
              </a:rPr>
              <a:t>HTML과 텍스트를 함께 보내 어떤 클라이언트에서도 읽히게</a:t>
            </a:r>
            <a:endParaRPr lang="en-US" sz="1100" dirty="0"/>
          </a:p>
        </p:txBody>
      </p:sp>
      <p:sp>
        <p:nvSpPr>
          <p:cNvPr id="9" name="Shape 7"/>
          <p:cNvSpPr/>
          <p:nvPr/>
        </p:nvSpPr>
        <p:spPr>
          <a:xfrm>
            <a:off x="713232" y="2212848"/>
            <a:ext cx="10765231" cy="10973"/>
          </a:xfrm>
          <a:prstGeom prst="rect">
            <a:avLst/>
          </a:prstGeom>
          <a:solidFill>
            <a:srgbClr val="DFE3E8"/>
          </a:solidFill>
          <a:ln w="12700">
            <a:solidFill>
              <a:srgbClr val="DFE3E8"/>
            </a:solidFill>
            <a:prstDash val="solid"/>
          </a:ln>
        </p:spPr>
      </p:sp>
      <p:sp>
        <p:nvSpPr>
          <p:cNvPr id="10" name="Shape 8"/>
          <p:cNvSpPr/>
          <p:nvPr/>
        </p:nvSpPr>
        <p:spPr>
          <a:xfrm>
            <a:off x="713232" y="2395728"/>
            <a:ext cx="5029200" cy="3566160"/>
          </a:xfrm>
          <a:prstGeom prst="rect">
            <a:avLst/>
          </a:prstGeom>
          <a:solidFill>
            <a:srgbClr val="FFFFFF"/>
          </a:solidFill>
          <a:ln w="9525">
            <a:solidFill>
              <a:srgbClr val="DFE3E8"/>
            </a:solidFill>
            <a:prstDash val="solid"/>
          </a:ln>
        </p:spPr>
      </p:sp>
      <p:sp>
        <p:nvSpPr>
          <p:cNvPr id="11" name="Text 9"/>
          <p:cNvSpPr txBox="1"/>
          <p:nvPr/>
        </p:nvSpPr>
        <p:spPr>
          <a:xfrm>
            <a:off x="987552" y="2596896"/>
            <a:ext cx="914400" cy="219456"/>
          </a:xfrm>
          <a:prstGeom prst="rect">
            <a:avLst/>
          </a:prstGeom>
          <a:noFill/>
          <a:ln/>
        </p:spPr>
        <p:txBody>
          <a:bodyPr wrap="square" lIns="0" tIns="0" rIns="0" bIns="0" rtlCol="0" anchor="t"/>
          <a:lstStyle/>
          <a:p>
            <a:pPr indent="0" marL="0">
              <a:buNone/>
            </a:pPr>
            <a:r>
              <a:rPr lang="en-US" sz="950" b="1" spc="80" kern="0" dirty="0">
                <a:solidFill>
                  <a:srgbClr val="97A2AD"/>
                </a:solidFill>
                <a:latin typeface="Malgun Gothic" pitchFamily="34" charset="0"/>
                <a:ea typeface="Malgun Gothic" pitchFamily="34" charset="-122"/>
                <a:cs typeface="Malgun Gothic" pitchFamily="34" charset="-120"/>
              </a:rPr>
              <a:t>제목</a:t>
            </a:r>
            <a:endParaRPr lang="en-US" sz="950" dirty="0"/>
          </a:p>
        </p:txBody>
      </p:sp>
      <p:sp>
        <p:nvSpPr>
          <p:cNvPr id="12" name="Shape 10"/>
          <p:cNvSpPr/>
          <p:nvPr/>
        </p:nvSpPr>
        <p:spPr>
          <a:xfrm>
            <a:off x="987552" y="2816352"/>
            <a:ext cx="4480560" cy="310896"/>
          </a:xfrm>
          <a:prstGeom prst="roundRect">
            <a:avLst>
              <a:gd name="adj" fmla="val 14706"/>
            </a:avLst>
          </a:prstGeom>
          <a:solidFill>
            <a:srgbClr val="F5F6F8"/>
          </a:solidFill>
          <a:ln w="9525">
            <a:solidFill>
              <a:srgbClr val="DFE3E8"/>
            </a:solidFill>
            <a:prstDash val="solid"/>
          </a:ln>
        </p:spPr>
      </p:sp>
      <p:sp>
        <p:nvSpPr>
          <p:cNvPr id="13" name="Text 11"/>
          <p:cNvSpPr txBox="1"/>
          <p:nvPr/>
        </p:nvSpPr>
        <p:spPr>
          <a:xfrm>
            <a:off x="1115568" y="2889504"/>
            <a:ext cx="4297680" cy="201168"/>
          </a:xfrm>
          <a:prstGeom prst="rect">
            <a:avLst/>
          </a:prstGeom>
          <a:noFill/>
          <a:ln/>
        </p:spPr>
        <p:txBody>
          <a:bodyPr wrap="square" lIns="0" tIns="0" rIns="0" bIns="0" rtlCol="0" anchor="t"/>
          <a:lstStyle/>
          <a:p>
            <a:pPr indent="0" marL="0">
              <a:buNone/>
            </a:pPr>
            <a:r>
              <a:rPr lang="en-US" sz="900" b="1" dirty="0">
                <a:solidFill>
                  <a:srgbClr val="0E1621"/>
                </a:solidFill>
                <a:latin typeface="Malgun Gothic" pitchFamily="34" charset="0"/>
                <a:ea typeface="Malgun Gothic" pitchFamily="34" charset="-122"/>
                <a:cs typeface="Malgun Gothic" pitchFamily="34" charset="-120"/>
              </a:rPr>
              <a:t>[HIGH] 포스코퓨처엠 중요 공시 · 타인에대한채무보증결정</a:t>
            </a:r>
            <a:endParaRPr lang="en-US" sz="900" dirty="0"/>
          </a:p>
        </p:txBody>
      </p:sp>
      <p:sp>
        <p:nvSpPr>
          <p:cNvPr id="14" name="Text 12"/>
          <p:cNvSpPr txBox="1"/>
          <p:nvPr/>
        </p:nvSpPr>
        <p:spPr>
          <a:xfrm>
            <a:off x="987552" y="3255264"/>
            <a:ext cx="914400" cy="219456"/>
          </a:xfrm>
          <a:prstGeom prst="rect">
            <a:avLst/>
          </a:prstGeom>
          <a:noFill/>
          <a:ln/>
        </p:spPr>
        <p:txBody>
          <a:bodyPr wrap="square" lIns="0" tIns="0" rIns="0" bIns="0" rtlCol="0" anchor="t"/>
          <a:lstStyle/>
          <a:p>
            <a:pPr indent="0" marL="0">
              <a:buNone/>
            </a:pPr>
            <a:r>
              <a:rPr lang="en-US" sz="950" b="1" spc="80" kern="0" dirty="0">
                <a:solidFill>
                  <a:srgbClr val="97A2AD"/>
                </a:solidFill>
                <a:latin typeface="Malgun Gothic" pitchFamily="34" charset="0"/>
                <a:ea typeface="Malgun Gothic" pitchFamily="34" charset="-122"/>
                <a:cs typeface="Malgun Gothic" pitchFamily="34" charset="-120"/>
              </a:rPr>
              <a:t>본문</a:t>
            </a:r>
            <a:endParaRPr lang="en-US" sz="950" dirty="0"/>
          </a:p>
        </p:txBody>
      </p:sp>
      <p:sp>
        <p:nvSpPr>
          <p:cNvPr id="15" name="Shape 13"/>
          <p:cNvSpPr/>
          <p:nvPr/>
        </p:nvSpPr>
        <p:spPr>
          <a:xfrm>
            <a:off x="987552" y="3474720"/>
            <a:ext cx="4480560" cy="566928"/>
          </a:xfrm>
          <a:prstGeom prst="rect">
            <a:avLst/>
          </a:prstGeom>
          <a:solidFill>
            <a:srgbClr val="0D2B54"/>
          </a:solidFill>
          <a:ln w="12700">
            <a:solidFill>
              <a:srgbClr val="333333"/>
            </a:solidFill>
            <a:prstDash val="solid"/>
          </a:ln>
        </p:spPr>
      </p:sp>
      <p:sp>
        <p:nvSpPr>
          <p:cNvPr id="16" name="Text 14"/>
          <p:cNvSpPr txBox="1"/>
          <p:nvPr/>
        </p:nvSpPr>
        <p:spPr>
          <a:xfrm>
            <a:off x="1152144" y="3566160"/>
            <a:ext cx="4023360" cy="182880"/>
          </a:xfrm>
          <a:prstGeom prst="rect">
            <a:avLst/>
          </a:prstGeom>
          <a:noFill/>
          <a:ln/>
        </p:spPr>
        <p:txBody>
          <a:bodyPr wrap="square" lIns="0" tIns="0" rIns="0" bIns="0" rtlCol="0" anchor="t"/>
          <a:lstStyle/>
          <a:p>
            <a:pPr indent="0" marL="0">
              <a:buNone/>
            </a:pPr>
            <a:r>
              <a:rPr lang="en-US" sz="750" spc="120" kern="0" dirty="0">
                <a:solidFill>
                  <a:srgbClr val="69DED0"/>
                </a:solidFill>
                <a:latin typeface="Malgun Gothic" pitchFamily="34" charset="0"/>
                <a:ea typeface="Malgun Gothic" pitchFamily="34" charset="-122"/>
                <a:cs typeface="Malgun Gothic" pitchFamily="34" charset="-120"/>
              </a:rPr>
              <a:t>DISCLOSURE INTELLIGENCE</a:t>
            </a:r>
            <a:endParaRPr lang="en-US" sz="750" dirty="0"/>
          </a:p>
        </p:txBody>
      </p:sp>
      <p:sp>
        <p:nvSpPr>
          <p:cNvPr id="17" name="Text 15"/>
          <p:cNvSpPr txBox="1"/>
          <p:nvPr/>
        </p:nvSpPr>
        <p:spPr>
          <a:xfrm>
            <a:off x="1152144" y="3749040"/>
            <a:ext cx="4023360" cy="219456"/>
          </a:xfrm>
          <a:prstGeom prst="rect">
            <a:avLst/>
          </a:prstGeom>
          <a:noFill/>
          <a:ln/>
        </p:spPr>
        <p:txBody>
          <a:bodyPr wrap="square" lIns="0" tIns="0" rIns="0" bIns="0" rtlCol="0" anchor="t"/>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중요 공시 알림</a:t>
            </a:r>
            <a:endParaRPr lang="en-US" sz="1200" dirty="0"/>
          </a:p>
        </p:txBody>
      </p:sp>
      <p:sp>
        <p:nvSpPr>
          <p:cNvPr id="18" name="Shape 16"/>
          <p:cNvSpPr/>
          <p:nvPr/>
        </p:nvSpPr>
        <p:spPr>
          <a:xfrm>
            <a:off x="987552" y="4041648"/>
            <a:ext cx="4480560" cy="1700784"/>
          </a:xfrm>
          <a:prstGeom prst="rect">
            <a:avLst/>
          </a:prstGeom>
          <a:solidFill>
            <a:srgbClr val="FFFFFF"/>
          </a:solidFill>
          <a:ln w="9525">
            <a:solidFill>
              <a:srgbClr val="D8E3EF"/>
            </a:solidFill>
            <a:prstDash val="solid"/>
          </a:ln>
        </p:spPr>
      </p:sp>
      <p:sp>
        <p:nvSpPr>
          <p:cNvPr id="19" name="Text 17"/>
          <p:cNvSpPr txBox="1"/>
          <p:nvPr/>
        </p:nvSpPr>
        <p:spPr>
          <a:xfrm>
            <a:off x="1152144" y="4151376"/>
            <a:ext cx="4114800" cy="201168"/>
          </a:xfrm>
          <a:prstGeom prst="rect">
            <a:avLst/>
          </a:prstGeom>
          <a:noFill/>
          <a:ln/>
        </p:spPr>
        <p:txBody>
          <a:bodyPr wrap="square" lIns="0" tIns="0" rIns="0" bIns="0" rtlCol="0" anchor="t"/>
          <a:lstStyle/>
          <a:p>
            <a:pPr indent="0" marL="0">
              <a:buNone/>
            </a:pPr>
            <a:r>
              <a:rPr lang="en-US" sz="950" b="1" dirty="0">
                <a:solidFill>
                  <a:srgbClr val="0E1621"/>
                </a:solidFill>
                <a:latin typeface="Malgun Gothic" pitchFamily="34" charset="0"/>
                <a:ea typeface="Malgun Gothic" pitchFamily="34" charset="-122"/>
                <a:cs typeface="Malgun Gothic" pitchFamily="34" charset="-120"/>
              </a:rPr>
              <a:t>포스코퓨처엠 · 타인에대한채무보증결정</a:t>
            </a:r>
            <a:endParaRPr lang="en-US" sz="950" dirty="0"/>
          </a:p>
        </p:txBody>
      </p:sp>
      <p:sp>
        <p:nvSpPr>
          <p:cNvPr id="20" name="Text 18"/>
          <p:cNvSpPr txBox="1"/>
          <p:nvPr/>
        </p:nvSpPr>
        <p:spPr>
          <a:xfrm>
            <a:off x="1152144" y="4352544"/>
            <a:ext cx="4114800" cy="182880"/>
          </a:xfrm>
          <a:prstGeom prst="rect">
            <a:avLst/>
          </a:prstGeom>
          <a:noFill/>
          <a:ln/>
        </p:spPr>
        <p:txBody>
          <a:bodyPr wrap="square" lIns="0" tIns="0" rIns="0" bIns="0" rtlCol="0" anchor="t"/>
          <a:lstStyle/>
          <a:p>
            <a:pPr indent="0" marL="0">
              <a:buNone/>
            </a:pPr>
            <a:r>
              <a:rPr lang="en-US" sz="850" dirty="0">
                <a:solidFill>
                  <a:srgbClr val="647B92"/>
                </a:solidFill>
                <a:latin typeface="Malgun Gothic" pitchFamily="34" charset="0"/>
                <a:ea typeface="Malgun Gothic" pitchFamily="34" charset="-122"/>
                <a:cs typeface="Malgun Gothic" pitchFamily="34" charset="-120"/>
              </a:rPr>
              <a:t>우선순위 HIGH · 2026-09-10 14:35:02</a:t>
            </a:r>
            <a:endParaRPr lang="en-US" sz="850" dirty="0"/>
          </a:p>
        </p:txBody>
      </p:sp>
      <p:sp>
        <p:nvSpPr>
          <p:cNvPr id="21" name="Text 19"/>
          <p:cNvSpPr txBox="1"/>
          <p:nvPr/>
        </p:nvSpPr>
        <p:spPr>
          <a:xfrm>
            <a:off x="1152144" y="4572000"/>
            <a:ext cx="4114800" cy="201168"/>
          </a:xfrm>
          <a:prstGeom prst="rect">
            <a:avLst/>
          </a:prstGeom>
          <a:noFill/>
          <a:ln/>
        </p:spPr>
        <p:txBody>
          <a:bodyPr wrap="square" lIns="0" tIns="0" rIns="0" bIns="0" rtlCol="0" anchor="t"/>
          <a:lstStyle/>
          <a:p>
            <a:pPr indent="0" marL="0">
              <a:buNone/>
            </a:pPr>
            <a:r>
              <a:rPr lang="en-US" sz="950" b="1" dirty="0">
                <a:solidFill>
                  <a:srgbClr val="0E1621"/>
                </a:solidFill>
                <a:latin typeface="Malgun Gothic" pitchFamily="34" charset="0"/>
                <a:ea typeface="Malgun Gothic" pitchFamily="34" charset="-122"/>
                <a:cs typeface="Malgun Gothic" pitchFamily="34" charset="-120"/>
              </a:rPr>
              <a:t>AI 핵심 요약</a:t>
            </a:r>
            <a:endParaRPr lang="en-US" sz="950" dirty="0"/>
          </a:p>
        </p:txBody>
      </p:sp>
      <p:sp>
        <p:nvSpPr>
          <p:cNvPr id="22" name="Text 20"/>
          <p:cNvSpPr txBox="1"/>
          <p:nvPr/>
        </p:nvSpPr>
        <p:spPr>
          <a:xfrm>
            <a:off x="1152144" y="4773168"/>
            <a:ext cx="4114800" cy="457200"/>
          </a:xfrm>
          <a:prstGeom prst="rect">
            <a:avLst/>
          </a:prstGeom>
          <a:noFill/>
          <a:ln/>
        </p:spPr>
        <p:txBody>
          <a:bodyPr wrap="square" lIns="0" tIns="0" rIns="0" bIns="0" rtlCol="0" anchor="t"/>
          <a:lstStyle/>
          <a:p>
            <a:pPr indent="0" marL="0">
              <a:lnSpc>
                <a:spcPts val="1200"/>
              </a:lnSpc>
              <a:buNone/>
            </a:pPr>
            <a:r>
              <a:rPr lang="en-US" sz="850" dirty="0">
                <a:solidFill>
                  <a:srgbClr val="4A5560"/>
                </a:solidFill>
                <a:latin typeface="Malgun Gothic" pitchFamily="34" charset="0"/>
                <a:ea typeface="Malgun Gothic" pitchFamily="34" charset="-122"/>
                <a:cs typeface="Malgun Gothic" pitchFamily="34" charset="-120"/>
              </a:rPr>
              <a:t>1. 핵심 사실과 즉시 사업 영향</a:t>
            </a:r>
            <a:endParaRPr lang="en-US" sz="850" dirty="0"/>
          </a:p>
          <a:p>
            <a:pPr indent="0" marL="0">
              <a:lnSpc>
                <a:spcPts val="1200"/>
              </a:lnSpc>
              <a:buNone/>
            </a:pPr>
            <a:r>
              <a:rPr lang="en-US" sz="850" dirty="0">
                <a:solidFill>
                  <a:srgbClr val="4A5560"/>
                </a:solidFill>
                <a:latin typeface="Malgun Gothic" pitchFamily="34" charset="0"/>
                <a:ea typeface="Malgun Gothic" pitchFamily="34" charset="-122"/>
                <a:cs typeface="Malgun Gothic" pitchFamily="34" charset="-120"/>
              </a:rPr>
              <a:t>2. 밸류체인 시사점</a:t>
            </a:r>
            <a:endParaRPr lang="en-US" sz="850" dirty="0"/>
          </a:p>
          <a:p>
            <a:pPr indent="0" marL="0">
              <a:lnSpc>
                <a:spcPts val="1200"/>
              </a:lnSpc>
              <a:buNone/>
            </a:pPr>
            <a:r>
              <a:rPr lang="en-US" sz="850" dirty="0">
                <a:solidFill>
                  <a:srgbClr val="4A5560"/>
                </a:solidFill>
                <a:latin typeface="Malgun Gothic" pitchFamily="34" charset="0"/>
                <a:ea typeface="Malgun Gothic" pitchFamily="34" charset="-122"/>
                <a:cs typeface="Malgun Gothic" pitchFamily="34" charset="-120"/>
              </a:rPr>
              <a:t>3. 자사 대응 방향</a:t>
            </a:r>
            <a:endParaRPr lang="en-US" sz="850" dirty="0"/>
          </a:p>
        </p:txBody>
      </p:sp>
      <p:sp>
        <p:nvSpPr>
          <p:cNvPr id="23" name="Shape 21"/>
          <p:cNvSpPr/>
          <p:nvPr/>
        </p:nvSpPr>
        <p:spPr>
          <a:xfrm>
            <a:off x="1152144" y="5266944"/>
            <a:ext cx="4114800" cy="274320"/>
          </a:xfrm>
          <a:prstGeom prst="rect">
            <a:avLst/>
          </a:prstGeom>
          <a:solidFill>
            <a:srgbClr val="EFF9F7"/>
          </a:solidFill>
          <a:ln w="12700">
            <a:solidFill>
              <a:srgbClr val="333333"/>
            </a:solidFill>
            <a:prstDash val="solid"/>
          </a:ln>
        </p:spPr>
      </p:sp>
      <p:sp>
        <p:nvSpPr>
          <p:cNvPr id="24" name="Shape 22"/>
          <p:cNvSpPr/>
          <p:nvPr/>
        </p:nvSpPr>
        <p:spPr>
          <a:xfrm>
            <a:off x="1152144" y="5266944"/>
            <a:ext cx="14630" cy="274320"/>
          </a:xfrm>
          <a:prstGeom prst="rect">
            <a:avLst/>
          </a:prstGeom>
          <a:solidFill>
            <a:srgbClr val="35B8AA"/>
          </a:solidFill>
          <a:ln w="12700">
            <a:solidFill>
              <a:srgbClr val="35B8AA"/>
            </a:solidFill>
            <a:prstDash val="solid"/>
          </a:ln>
        </p:spPr>
      </p:sp>
      <p:sp>
        <p:nvSpPr>
          <p:cNvPr id="25" name="Text 23"/>
          <p:cNvSpPr txBox="1"/>
          <p:nvPr/>
        </p:nvSpPr>
        <p:spPr>
          <a:xfrm>
            <a:off x="1280160" y="5321808"/>
            <a:ext cx="3931920" cy="182880"/>
          </a:xfrm>
          <a:prstGeom prst="rect">
            <a:avLst/>
          </a:prstGeom>
          <a:noFill/>
          <a:ln/>
        </p:spPr>
        <p:txBody>
          <a:bodyPr wrap="square" lIns="0" tIns="0" rIns="0" bIns="0" rtlCol="0" anchor="t"/>
          <a:lstStyle/>
          <a:p>
            <a:pPr indent="0" marL="0">
              <a:buNone/>
            </a:pPr>
            <a:r>
              <a:rPr lang="en-US" sz="850" b="1" dirty="0">
                <a:solidFill>
                  <a:srgbClr val="1B5E56"/>
                </a:solidFill>
                <a:latin typeface="Malgun Gothic" pitchFamily="34" charset="0"/>
                <a:ea typeface="Malgun Gothic" pitchFamily="34" charset="-122"/>
                <a:cs typeface="Malgun Gothic" pitchFamily="34" charset="-120"/>
              </a:rPr>
              <a:t>전략 시사점 — 경영진 검토 제언</a:t>
            </a:r>
            <a:endParaRPr lang="en-US" sz="850" dirty="0"/>
          </a:p>
        </p:txBody>
      </p:sp>
      <p:sp>
        <p:nvSpPr>
          <p:cNvPr id="26" name="Shape 24"/>
          <p:cNvSpPr/>
          <p:nvPr/>
        </p:nvSpPr>
        <p:spPr>
          <a:xfrm>
            <a:off x="1152144" y="5596128"/>
            <a:ext cx="1737360" cy="256032"/>
          </a:xfrm>
          <a:prstGeom prst="roundRect">
            <a:avLst>
              <a:gd name="adj" fmla="val 17857"/>
            </a:avLst>
          </a:prstGeom>
          <a:solidFill>
            <a:srgbClr val="276FEA"/>
          </a:solidFill>
          <a:ln w="12700">
            <a:solidFill>
              <a:srgbClr val="333333"/>
            </a:solidFill>
            <a:prstDash val="solid"/>
          </a:ln>
        </p:spPr>
      </p:sp>
      <p:sp>
        <p:nvSpPr>
          <p:cNvPr id="27" name="Text 25"/>
          <p:cNvSpPr txBox="1"/>
          <p:nvPr/>
        </p:nvSpPr>
        <p:spPr>
          <a:xfrm>
            <a:off x="1152144" y="5650992"/>
            <a:ext cx="1737360" cy="182880"/>
          </a:xfrm>
          <a:prstGeom prst="rect">
            <a:avLst/>
          </a:prstGeom>
          <a:noFill/>
          <a:ln/>
        </p:spPr>
        <p:txBody>
          <a:bodyPr wrap="square" lIns="0" tIns="0" rIns="0" bIns="0" rtlCol="0" anchor="t"/>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DART 공시 원문 확인</a:t>
            </a:r>
            <a:endParaRPr lang="en-US" sz="800" dirty="0"/>
          </a:p>
        </p:txBody>
      </p:sp>
      <p:sp>
        <p:nvSpPr>
          <p:cNvPr id="28" name="Shape 26"/>
          <p:cNvSpPr/>
          <p:nvPr/>
        </p:nvSpPr>
        <p:spPr>
          <a:xfrm>
            <a:off x="5998464" y="2395728"/>
            <a:ext cx="5477256" cy="640080"/>
          </a:xfrm>
          <a:prstGeom prst="rect">
            <a:avLst/>
          </a:prstGeom>
          <a:solidFill>
            <a:srgbClr val="FFFFFF"/>
          </a:solidFill>
          <a:ln w="9525">
            <a:solidFill>
              <a:srgbClr val="DFE3E8"/>
            </a:solidFill>
            <a:prstDash val="solid"/>
          </a:ln>
        </p:spPr>
      </p:sp>
      <p:sp>
        <p:nvSpPr>
          <p:cNvPr id="29" name="Shape 27"/>
          <p:cNvSpPr/>
          <p:nvPr/>
        </p:nvSpPr>
        <p:spPr>
          <a:xfrm>
            <a:off x="6254496" y="2542032"/>
            <a:ext cx="73152" cy="73152"/>
          </a:xfrm>
          <a:prstGeom prst="rect">
            <a:avLst/>
          </a:prstGeom>
          <a:solidFill>
            <a:srgbClr val="B0703A"/>
          </a:solidFill>
          <a:ln w="12700">
            <a:solidFill>
              <a:srgbClr val="B0703A"/>
            </a:solidFill>
            <a:prstDash val="solid"/>
          </a:ln>
        </p:spPr>
      </p:sp>
      <p:sp>
        <p:nvSpPr>
          <p:cNvPr id="30" name="Text 28"/>
          <p:cNvSpPr txBox="1"/>
          <p:nvPr/>
        </p:nvSpPr>
        <p:spPr>
          <a:xfrm>
            <a:off x="6437376" y="2468880"/>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멀티파트 구성</a:t>
            </a:r>
            <a:endParaRPr lang="en-US" sz="1100" dirty="0"/>
          </a:p>
        </p:txBody>
      </p:sp>
      <p:sp>
        <p:nvSpPr>
          <p:cNvPr id="31" name="Text 29"/>
          <p:cNvSpPr txBox="1"/>
          <p:nvPr/>
        </p:nvSpPr>
        <p:spPr>
          <a:xfrm>
            <a:off x="6437376" y="2706624"/>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set_content()로 텍스트, add_alternative()로 HTML을 함께 실어 클라이언트가 지원하는 쪽을 고릅니다.</a:t>
            </a:r>
            <a:endParaRPr lang="en-US" sz="950" dirty="0"/>
          </a:p>
        </p:txBody>
      </p:sp>
      <p:sp>
        <p:nvSpPr>
          <p:cNvPr id="32" name="Shape 30"/>
          <p:cNvSpPr/>
          <p:nvPr/>
        </p:nvSpPr>
        <p:spPr>
          <a:xfrm>
            <a:off x="5998464" y="3118104"/>
            <a:ext cx="5477256" cy="640080"/>
          </a:xfrm>
          <a:prstGeom prst="rect">
            <a:avLst/>
          </a:prstGeom>
          <a:solidFill>
            <a:srgbClr val="FFFFFF"/>
          </a:solidFill>
          <a:ln w="9525">
            <a:solidFill>
              <a:srgbClr val="DFE3E8"/>
            </a:solidFill>
            <a:prstDash val="solid"/>
          </a:ln>
        </p:spPr>
      </p:sp>
      <p:sp>
        <p:nvSpPr>
          <p:cNvPr id="33" name="Shape 31"/>
          <p:cNvSpPr/>
          <p:nvPr/>
        </p:nvSpPr>
        <p:spPr>
          <a:xfrm>
            <a:off x="6254496" y="3264408"/>
            <a:ext cx="73152" cy="73152"/>
          </a:xfrm>
          <a:prstGeom prst="rect">
            <a:avLst/>
          </a:prstGeom>
          <a:solidFill>
            <a:srgbClr val="B0703A"/>
          </a:solidFill>
          <a:ln w="12700">
            <a:solidFill>
              <a:srgbClr val="B0703A"/>
            </a:solidFill>
            <a:prstDash val="solid"/>
          </a:ln>
        </p:spPr>
      </p:sp>
      <p:sp>
        <p:nvSpPr>
          <p:cNvPr id="34" name="Text 32"/>
          <p:cNvSpPr txBox="1"/>
          <p:nvPr/>
        </p:nvSpPr>
        <p:spPr>
          <a:xfrm>
            <a:off x="6437376" y="3191256"/>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제목에 우선순위</a:t>
            </a:r>
            <a:endParaRPr lang="en-US" sz="1100" dirty="0"/>
          </a:p>
        </p:txBody>
      </p:sp>
      <p:sp>
        <p:nvSpPr>
          <p:cNvPr id="35" name="Text 33"/>
          <p:cNvSpPr txBox="1"/>
          <p:nvPr/>
        </p:nvSpPr>
        <p:spPr>
          <a:xfrm>
            <a:off x="6437376" y="3429000"/>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[HIGH] 처럼 머리말을 붙여 메일함 목록에서 정렬·필터가 가능합니다.</a:t>
            </a:r>
            <a:endParaRPr lang="en-US" sz="950" dirty="0"/>
          </a:p>
        </p:txBody>
      </p:sp>
      <p:sp>
        <p:nvSpPr>
          <p:cNvPr id="36" name="Shape 34"/>
          <p:cNvSpPr/>
          <p:nvPr/>
        </p:nvSpPr>
        <p:spPr>
          <a:xfrm>
            <a:off x="5998464" y="3840480"/>
            <a:ext cx="5477256" cy="640080"/>
          </a:xfrm>
          <a:prstGeom prst="rect">
            <a:avLst/>
          </a:prstGeom>
          <a:solidFill>
            <a:srgbClr val="FFFFFF"/>
          </a:solidFill>
          <a:ln w="9525">
            <a:solidFill>
              <a:srgbClr val="DFE3E8"/>
            </a:solidFill>
            <a:prstDash val="solid"/>
          </a:ln>
        </p:spPr>
      </p:sp>
      <p:sp>
        <p:nvSpPr>
          <p:cNvPr id="37" name="Shape 35"/>
          <p:cNvSpPr/>
          <p:nvPr/>
        </p:nvSpPr>
        <p:spPr>
          <a:xfrm>
            <a:off x="6254496" y="3986784"/>
            <a:ext cx="73152" cy="73152"/>
          </a:xfrm>
          <a:prstGeom prst="rect">
            <a:avLst/>
          </a:prstGeom>
          <a:solidFill>
            <a:srgbClr val="B0703A"/>
          </a:solidFill>
          <a:ln w="12700">
            <a:solidFill>
              <a:srgbClr val="B0703A"/>
            </a:solidFill>
            <a:prstDash val="solid"/>
          </a:ln>
        </p:spPr>
      </p:sp>
      <p:sp>
        <p:nvSpPr>
          <p:cNvPr id="38" name="Text 36"/>
          <p:cNvSpPr txBox="1"/>
          <p:nvPr/>
        </p:nvSpPr>
        <p:spPr>
          <a:xfrm>
            <a:off x="6437376" y="3913632"/>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보안 연결 선택</a:t>
            </a:r>
            <a:endParaRPr lang="en-US" sz="1100" dirty="0"/>
          </a:p>
        </p:txBody>
      </p:sp>
      <p:sp>
        <p:nvSpPr>
          <p:cNvPr id="39" name="Text 37"/>
          <p:cNvSpPr txBox="1"/>
          <p:nvPr/>
        </p:nvSpPr>
        <p:spPr>
          <a:xfrm>
            <a:off x="6437376" y="4151376"/>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SMTP_USE_SSL이면 SMTP_SSL(465), 아니면 STARTTLS(587). 둘 다 ssl.create_default_context()로 인증서를 검증합니다.</a:t>
            </a:r>
            <a:endParaRPr lang="en-US" sz="950" dirty="0"/>
          </a:p>
        </p:txBody>
      </p:sp>
      <p:sp>
        <p:nvSpPr>
          <p:cNvPr id="40" name="Shape 38"/>
          <p:cNvSpPr/>
          <p:nvPr/>
        </p:nvSpPr>
        <p:spPr>
          <a:xfrm>
            <a:off x="5998464" y="4562856"/>
            <a:ext cx="5477256" cy="640080"/>
          </a:xfrm>
          <a:prstGeom prst="rect">
            <a:avLst/>
          </a:prstGeom>
          <a:solidFill>
            <a:srgbClr val="FFFFFF"/>
          </a:solidFill>
          <a:ln w="9525">
            <a:solidFill>
              <a:srgbClr val="DFE3E8"/>
            </a:solidFill>
            <a:prstDash val="solid"/>
          </a:ln>
        </p:spPr>
      </p:sp>
      <p:sp>
        <p:nvSpPr>
          <p:cNvPr id="41" name="Shape 39"/>
          <p:cNvSpPr/>
          <p:nvPr/>
        </p:nvSpPr>
        <p:spPr>
          <a:xfrm>
            <a:off x="6254496" y="4709160"/>
            <a:ext cx="73152" cy="73152"/>
          </a:xfrm>
          <a:prstGeom prst="rect">
            <a:avLst/>
          </a:prstGeom>
          <a:solidFill>
            <a:srgbClr val="B0703A"/>
          </a:solidFill>
          <a:ln w="12700">
            <a:solidFill>
              <a:srgbClr val="B0703A"/>
            </a:solidFill>
            <a:prstDash val="solid"/>
          </a:ln>
        </p:spPr>
      </p:sp>
      <p:sp>
        <p:nvSpPr>
          <p:cNvPr id="42" name="Text 40"/>
          <p:cNvSpPr txBox="1"/>
          <p:nvPr/>
        </p:nvSpPr>
        <p:spPr>
          <a:xfrm>
            <a:off x="6437376" y="4636008"/>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전 항목 이스케이프</a:t>
            </a:r>
            <a:endParaRPr lang="en-US" sz="1100" dirty="0"/>
          </a:p>
        </p:txBody>
      </p:sp>
      <p:sp>
        <p:nvSpPr>
          <p:cNvPr id="43" name="Text 41"/>
          <p:cNvSpPr txBox="1"/>
          <p:nvPr/>
        </p:nvSpPr>
        <p:spPr>
          <a:xfrm>
            <a:off x="6437376" y="4873752"/>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제목·기업명·요약·링크 모두 html.escape() 처리해 메일 본문 HTML 깨짐과 주입을 막았습니다.</a:t>
            </a:r>
            <a:endParaRPr lang="en-US" sz="950" dirty="0"/>
          </a:p>
        </p:txBody>
      </p:sp>
      <p:sp>
        <p:nvSpPr>
          <p:cNvPr id="44" name="Shape 42"/>
          <p:cNvSpPr/>
          <p:nvPr/>
        </p:nvSpPr>
        <p:spPr>
          <a:xfrm>
            <a:off x="5998464" y="5285232"/>
            <a:ext cx="5477256" cy="640080"/>
          </a:xfrm>
          <a:prstGeom prst="rect">
            <a:avLst/>
          </a:prstGeom>
          <a:solidFill>
            <a:srgbClr val="FFFFFF"/>
          </a:solidFill>
          <a:ln w="9525">
            <a:solidFill>
              <a:srgbClr val="DFE3E8"/>
            </a:solidFill>
            <a:prstDash val="solid"/>
          </a:ln>
        </p:spPr>
      </p:sp>
      <p:sp>
        <p:nvSpPr>
          <p:cNvPr id="45" name="Shape 43"/>
          <p:cNvSpPr/>
          <p:nvPr/>
        </p:nvSpPr>
        <p:spPr>
          <a:xfrm>
            <a:off x="6254496" y="5431536"/>
            <a:ext cx="73152" cy="73152"/>
          </a:xfrm>
          <a:prstGeom prst="rect">
            <a:avLst/>
          </a:prstGeom>
          <a:solidFill>
            <a:srgbClr val="B0703A"/>
          </a:solidFill>
          <a:ln w="12700">
            <a:solidFill>
              <a:srgbClr val="B0703A"/>
            </a:solidFill>
            <a:prstDash val="solid"/>
          </a:ln>
        </p:spPr>
      </p:sp>
      <p:sp>
        <p:nvSpPr>
          <p:cNvPr id="46" name="Text 44"/>
          <p:cNvSpPr txBox="1"/>
          <p:nvPr/>
        </p:nvSpPr>
        <p:spPr>
          <a:xfrm>
            <a:off x="6437376" y="5358384"/>
            <a:ext cx="4754880" cy="237744"/>
          </a:xfrm>
          <a:prstGeom prst="rect">
            <a:avLst/>
          </a:prstGeom>
          <a:noFill/>
          <a:ln/>
        </p:spPr>
        <p:txBody>
          <a:bodyPr wrap="square" lIns="0" tIns="0" rIns="0" bIns="0" rtlCol="0" anchor="t"/>
          <a:lstStyle/>
          <a:p>
            <a:pPr indent="0" marL="0">
              <a:buNone/>
            </a:pPr>
            <a:r>
              <a:rPr lang="en-US" sz="1100" b="1" dirty="0">
                <a:solidFill>
                  <a:srgbClr val="0E1621"/>
                </a:solidFill>
                <a:latin typeface="Malgun Gothic" pitchFamily="34" charset="0"/>
                <a:ea typeface="Malgun Gothic" pitchFamily="34" charset="-122"/>
                <a:cs typeface="Malgun Gothic" pitchFamily="34" charset="-120"/>
              </a:rPr>
              <a:t>설정 상태 노출</a:t>
            </a:r>
            <a:endParaRPr lang="en-US" sz="1100" dirty="0"/>
          </a:p>
        </p:txBody>
      </p:sp>
      <p:sp>
        <p:nvSpPr>
          <p:cNvPr id="47" name="Text 45"/>
          <p:cNvSpPr txBox="1"/>
          <p:nvPr/>
        </p:nvSpPr>
        <p:spPr>
          <a:xfrm>
            <a:off x="6437376" y="5596128"/>
            <a:ext cx="4846320" cy="292608"/>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get_email_status()가 발신 주소와 보안 방식(SSL/STARTTLS/NONE)을 관리자 화면에 표시합니다.</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STEP 06</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같은 공시를 두 번 보내지 않는 구조</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5분마다 스캔이 반복되는 시스템에서 가장 먼저 풀어야 했던 문제입니다</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09</a:t>
            </a:r>
            <a:endParaRPr lang="en-US" sz="950" dirty="0"/>
          </a:p>
        </p:txBody>
      </p:sp>
      <p:sp>
        <p:nvSpPr>
          <p:cNvPr id="7" name="Shape 5"/>
          <p:cNvSpPr/>
          <p:nvPr/>
        </p:nvSpPr>
        <p:spPr>
          <a:xfrm>
            <a:off x="713232" y="1792224"/>
            <a:ext cx="6492240" cy="2286000"/>
          </a:xfrm>
          <a:prstGeom prst="rect">
            <a:avLst/>
          </a:prstGeom>
          <a:solidFill>
            <a:srgbClr val="FFFFFF"/>
          </a:solidFill>
          <a:ln w="9525">
            <a:solidFill>
              <a:srgbClr val="DFE3E8"/>
            </a:solidFill>
            <a:prstDash val="solid"/>
          </a:ln>
        </p:spPr>
      </p:sp>
      <p:sp>
        <p:nvSpPr>
          <p:cNvPr id="8" name="Text 6"/>
          <p:cNvSpPr txBox="1"/>
          <p:nvPr/>
        </p:nvSpPr>
        <p:spPr>
          <a:xfrm>
            <a:off x="1024128" y="2011680"/>
            <a:ext cx="2743200" cy="256032"/>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문제 상황</a:t>
            </a:r>
            <a:endParaRPr lang="en-US" sz="1300" dirty="0"/>
          </a:p>
        </p:txBody>
      </p:sp>
      <p:sp>
        <p:nvSpPr>
          <p:cNvPr id="9" name="Text 7"/>
          <p:cNvSpPr txBox="1"/>
          <p:nvPr/>
        </p:nvSpPr>
        <p:spPr>
          <a:xfrm>
            <a:off x="1024128" y="2322576"/>
            <a:ext cx="5943600" cy="420624"/>
          </a:xfrm>
          <a:prstGeom prst="rect">
            <a:avLst/>
          </a:prstGeom>
          <a:noFill/>
          <a:ln/>
        </p:spPr>
        <p:txBody>
          <a:bodyPr wrap="square" lIns="0" tIns="0" rIns="0" bIns="0" rtlCol="0" anchor="t"/>
          <a:lstStyle/>
          <a:p>
            <a:pPr indent="0" marL="0">
              <a:lnSpc>
                <a:spcPts val="1700"/>
              </a:lnSpc>
              <a:buNone/>
            </a:pPr>
            <a:r>
              <a:rPr lang="en-US" sz="1100" dirty="0">
                <a:solidFill>
                  <a:srgbClr val="68747F"/>
                </a:solidFill>
                <a:latin typeface="Malgun Gothic" pitchFamily="34" charset="0"/>
                <a:ea typeface="Malgun Gothic" pitchFamily="34" charset="-122"/>
                <a:cs typeface="Malgun Gothic" pitchFamily="34" charset="-120"/>
              </a:rPr>
              <a:t>당일 접수된 주요 공시는 자정까지 계속 조회 결과에 남습니다. 5분 주기로 스캔하면 같은 공시가 하루에 수백 번 다시 감지됩니다.</a:t>
            </a:r>
            <a:endParaRPr lang="en-US" sz="1100" dirty="0"/>
          </a:p>
        </p:txBody>
      </p:sp>
      <p:sp>
        <p:nvSpPr>
          <p:cNvPr id="10" name="Shape 8"/>
          <p:cNvSpPr/>
          <p:nvPr/>
        </p:nvSpPr>
        <p:spPr>
          <a:xfrm>
            <a:off x="1024128" y="2871216"/>
            <a:ext cx="5870448" cy="10973"/>
          </a:xfrm>
          <a:prstGeom prst="rect">
            <a:avLst/>
          </a:prstGeom>
          <a:solidFill>
            <a:srgbClr val="DFE3E8"/>
          </a:solidFill>
          <a:ln w="12700">
            <a:solidFill>
              <a:srgbClr val="DFE3E8"/>
            </a:solidFill>
            <a:prstDash val="solid"/>
          </a:ln>
        </p:spPr>
      </p:sp>
      <p:sp>
        <p:nvSpPr>
          <p:cNvPr id="11" name="Text 9"/>
          <p:cNvSpPr txBox="1"/>
          <p:nvPr/>
        </p:nvSpPr>
        <p:spPr>
          <a:xfrm>
            <a:off x="1024128" y="3017520"/>
            <a:ext cx="4572000" cy="256032"/>
          </a:xfrm>
          <a:prstGeom prst="rect">
            <a:avLst/>
          </a:prstGeom>
          <a:noFill/>
          <a:ln/>
        </p:spPr>
        <p:txBody>
          <a:bodyPr wrap="square" lIns="0" tIns="0" rIns="0" bIns="0" rtlCol="0" anchor="t"/>
          <a:lstStyle/>
          <a:p>
            <a:pPr indent="0" marL="0">
              <a:buNone/>
            </a:pPr>
            <a:r>
              <a:rPr lang="en-US" sz="1250" b="1" dirty="0">
                <a:solidFill>
                  <a:srgbClr val="8E5729"/>
                </a:solidFill>
                <a:latin typeface="Malgun Gothic" pitchFamily="34" charset="0"/>
                <a:ea typeface="Malgun Gothic" pitchFamily="34" charset="-122"/>
                <a:cs typeface="Malgun Gothic" pitchFamily="34" charset="-120"/>
              </a:rPr>
              <a:t>해결 — 발송 이력 테이블에 복합 기본키</a:t>
            </a:r>
            <a:endParaRPr lang="en-US" sz="1250" dirty="0"/>
          </a:p>
        </p:txBody>
      </p:sp>
      <p:sp>
        <p:nvSpPr>
          <p:cNvPr id="12" name="Shape 10"/>
          <p:cNvSpPr/>
          <p:nvPr/>
        </p:nvSpPr>
        <p:spPr>
          <a:xfrm>
            <a:off x="1024128" y="3346704"/>
            <a:ext cx="5870448" cy="566928"/>
          </a:xfrm>
          <a:prstGeom prst="roundRect">
            <a:avLst>
              <a:gd name="adj" fmla="val 8065"/>
            </a:avLst>
          </a:prstGeom>
          <a:solidFill>
            <a:srgbClr val="0E1621"/>
          </a:solidFill>
          <a:ln w="12700">
            <a:solidFill>
              <a:srgbClr val="333333"/>
            </a:solidFill>
            <a:prstDash val="solid"/>
          </a:ln>
        </p:spPr>
      </p:sp>
      <p:sp>
        <p:nvSpPr>
          <p:cNvPr id="13" name="Text 11"/>
          <p:cNvSpPr txBox="1"/>
          <p:nvPr/>
        </p:nvSpPr>
        <p:spPr>
          <a:xfrm>
            <a:off x="1207008" y="3456432"/>
            <a:ext cx="5486400" cy="219456"/>
          </a:xfrm>
          <a:prstGeom prst="rect">
            <a:avLst/>
          </a:prstGeom>
          <a:noFill/>
          <a:ln/>
        </p:spPr>
        <p:txBody>
          <a:bodyPr wrap="square" lIns="0" tIns="0" rIns="0" bIns="0" rtlCol="0" anchor="t"/>
          <a:lstStyle/>
          <a:p>
            <a:pPr indent="0" marL="0">
              <a:buNone/>
            </a:pPr>
            <a:r>
              <a:rPr lang="en-US" sz="1150" b="1" dirty="0">
                <a:solidFill>
                  <a:srgbClr val="E0A76D"/>
                </a:solidFill>
                <a:latin typeface="Malgun Gothic" pitchFamily="34" charset="0"/>
                <a:ea typeface="Malgun Gothic" pitchFamily="34" charset="-122"/>
                <a:cs typeface="Malgun Gothic" pitchFamily="34" charset="-120"/>
              </a:rPr>
              <a:t>PRIMARY KEY (recipient_id, rcept_no, channel)</a:t>
            </a:r>
            <a:endParaRPr lang="en-US" sz="1150" dirty="0"/>
          </a:p>
        </p:txBody>
      </p:sp>
      <p:sp>
        <p:nvSpPr>
          <p:cNvPr id="14" name="Text 12"/>
          <p:cNvSpPr txBox="1"/>
          <p:nvPr/>
        </p:nvSpPr>
        <p:spPr>
          <a:xfrm>
            <a:off x="1207008" y="3675888"/>
            <a:ext cx="5486400" cy="201168"/>
          </a:xfrm>
          <a:prstGeom prst="rect">
            <a:avLst/>
          </a:prstGeom>
          <a:noFill/>
          <a:ln/>
        </p:spPr>
        <p:txBody>
          <a:bodyPr wrap="square" lIns="0" tIns="0" rIns="0" bIns="0" rtlCol="0" anchor="t"/>
          <a:lstStyle/>
          <a:p>
            <a:pPr indent="0" marL="0">
              <a:buNone/>
            </a:pPr>
            <a:r>
              <a:rPr lang="en-US" sz="900" dirty="0">
                <a:solidFill>
                  <a:srgbClr val="6E7F91"/>
                </a:solidFill>
                <a:latin typeface="Malgun Gothic" pitchFamily="34" charset="0"/>
                <a:ea typeface="Malgun Gothic" pitchFamily="34" charset="-122"/>
                <a:cs typeface="Malgun Gothic" pitchFamily="34" charset="-120"/>
              </a:rPr>
              <a:t>누구에게 · 어느 공시를 · 어느 채널로 보냈는지를 한 행으로 고정</a:t>
            </a:r>
            <a:endParaRPr lang="en-US" sz="900" dirty="0"/>
          </a:p>
        </p:txBody>
      </p:sp>
      <p:sp>
        <p:nvSpPr>
          <p:cNvPr id="15" name="Shape 13"/>
          <p:cNvSpPr/>
          <p:nvPr/>
        </p:nvSpPr>
        <p:spPr>
          <a:xfrm>
            <a:off x="713232" y="4224528"/>
            <a:ext cx="6492240" cy="420624"/>
          </a:xfrm>
          <a:prstGeom prst="rect">
            <a:avLst/>
          </a:prstGeom>
          <a:solidFill>
            <a:srgbClr val="FFFFFF"/>
          </a:solidFill>
          <a:ln w="9525">
            <a:solidFill>
              <a:srgbClr val="DFE3E8"/>
            </a:solidFill>
            <a:prstDash val="solid"/>
          </a:ln>
        </p:spPr>
      </p:sp>
      <p:sp>
        <p:nvSpPr>
          <p:cNvPr id="16" name="Shape 14"/>
          <p:cNvSpPr/>
          <p:nvPr/>
        </p:nvSpPr>
        <p:spPr>
          <a:xfrm>
            <a:off x="1024128" y="4379976"/>
            <a:ext cx="73152" cy="73152"/>
          </a:xfrm>
          <a:prstGeom prst="rect">
            <a:avLst/>
          </a:prstGeom>
          <a:solidFill>
            <a:srgbClr val="2E7358"/>
          </a:solidFill>
          <a:ln w="12700">
            <a:solidFill>
              <a:srgbClr val="2E7358"/>
            </a:solidFill>
            <a:prstDash val="solid"/>
          </a:ln>
        </p:spPr>
      </p:sp>
      <p:sp>
        <p:nvSpPr>
          <p:cNvPr id="17" name="Text 15"/>
          <p:cNvSpPr txBox="1"/>
          <p:nvPr/>
        </p:nvSpPr>
        <p:spPr>
          <a:xfrm>
            <a:off x="1207008" y="4315968"/>
            <a:ext cx="155448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발송 전 조회</a:t>
            </a:r>
            <a:endParaRPr lang="en-US" sz="1050" dirty="0"/>
          </a:p>
        </p:txBody>
      </p:sp>
      <p:sp>
        <p:nvSpPr>
          <p:cNvPr id="18" name="Text 16"/>
          <p:cNvSpPr txBox="1"/>
          <p:nvPr/>
        </p:nvSpPr>
        <p:spPr>
          <a:xfrm>
            <a:off x="2852928" y="4325112"/>
            <a:ext cx="4114800" cy="237744"/>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was_delivered(수신자, 접수번호, 채널)가 True면 그 채널은 건너뜁니다.</a:t>
            </a:r>
            <a:endParaRPr lang="en-US" sz="950" dirty="0"/>
          </a:p>
        </p:txBody>
      </p:sp>
      <p:sp>
        <p:nvSpPr>
          <p:cNvPr id="19" name="Shape 17"/>
          <p:cNvSpPr/>
          <p:nvPr/>
        </p:nvSpPr>
        <p:spPr>
          <a:xfrm>
            <a:off x="713232" y="4718304"/>
            <a:ext cx="6492240" cy="420624"/>
          </a:xfrm>
          <a:prstGeom prst="rect">
            <a:avLst/>
          </a:prstGeom>
          <a:solidFill>
            <a:srgbClr val="FFFFFF"/>
          </a:solidFill>
          <a:ln w="9525">
            <a:solidFill>
              <a:srgbClr val="DFE3E8"/>
            </a:solidFill>
            <a:prstDash val="solid"/>
          </a:ln>
        </p:spPr>
      </p:sp>
      <p:sp>
        <p:nvSpPr>
          <p:cNvPr id="20" name="Shape 18"/>
          <p:cNvSpPr/>
          <p:nvPr/>
        </p:nvSpPr>
        <p:spPr>
          <a:xfrm>
            <a:off x="1024128" y="4873752"/>
            <a:ext cx="73152" cy="73152"/>
          </a:xfrm>
          <a:prstGeom prst="rect">
            <a:avLst/>
          </a:prstGeom>
          <a:solidFill>
            <a:srgbClr val="2E7358"/>
          </a:solidFill>
          <a:ln w="12700">
            <a:solidFill>
              <a:srgbClr val="2E7358"/>
            </a:solidFill>
            <a:prstDash val="solid"/>
          </a:ln>
        </p:spPr>
      </p:sp>
      <p:sp>
        <p:nvSpPr>
          <p:cNvPr id="21" name="Text 19"/>
          <p:cNvSpPr txBox="1"/>
          <p:nvPr/>
        </p:nvSpPr>
        <p:spPr>
          <a:xfrm>
            <a:off x="1207008" y="4809744"/>
            <a:ext cx="155448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발송 후 기록</a:t>
            </a:r>
            <a:endParaRPr lang="en-US" sz="1050" dirty="0"/>
          </a:p>
        </p:txBody>
      </p:sp>
      <p:sp>
        <p:nvSpPr>
          <p:cNvPr id="22" name="Text 20"/>
          <p:cNvSpPr txBox="1"/>
          <p:nvPr/>
        </p:nvSpPr>
        <p:spPr>
          <a:xfrm>
            <a:off x="2852928" y="4818888"/>
            <a:ext cx="4114800" cy="237744"/>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mark_delivered()가 INSERT OR IGNORE로 저장해 경합 상황에서도 중복 행이 생기지 않습니다.</a:t>
            </a:r>
            <a:endParaRPr lang="en-US" sz="950" dirty="0"/>
          </a:p>
        </p:txBody>
      </p:sp>
      <p:sp>
        <p:nvSpPr>
          <p:cNvPr id="23" name="Shape 21"/>
          <p:cNvSpPr/>
          <p:nvPr/>
        </p:nvSpPr>
        <p:spPr>
          <a:xfrm>
            <a:off x="713232" y="5212080"/>
            <a:ext cx="6492240" cy="420624"/>
          </a:xfrm>
          <a:prstGeom prst="rect">
            <a:avLst/>
          </a:prstGeom>
          <a:solidFill>
            <a:srgbClr val="FFFFFF"/>
          </a:solidFill>
          <a:ln w="9525">
            <a:solidFill>
              <a:srgbClr val="DFE3E8"/>
            </a:solidFill>
            <a:prstDash val="solid"/>
          </a:ln>
        </p:spPr>
      </p:sp>
      <p:sp>
        <p:nvSpPr>
          <p:cNvPr id="24" name="Shape 22"/>
          <p:cNvSpPr/>
          <p:nvPr/>
        </p:nvSpPr>
        <p:spPr>
          <a:xfrm>
            <a:off x="1024128" y="5367528"/>
            <a:ext cx="73152" cy="73152"/>
          </a:xfrm>
          <a:prstGeom prst="rect">
            <a:avLst/>
          </a:prstGeom>
          <a:solidFill>
            <a:srgbClr val="B0703A"/>
          </a:solidFill>
          <a:ln w="12700">
            <a:solidFill>
              <a:srgbClr val="B0703A"/>
            </a:solidFill>
            <a:prstDash val="solid"/>
          </a:ln>
        </p:spPr>
      </p:sp>
      <p:sp>
        <p:nvSpPr>
          <p:cNvPr id="25" name="Text 23"/>
          <p:cNvSpPr txBox="1"/>
          <p:nvPr/>
        </p:nvSpPr>
        <p:spPr>
          <a:xfrm>
            <a:off x="1207008" y="5303520"/>
            <a:ext cx="155448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채널 단위 판정</a:t>
            </a:r>
            <a:endParaRPr lang="en-US" sz="1050" dirty="0"/>
          </a:p>
        </p:txBody>
      </p:sp>
      <p:sp>
        <p:nvSpPr>
          <p:cNvPr id="26" name="Text 24"/>
          <p:cNvSpPr txBox="1"/>
          <p:nvPr/>
        </p:nvSpPr>
        <p:spPr>
          <a:xfrm>
            <a:off x="2852928" y="5312664"/>
            <a:ext cx="4114800" cy="237744"/>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Telegram은 보냈고 이메일은 실패한 경우, 다음 스캔에서 이메일만 재시도합니다.</a:t>
            </a:r>
            <a:endParaRPr lang="en-US" sz="950" dirty="0"/>
          </a:p>
        </p:txBody>
      </p:sp>
      <p:sp>
        <p:nvSpPr>
          <p:cNvPr id="27" name="Shape 25"/>
          <p:cNvSpPr/>
          <p:nvPr/>
        </p:nvSpPr>
        <p:spPr>
          <a:xfrm>
            <a:off x="713232" y="5705856"/>
            <a:ext cx="6492240" cy="420624"/>
          </a:xfrm>
          <a:prstGeom prst="rect">
            <a:avLst/>
          </a:prstGeom>
          <a:solidFill>
            <a:srgbClr val="FFFFFF"/>
          </a:solidFill>
          <a:ln w="9525">
            <a:solidFill>
              <a:srgbClr val="DFE3E8"/>
            </a:solidFill>
            <a:prstDash val="solid"/>
          </a:ln>
        </p:spPr>
      </p:sp>
      <p:sp>
        <p:nvSpPr>
          <p:cNvPr id="28" name="Shape 26"/>
          <p:cNvSpPr/>
          <p:nvPr/>
        </p:nvSpPr>
        <p:spPr>
          <a:xfrm>
            <a:off x="1024128" y="5861304"/>
            <a:ext cx="73152" cy="73152"/>
          </a:xfrm>
          <a:prstGeom prst="rect">
            <a:avLst/>
          </a:prstGeom>
          <a:solidFill>
            <a:srgbClr val="B0703A"/>
          </a:solidFill>
          <a:ln w="12700">
            <a:solidFill>
              <a:srgbClr val="B0703A"/>
            </a:solidFill>
            <a:prstDash val="solid"/>
          </a:ln>
        </p:spPr>
      </p:sp>
      <p:sp>
        <p:nvSpPr>
          <p:cNvPr id="29" name="Text 27"/>
          <p:cNvSpPr txBox="1"/>
          <p:nvPr/>
        </p:nvSpPr>
        <p:spPr>
          <a:xfrm>
            <a:off x="1207008" y="5797296"/>
            <a:ext cx="155448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재시작에도 안전</a:t>
            </a:r>
            <a:endParaRPr lang="en-US" sz="1050" dirty="0"/>
          </a:p>
        </p:txBody>
      </p:sp>
      <p:sp>
        <p:nvSpPr>
          <p:cNvPr id="30" name="Text 28"/>
          <p:cNvSpPr txBox="1"/>
          <p:nvPr/>
        </p:nvSpPr>
        <p:spPr>
          <a:xfrm>
            <a:off x="2852928" y="5806440"/>
            <a:ext cx="4114800" cy="237744"/>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이력이 SQLite 파일에 남아 서버를 껐다 켜도 이미 보낸 건은 다시 나가지 않습니다.</a:t>
            </a:r>
            <a:endParaRPr lang="en-US" sz="950" dirty="0"/>
          </a:p>
        </p:txBody>
      </p:sp>
      <p:sp>
        <p:nvSpPr>
          <p:cNvPr id="31" name="Shape 29"/>
          <p:cNvSpPr/>
          <p:nvPr/>
        </p:nvSpPr>
        <p:spPr>
          <a:xfrm>
            <a:off x="7461504" y="1792224"/>
            <a:ext cx="4014216" cy="4389120"/>
          </a:xfrm>
          <a:prstGeom prst="rect">
            <a:avLst/>
          </a:prstGeom>
          <a:solidFill>
            <a:srgbClr val="0E1621"/>
          </a:solidFill>
          <a:ln w="12700">
            <a:solidFill>
              <a:srgbClr val="333333"/>
            </a:solidFill>
            <a:prstDash val="solid"/>
          </a:ln>
        </p:spPr>
      </p:sp>
      <p:sp>
        <p:nvSpPr>
          <p:cNvPr id="32" name="Text 30"/>
          <p:cNvSpPr txBox="1"/>
          <p:nvPr/>
        </p:nvSpPr>
        <p:spPr>
          <a:xfrm>
            <a:off x="7772400" y="2011680"/>
            <a:ext cx="3108960" cy="256032"/>
          </a:xfrm>
          <a:prstGeom prst="rect">
            <a:avLst/>
          </a:prstGeom>
          <a:noFill/>
          <a:ln/>
        </p:spPr>
        <p:txBody>
          <a:bodyPr wrap="square" lIns="0" tIns="0" rIns="0" bIns="0" rtlCol="0" anchor="t"/>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실패를 격리한 방식</a:t>
            </a:r>
            <a:endParaRPr lang="en-US" sz="1250" dirty="0"/>
          </a:p>
        </p:txBody>
      </p:sp>
      <p:sp>
        <p:nvSpPr>
          <p:cNvPr id="33" name="Text 31"/>
          <p:cNvSpPr txBox="1"/>
          <p:nvPr/>
        </p:nvSpPr>
        <p:spPr>
          <a:xfrm>
            <a:off x="7772400" y="2322576"/>
            <a:ext cx="3401568" cy="603504"/>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Telegram 발송과 이메일 발송을 각각 try/except로 감싸, 한 채널이 예외를 던져도 다른 채널과 다음 수신자 처리가 계속됩니다.</a:t>
            </a:r>
            <a:endParaRPr lang="en-US" sz="1000" dirty="0"/>
          </a:p>
        </p:txBody>
      </p:sp>
      <p:sp>
        <p:nvSpPr>
          <p:cNvPr id="34" name="Shape 32"/>
          <p:cNvSpPr/>
          <p:nvPr/>
        </p:nvSpPr>
        <p:spPr>
          <a:xfrm>
            <a:off x="7772400" y="3054096"/>
            <a:ext cx="3108960" cy="10973"/>
          </a:xfrm>
          <a:prstGeom prst="rect">
            <a:avLst/>
          </a:prstGeom>
          <a:solidFill>
            <a:srgbClr val="2B3A4B"/>
          </a:solidFill>
          <a:ln w="12700">
            <a:solidFill>
              <a:srgbClr val="2B3A4B"/>
            </a:solidFill>
            <a:prstDash val="solid"/>
          </a:ln>
        </p:spPr>
      </p:sp>
      <p:sp>
        <p:nvSpPr>
          <p:cNvPr id="35" name="Text 33"/>
          <p:cNvSpPr txBox="1"/>
          <p:nvPr/>
        </p:nvSpPr>
        <p:spPr>
          <a:xfrm>
            <a:off x="7772400" y="3200400"/>
            <a:ext cx="3108960" cy="237744"/>
          </a:xfrm>
          <a:prstGeom prst="rect">
            <a:avLst/>
          </a:prstGeom>
          <a:noFill/>
          <a:ln/>
        </p:spPr>
        <p:txBody>
          <a:bodyPr wrap="square" lIns="0" tIns="0" rIns="0" bIns="0" rtlCol="0" anchor="t"/>
          <a:lstStyle/>
          <a:p>
            <a:pPr indent="0" marL="0">
              <a:buNone/>
            </a:pPr>
            <a:r>
              <a:rPr lang="en-US" sz="1150" b="1" dirty="0">
                <a:solidFill>
                  <a:srgbClr val="E0A76D"/>
                </a:solidFill>
                <a:latin typeface="Malgun Gothic" pitchFamily="34" charset="0"/>
                <a:ea typeface="Malgun Gothic" pitchFamily="34" charset="-122"/>
                <a:cs typeface="Malgun Gothic" pitchFamily="34" charset="-120"/>
              </a:rPr>
              <a:t>성공했을 때만 기록</a:t>
            </a:r>
            <a:endParaRPr lang="en-US" sz="1150" dirty="0"/>
          </a:p>
        </p:txBody>
      </p:sp>
      <p:sp>
        <p:nvSpPr>
          <p:cNvPr id="36" name="Text 34"/>
          <p:cNvSpPr txBox="1"/>
          <p:nvPr/>
        </p:nvSpPr>
        <p:spPr>
          <a:xfrm>
            <a:off x="7772400" y="3493008"/>
            <a:ext cx="3401568" cy="914400"/>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send_alert()와 send_email_alert()가 True를 반환한 경우에만 mark_delivered()를 호출합니다. 설정 누락이나 네트워크 오류로 실제 발송이 안 됐다면 이력이 남지 않아 다음 주기에 자동으로 재시도됩니다.</a:t>
            </a:r>
            <a:endParaRPr lang="en-US" sz="1000" dirty="0"/>
          </a:p>
        </p:txBody>
      </p:sp>
      <p:sp>
        <p:nvSpPr>
          <p:cNvPr id="37" name="Shape 35"/>
          <p:cNvSpPr/>
          <p:nvPr/>
        </p:nvSpPr>
        <p:spPr>
          <a:xfrm>
            <a:off x="7772400" y="4535424"/>
            <a:ext cx="3108960" cy="10973"/>
          </a:xfrm>
          <a:prstGeom prst="rect">
            <a:avLst/>
          </a:prstGeom>
          <a:solidFill>
            <a:srgbClr val="2B3A4B"/>
          </a:solidFill>
          <a:ln w="12700">
            <a:solidFill>
              <a:srgbClr val="2B3A4B"/>
            </a:solidFill>
            <a:prstDash val="solid"/>
          </a:ln>
        </p:spPr>
      </p:sp>
      <p:sp>
        <p:nvSpPr>
          <p:cNvPr id="38" name="Text 36"/>
          <p:cNvSpPr txBox="1"/>
          <p:nvPr/>
        </p:nvSpPr>
        <p:spPr>
          <a:xfrm>
            <a:off x="7772400" y="4681728"/>
            <a:ext cx="3108960" cy="237744"/>
          </a:xfrm>
          <a:prstGeom prst="rect">
            <a:avLst/>
          </a:prstGeom>
          <a:noFill/>
          <a:ln/>
        </p:spPr>
        <p:txBody>
          <a:bodyPr wrap="square" lIns="0" tIns="0" rIns="0" bIns="0" rtlCol="0" anchor="t"/>
          <a:lstStyle/>
          <a:p>
            <a:pPr indent="0" marL="0">
              <a:buNone/>
            </a:pPr>
            <a:r>
              <a:rPr lang="en-US" sz="1150" b="1" dirty="0">
                <a:solidFill>
                  <a:srgbClr val="E0A76D"/>
                </a:solidFill>
                <a:latin typeface="Malgun Gothic" pitchFamily="34" charset="0"/>
                <a:ea typeface="Malgun Gothic" pitchFamily="34" charset="-122"/>
                <a:cs typeface="Malgun Gothic" pitchFamily="34" charset="-120"/>
              </a:rPr>
              <a:t>스캔 결과 반환</a:t>
            </a:r>
            <a:endParaRPr lang="en-US" sz="1150" dirty="0"/>
          </a:p>
        </p:txBody>
      </p:sp>
      <p:sp>
        <p:nvSpPr>
          <p:cNvPr id="39" name="Text 37"/>
          <p:cNvSpPr txBox="1"/>
          <p:nvPr/>
        </p:nvSpPr>
        <p:spPr>
          <a:xfrm>
            <a:off x="7772400" y="4974336"/>
            <a:ext cx="3401568" cy="603504"/>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found · sent · telegram_sent · email_sent 네 값을 돌려주어, 관리자 화면의 ‘지금 점검’ 버튼이 결과를 그대로 표시합니다.</a:t>
            </a:r>
            <a:endParaRPr lang="en-US" sz="1000" dirty="0"/>
          </a:p>
        </p:txBody>
      </p:sp>
      <p:sp>
        <p:nvSpPr>
          <p:cNvPr id="40" name="Shape 38"/>
          <p:cNvSpPr/>
          <p:nvPr/>
        </p:nvSpPr>
        <p:spPr>
          <a:xfrm>
            <a:off x="7772400" y="5632704"/>
            <a:ext cx="3108960" cy="365760"/>
          </a:xfrm>
          <a:prstGeom prst="roundRect">
            <a:avLst>
              <a:gd name="adj" fmla="val 12500"/>
            </a:avLst>
          </a:prstGeom>
          <a:solidFill>
            <a:srgbClr val="1B2635"/>
          </a:solidFill>
          <a:ln w="12700">
            <a:solidFill>
              <a:srgbClr val="333333"/>
            </a:solidFill>
            <a:prstDash val="solid"/>
          </a:ln>
        </p:spPr>
      </p:sp>
      <p:sp>
        <p:nvSpPr>
          <p:cNvPr id="41" name="Text 39"/>
          <p:cNvSpPr txBox="1"/>
          <p:nvPr/>
        </p:nvSpPr>
        <p:spPr>
          <a:xfrm>
            <a:off x="7900416" y="5724144"/>
            <a:ext cx="2926080" cy="201168"/>
          </a:xfrm>
          <a:prstGeom prst="rect">
            <a:avLst/>
          </a:prstGeom>
          <a:noFill/>
          <a:ln/>
        </p:spPr>
        <p:txBody>
          <a:bodyPr wrap="square" lIns="0" tIns="0" rIns="0" bIns="0" rtlCol="0" anchor="t"/>
          <a:lstStyle/>
          <a:p>
            <a:pPr indent="0" marL="0">
              <a:buNone/>
            </a:pPr>
            <a:r>
              <a:rPr lang="en-US" sz="850" dirty="0">
                <a:solidFill>
                  <a:srgbClr val="E0A76D"/>
                </a:solidFill>
                <a:latin typeface="Malgun Gothic" pitchFamily="34" charset="0"/>
                <a:ea typeface="Malgun Gothic" pitchFamily="34" charset="-122"/>
                <a:cs typeface="Malgun Gothic" pitchFamily="34" charset="-120"/>
              </a:rPr>
              <a:t>주요 공시 3건 · Telegram 2건 · Email 3건</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DATA MODEL</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테이블 2개로 구성했습니다</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SQLite · data/saims_alerts.db — 서버 시작 시 자동 생성 및 마이그레이션</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10</a:t>
            </a:r>
            <a:endParaRPr lang="en-US" sz="950" dirty="0"/>
          </a:p>
        </p:txBody>
      </p:sp>
      <p:sp>
        <p:nvSpPr>
          <p:cNvPr id="7" name="Shape 5"/>
          <p:cNvSpPr/>
          <p:nvPr/>
        </p:nvSpPr>
        <p:spPr>
          <a:xfrm>
            <a:off x="713232" y="1792224"/>
            <a:ext cx="5230368" cy="3200400"/>
          </a:xfrm>
          <a:prstGeom prst="rect">
            <a:avLst/>
          </a:prstGeom>
          <a:solidFill>
            <a:srgbClr val="FFFFFF"/>
          </a:solidFill>
          <a:ln w="9525">
            <a:solidFill>
              <a:srgbClr val="DFE3E8"/>
            </a:solidFill>
            <a:prstDash val="solid"/>
          </a:ln>
        </p:spPr>
      </p:sp>
      <p:sp>
        <p:nvSpPr>
          <p:cNvPr id="8" name="Text 6"/>
          <p:cNvSpPr txBox="1"/>
          <p:nvPr/>
        </p:nvSpPr>
        <p:spPr>
          <a:xfrm>
            <a:off x="1005840" y="2011680"/>
            <a:ext cx="4023360" cy="256032"/>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notification_recipients</a:t>
            </a:r>
            <a:endParaRPr lang="en-US" sz="1300" dirty="0"/>
          </a:p>
        </p:txBody>
      </p:sp>
      <p:sp>
        <p:nvSpPr>
          <p:cNvPr id="9" name="Text 7"/>
          <p:cNvSpPr txBox="1"/>
          <p:nvPr/>
        </p:nvSpPr>
        <p:spPr>
          <a:xfrm>
            <a:off x="1005840" y="2286000"/>
            <a:ext cx="4023360" cy="219456"/>
          </a:xfrm>
          <a:prstGeom prst="rect">
            <a:avLst/>
          </a:prstGeom>
          <a:noFill/>
          <a:ln/>
        </p:spPr>
        <p:txBody>
          <a:bodyPr wrap="square" lIns="0" tIns="0" rIns="0" bIns="0" rtlCol="0" anchor="t"/>
          <a:lstStyle/>
          <a:p>
            <a:pPr indent="0" marL="0">
              <a:buNone/>
            </a:pPr>
            <a:r>
              <a:rPr lang="en-US" sz="1000" dirty="0">
                <a:solidFill>
                  <a:srgbClr val="68747F"/>
                </a:solidFill>
                <a:latin typeface="Malgun Gothic" pitchFamily="34" charset="0"/>
                <a:ea typeface="Malgun Gothic" pitchFamily="34" charset="-122"/>
                <a:cs typeface="Malgun Gothic" pitchFamily="34" charset="-120"/>
              </a:rPr>
              <a:t>알림 수신자</a:t>
            </a:r>
            <a:endParaRPr lang="en-US" sz="1000" dirty="0"/>
          </a:p>
        </p:txBody>
      </p:sp>
      <p:sp>
        <p:nvSpPr>
          <p:cNvPr id="10" name="Text 8"/>
          <p:cNvSpPr txBox="1"/>
          <p:nvPr/>
        </p:nvSpPr>
        <p:spPr>
          <a:xfrm>
            <a:off x="1005840" y="2615184"/>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id</a:t>
            </a:r>
            <a:endParaRPr lang="en-US" sz="1000" dirty="0"/>
          </a:p>
        </p:txBody>
      </p:sp>
      <p:sp>
        <p:nvSpPr>
          <p:cNvPr id="11" name="Text 9"/>
          <p:cNvSpPr txBox="1"/>
          <p:nvPr/>
        </p:nvSpPr>
        <p:spPr>
          <a:xfrm>
            <a:off x="2688336" y="2615184"/>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INTEGER PK</a:t>
            </a:r>
            <a:endParaRPr lang="en-US" sz="900" dirty="0"/>
          </a:p>
        </p:txBody>
      </p:sp>
      <p:sp>
        <p:nvSpPr>
          <p:cNvPr id="12" name="Text 10"/>
          <p:cNvSpPr txBox="1"/>
          <p:nvPr/>
        </p:nvSpPr>
        <p:spPr>
          <a:xfrm>
            <a:off x="4297680" y="2615184"/>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자동 증가</a:t>
            </a:r>
            <a:endParaRPr lang="en-US" sz="900" dirty="0"/>
          </a:p>
        </p:txBody>
      </p:sp>
      <p:sp>
        <p:nvSpPr>
          <p:cNvPr id="13" name="Text 11"/>
          <p:cNvSpPr txBox="1"/>
          <p:nvPr/>
        </p:nvSpPr>
        <p:spPr>
          <a:xfrm>
            <a:off x="1005840" y="2926080"/>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name</a:t>
            </a:r>
            <a:endParaRPr lang="en-US" sz="1000" dirty="0"/>
          </a:p>
        </p:txBody>
      </p:sp>
      <p:sp>
        <p:nvSpPr>
          <p:cNvPr id="14" name="Text 12"/>
          <p:cNvSpPr txBox="1"/>
          <p:nvPr/>
        </p:nvSpPr>
        <p:spPr>
          <a:xfrm>
            <a:off x="2688336" y="2926080"/>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 NOT NULL</a:t>
            </a:r>
            <a:endParaRPr lang="en-US" sz="900" dirty="0"/>
          </a:p>
        </p:txBody>
      </p:sp>
      <p:sp>
        <p:nvSpPr>
          <p:cNvPr id="15" name="Text 13"/>
          <p:cNvSpPr txBox="1"/>
          <p:nvPr/>
        </p:nvSpPr>
        <p:spPr>
          <a:xfrm>
            <a:off x="4297680" y="2926080"/>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표시 이름</a:t>
            </a:r>
            <a:endParaRPr lang="en-US" sz="900" dirty="0"/>
          </a:p>
        </p:txBody>
      </p:sp>
      <p:sp>
        <p:nvSpPr>
          <p:cNvPr id="16" name="Text 14"/>
          <p:cNvSpPr txBox="1"/>
          <p:nvPr/>
        </p:nvSpPr>
        <p:spPr>
          <a:xfrm>
            <a:off x="1005840" y="3236976"/>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chat_id</a:t>
            </a:r>
            <a:endParaRPr lang="en-US" sz="1000" dirty="0"/>
          </a:p>
        </p:txBody>
      </p:sp>
      <p:sp>
        <p:nvSpPr>
          <p:cNvPr id="17" name="Text 15"/>
          <p:cNvSpPr txBox="1"/>
          <p:nvPr/>
        </p:nvSpPr>
        <p:spPr>
          <a:xfrm>
            <a:off x="2688336" y="3236976"/>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a:t>
            </a:r>
            <a:endParaRPr lang="en-US" sz="900" dirty="0"/>
          </a:p>
        </p:txBody>
      </p:sp>
      <p:sp>
        <p:nvSpPr>
          <p:cNvPr id="18" name="Text 16"/>
          <p:cNvSpPr txBox="1"/>
          <p:nvPr/>
        </p:nvSpPr>
        <p:spPr>
          <a:xfrm>
            <a:off x="4297680" y="3236976"/>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Telegram Chat ID</a:t>
            </a:r>
            <a:endParaRPr lang="en-US" sz="900" dirty="0"/>
          </a:p>
        </p:txBody>
      </p:sp>
      <p:sp>
        <p:nvSpPr>
          <p:cNvPr id="19" name="Text 17"/>
          <p:cNvSpPr txBox="1"/>
          <p:nvPr/>
        </p:nvSpPr>
        <p:spPr>
          <a:xfrm>
            <a:off x="1005840" y="3547872"/>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email</a:t>
            </a:r>
            <a:endParaRPr lang="en-US" sz="1000" dirty="0"/>
          </a:p>
        </p:txBody>
      </p:sp>
      <p:sp>
        <p:nvSpPr>
          <p:cNvPr id="20" name="Text 18"/>
          <p:cNvSpPr txBox="1"/>
          <p:nvPr/>
        </p:nvSpPr>
        <p:spPr>
          <a:xfrm>
            <a:off x="2688336" y="3547872"/>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a:t>
            </a:r>
            <a:endParaRPr lang="en-US" sz="900" dirty="0"/>
          </a:p>
        </p:txBody>
      </p:sp>
      <p:sp>
        <p:nvSpPr>
          <p:cNvPr id="21" name="Text 19"/>
          <p:cNvSpPr txBox="1"/>
          <p:nvPr/>
        </p:nvSpPr>
        <p:spPr>
          <a:xfrm>
            <a:off x="4297680" y="3547872"/>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수신 이메일</a:t>
            </a:r>
            <a:endParaRPr lang="en-US" sz="900" dirty="0"/>
          </a:p>
        </p:txBody>
      </p:sp>
      <p:sp>
        <p:nvSpPr>
          <p:cNvPr id="22" name="Text 20"/>
          <p:cNvSpPr txBox="1"/>
          <p:nvPr/>
        </p:nvSpPr>
        <p:spPr>
          <a:xfrm>
            <a:off x="1005840" y="3858768"/>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enabled</a:t>
            </a:r>
            <a:endParaRPr lang="en-US" sz="1000" dirty="0"/>
          </a:p>
        </p:txBody>
      </p:sp>
      <p:sp>
        <p:nvSpPr>
          <p:cNvPr id="23" name="Text 21"/>
          <p:cNvSpPr txBox="1"/>
          <p:nvPr/>
        </p:nvSpPr>
        <p:spPr>
          <a:xfrm>
            <a:off x="2688336" y="3858768"/>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INTEGER</a:t>
            </a:r>
            <a:endParaRPr lang="en-US" sz="900" dirty="0"/>
          </a:p>
        </p:txBody>
      </p:sp>
      <p:sp>
        <p:nvSpPr>
          <p:cNvPr id="24" name="Text 22"/>
          <p:cNvSpPr txBox="1"/>
          <p:nvPr/>
        </p:nvSpPr>
        <p:spPr>
          <a:xfrm>
            <a:off x="4297680" y="3858768"/>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전체 수신 on/off</a:t>
            </a:r>
            <a:endParaRPr lang="en-US" sz="900" dirty="0"/>
          </a:p>
        </p:txBody>
      </p:sp>
      <p:sp>
        <p:nvSpPr>
          <p:cNvPr id="25" name="Text 23"/>
          <p:cNvSpPr txBox="1"/>
          <p:nvPr/>
        </p:nvSpPr>
        <p:spPr>
          <a:xfrm>
            <a:off x="1005840" y="4169664"/>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telegram_enabled</a:t>
            </a:r>
            <a:endParaRPr lang="en-US" sz="1000" dirty="0"/>
          </a:p>
        </p:txBody>
      </p:sp>
      <p:sp>
        <p:nvSpPr>
          <p:cNvPr id="26" name="Text 24"/>
          <p:cNvSpPr txBox="1"/>
          <p:nvPr/>
        </p:nvSpPr>
        <p:spPr>
          <a:xfrm>
            <a:off x="2688336" y="4169664"/>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INTEGER</a:t>
            </a:r>
            <a:endParaRPr lang="en-US" sz="900" dirty="0"/>
          </a:p>
        </p:txBody>
      </p:sp>
      <p:sp>
        <p:nvSpPr>
          <p:cNvPr id="27" name="Text 25"/>
          <p:cNvSpPr txBox="1"/>
          <p:nvPr/>
        </p:nvSpPr>
        <p:spPr>
          <a:xfrm>
            <a:off x="4297680" y="4169664"/>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채널별 on/off</a:t>
            </a:r>
            <a:endParaRPr lang="en-US" sz="900" dirty="0"/>
          </a:p>
        </p:txBody>
      </p:sp>
      <p:sp>
        <p:nvSpPr>
          <p:cNvPr id="28" name="Text 26"/>
          <p:cNvSpPr txBox="1"/>
          <p:nvPr/>
        </p:nvSpPr>
        <p:spPr>
          <a:xfrm>
            <a:off x="1005840" y="4480560"/>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email_enabled</a:t>
            </a:r>
            <a:endParaRPr lang="en-US" sz="1000" dirty="0"/>
          </a:p>
        </p:txBody>
      </p:sp>
      <p:sp>
        <p:nvSpPr>
          <p:cNvPr id="29" name="Text 27"/>
          <p:cNvSpPr txBox="1"/>
          <p:nvPr/>
        </p:nvSpPr>
        <p:spPr>
          <a:xfrm>
            <a:off x="2688336" y="4480560"/>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INTEGER</a:t>
            </a:r>
            <a:endParaRPr lang="en-US" sz="900" dirty="0"/>
          </a:p>
        </p:txBody>
      </p:sp>
      <p:sp>
        <p:nvSpPr>
          <p:cNvPr id="30" name="Text 28"/>
          <p:cNvSpPr txBox="1"/>
          <p:nvPr/>
        </p:nvSpPr>
        <p:spPr>
          <a:xfrm>
            <a:off x="4297680" y="4480560"/>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채널별 on/off</a:t>
            </a:r>
            <a:endParaRPr lang="en-US" sz="900" dirty="0"/>
          </a:p>
        </p:txBody>
      </p:sp>
      <p:sp>
        <p:nvSpPr>
          <p:cNvPr id="31" name="Shape 29"/>
          <p:cNvSpPr/>
          <p:nvPr/>
        </p:nvSpPr>
        <p:spPr>
          <a:xfrm>
            <a:off x="6245352" y="1792224"/>
            <a:ext cx="5230368" cy="3200400"/>
          </a:xfrm>
          <a:prstGeom prst="rect">
            <a:avLst/>
          </a:prstGeom>
          <a:solidFill>
            <a:srgbClr val="FFFFFF"/>
          </a:solidFill>
          <a:ln w="9525">
            <a:solidFill>
              <a:srgbClr val="DFE3E8"/>
            </a:solidFill>
            <a:prstDash val="solid"/>
          </a:ln>
        </p:spPr>
      </p:sp>
      <p:sp>
        <p:nvSpPr>
          <p:cNvPr id="32" name="Text 30"/>
          <p:cNvSpPr txBox="1"/>
          <p:nvPr/>
        </p:nvSpPr>
        <p:spPr>
          <a:xfrm>
            <a:off x="6537960" y="2011680"/>
            <a:ext cx="4023360" cy="256032"/>
          </a:xfrm>
          <a:prstGeom prst="rect">
            <a:avLst/>
          </a:prstGeom>
          <a:noFill/>
          <a:ln/>
        </p:spPr>
        <p:txBody>
          <a:bodyPr wrap="square" lIns="0" tIns="0" rIns="0" bIns="0" rtlCol="0" anchor="t"/>
          <a:lstStyle/>
          <a:p>
            <a:pPr indent="0" marL="0">
              <a:buNone/>
            </a:pPr>
            <a:r>
              <a:rPr lang="en-US" sz="1300" b="1" dirty="0">
                <a:solidFill>
                  <a:srgbClr val="0E1621"/>
                </a:solidFill>
                <a:latin typeface="Malgun Gothic" pitchFamily="34" charset="0"/>
                <a:ea typeface="Malgun Gothic" pitchFamily="34" charset="-122"/>
                <a:cs typeface="Malgun Gothic" pitchFamily="34" charset="-120"/>
              </a:rPr>
              <a:t>notification_deliveries</a:t>
            </a:r>
            <a:endParaRPr lang="en-US" sz="1300" dirty="0"/>
          </a:p>
        </p:txBody>
      </p:sp>
      <p:sp>
        <p:nvSpPr>
          <p:cNvPr id="33" name="Text 31"/>
          <p:cNvSpPr txBox="1"/>
          <p:nvPr/>
        </p:nvSpPr>
        <p:spPr>
          <a:xfrm>
            <a:off x="6537960" y="2286000"/>
            <a:ext cx="4023360" cy="219456"/>
          </a:xfrm>
          <a:prstGeom prst="rect">
            <a:avLst/>
          </a:prstGeom>
          <a:noFill/>
          <a:ln/>
        </p:spPr>
        <p:txBody>
          <a:bodyPr wrap="square" lIns="0" tIns="0" rIns="0" bIns="0" rtlCol="0" anchor="t"/>
          <a:lstStyle/>
          <a:p>
            <a:pPr indent="0" marL="0">
              <a:buNone/>
            </a:pPr>
            <a:r>
              <a:rPr lang="en-US" sz="1000" dirty="0">
                <a:solidFill>
                  <a:srgbClr val="68747F"/>
                </a:solidFill>
                <a:latin typeface="Malgun Gothic" pitchFamily="34" charset="0"/>
                <a:ea typeface="Malgun Gothic" pitchFamily="34" charset="-122"/>
                <a:cs typeface="Malgun Gothic" pitchFamily="34" charset="-120"/>
              </a:rPr>
              <a:t>발송 이력 — 중복 차단의 핵심</a:t>
            </a:r>
            <a:endParaRPr lang="en-US" sz="1000" dirty="0"/>
          </a:p>
        </p:txBody>
      </p:sp>
      <p:sp>
        <p:nvSpPr>
          <p:cNvPr id="34" name="Text 32"/>
          <p:cNvSpPr txBox="1"/>
          <p:nvPr/>
        </p:nvSpPr>
        <p:spPr>
          <a:xfrm>
            <a:off x="6537960" y="2615184"/>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recipient_id</a:t>
            </a:r>
            <a:endParaRPr lang="en-US" sz="1000" dirty="0"/>
          </a:p>
        </p:txBody>
      </p:sp>
      <p:sp>
        <p:nvSpPr>
          <p:cNvPr id="35" name="Text 33"/>
          <p:cNvSpPr txBox="1"/>
          <p:nvPr/>
        </p:nvSpPr>
        <p:spPr>
          <a:xfrm>
            <a:off x="8220456" y="2615184"/>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INTEGER</a:t>
            </a:r>
            <a:endParaRPr lang="en-US" sz="900" dirty="0"/>
          </a:p>
        </p:txBody>
      </p:sp>
      <p:sp>
        <p:nvSpPr>
          <p:cNvPr id="36" name="Text 34"/>
          <p:cNvSpPr txBox="1"/>
          <p:nvPr/>
        </p:nvSpPr>
        <p:spPr>
          <a:xfrm>
            <a:off x="9829800" y="2615184"/>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수신자</a:t>
            </a:r>
            <a:endParaRPr lang="en-US" sz="900" dirty="0"/>
          </a:p>
        </p:txBody>
      </p:sp>
      <p:sp>
        <p:nvSpPr>
          <p:cNvPr id="37" name="Text 35"/>
          <p:cNvSpPr txBox="1"/>
          <p:nvPr/>
        </p:nvSpPr>
        <p:spPr>
          <a:xfrm>
            <a:off x="6537960" y="2926080"/>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rcept_no</a:t>
            </a:r>
            <a:endParaRPr lang="en-US" sz="1000" dirty="0"/>
          </a:p>
        </p:txBody>
      </p:sp>
      <p:sp>
        <p:nvSpPr>
          <p:cNvPr id="38" name="Text 36"/>
          <p:cNvSpPr txBox="1"/>
          <p:nvPr/>
        </p:nvSpPr>
        <p:spPr>
          <a:xfrm>
            <a:off x="8220456" y="2926080"/>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a:t>
            </a:r>
            <a:endParaRPr lang="en-US" sz="900" dirty="0"/>
          </a:p>
        </p:txBody>
      </p:sp>
      <p:sp>
        <p:nvSpPr>
          <p:cNvPr id="39" name="Text 37"/>
          <p:cNvSpPr txBox="1"/>
          <p:nvPr/>
        </p:nvSpPr>
        <p:spPr>
          <a:xfrm>
            <a:off x="9829800" y="2926080"/>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DART 접수번호</a:t>
            </a:r>
            <a:endParaRPr lang="en-US" sz="900" dirty="0"/>
          </a:p>
        </p:txBody>
      </p:sp>
      <p:sp>
        <p:nvSpPr>
          <p:cNvPr id="40" name="Text 38"/>
          <p:cNvSpPr txBox="1"/>
          <p:nvPr/>
        </p:nvSpPr>
        <p:spPr>
          <a:xfrm>
            <a:off x="6537960" y="3236976"/>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channel</a:t>
            </a:r>
            <a:endParaRPr lang="en-US" sz="1000" dirty="0"/>
          </a:p>
        </p:txBody>
      </p:sp>
      <p:sp>
        <p:nvSpPr>
          <p:cNvPr id="41" name="Text 39"/>
          <p:cNvSpPr txBox="1"/>
          <p:nvPr/>
        </p:nvSpPr>
        <p:spPr>
          <a:xfrm>
            <a:off x="8220456" y="3236976"/>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a:t>
            </a:r>
            <a:endParaRPr lang="en-US" sz="900" dirty="0"/>
          </a:p>
        </p:txBody>
      </p:sp>
      <p:sp>
        <p:nvSpPr>
          <p:cNvPr id="42" name="Text 40"/>
          <p:cNvSpPr txBox="1"/>
          <p:nvPr/>
        </p:nvSpPr>
        <p:spPr>
          <a:xfrm>
            <a:off x="9829800" y="3236976"/>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telegram / email</a:t>
            </a:r>
            <a:endParaRPr lang="en-US" sz="900" dirty="0"/>
          </a:p>
        </p:txBody>
      </p:sp>
      <p:sp>
        <p:nvSpPr>
          <p:cNvPr id="43" name="Text 41"/>
          <p:cNvSpPr txBox="1"/>
          <p:nvPr/>
        </p:nvSpPr>
        <p:spPr>
          <a:xfrm>
            <a:off x="6537960" y="3547872"/>
            <a:ext cx="1645920" cy="219456"/>
          </a:xfrm>
          <a:prstGeom prst="rect">
            <a:avLst/>
          </a:prstGeom>
          <a:noFill/>
          <a:ln/>
        </p:spPr>
        <p:txBody>
          <a:bodyPr wrap="square" lIns="0" tIns="0" rIns="0" bIns="0" rtlCol="0" anchor="t"/>
          <a:lstStyle/>
          <a:p>
            <a:pPr indent="0" marL="0">
              <a:buNone/>
            </a:pPr>
            <a:r>
              <a:rPr lang="en-US" sz="1000" b="1" dirty="0">
                <a:solidFill>
                  <a:srgbClr val="8E5729"/>
                </a:solidFill>
                <a:latin typeface="Malgun Gothic" pitchFamily="34" charset="0"/>
                <a:ea typeface="Malgun Gothic" pitchFamily="34" charset="-122"/>
                <a:cs typeface="Malgun Gothic" pitchFamily="34" charset="-120"/>
              </a:rPr>
              <a:t>sent_at</a:t>
            </a:r>
            <a:endParaRPr lang="en-US" sz="1000" dirty="0"/>
          </a:p>
        </p:txBody>
      </p:sp>
      <p:sp>
        <p:nvSpPr>
          <p:cNvPr id="44" name="Text 42"/>
          <p:cNvSpPr txBox="1"/>
          <p:nvPr/>
        </p:nvSpPr>
        <p:spPr>
          <a:xfrm>
            <a:off x="8220456" y="3547872"/>
            <a:ext cx="1554480" cy="219456"/>
          </a:xfrm>
          <a:prstGeom prst="rect">
            <a:avLst/>
          </a:prstGeom>
          <a:noFill/>
          <a:ln/>
        </p:spPr>
        <p:txBody>
          <a:bodyPr wrap="square" lIns="0" tIns="0" rIns="0" bIns="0" rtlCol="0" anchor="t"/>
          <a:lstStyle/>
          <a:p>
            <a:pPr indent="0" marL="0">
              <a:buNone/>
            </a:pPr>
            <a:r>
              <a:rPr lang="en-US" sz="900" dirty="0">
                <a:solidFill>
                  <a:srgbClr val="97A2AD"/>
                </a:solidFill>
                <a:latin typeface="Malgun Gothic" pitchFamily="34" charset="0"/>
                <a:ea typeface="Malgun Gothic" pitchFamily="34" charset="-122"/>
                <a:cs typeface="Malgun Gothic" pitchFamily="34" charset="-120"/>
              </a:rPr>
              <a:t>TEXT</a:t>
            </a:r>
            <a:endParaRPr lang="en-US" sz="900" dirty="0"/>
          </a:p>
        </p:txBody>
      </p:sp>
      <p:sp>
        <p:nvSpPr>
          <p:cNvPr id="45" name="Text 43"/>
          <p:cNvSpPr txBox="1"/>
          <p:nvPr/>
        </p:nvSpPr>
        <p:spPr>
          <a:xfrm>
            <a:off x="9829800" y="3547872"/>
            <a:ext cx="1371600" cy="219456"/>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발송 시각</a:t>
            </a:r>
            <a:endParaRPr lang="en-US" sz="900" dirty="0"/>
          </a:p>
        </p:txBody>
      </p:sp>
      <p:sp>
        <p:nvSpPr>
          <p:cNvPr id="46" name="Shape 44"/>
          <p:cNvSpPr/>
          <p:nvPr/>
        </p:nvSpPr>
        <p:spPr>
          <a:xfrm>
            <a:off x="6537960" y="3950208"/>
            <a:ext cx="4645152" cy="365760"/>
          </a:xfrm>
          <a:prstGeom prst="roundRect">
            <a:avLst>
              <a:gd name="adj" fmla="val 12500"/>
            </a:avLst>
          </a:prstGeom>
          <a:solidFill>
            <a:srgbClr val="0E1621"/>
          </a:solidFill>
          <a:ln w="12700">
            <a:solidFill>
              <a:srgbClr val="333333"/>
            </a:solidFill>
            <a:prstDash val="solid"/>
          </a:ln>
        </p:spPr>
      </p:sp>
      <p:sp>
        <p:nvSpPr>
          <p:cNvPr id="47" name="Text 45"/>
          <p:cNvSpPr txBox="1"/>
          <p:nvPr/>
        </p:nvSpPr>
        <p:spPr>
          <a:xfrm>
            <a:off x="6684264" y="4041648"/>
            <a:ext cx="4389120" cy="201168"/>
          </a:xfrm>
          <a:prstGeom prst="rect">
            <a:avLst/>
          </a:prstGeom>
          <a:noFill/>
          <a:ln/>
        </p:spPr>
        <p:txBody>
          <a:bodyPr wrap="square" lIns="0" tIns="0" rIns="0" bIns="0" rtlCol="0" anchor="t"/>
          <a:lstStyle/>
          <a:p>
            <a:pPr indent="0" marL="0">
              <a:buNone/>
            </a:pPr>
            <a:r>
              <a:rPr lang="en-US" sz="950" b="1" dirty="0">
                <a:solidFill>
                  <a:srgbClr val="E0A76D"/>
                </a:solidFill>
                <a:latin typeface="Malgun Gothic" pitchFamily="34" charset="0"/>
                <a:ea typeface="Malgun Gothic" pitchFamily="34" charset="-122"/>
                <a:cs typeface="Malgun Gothic" pitchFamily="34" charset="-120"/>
              </a:rPr>
              <a:t>PRIMARY KEY (recipient_id, rcept_no, channel)</a:t>
            </a:r>
            <a:endParaRPr lang="en-US" sz="950" dirty="0"/>
          </a:p>
        </p:txBody>
      </p:sp>
      <p:sp>
        <p:nvSpPr>
          <p:cNvPr id="48" name="Text 46"/>
          <p:cNvSpPr txBox="1"/>
          <p:nvPr/>
        </p:nvSpPr>
        <p:spPr>
          <a:xfrm>
            <a:off x="6537960" y="4425696"/>
            <a:ext cx="466344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수신자 삭제 시 해당 이력도 함께 정리해 고아 행이 남지 않게 했습니다.</a:t>
            </a:r>
            <a:endParaRPr lang="en-US" sz="950" dirty="0"/>
          </a:p>
        </p:txBody>
      </p:sp>
      <p:sp>
        <p:nvSpPr>
          <p:cNvPr id="49" name="Shape 47"/>
          <p:cNvSpPr/>
          <p:nvPr/>
        </p:nvSpPr>
        <p:spPr>
          <a:xfrm>
            <a:off x="713232" y="5138928"/>
            <a:ext cx="5230368" cy="1042416"/>
          </a:xfrm>
          <a:prstGeom prst="rect">
            <a:avLst/>
          </a:prstGeom>
          <a:solidFill>
            <a:srgbClr val="FFFFFF"/>
          </a:solidFill>
          <a:ln w="9525">
            <a:solidFill>
              <a:srgbClr val="DFE3E8"/>
            </a:solidFill>
            <a:prstDash val="solid"/>
          </a:ln>
        </p:spPr>
      </p:sp>
      <p:sp>
        <p:nvSpPr>
          <p:cNvPr id="50" name="Text 48"/>
          <p:cNvSpPr txBox="1"/>
          <p:nvPr/>
        </p:nvSpPr>
        <p:spPr>
          <a:xfrm>
            <a:off x="1005840" y="5321808"/>
            <a:ext cx="4572000" cy="237744"/>
          </a:xfrm>
          <a:prstGeom prst="rect">
            <a:avLst/>
          </a:prstGeom>
          <a:noFill/>
          <a:ln/>
        </p:spPr>
        <p:txBody>
          <a:bodyPr wrap="square" lIns="0" tIns="0" rIns="0" bIns="0" rtlCol="0" anchor="t"/>
          <a:lstStyle/>
          <a:p>
            <a:pPr indent="0" marL="0">
              <a:buNone/>
            </a:pPr>
            <a:r>
              <a:rPr lang="en-US" sz="1150" b="1" dirty="0">
                <a:solidFill>
                  <a:srgbClr val="0E1621"/>
                </a:solidFill>
                <a:latin typeface="Malgun Gothic" pitchFamily="34" charset="0"/>
                <a:ea typeface="Malgun Gothic" pitchFamily="34" charset="-122"/>
                <a:cs typeface="Malgun Gothic" pitchFamily="34" charset="-120"/>
              </a:rPr>
              <a:t>부분 UNIQUE 인덱스로 중복 등록 방지</a:t>
            </a:r>
            <a:endParaRPr lang="en-US" sz="1150" dirty="0"/>
          </a:p>
        </p:txBody>
      </p:sp>
      <p:sp>
        <p:nvSpPr>
          <p:cNvPr id="51" name="Text 49"/>
          <p:cNvSpPr txBox="1"/>
          <p:nvPr/>
        </p:nvSpPr>
        <p:spPr>
          <a:xfrm>
            <a:off x="1005840" y="5596128"/>
            <a:ext cx="4709160" cy="512064"/>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chat_id와 email에 각각 WHERE ... IS NOT NULL 조건부 UNIQUE를 걸어, 값이 없는 수신자는 여러 명이어도 되지만 같은 Chat ID나 이메일은 두 번 등록되지 않습니다. 위반 시 409로 응답합니다.</a:t>
            </a:r>
            <a:endParaRPr lang="en-US" sz="950" dirty="0"/>
          </a:p>
        </p:txBody>
      </p:sp>
      <p:sp>
        <p:nvSpPr>
          <p:cNvPr id="52" name="Shape 50"/>
          <p:cNvSpPr/>
          <p:nvPr/>
        </p:nvSpPr>
        <p:spPr>
          <a:xfrm>
            <a:off x="6245352" y="5138928"/>
            <a:ext cx="5230368" cy="1042416"/>
          </a:xfrm>
          <a:prstGeom prst="rect">
            <a:avLst/>
          </a:prstGeom>
          <a:solidFill>
            <a:srgbClr val="FFFFFF"/>
          </a:solidFill>
          <a:ln w="9525">
            <a:solidFill>
              <a:srgbClr val="DFE3E8"/>
            </a:solidFill>
            <a:prstDash val="solid"/>
          </a:ln>
        </p:spPr>
      </p:sp>
      <p:sp>
        <p:nvSpPr>
          <p:cNvPr id="53" name="Text 51"/>
          <p:cNvSpPr txBox="1"/>
          <p:nvPr/>
        </p:nvSpPr>
        <p:spPr>
          <a:xfrm>
            <a:off x="6537960" y="5321808"/>
            <a:ext cx="4572000" cy="237744"/>
          </a:xfrm>
          <a:prstGeom prst="rect">
            <a:avLst/>
          </a:prstGeom>
          <a:noFill/>
          <a:ln/>
        </p:spPr>
        <p:txBody>
          <a:bodyPr wrap="square" lIns="0" tIns="0" rIns="0" bIns="0" rtlCol="0" anchor="t"/>
          <a:lstStyle/>
          <a:p>
            <a:pPr indent="0" marL="0">
              <a:buNone/>
            </a:pPr>
            <a:r>
              <a:rPr lang="en-US" sz="1150" b="1" dirty="0">
                <a:solidFill>
                  <a:srgbClr val="0E1621"/>
                </a:solidFill>
                <a:latin typeface="Malgun Gothic" pitchFamily="34" charset="0"/>
                <a:ea typeface="Malgun Gothic" pitchFamily="34" charset="-122"/>
                <a:cs typeface="Malgun Gothic" pitchFamily="34" charset="-120"/>
              </a:rPr>
              <a:t>구버전 데이터 자동 이전</a:t>
            </a:r>
            <a:endParaRPr lang="en-US" sz="1150" dirty="0"/>
          </a:p>
        </p:txBody>
      </p:sp>
      <p:sp>
        <p:nvSpPr>
          <p:cNvPr id="54" name="Text 52"/>
          <p:cNvSpPr txBox="1"/>
          <p:nvPr/>
        </p:nvSpPr>
        <p:spPr>
          <a:xfrm>
            <a:off x="6537960" y="5596128"/>
            <a:ext cx="4709160" cy="512064"/>
          </a:xfrm>
          <a:prstGeom prst="rect">
            <a:avLst/>
          </a:prstGeom>
          <a:noFill/>
          <a:ln/>
        </p:spPr>
        <p:txBody>
          <a:bodyPr wrap="square" lIns="0" tIns="0" rIns="0" bIns="0" rtlCol="0" anchor="t"/>
          <a:lstStyle/>
          <a:p>
            <a:pPr indent="0" marL="0">
              <a:lnSpc>
                <a:spcPts val="1400"/>
              </a:lnSpc>
              <a:buNone/>
            </a:pPr>
            <a:r>
              <a:rPr lang="en-US" sz="950" dirty="0">
                <a:solidFill>
                  <a:srgbClr val="68747F"/>
                </a:solidFill>
                <a:latin typeface="Malgun Gothic" pitchFamily="34" charset="0"/>
                <a:ea typeface="Malgun Gothic" pitchFamily="34" charset="-122"/>
                <a:cs typeface="Malgun Gothic" pitchFamily="34" charset="-120"/>
              </a:rPr>
              <a:t>초기에는 Telegram 전용 테이블(telegram_recipients)만 있었습니다. 이메일 채널을 추가하면서 서버 시작 시 구 테이블이 있으면 INSERT OR IGNORE로 신규 테이블에 옮기도록 해, 기존 수신자와 발송 이력을 잃지 않고 확장했습니다.</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ADMIN</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운영자가 직접 관리하는 화면</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/admin 경로 · 별도 인증 · 대시보드와 분리된 React 앱</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11</a:t>
            </a:r>
            <a:endParaRPr lang="en-US" sz="950" dirty="0"/>
          </a:p>
        </p:txBody>
      </p:sp>
      <p:sp>
        <p:nvSpPr>
          <p:cNvPr id="7" name="Shape 5"/>
          <p:cNvSpPr/>
          <p:nvPr/>
        </p:nvSpPr>
        <p:spPr>
          <a:xfrm>
            <a:off x="713232" y="1792224"/>
            <a:ext cx="6492240" cy="1975104"/>
          </a:xfrm>
          <a:prstGeom prst="rect">
            <a:avLst/>
          </a:prstGeom>
          <a:solidFill>
            <a:srgbClr val="FFFFFF"/>
          </a:solidFill>
          <a:ln w="9525">
            <a:solidFill>
              <a:srgbClr val="DFE3E8"/>
            </a:solidFill>
            <a:prstDash val="solid"/>
          </a:ln>
        </p:spPr>
      </p:sp>
      <p:sp>
        <p:nvSpPr>
          <p:cNvPr id="8" name="Text 6"/>
          <p:cNvSpPr txBox="1"/>
          <p:nvPr/>
        </p:nvSpPr>
        <p:spPr>
          <a:xfrm>
            <a:off x="1024128" y="1993392"/>
            <a:ext cx="3657600" cy="256032"/>
          </a:xfrm>
          <a:prstGeom prst="rect">
            <a:avLst/>
          </a:prstGeom>
          <a:noFill/>
          <a:ln/>
        </p:spPr>
        <p:txBody>
          <a:bodyPr wrap="square" lIns="0" tIns="0" rIns="0" bIns="0" rtlCol="0" anchor="t"/>
          <a:lstStyle/>
          <a:p>
            <a:pPr indent="0" marL="0">
              <a:buNone/>
            </a:pPr>
            <a:r>
              <a:rPr lang="en-US" sz="1250" b="1" dirty="0">
                <a:solidFill>
                  <a:srgbClr val="0E1621"/>
                </a:solidFill>
                <a:latin typeface="Malgun Gothic" pitchFamily="34" charset="0"/>
                <a:ea typeface="Malgun Gothic" pitchFamily="34" charset="-122"/>
                <a:cs typeface="Malgun Gothic" pitchFamily="34" charset="-120"/>
              </a:rPr>
              <a:t>상단 상태 카드 4종</a:t>
            </a:r>
            <a:endParaRPr lang="en-US" sz="1250" dirty="0"/>
          </a:p>
        </p:txBody>
      </p:sp>
      <p:sp>
        <p:nvSpPr>
          <p:cNvPr id="9" name="Text 7"/>
          <p:cNvSpPr txBox="1"/>
          <p:nvPr/>
        </p:nvSpPr>
        <p:spPr>
          <a:xfrm>
            <a:off x="1024128" y="2340864"/>
            <a:ext cx="146304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Telegram Bot</a:t>
            </a:r>
            <a:endParaRPr lang="en-US" sz="950" dirty="0"/>
          </a:p>
        </p:txBody>
      </p:sp>
      <p:sp>
        <p:nvSpPr>
          <p:cNvPr id="10" name="Text 8"/>
          <p:cNvSpPr txBox="1"/>
          <p:nvPr/>
        </p:nvSpPr>
        <p:spPr>
          <a:xfrm>
            <a:off x="1024128" y="2560320"/>
            <a:ext cx="1463040" cy="274320"/>
          </a:xfrm>
          <a:prstGeom prst="rect">
            <a:avLst/>
          </a:prstGeom>
          <a:noFill/>
          <a:ln/>
        </p:spPr>
        <p:txBody>
          <a:bodyPr wrap="square" lIns="0" tIns="0" rIns="0" bIns="0" rtlCol="0" anchor="t"/>
          <a:lstStyle/>
          <a:p>
            <a:pPr indent="0" marL="0">
              <a:buNone/>
            </a:pPr>
            <a:r>
              <a:rPr lang="en-US" sz="1300" b="1" dirty="0">
                <a:solidFill>
                  <a:srgbClr val="8E5729"/>
                </a:solidFill>
                <a:latin typeface="Malgun Gothic" pitchFamily="34" charset="0"/>
                <a:ea typeface="Malgun Gothic" pitchFamily="34" charset="-122"/>
                <a:cs typeface="Malgun Gothic" pitchFamily="34" charset="-120"/>
              </a:rPr>
              <a:t>CONNECTED</a:t>
            </a:r>
            <a:endParaRPr lang="en-US" sz="1300" dirty="0"/>
          </a:p>
        </p:txBody>
      </p:sp>
      <p:sp>
        <p:nvSpPr>
          <p:cNvPr id="11" name="Text 9"/>
          <p:cNvSpPr txBox="1"/>
          <p:nvPr/>
        </p:nvSpPr>
        <p:spPr>
          <a:xfrm>
            <a:off x="1024128" y="2871216"/>
            <a:ext cx="1463040"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getMe 결과와 봇 username</a:t>
            </a:r>
            <a:endParaRPr lang="en-US" sz="850" dirty="0"/>
          </a:p>
        </p:txBody>
      </p:sp>
      <p:sp>
        <p:nvSpPr>
          <p:cNvPr id="12" name="Text 10"/>
          <p:cNvSpPr txBox="1"/>
          <p:nvPr/>
        </p:nvSpPr>
        <p:spPr>
          <a:xfrm>
            <a:off x="2560320" y="2340864"/>
            <a:ext cx="146304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Email SMTP</a:t>
            </a:r>
            <a:endParaRPr lang="en-US" sz="950" dirty="0"/>
          </a:p>
        </p:txBody>
      </p:sp>
      <p:sp>
        <p:nvSpPr>
          <p:cNvPr id="13" name="Text 11"/>
          <p:cNvSpPr txBox="1"/>
          <p:nvPr/>
        </p:nvSpPr>
        <p:spPr>
          <a:xfrm>
            <a:off x="2560320" y="2560320"/>
            <a:ext cx="1463040" cy="274320"/>
          </a:xfrm>
          <a:prstGeom prst="rect">
            <a:avLst/>
          </a:prstGeom>
          <a:noFill/>
          <a:ln/>
        </p:spPr>
        <p:txBody>
          <a:bodyPr wrap="square" lIns="0" tIns="0" rIns="0" bIns="0" rtlCol="0" anchor="t"/>
          <a:lstStyle/>
          <a:p>
            <a:pPr indent="0" marL="0">
              <a:buNone/>
            </a:pPr>
            <a:r>
              <a:rPr lang="en-US" sz="1300" b="1" dirty="0">
                <a:solidFill>
                  <a:srgbClr val="8E5729"/>
                </a:solidFill>
                <a:latin typeface="Malgun Gothic" pitchFamily="34" charset="0"/>
                <a:ea typeface="Malgun Gothic" pitchFamily="34" charset="-122"/>
                <a:cs typeface="Malgun Gothic" pitchFamily="34" charset="-120"/>
              </a:rPr>
              <a:t>CONFIGURED</a:t>
            </a:r>
            <a:endParaRPr lang="en-US" sz="1300" dirty="0"/>
          </a:p>
        </p:txBody>
      </p:sp>
      <p:sp>
        <p:nvSpPr>
          <p:cNvPr id="14" name="Text 12"/>
          <p:cNvSpPr txBox="1"/>
          <p:nvPr/>
        </p:nvSpPr>
        <p:spPr>
          <a:xfrm>
            <a:off x="2560320" y="2871216"/>
            <a:ext cx="1463040"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발신 주소 · SSL/STARTTLS</a:t>
            </a:r>
            <a:endParaRPr lang="en-US" sz="850" dirty="0"/>
          </a:p>
        </p:txBody>
      </p:sp>
      <p:sp>
        <p:nvSpPr>
          <p:cNvPr id="15" name="Text 13"/>
          <p:cNvSpPr txBox="1"/>
          <p:nvPr/>
        </p:nvSpPr>
        <p:spPr>
          <a:xfrm>
            <a:off x="4096512" y="2340864"/>
            <a:ext cx="146304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활성 수신자</a:t>
            </a:r>
            <a:endParaRPr lang="en-US" sz="950" dirty="0"/>
          </a:p>
        </p:txBody>
      </p:sp>
      <p:sp>
        <p:nvSpPr>
          <p:cNvPr id="16" name="Text 14"/>
          <p:cNvSpPr txBox="1"/>
          <p:nvPr/>
        </p:nvSpPr>
        <p:spPr>
          <a:xfrm>
            <a:off x="4096512" y="2560320"/>
            <a:ext cx="1463040" cy="274320"/>
          </a:xfrm>
          <a:prstGeom prst="rect">
            <a:avLst/>
          </a:prstGeom>
          <a:noFill/>
          <a:ln/>
        </p:spPr>
        <p:txBody>
          <a:bodyPr wrap="square" lIns="0" tIns="0" rIns="0" bIns="0" rtlCol="0" anchor="t"/>
          <a:lstStyle/>
          <a:p>
            <a:pPr indent="0" marL="0">
              <a:buNone/>
            </a:pPr>
            <a:r>
              <a:rPr lang="en-US" sz="1300" b="1" dirty="0">
                <a:solidFill>
                  <a:srgbClr val="8E5729"/>
                </a:solidFill>
                <a:latin typeface="Malgun Gothic" pitchFamily="34" charset="0"/>
                <a:ea typeface="Malgun Gothic" pitchFamily="34" charset="-122"/>
                <a:cs typeface="Malgun Gothic" pitchFamily="34" charset="-120"/>
              </a:rPr>
              <a:t>N명</a:t>
            </a:r>
            <a:endParaRPr lang="en-US" sz="1300" dirty="0"/>
          </a:p>
        </p:txBody>
      </p:sp>
      <p:sp>
        <p:nvSpPr>
          <p:cNvPr id="17" name="Text 15"/>
          <p:cNvSpPr txBox="1"/>
          <p:nvPr/>
        </p:nvSpPr>
        <p:spPr>
          <a:xfrm>
            <a:off x="4096512" y="2871216"/>
            <a:ext cx="1463040"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전체 등록 대비 활성 인원</a:t>
            </a:r>
            <a:endParaRPr lang="en-US" sz="850" dirty="0"/>
          </a:p>
        </p:txBody>
      </p:sp>
      <p:sp>
        <p:nvSpPr>
          <p:cNvPr id="18" name="Text 16"/>
          <p:cNvSpPr txBox="1"/>
          <p:nvPr/>
        </p:nvSpPr>
        <p:spPr>
          <a:xfrm>
            <a:off x="5632704" y="2340864"/>
            <a:ext cx="146304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자동 점검 주기</a:t>
            </a:r>
            <a:endParaRPr lang="en-US" sz="950" dirty="0"/>
          </a:p>
        </p:txBody>
      </p:sp>
      <p:sp>
        <p:nvSpPr>
          <p:cNvPr id="19" name="Text 17"/>
          <p:cNvSpPr txBox="1"/>
          <p:nvPr/>
        </p:nvSpPr>
        <p:spPr>
          <a:xfrm>
            <a:off x="5632704" y="2560320"/>
            <a:ext cx="1463040" cy="274320"/>
          </a:xfrm>
          <a:prstGeom prst="rect">
            <a:avLst/>
          </a:prstGeom>
          <a:noFill/>
          <a:ln/>
        </p:spPr>
        <p:txBody>
          <a:bodyPr wrap="square" lIns="0" tIns="0" rIns="0" bIns="0" rtlCol="0" anchor="t"/>
          <a:lstStyle/>
          <a:p>
            <a:pPr indent="0" marL="0">
              <a:buNone/>
            </a:pPr>
            <a:r>
              <a:rPr lang="en-US" sz="1300" b="1" dirty="0">
                <a:solidFill>
                  <a:srgbClr val="8E5729"/>
                </a:solidFill>
                <a:latin typeface="Malgun Gothic" pitchFamily="34" charset="0"/>
                <a:ea typeface="Malgun Gothic" pitchFamily="34" charset="-122"/>
                <a:cs typeface="Malgun Gothic" pitchFamily="34" charset="-120"/>
              </a:rPr>
              <a:t>5분</a:t>
            </a:r>
            <a:endParaRPr lang="en-US" sz="1300" dirty="0"/>
          </a:p>
        </p:txBody>
      </p:sp>
      <p:sp>
        <p:nvSpPr>
          <p:cNvPr id="20" name="Text 18"/>
          <p:cNvSpPr txBox="1"/>
          <p:nvPr/>
        </p:nvSpPr>
        <p:spPr>
          <a:xfrm>
            <a:off x="5632704" y="2871216"/>
            <a:ext cx="1463040" cy="402336"/>
          </a:xfrm>
          <a:prstGeom prst="rect">
            <a:avLst/>
          </a:prstGeom>
          <a:noFill/>
          <a:ln/>
        </p:spPr>
        <p:txBody>
          <a:bodyPr wrap="square" lIns="0" tIns="0" rIns="0" bIns="0" rtlCol="0" anchor="t"/>
          <a:lstStyle/>
          <a:p>
            <a:pPr indent="0" marL="0">
              <a:lnSpc>
                <a:spcPts val="1200"/>
              </a:lnSpc>
              <a:buNone/>
            </a:pPr>
            <a:r>
              <a:rPr lang="en-US" sz="850" dirty="0">
                <a:solidFill>
                  <a:srgbClr val="97A2AD"/>
                </a:solidFill>
                <a:latin typeface="Malgun Gothic" pitchFamily="34" charset="0"/>
                <a:ea typeface="Malgun Gothic" pitchFamily="34" charset="-122"/>
                <a:cs typeface="Malgun Gothic" pitchFamily="34" charset="-120"/>
              </a:rPr>
              <a:t>서버 설정값을 그대로 표시</a:t>
            </a:r>
            <a:endParaRPr lang="en-US" sz="850" dirty="0"/>
          </a:p>
        </p:txBody>
      </p:sp>
      <p:sp>
        <p:nvSpPr>
          <p:cNvPr id="21" name="Text 19"/>
          <p:cNvSpPr txBox="1"/>
          <p:nvPr/>
        </p:nvSpPr>
        <p:spPr>
          <a:xfrm>
            <a:off x="1024128" y="3364992"/>
            <a:ext cx="5943600" cy="219456"/>
          </a:xfrm>
          <a:prstGeom prst="rect">
            <a:avLst/>
          </a:prstGeom>
          <a:noFill/>
          <a:ln/>
        </p:spPr>
        <p:txBody>
          <a:bodyPr wrap="square" lIns="0" tIns="0" rIns="0" bIns="0" rtlCol="0" anchor="t"/>
          <a:lstStyle/>
          <a:p>
            <a:pPr indent="0" marL="0">
              <a:buNone/>
            </a:pPr>
            <a:r>
              <a:rPr lang="en-US" sz="950" dirty="0">
                <a:solidFill>
                  <a:srgbClr val="68747F"/>
                </a:solidFill>
                <a:latin typeface="Malgun Gothic" pitchFamily="34" charset="0"/>
                <a:ea typeface="Malgun Gothic" pitchFamily="34" charset="-122"/>
                <a:cs typeface="Malgun Gothic" pitchFamily="34" charset="-120"/>
              </a:rPr>
              <a:t>설정이 빠져 있으면 CHECK REQUIRED로 표시되어, 알림이 안 오는 원인을 화면에서 바로 확인할 수 있습니다.</a:t>
            </a:r>
            <a:endParaRPr lang="en-US" sz="950" dirty="0"/>
          </a:p>
        </p:txBody>
      </p:sp>
      <p:sp>
        <p:nvSpPr>
          <p:cNvPr id="22" name="Shape 20"/>
          <p:cNvSpPr/>
          <p:nvPr/>
        </p:nvSpPr>
        <p:spPr>
          <a:xfrm>
            <a:off x="713232" y="3913632"/>
            <a:ext cx="6492240" cy="384048"/>
          </a:xfrm>
          <a:prstGeom prst="rect">
            <a:avLst/>
          </a:prstGeom>
          <a:solidFill>
            <a:srgbClr val="FFFFFF"/>
          </a:solidFill>
          <a:ln w="9525">
            <a:solidFill>
              <a:srgbClr val="DFE3E8"/>
            </a:solidFill>
            <a:prstDash val="solid"/>
          </a:ln>
        </p:spPr>
      </p:sp>
      <p:sp>
        <p:nvSpPr>
          <p:cNvPr id="23" name="Shape 21"/>
          <p:cNvSpPr/>
          <p:nvPr/>
        </p:nvSpPr>
        <p:spPr>
          <a:xfrm>
            <a:off x="1024128" y="4050792"/>
            <a:ext cx="73152" cy="73152"/>
          </a:xfrm>
          <a:prstGeom prst="rect">
            <a:avLst/>
          </a:prstGeom>
          <a:solidFill>
            <a:srgbClr val="B0703A"/>
          </a:solidFill>
          <a:ln w="12700">
            <a:solidFill>
              <a:srgbClr val="B0703A"/>
            </a:solidFill>
            <a:prstDash val="solid"/>
          </a:ln>
        </p:spPr>
      </p:sp>
      <p:sp>
        <p:nvSpPr>
          <p:cNvPr id="24" name="Text 22"/>
          <p:cNvSpPr txBox="1"/>
          <p:nvPr/>
        </p:nvSpPr>
        <p:spPr>
          <a:xfrm>
            <a:off x="1207008" y="3986784"/>
            <a:ext cx="164592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수신자 등록</a:t>
            </a:r>
            <a:endParaRPr lang="en-US" sz="1050" dirty="0"/>
          </a:p>
        </p:txBody>
      </p:sp>
      <p:sp>
        <p:nvSpPr>
          <p:cNvPr id="25" name="Text 23"/>
          <p:cNvSpPr txBox="1"/>
          <p:nvPr/>
        </p:nvSpPr>
        <p:spPr>
          <a:xfrm>
            <a:off x="2944368" y="3995928"/>
            <a:ext cx="4023360" cy="237744"/>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이름 · Telegram Chat ID · 이메일. 둘 중 하나만 있어도 등록되며, 이메일은 정규식으로 형식을 검증합니다.</a:t>
            </a:r>
            <a:endParaRPr lang="en-US" sz="900" dirty="0"/>
          </a:p>
        </p:txBody>
      </p:sp>
      <p:sp>
        <p:nvSpPr>
          <p:cNvPr id="26" name="Shape 24"/>
          <p:cNvSpPr/>
          <p:nvPr/>
        </p:nvSpPr>
        <p:spPr>
          <a:xfrm>
            <a:off x="713232" y="4370832"/>
            <a:ext cx="6492240" cy="384048"/>
          </a:xfrm>
          <a:prstGeom prst="rect">
            <a:avLst/>
          </a:prstGeom>
          <a:solidFill>
            <a:srgbClr val="FFFFFF"/>
          </a:solidFill>
          <a:ln w="9525">
            <a:solidFill>
              <a:srgbClr val="DFE3E8"/>
            </a:solidFill>
            <a:prstDash val="solid"/>
          </a:ln>
        </p:spPr>
      </p:sp>
      <p:sp>
        <p:nvSpPr>
          <p:cNvPr id="27" name="Shape 25"/>
          <p:cNvSpPr/>
          <p:nvPr/>
        </p:nvSpPr>
        <p:spPr>
          <a:xfrm>
            <a:off x="1024128" y="4507992"/>
            <a:ext cx="73152" cy="73152"/>
          </a:xfrm>
          <a:prstGeom prst="rect">
            <a:avLst/>
          </a:prstGeom>
          <a:solidFill>
            <a:srgbClr val="B0703A"/>
          </a:solidFill>
          <a:ln w="12700">
            <a:solidFill>
              <a:srgbClr val="B0703A"/>
            </a:solidFill>
            <a:prstDash val="solid"/>
          </a:ln>
        </p:spPr>
      </p:sp>
      <p:sp>
        <p:nvSpPr>
          <p:cNvPr id="28" name="Text 26"/>
          <p:cNvSpPr txBox="1"/>
          <p:nvPr/>
        </p:nvSpPr>
        <p:spPr>
          <a:xfrm>
            <a:off x="1207008" y="4443984"/>
            <a:ext cx="164592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Chat ID 자동 조회</a:t>
            </a:r>
            <a:endParaRPr lang="en-US" sz="1050" dirty="0"/>
          </a:p>
        </p:txBody>
      </p:sp>
      <p:sp>
        <p:nvSpPr>
          <p:cNvPr id="29" name="Text 27"/>
          <p:cNvSpPr txBox="1"/>
          <p:nvPr/>
        </p:nvSpPr>
        <p:spPr>
          <a:xfrm>
            <a:off x="2944368" y="4453128"/>
            <a:ext cx="4023360" cy="237744"/>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봇과 대화한 사용자 목록을 getUpdates로 불러와 클릭 한 번으로 이름과 Chat ID를 입력합니다.</a:t>
            </a:r>
            <a:endParaRPr lang="en-US" sz="900" dirty="0"/>
          </a:p>
        </p:txBody>
      </p:sp>
      <p:sp>
        <p:nvSpPr>
          <p:cNvPr id="30" name="Shape 28"/>
          <p:cNvSpPr/>
          <p:nvPr/>
        </p:nvSpPr>
        <p:spPr>
          <a:xfrm>
            <a:off x="713232" y="4828032"/>
            <a:ext cx="6492240" cy="384048"/>
          </a:xfrm>
          <a:prstGeom prst="rect">
            <a:avLst/>
          </a:prstGeom>
          <a:solidFill>
            <a:srgbClr val="FFFFFF"/>
          </a:solidFill>
          <a:ln w="9525">
            <a:solidFill>
              <a:srgbClr val="DFE3E8"/>
            </a:solidFill>
            <a:prstDash val="solid"/>
          </a:ln>
        </p:spPr>
      </p:sp>
      <p:sp>
        <p:nvSpPr>
          <p:cNvPr id="31" name="Shape 29"/>
          <p:cNvSpPr/>
          <p:nvPr/>
        </p:nvSpPr>
        <p:spPr>
          <a:xfrm>
            <a:off x="1024128" y="4965192"/>
            <a:ext cx="73152" cy="73152"/>
          </a:xfrm>
          <a:prstGeom prst="rect">
            <a:avLst/>
          </a:prstGeom>
          <a:solidFill>
            <a:srgbClr val="B0703A"/>
          </a:solidFill>
          <a:ln w="12700">
            <a:solidFill>
              <a:srgbClr val="B0703A"/>
            </a:solidFill>
            <a:prstDash val="solid"/>
          </a:ln>
        </p:spPr>
      </p:sp>
      <p:sp>
        <p:nvSpPr>
          <p:cNvPr id="32" name="Text 30"/>
          <p:cNvSpPr txBox="1"/>
          <p:nvPr/>
        </p:nvSpPr>
        <p:spPr>
          <a:xfrm>
            <a:off x="1207008" y="4901184"/>
            <a:ext cx="164592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채널별 ON/OFF</a:t>
            </a:r>
            <a:endParaRPr lang="en-US" sz="1050" dirty="0"/>
          </a:p>
        </p:txBody>
      </p:sp>
      <p:sp>
        <p:nvSpPr>
          <p:cNvPr id="33" name="Text 31"/>
          <p:cNvSpPr txBox="1"/>
          <p:nvPr/>
        </p:nvSpPr>
        <p:spPr>
          <a:xfrm>
            <a:off x="2944368" y="4910328"/>
            <a:ext cx="4023360" cy="237744"/>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같은 사람에게 Telegram만, 또는 이메일만 보내도록 토글합니다. 두 채널을 모두 끄면 저장이 거부됩니다.</a:t>
            </a:r>
            <a:endParaRPr lang="en-US" sz="900" dirty="0"/>
          </a:p>
        </p:txBody>
      </p:sp>
      <p:sp>
        <p:nvSpPr>
          <p:cNvPr id="34" name="Shape 32"/>
          <p:cNvSpPr/>
          <p:nvPr/>
        </p:nvSpPr>
        <p:spPr>
          <a:xfrm>
            <a:off x="713232" y="5285232"/>
            <a:ext cx="6492240" cy="384048"/>
          </a:xfrm>
          <a:prstGeom prst="rect">
            <a:avLst/>
          </a:prstGeom>
          <a:solidFill>
            <a:srgbClr val="FFFFFF"/>
          </a:solidFill>
          <a:ln w="9525">
            <a:solidFill>
              <a:srgbClr val="DFE3E8"/>
            </a:solidFill>
            <a:prstDash val="solid"/>
          </a:ln>
        </p:spPr>
      </p:sp>
      <p:sp>
        <p:nvSpPr>
          <p:cNvPr id="35" name="Shape 33"/>
          <p:cNvSpPr/>
          <p:nvPr/>
        </p:nvSpPr>
        <p:spPr>
          <a:xfrm>
            <a:off x="1024128" y="5422392"/>
            <a:ext cx="73152" cy="73152"/>
          </a:xfrm>
          <a:prstGeom prst="rect">
            <a:avLst/>
          </a:prstGeom>
          <a:solidFill>
            <a:srgbClr val="B0703A"/>
          </a:solidFill>
          <a:ln w="12700">
            <a:solidFill>
              <a:srgbClr val="B0703A"/>
            </a:solidFill>
            <a:prstDash val="solid"/>
          </a:ln>
        </p:spPr>
      </p:sp>
      <p:sp>
        <p:nvSpPr>
          <p:cNvPr id="36" name="Text 34"/>
          <p:cNvSpPr txBox="1"/>
          <p:nvPr/>
        </p:nvSpPr>
        <p:spPr>
          <a:xfrm>
            <a:off x="1207008" y="5358384"/>
            <a:ext cx="164592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테스트 발송</a:t>
            </a:r>
            <a:endParaRPr lang="en-US" sz="1050" dirty="0"/>
          </a:p>
        </p:txBody>
      </p:sp>
      <p:sp>
        <p:nvSpPr>
          <p:cNvPr id="37" name="Text 35"/>
          <p:cNvSpPr txBox="1"/>
          <p:nvPr/>
        </p:nvSpPr>
        <p:spPr>
          <a:xfrm>
            <a:off x="2944368" y="5367528"/>
            <a:ext cx="4023360" cy="237744"/>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실제 공시를 기다리지 않고 연결 상태를 확인합니다. 활성 채널이 없으면 503과 실패 사유를 돌려줍니다.</a:t>
            </a:r>
            <a:endParaRPr lang="en-US" sz="900" dirty="0"/>
          </a:p>
        </p:txBody>
      </p:sp>
      <p:sp>
        <p:nvSpPr>
          <p:cNvPr id="38" name="Shape 36"/>
          <p:cNvSpPr/>
          <p:nvPr/>
        </p:nvSpPr>
        <p:spPr>
          <a:xfrm>
            <a:off x="713232" y="5742432"/>
            <a:ext cx="6492240" cy="384048"/>
          </a:xfrm>
          <a:prstGeom prst="rect">
            <a:avLst/>
          </a:prstGeom>
          <a:solidFill>
            <a:srgbClr val="FFFFFF"/>
          </a:solidFill>
          <a:ln w="9525">
            <a:solidFill>
              <a:srgbClr val="DFE3E8"/>
            </a:solidFill>
            <a:prstDash val="solid"/>
          </a:ln>
        </p:spPr>
      </p:sp>
      <p:sp>
        <p:nvSpPr>
          <p:cNvPr id="39" name="Shape 37"/>
          <p:cNvSpPr/>
          <p:nvPr/>
        </p:nvSpPr>
        <p:spPr>
          <a:xfrm>
            <a:off x="1024128" y="5879592"/>
            <a:ext cx="73152" cy="73152"/>
          </a:xfrm>
          <a:prstGeom prst="rect">
            <a:avLst/>
          </a:prstGeom>
          <a:solidFill>
            <a:srgbClr val="B0703A"/>
          </a:solidFill>
          <a:ln w="12700">
            <a:solidFill>
              <a:srgbClr val="B0703A"/>
            </a:solidFill>
            <a:prstDash val="solid"/>
          </a:ln>
        </p:spPr>
      </p:sp>
      <p:sp>
        <p:nvSpPr>
          <p:cNvPr id="40" name="Text 38"/>
          <p:cNvSpPr txBox="1"/>
          <p:nvPr/>
        </p:nvSpPr>
        <p:spPr>
          <a:xfrm>
            <a:off x="1207008" y="5815584"/>
            <a:ext cx="1645920" cy="237744"/>
          </a:xfrm>
          <a:prstGeom prst="rect">
            <a:avLst/>
          </a:prstGeom>
          <a:noFill/>
          <a:ln/>
        </p:spPr>
        <p:txBody>
          <a:bodyPr wrap="square" lIns="0" tIns="0" rIns="0" bIns="0" rtlCol="0" anchor="t"/>
          <a:lstStyle/>
          <a:p>
            <a:pPr indent="0" marL="0">
              <a:buNone/>
            </a:pPr>
            <a:r>
              <a:rPr lang="en-US" sz="1050" b="1" dirty="0">
                <a:solidFill>
                  <a:srgbClr val="0E1621"/>
                </a:solidFill>
                <a:latin typeface="Malgun Gothic" pitchFamily="34" charset="0"/>
                <a:ea typeface="Malgun Gothic" pitchFamily="34" charset="-122"/>
                <a:cs typeface="Malgun Gothic" pitchFamily="34" charset="-120"/>
              </a:rPr>
              <a:t>수동 즉시 점검</a:t>
            </a:r>
            <a:endParaRPr lang="en-US" sz="1050" dirty="0"/>
          </a:p>
        </p:txBody>
      </p:sp>
      <p:sp>
        <p:nvSpPr>
          <p:cNvPr id="41" name="Text 39"/>
          <p:cNvSpPr txBox="1"/>
          <p:nvPr/>
        </p:nvSpPr>
        <p:spPr>
          <a:xfrm>
            <a:off x="2944368" y="5824728"/>
            <a:ext cx="4023360" cy="237744"/>
          </a:xfrm>
          <a:prstGeom prst="rect">
            <a:avLst/>
          </a:prstGeom>
          <a:noFill/>
          <a:ln/>
        </p:spPr>
        <p:txBody>
          <a:bodyPr wrap="square" lIns="0" tIns="0" rIns="0" bIns="0" rtlCol="0" anchor="t"/>
          <a:lstStyle/>
          <a:p>
            <a:pPr indent="0" marL="0">
              <a:buNone/>
            </a:pPr>
            <a:r>
              <a:rPr lang="en-US" sz="900" dirty="0">
                <a:solidFill>
                  <a:srgbClr val="68747F"/>
                </a:solidFill>
                <a:latin typeface="Malgun Gothic" pitchFamily="34" charset="0"/>
                <a:ea typeface="Malgun Gothic" pitchFamily="34" charset="-122"/>
                <a:cs typeface="Malgun Gothic" pitchFamily="34" charset="-120"/>
              </a:rPr>
              <a:t>‘지금 중요 공시 점검’ 버튼으로 스캔을 강제 실행하고 감지·발송 건수를 즉시 표시합니다.</a:t>
            </a:r>
            <a:endParaRPr lang="en-US" sz="900" dirty="0"/>
          </a:p>
        </p:txBody>
      </p:sp>
      <p:sp>
        <p:nvSpPr>
          <p:cNvPr id="42" name="Shape 40"/>
          <p:cNvSpPr/>
          <p:nvPr/>
        </p:nvSpPr>
        <p:spPr>
          <a:xfrm>
            <a:off x="7461504" y="1792224"/>
            <a:ext cx="4014216" cy="4389120"/>
          </a:xfrm>
          <a:prstGeom prst="rect">
            <a:avLst/>
          </a:prstGeom>
          <a:solidFill>
            <a:srgbClr val="0E1621"/>
          </a:solidFill>
          <a:ln w="12700">
            <a:solidFill>
              <a:srgbClr val="333333"/>
            </a:solidFill>
            <a:prstDash val="solid"/>
          </a:ln>
        </p:spPr>
      </p:sp>
      <p:sp>
        <p:nvSpPr>
          <p:cNvPr id="43" name="Text 41"/>
          <p:cNvSpPr txBox="1"/>
          <p:nvPr/>
        </p:nvSpPr>
        <p:spPr>
          <a:xfrm>
            <a:off x="7772400" y="2011680"/>
            <a:ext cx="3108960" cy="256032"/>
          </a:xfrm>
          <a:prstGeom prst="rect">
            <a:avLst/>
          </a:prstGeom>
          <a:noFill/>
          <a:ln/>
        </p:spPr>
        <p:txBody>
          <a:bodyPr wrap="square" lIns="0" tIns="0" rIns="0" bIns="0" rtlCol="0" anchor="t"/>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왜 화면으로 뺐는가</a:t>
            </a:r>
            <a:endParaRPr lang="en-US" sz="1250" dirty="0"/>
          </a:p>
        </p:txBody>
      </p:sp>
      <p:sp>
        <p:nvSpPr>
          <p:cNvPr id="44" name="Text 42"/>
          <p:cNvSpPr txBox="1"/>
          <p:nvPr/>
        </p:nvSpPr>
        <p:spPr>
          <a:xfrm>
            <a:off x="7772400" y="2322576"/>
            <a:ext cx="3401568" cy="731520"/>
          </a:xfrm>
          <a:prstGeom prst="rect">
            <a:avLst/>
          </a:prstGeom>
          <a:noFill/>
          <a:ln/>
        </p:spPr>
        <p:txBody>
          <a:bodyPr wrap="square" lIns="0" tIns="0" rIns="0" bIns="0" rtlCol="0" anchor="t"/>
          <a:lstStyle/>
          <a:p>
            <a:pPr indent="0" marL="0">
              <a:lnSpc>
                <a:spcPts val="1600"/>
              </a:lnSpc>
              <a:buNone/>
            </a:pPr>
            <a:r>
              <a:rPr lang="en-US" sz="1050" dirty="0">
                <a:solidFill>
                  <a:srgbClr val="9FADBB"/>
                </a:solidFill>
                <a:latin typeface="Malgun Gothic" pitchFamily="34" charset="0"/>
                <a:ea typeface="Malgun Gothic" pitchFamily="34" charset="-122"/>
                <a:cs typeface="Malgun Gothic" pitchFamily="34" charset="-120"/>
              </a:rPr>
              <a:t>수신자를 코드나 .env에 하드코딩하면 사람이 바뀔 때마다 개발자가 배포를 해야 합니다. 운영자가 직접 추가·삭제·중지할 수 있어야 실제로 쓸 수 있다고 판단했습니다.</a:t>
            </a:r>
            <a:endParaRPr lang="en-US" sz="1050" dirty="0"/>
          </a:p>
        </p:txBody>
      </p:sp>
      <p:sp>
        <p:nvSpPr>
          <p:cNvPr id="45" name="Shape 43"/>
          <p:cNvSpPr/>
          <p:nvPr/>
        </p:nvSpPr>
        <p:spPr>
          <a:xfrm>
            <a:off x="7772400" y="3163824"/>
            <a:ext cx="3108960" cy="10973"/>
          </a:xfrm>
          <a:prstGeom prst="rect">
            <a:avLst/>
          </a:prstGeom>
          <a:solidFill>
            <a:srgbClr val="2B3A4B"/>
          </a:solidFill>
          <a:ln w="12700">
            <a:solidFill>
              <a:srgbClr val="2B3A4B"/>
            </a:solidFill>
            <a:prstDash val="solid"/>
          </a:ln>
        </p:spPr>
      </p:sp>
      <p:sp>
        <p:nvSpPr>
          <p:cNvPr id="46" name="Text 44"/>
          <p:cNvSpPr txBox="1"/>
          <p:nvPr/>
        </p:nvSpPr>
        <p:spPr>
          <a:xfrm>
            <a:off x="7772400" y="3328416"/>
            <a:ext cx="3108960" cy="237744"/>
          </a:xfrm>
          <a:prstGeom prst="rect">
            <a:avLst/>
          </a:prstGeom>
          <a:noFill/>
          <a:ln/>
        </p:spPr>
        <p:txBody>
          <a:bodyPr wrap="square" lIns="0" tIns="0" rIns="0" bIns="0" rtlCol="0" anchor="t"/>
          <a:lstStyle/>
          <a:p>
            <a:pPr indent="0" marL="0">
              <a:buNone/>
            </a:pPr>
            <a:r>
              <a:rPr lang="en-US" sz="1150" b="1" dirty="0">
                <a:solidFill>
                  <a:srgbClr val="E0A76D"/>
                </a:solidFill>
                <a:latin typeface="Malgun Gothic" pitchFamily="34" charset="0"/>
                <a:ea typeface="Malgun Gothic" pitchFamily="34" charset="-122"/>
                <a:cs typeface="Malgun Gothic" pitchFamily="34" charset="-120"/>
              </a:rPr>
              <a:t>테스트 발송을 넣은 이유</a:t>
            </a:r>
            <a:endParaRPr lang="en-US" sz="1150" dirty="0"/>
          </a:p>
        </p:txBody>
      </p:sp>
      <p:sp>
        <p:nvSpPr>
          <p:cNvPr id="47" name="Text 45"/>
          <p:cNvSpPr txBox="1"/>
          <p:nvPr/>
        </p:nvSpPr>
        <p:spPr>
          <a:xfrm>
            <a:off x="7772400" y="3621024"/>
            <a:ext cx="3401568" cy="1042416"/>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Telegram은 수신자가 봇과 먼저 대화를 시작해야 메시지를 받을 수 있고, Gmail은 앱 비밀번호가 필요합니다. 설정이 맞는지 확인하려면 실제 중요 공시가 뜰 때까지 기다려야 하는데, 그건 검증 방법이 될 수 없었습니다.</a:t>
            </a:r>
            <a:endParaRPr lang="en-US" sz="1000" dirty="0"/>
          </a:p>
        </p:txBody>
      </p:sp>
      <p:sp>
        <p:nvSpPr>
          <p:cNvPr id="48" name="Shape 46"/>
          <p:cNvSpPr/>
          <p:nvPr/>
        </p:nvSpPr>
        <p:spPr>
          <a:xfrm>
            <a:off x="7772400" y="4791456"/>
            <a:ext cx="3108960" cy="10973"/>
          </a:xfrm>
          <a:prstGeom prst="rect">
            <a:avLst/>
          </a:prstGeom>
          <a:solidFill>
            <a:srgbClr val="2B3A4B"/>
          </a:solidFill>
          <a:ln w="12700">
            <a:solidFill>
              <a:srgbClr val="2B3A4B"/>
            </a:solidFill>
            <a:prstDash val="solid"/>
          </a:ln>
        </p:spPr>
      </p:sp>
      <p:sp>
        <p:nvSpPr>
          <p:cNvPr id="49" name="Text 47"/>
          <p:cNvSpPr txBox="1"/>
          <p:nvPr/>
        </p:nvSpPr>
        <p:spPr>
          <a:xfrm>
            <a:off x="7772400" y="4956048"/>
            <a:ext cx="3108960" cy="237744"/>
          </a:xfrm>
          <a:prstGeom prst="rect">
            <a:avLst/>
          </a:prstGeom>
          <a:noFill/>
          <a:ln/>
        </p:spPr>
        <p:txBody>
          <a:bodyPr wrap="square" lIns="0" tIns="0" rIns="0" bIns="0" rtlCol="0" anchor="t"/>
          <a:lstStyle/>
          <a:p>
            <a:pPr indent="0" marL="0">
              <a:buNone/>
            </a:pPr>
            <a:r>
              <a:rPr lang="en-US" sz="1150" b="1" dirty="0">
                <a:solidFill>
                  <a:srgbClr val="E0A76D"/>
                </a:solidFill>
                <a:latin typeface="Malgun Gothic" pitchFamily="34" charset="0"/>
                <a:ea typeface="Malgun Gothic" pitchFamily="34" charset="-122"/>
                <a:cs typeface="Malgun Gothic" pitchFamily="34" charset="-120"/>
              </a:rPr>
              <a:t>테스트 발송 시나리오</a:t>
            </a:r>
            <a:endParaRPr lang="en-US" sz="1150" dirty="0"/>
          </a:p>
        </p:txBody>
      </p:sp>
      <p:sp>
        <p:nvSpPr>
          <p:cNvPr id="50" name="Text 48"/>
          <p:cNvSpPr txBox="1"/>
          <p:nvPr/>
        </p:nvSpPr>
        <p:spPr>
          <a:xfrm>
            <a:off x="7772400" y="5248656"/>
            <a:ext cx="3401568" cy="603504"/>
          </a:xfrm>
          <a:prstGeom prst="rect">
            <a:avLst/>
          </a:prstGeom>
          <a:noFill/>
          <a:ln/>
        </p:spPr>
        <p:txBody>
          <a:bodyPr wrap="square" lIns="0" tIns="0" rIns="0" bIns="0" rtlCol="0" anchor="t"/>
          <a:lstStyle/>
          <a:p>
            <a:pPr indent="0" marL="0">
              <a:lnSpc>
                <a:spcPts val="1500"/>
              </a:lnSpc>
              <a:buNone/>
            </a:pPr>
            <a:r>
              <a:rPr lang="en-US" sz="1000" dirty="0">
                <a:solidFill>
                  <a:srgbClr val="9FADBB"/>
                </a:solidFill>
                <a:latin typeface="Malgun Gothic" pitchFamily="34" charset="0"/>
                <a:ea typeface="Malgun Gothic" pitchFamily="34" charset="-122"/>
                <a:cs typeface="Malgun Gothic" pitchFamily="34" charset="-120"/>
              </a:rPr>
              <a:t>실제 AI를 호출하지 않고 고정된 연결 확인용 문구를 같은 포맷으로 보냅니다. 성공한 채널 목록과 실패 사유를 함께 반환합니다.</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SECURITY</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알림 기능에서 지킨 보안 원칙</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봇 토큰과 메일 비밀번호를 다루는 기능이라 별도로 정리했습니다</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12</a:t>
            </a:r>
            <a:endParaRPr lang="en-US" sz="950" dirty="0"/>
          </a:p>
        </p:txBody>
      </p:sp>
      <p:sp>
        <p:nvSpPr>
          <p:cNvPr id="7" name="Shape 5"/>
          <p:cNvSpPr/>
          <p:nvPr/>
        </p:nvSpPr>
        <p:spPr>
          <a:xfrm>
            <a:off x="713232" y="1792224"/>
            <a:ext cx="3401568" cy="3383280"/>
          </a:xfrm>
          <a:prstGeom prst="rect">
            <a:avLst/>
          </a:prstGeom>
          <a:solidFill>
            <a:srgbClr val="FFFFFF"/>
          </a:solidFill>
          <a:ln w="9525">
            <a:solidFill>
              <a:srgbClr val="DFE3E8"/>
            </a:solidFill>
            <a:prstDash val="solid"/>
          </a:ln>
        </p:spPr>
      </p:sp>
      <p:sp>
        <p:nvSpPr>
          <p:cNvPr id="8" name="Shape 6"/>
          <p:cNvSpPr/>
          <p:nvPr/>
        </p:nvSpPr>
        <p:spPr>
          <a:xfrm>
            <a:off x="1024128" y="2048256"/>
            <a:ext cx="91440" cy="91440"/>
          </a:xfrm>
          <a:prstGeom prst="rect">
            <a:avLst/>
          </a:prstGeom>
          <a:solidFill>
            <a:srgbClr val="2E7358"/>
          </a:solidFill>
          <a:ln w="12700">
            <a:solidFill>
              <a:srgbClr val="2E7358"/>
            </a:solidFill>
            <a:prstDash val="solid"/>
          </a:ln>
        </p:spPr>
      </p:sp>
      <p:sp>
        <p:nvSpPr>
          <p:cNvPr id="9" name="Text 7"/>
          <p:cNvSpPr txBox="1"/>
          <p:nvPr/>
        </p:nvSpPr>
        <p:spPr>
          <a:xfrm>
            <a:off x="1024128" y="2304288"/>
            <a:ext cx="2834640" cy="274320"/>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관리자 인증</a:t>
            </a:r>
            <a:endParaRPr lang="en-US" sz="1500" dirty="0"/>
          </a:p>
        </p:txBody>
      </p:sp>
      <p:sp>
        <p:nvSpPr>
          <p:cNvPr id="10" name="Text 8"/>
          <p:cNvSpPr txBox="1"/>
          <p:nvPr/>
        </p:nvSpPr>
        <p:spPr>
          <a:xfrm>
            <a:off x="1024128" y="2615184"/>
            <a:ext cx="28346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X-Admin-Password 헤더</a:t>
            </a:r>
            <a:endParaRPr lang="en-US" sz="1000" dirty="0"/>
          </a:p>
        </p:txBody>
      </p:sp>
      <p:sp>
        <p:nvSpPr>
          <p:cNvPr id="11" name="Shape 9"/>
          <p:cNvSpPr/>
          <p:nvPr/>
        </p:nvSpPr>
        <p:spPr>
          <a:xfrm>
            <a:off x="1024128" y="2944368"/>
            <a:ext cx="2779776" cy="10973"/>
          </a:xfrm>
          <a:prstGeom prst="rect">
            <a:avLst/>
          </a:prstGeom>
          <a:solidFill>
            <a:srgbClr val="DFE3E8"/>
          </a:solidFill>
          <a:ln w="12700">
            <a:solidFill>
              <a:srgbClr val="DFE3E8"/>
            </a:solidFill>
            <a:prstDash val="solid"/>
          </a:ln>
        </p:spPr>
      </p:sp>
      <p:sp>
        <p:nvSpPr>
          <p:cNvPr id="12" name="Text 10"/>
          <p:cNvSpPr txBox="1"/>
          <p:nvPr/>
        </p:nvSpPr>
        <p:spPr>
          <a:xfrm>
            <a:off x="1024128" y="3127248"/>
            <a:ext cx="2798064" cy="1828800"/>
          </a:xfrm>
          <a:prstGeom prst="rect">
            <a:avLst/>
          </a:prstGeom>
          <a:noFill/>
          <a:ln/>
        </p:spPr>
        <p:txBody>
          <a:bodyPr wrap="square" lIns="0" tIns="0" rIns="0" bIns="0" rtlCol="0" anchor="t"/>
          <a:lstStyle/>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모든 /api/admin/* 엔드포인트에 의존성으로 인증을 걸었습니다.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hmac.compare_digest()로 상수 시간 비교해 타이밍 공격 여지를 줄였습니다.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ADMIN_PASSWORD가 비어 있으면 인증 자체를 거부하고 503을 돌려줍니다.</a:t>
            </a:r>
            <a:endParaRPr lang="en-US" sz="1050" dirty="0"/>
          </a:p>
        </p:txBody>
      </p:sp>
      <p:sp>
        <p:nvSpPr>
          <p:cNvPr id="13" name="Shape 11"/>
          <p:cNvSpPr/>
          <p:nvPr/>
        </p:nvSpPr>
        <p:spPr>
          <a:xfrm>
            <a:off x="4370832" y="1792224"/>
            <a:ext cx="3401568" cy="3383280"/>
          </a:xfrm>
          <a:prstGeom prst="rect">
            <a:avLst/>
          </a:prstGeom>
          <a:solidFill>
            <a:srgbClr val="FFFFFF"/>
          </a:solidFill>
          <a:ln w="9525">
            <a:solidFill>
              <a:srgbClr val="DFE3E8"/>
            </a:solidFill>
            <a:prstDash val="solid"/>
          </a:ln>
        </p:spPr>
      </p:sp>
      <p:sp>
        <p:nvSpPr>
          <p:cNvPr id="14" name="Shape 12"/>
          <p:cNvSpPr/>
          <p:nvPr/>
        </p:nvSpPr>
        <p:spPr>
          <a:xfrm>
            <a:off x="4681728" y="2048256"/>
            <a:ext cx="91440" cy="91440"/>
          </a:xfrm>
          <a:prstGeom prst="rect">
            <a:avLst/>
          </a:prstGeom>
          <a:solidFill>
            <a:srgbClr val="B0703A"/>
          </a:solidFill>
          <a:ln w="12700">
            <a:solidFill>
              <a:srgbClr val="B0703A"/>
            </a:solidFill>
            <a:prstDash val="solid"/>
          </a:ln>
        </p:spPr>
      </p:sp>
      <p:sp>
        <p:nvSpPr>
          <p:cNvPr id="15" name="Text 13"/>
          <p:cNvSpPr txBox="1"/>
          <p:nvPr/>
        </p:nvSpPr>
        <p:spPr>
          <a:xfrm>
            <a:off x="4681728" y="2304288"/>
            <a:ext cx="2834640" cy="274320"/>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시크릿 비노출</a:t>
            </a:r>
            <a:endParaRPr lang="en-US" sz="1500" dirty="0"/>
          </a:p>
        </p:txBody>
      </p:sp>
      <p:sp>
        <p:nvSpPr>
          <p:cNvPr id="16" name="Text 14"/>
          <p:cNvSpPr txBox="1"/>
          <p:nvPr/>
        </p:nvSpPr>
        <p:spPr>
          <a:xfrm>
            <a:off x="4681728" y="2615184"/>
            <a:ext cx="28346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응답에 절대 포함하지 않음</a:t>
            </a:r>
            <a:endParaRPr lang="en-US" sz="1000" dirty="0"/>
          </a:p>
        </p:txBody>
      </p:sp>
      <p:sp>
        <p:nvSpPr>
          <p:cNvPr id="17" name="Shape 15"/>
          <p:cNvSpPr/>
          <p:nvPr/>
        </p:nvSpPr>
        <p:spPr>
          <a:xfrm>
            <a:off x="4681728" y="2944368"/>
            <a:ext cx="2779776" cy="10973"/>
          </a:xfrm>
          <a:prstGeom prst="rect">
            <a:avLst/>
          </a:prstGeom>
          <a:solidFill>
            <a:srgbClr val="DFE3E8"/>
          </a:solidFill>
          <a:ln w="12700">
            <a:solidFill>
              <a:srgbClr val="DFE3E8"/>
            </a:solidFill>
            <a:prstDash val="solid"/>
          </a:ln>
        </p:spPr>
      </p:sp>
      <p:sp>
        <p:nvSpPr>
          <p:cNvPr id="18" name="Text 16"/>
          <p:cNvSpPr txBox="1"/>
          <p:nvPr/>
        </p:nvSpPr>
        <p:spPr>
          <a:xfrm>
            <a:off x="4681728" y="3127248"/>
            <a:ext cx="2798064" cy="1828800"/>
          </a:xfrm>
          <a:prstGeom prst="rect">
            <a:avLst/>
          </a:prstGeom>
          <a:noFill/>
          <a:ln/>
        </p:spPr>
        <p:txBody>
          <a:bodyPr wrap="square" lIns="0" tIns="0" rIns="0" bIns="0" rtlCol="0" anchor="t"/>
          <a:lstStyle/>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SMTP 비밀번호와 봇 토큰은 어떤 관리자 API 응답에도 담기지 않습니다.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상태 확인은 ‘연결됨/설정됨’ 여부와 발신 주소, 보안 방식만 노출합니다.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.env는 .gitignore에 포함해 저장소에 올라가지 않습니다.</a:t>
            </a:r>
            <a:endParaRPr lang="en-US" sz="1050" dirty="0"/>
          </a:p>
        </p:txBody>
      </p:sp>
      <p:sp>
        <p:nvSpPr>
          <p:cNvPr id="19" name="Shape 17"/>
          <p:cNvSpPr/>
          <p:nvPr/>
        </p:nvSpPr>
        <p:spPr>
          <a:xfrm>
            <a:off x="8028432" y="1792224"/>
            <a:ext cx="3401568" cy="3383280"/>
          </a:xfrm>
          <a:prstGeom prst="rect">
            <a:avLst/>
          </a:prstGeom>
          <a:solidFill>
            <a:srgbClr val="FFFFFF"/>
          </a:solidFill>
          <a:ln w="9525">
            <a:solidFill>
              <a:srgbClr val="DFE3E8"/>
            </a:solidFill>
            <a:prstDash val="solid"/>
          </a:ln>
        </p:spPr>
      </p:sp>
      <p:sp>
        <p:nvSpPr>
          <p:cNvPr id="20" name="Shape 18"/>
          <p:cNvSpPr/>
          <p:nvPr/>
        </p:nvSpPr>
        <p:spPr>
          <a:xfrm>
            <a:off x="8339328" y="2048256"/>
            <a:ext cx="91440" cy="91440"/>
          </a:xfrm>
          <a:prstGeom prst="rect">
            <a:avLst/>
          </a:prstGeom>
          <a:solidFill>
            <a:srgbClr val="35618F"/>
          </a:solidFill>
          <a:ln w="12700">
            <a:solidFill>
              <a:srgbClr val="35618F"/>
            </a:solidFill>
            <a:prstDash val="solid"/>
          </a:ln>
        </p:spPr>
      </p:sp>
      <p:sp>
        <p:nvSpPr>
          <p:cNvPr id="21" name="Text 19"/>
          <p:cNvSpPr txBox="1"/>
          <p:nvPr/>
        </p:nvSpPr>
        <p:spPr>
          <a:xfrm>
            <a:off x="8339328" y="2304288"/>
            <a:ext cx="2834640" cy="274320"/>
          </a:xfrm>
          <a:prstGeom prst="rect">
            <a:avLst/>
          </a:prstGeom>
          <a:noFill/>
          <a:ln/>
        </p:spPr>
        <p:txBody>
          <a:bodyPr wrap="square" lIns="0" tIns="0" rIns="0" bIns="0" rtlCol="0" anchor="t"/>
          <a:lstStyle/>
          <a:p>
            <a:pPr indent="0" marL="0">
              <a:buNone/>
            </a:pPr>
            <a:r>
              <a:rPr lang="en-US" sz="1500" b="1" dirty="0">
                <a:solidFill>
                  <a:srgbClr val="0E1621"/>
                </a:solidFill>
                <a:latin typeface="Malgun Gothic" pitchFamily="34" charset="0"/>
                <a:ea typeface="Malgun Gothic" pitchFamily="34" charset="-122"/>
                <a:cs typeface="Malgun Gothic" pitchFamily="34" charset="-120"/>
              </a:rPr>
              <a:t>입력 이스케이프</a:t>
            </a:r>
            <a:endParaRPr lang="en-US" sz="1500" dirty="0"/>
          </a:p>
        </p:txBody>
      </p:sp>
      <p:sp>
        <p:nvSpPr>
          <p:cNvPr id="22" name="Text 20"/>
          <p:cNvSpPr txBox="1"/>
          <p:nvPr/>
        </p:nvSpPr>
        <p:spPr>
          <a:xfrm>
            <a:off x="8339328" y="2615184"/>
            <a:ext cx="2834640" cy="237744"/>
          </a:xfrm>
          <a:prstGeom prst="rect">
            <a:avLst/>
          </a:prstGeom>
          <a:noFill/>
          <a:ln/>
        </p:spPr>
        <p:txBody>
          <a:bodyPr wrap="square" lIns="0" tIns="0" rIns="0" bIns="0" rtlCol="0" anchor="t"/>
          <a:lstStyle/>
          <a:p>
            <a:pPr indent="0" marL="0">
              <a:buNone/>
            </a:pPr>
            <a:r>
              <a:rPr lang="en-US" sz="1000" dirty="0">
                <a:solidFill>
                  <a:srgbClr val="97A2AD"/>
                </a:solidFill>
                <a:latin typeface="Malgun Gothic" pitchFamily="34" charset="0"/>
                <a:ea typeface="Malgun Gothic" pitchFamily="34" charset="-122"/>
                <a:cs typeface="Malgun Gothic" pitchFamily="34" charset="-120"/>
              </a:rPr>
              <a:t>주입 차단</a:t>
            </a:r>
            <a:endParaRPr lang="en-US" sz="1000" dirty="0"/>
          </a:p>
        </p:txBody>
      </p:sp>
      <p:sp>
        <p:nvSpPr>
          <p:cNvPr id="23" name="Shape 21"/>
          <p:cNvSpPr/>
          <p:nvPr/>
        </p:nvSpPr>
        <p:spPr>
          <a:xfrm>
            <a:off x="8339328" y="2944368"/>
            <a:ext cx="2779776" cy="10973"/>
          </a:xfrm>
          <a:prstGeom prst="rect">
            <a:avLst/>
          </a:prstGeom>
          <a:solidFill>
            <a:srgbClr val="DFE3E8"/>
          </a:solidFill>
          <a:ln w="12700">
            <a:solidFill>
              <a:srgbClr val="DFE3E8"/>
            </a:solidFill>
            <a:prstDash val="solid"/>
          </a:ln>
        </p:spPr>
      </p:sp>
      <p:sp>
        <p:nvSpPr>
          <p:cNvPr id="24" name="Text 22"/>
          <p:cNvSpPr txBox="1"/>
          <p:nvPr/>
        </p:nvSpPr>
        <p:spPr>
          <a:xfrm>
            <a:off x="8339328" y="3127248"/>
            <a:ext cx="2798064" cy="1828800"/>
          </a:xfrm>
          <a:prstGeom prst="rect">
            <a:avLst/>
          </a:prstGeom>
          <a:noFill/>
          <a:ln/>
        </p:spPr>
        <p:txBody>
          <a:bodyPr wrap="square" lIns="0" tIns="0" rIns="0" bIns="0" rtlCol="0" anchor="t"/>
          <a:lstStyle/>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Telegram HTML과 이메일 HTML 모두 변수를 html.escape() 처리합니다.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공시 제목에 태그 문자가 들어와도 메시지 구조가 깨지지 않습니다.</a:t>
            </a:r>
            <a:endParaRPr lang="en-US" sz="1050" dirty="0"/>
          </a:p>
          <a:p>
            <a:pPr indent="0" marL="0">
              <a:lnSpc>
                <a:spcPts val="1700"/>
              </a:lnSpc>
              <a:spcAft>
                <a:spcPts val="900"/>
              </a:spcAft>
              <a:buNone/>
            </a:pPr>
            <a:r>
              <a:rPr lang="en-US" sz="1050" dirty="0">
                <a:solidFill>
                  <a:srgbClr val="4A5560"/>
                </a:solidFill>
                <a:latin typeface="Malgun Gothic" pitchFamily="34" charset="0"/>
                <a:ea typeface="Malgun Gothic" pitchFamily="34" charset="-122"/>
                <a:cs typeface="Malgun Gothic" pitchFamily="34" charset="-120"/>
              </a:rPr>
              <a:t>이메일 주소는 정규식 검증 후에만 저장합니다.</a:t>
            </a:r>
            <a:endParaRPr lang="en-US" sz="1050" dirty="0"/>
          </a:p>
        </p:txBody>
      </p:sp>
      <p:sp>
        <p:nvSpPr>
          <p:cNvPr id="25" name="Shape 23"/>
          <p:cNvSpPr/>
          <p:nvPr/>
        </p:nvSpPr>
        <p:spPr>
          <a:xfrm>
            <a:off x="713232" y="5394960"/>
            <a:ext cx="10765231" cy="786384"/>
          </a:xfrm>
          <a:prstGeom prst="rect">
            <a:avLst/>
          </a:prstGeom>
          <a:solidFill>
            <a:srgbClr val="FFFFFF"/>
          </a:solidFill>
          <a:ln w="9525">
            <a:solidFill>
              <a:srgbClr val="DFE3E8"/>
            </a:solidFill>
            <a:prstDash val="solid"/>
          </a:ln>
        </p:spPr>
      </p:sp>
      <p:sp>
        <p:nvSpPr>
          <p:cNvPr id="26" name="Text 24"/>
          <p:cNvSpPr txBox="1"/>
          <p:nvPr/>
        </p:nvSpPr>
        <p:spPr>
          <a:xfrm>
            <a:off x="1024128" y="5577840"/>
            <a:ext cx="1463040" cy="237744"/>
          </a:xfrm>
          <a:prstGeom prst="rect">
            <a:avLst/>
          </a:prstGeom>
          <a:noFill/>
          <a:ln/>
        </p:spPr>
        <p:txBody>
          <a:bodyPr wrap="square" lIns="0" tIns="0" rIns="0" bIns="0" rtlCol="0" anchor="t"/>
          <a:lstStyle/>
          <a:p>
            <a:pPr indent="0" marL="0">
              <a:buNone/>
            </a:pPr>
            <a:r>
              <a:rPr lang="en-US" sz="1150" b="1" dirty="0">
                <a:solidFill>
                  <a:srgbClr val="A8443E"/>
                </a:solidFill>
                <a:latin typeface="Malgun Gothic" pitchFamily="34" charset="0"/>
                <a:ea typeface="Malgun Gothic" pitchFamily="34" charset="-122"/>
                <a:cs typeface="Malgun Gothic" pitchFamily="34" charset="-120"/>
              </a:rPr>
              <a:t>남은 한계</a:t>
            </a:r>
            <a:endParaRPr lang="en-US" sz="1150" dirty="0"/>
          </a:p>
        </p:txBody>
      </p:sp>
      <p:sp>
        <p:nvSpPr>
          <p:cNvPr id="27" name="Text 25"/>
          <p:cNvSpPr txBox="1"/>
          <p:nvPr/>
        </p:nvSpPr>
        <p:spPr>
          <a:xfrm>
            <a:off x="2633472" y="5559552"/>
            <a:ext cx="8595360" cy="457200"/>
          </a:xfrm>
          <a:prstGeom prst="rect">
            <a:avLst/>
          </a:prstGeom>
          <a:noFill/>
          <a:ln/>
        </p:spPr>
        <p:txBody>
          <a:bodyPr wrap="square" lIns="0" tIns="0" rIns="0" bIns="0" rtlCol="0" anchor="t"/>
          <a:lstStyle/>
          <a:p>
            <a:pPr indent="0" marL="0">
              <a:lnSpc>
                <a:spcPts val="1600"/>
              </a:lnSpc>
              <a:buNone/>
            </a:pPr>
            <a:r>
              <a:rPr lang="en-US" sz="1100" dirty="0">
                <a:solidFill>
                  <a:srgbClr val="4A5560"/>
                </a:solidFill>
                <a:latin typeface="Malgun Gothic" pitchFamily="34" charset="0"/>
                <a:ea typeface="Malgun Gothic" pitchFamily="34" charset="-122"/>
                <a:cs typeface="Malgun Gothic" pitchFamily="34" charset="-120"/>
              </a:rPr>
              <a:t>관리자 비밀번호에 시도 횟수 제한이 없어 무제한 대입이 가능합니다. 로컬 실행 전제라 현재는 위험이 낮지만, 사내 서버로 배포한다면 시도 제한과 세션 만료를 먼저 붙여야 합니다.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B0703A"/>
          </a:solidFill>
          <a:ln w="12700">
            <a:solidFill>
              <a:srgbClr val="B0703A"/>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8E5729"/>
                </a:solidFill>
                <a:latin typeface="Malgun Gothic" pitchFamily="34" charset="0"/>
                <a:ea typeface="Malgun Gothic" pitchFamily="34" charset="-122"/>
                <a:cs typeface="Malgun Gothic" pitchFamily="34" charset="-120"/>
              </a:rPr>
              <a:t>TROUBLESHOOTING</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2800" b="1" dirty="0">
                <a:solidFill>
                  <a:srgbClr val="0E1621"/>
                </a:solidFill>
                <a:latin typeface="Malgun Gothic" pitchFamily="34" charset="0"/>
                <a:ea typeface="Malgun Gothic" pitchFamily="34" charset="-122"/>
                <a:cs typeface="Malgun Gothic" pitchFamily="34" charset="-120"/>
              </a:rPr>
              <a:t>이 기능을 만들며 막혔던 지점</a:t>
            </a:r>
            <a:endParaRPr lang="en-US" sz="2800" dirty="0"/>
          </a:p>
        </p:txBody>
      </p:sp>
      <p:sp>
        <p:nvSpPr>
          <p:cNvPr id="5" name="Text 3"/>
          <p:cNvSpPr txBox="1"/>
          <p:nvPr/>
        </p:nvSpPr>
        <p:spPr>
          <a:xfrm>
            <a:off x="713232" y="1353312"/>
            <a:ext cx="10765231" cy="274320"/>
          </a:xfrm>
          <a:prstGeom prst="rect">
            <a:avLst/>
          </a:prstGeom>
          <a:noFill/>
          <a:ln/>
        </p:spPr>
        <p:txBody>
          <a:bodyPr wrap="square" lIns="0" tIns="0" rIns="0" bIns="0" rtlCol="0" anchor="t"/>
          <a:lstStyle/>
          <a:p>
            <a:pPr indent="0" marL="0">
              <a:buNone/>
            </a:pPr>
            <a:r>
              <a:rPr lang="en-US" sz="1250" dirty="0">
                <a:solidFill>
                  <a:srgbClr val="68747F"/>
                </a:solidFill>
                <a:latin typeface="Malgun Gothic" pitchFamily="34" charset="0"/>
                <a:ea typeface="Malgun Gothic" pitchFamily="34" charset="-122"/>
                <a:cs typeface="Malgun Gothic" pitchFamily="34" charset="-120"/>
              </a:rPr>
              <a:t>알림 기능에 한정해 실제로 겪은 문제와 해결 방법입니다</a:t>
            </a:r>
            <a:endParaRPr lang="en-US" sz="1250" dirty="0"/>
          </a:p>
        </p:txBody>
      </p:sp>
      <p:sp>
        <p:nvSpPr>
          <p:cNvPr id="6" name="Text 4"/>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97A2AD"/>
                </a:solidFill>
                <a:latin typeface="Malgun Gothic" pitchFamily="34" charset="0"/>
                <a:ea typeface="Malgun Gothic" pitchFamily="34" charset="-122"/>
                <a:cs typeface="Malgun Gothic" pitchFamily="34" charset="-120"/>
              </a:rPr>
              <a:t>13</a:t>
            </a:r>
            <a:endParaRPr lang="en-US" sz="950" dirty="0"/>
          </a:p>
        </p:txBody>
      </p:sp>
      <p:sp>
        <p:nvSpPr>
          <p:cNvPr id="7" name="Text 5"/>
          <p:cNvSpPr txBox="1"/>
          <p:nvPr/>
        </p:nvSpPr>
        <p:spPr>
          <a:xfrm>
            <a:off x="969264" y="1810512"/>
            <a:ext cx="2377440" cy="219456"/>
          </a:xfrm>
          <a:prstGeom prst="rect">
            <a:avLst/>
          </a:prstGeom>
          <a:noFill/>
          <a:ln/>
        </p:spPr>
        <p:txBody>
          <a:bodyPr wrap="square" lIns="0" tIns="0" rIns="0" bIns="0" rtlCol="0" anchor="t"/>
          <a:lstStyle/>
          <a:p>
            <a:pPr indent="0" marL="0">
              <a:buNone/>
            </a:pPr>
            <a:r>
              <a:rPr lang="en-US" sz="900" b="1" spc="80" kern="0" dirty="0">
                <a:solidFill>
                  <a:srgbClr val="97A2AD"/>
                </a:solidFill>
                <a:latin typeface="Malgun Gothic" pitchFamily="34" charset="0"/>
                <a:ea typeface="Malgun Gothic" pitchFamily="34" charset="-122"/>
                <a:cs typeface="Malgun Gothic" pitchFamily="34" charset="-120"/>
              </a:rPr>
              <a:t>문제</a:t>
            </a:r>
            <a:endParaRPr lang="en-US" sz="900" dirty="0"/>
          </a:p>
        </p:txBody>
      </p:sp>
      <p:sp>
        <p:nvSpPr>
          <p:cNvPr id="8" name="Text 6"/>
          <p:cNvSpPr txBox="1"/>
          <p:nvPr/>
        </p:nvSpPr>
        <p:spPr>
          <a:xfrm>
            <a:off x="3913632" y="1810512"/>
            <a:ext cx="3291840" cy="219456"/>
          </a:xfrm>
          <a:prstGeom prst="rect">
            <a:avLst/>
          </a:prstGeom>
          <a:noFill/>
          <a:ln/>
        </p:spPr>
        <p:txBody>
          <a:bodyPr wrap="square" lIns="0" tIns="0" rIns="0" bIns="0" rtlCol="0" anchor="t"/>
          <a:lstStyle/>
          <a:p>
            <a:pPr indent="0" marL="0">
              <a:buNone/>
            </a:pPr>
            <a:r>
              <a:rPr lang="en-US" sz="900" b="1" spc="80" kern="0" dirty="0">
                <a:solidFill>
                  <a:srgbClr val="97A2AD"/>
                </a:solidFill>
                <a:latin typeface="Malgun Gothic" pitchFamily="34" charset="0"/>
                <a:ea typeface="Malgun Gothic" pitchFamily="34" charset="-122"/>
                <a:cs typeface="Malgun Gothic" pitchFamily="34" charset="-120"/>
              </a:rPr>
              <a:t>원인</a:t>
            </a:r>
            <a:endParaRPr lang="en-US" sz="900" dirty="0"/>
          </a:p>
        </p:txBody>
      </p:sp>
      <p:sp>
        <p:nvSpPr>
          <p:cNvPr id="9" name="Text 7"/>
          <p:cNvSpPr txBox="1"/>
          <p:nvPr/>
        </p:nvSpPr>
        <p:spPr>
          <a:xfrm>
            <a:off x="7662672" y="1810512"/>
            <a:ext cx="3657600" cy="219456"/>
          </a:xfrm>
          <a:prstGeom prst="rect">
            <a:avLst/>
          </a:prstGeom>
          <a:noFill/>
          <a:ln/>
        </p:spPr>
        <p:txBody>
          <a:bodyPr wrap="square" lIns="0" tIns="0" rIns="0" bIns="0" rtlCol="0" anchor="t"/>
          <a:lstStyle/>
          <a:p>
            <a:pPr indent="0" marL="0">
              <a:buNone/>
            </a:pPr>
            <a:r>
              <a:rPr lang="en-US" sz="900" b="1" spc="80" kern="0" dirty="0">
                <a:solidFill>
                  <a:srgbClr val="97A2AD"/>
                </a:solidFill>
                <a:latin typeface="Malgun Gothic" pitchFamily="34" charset="0"/>
                <a:ea typeface="Malgun Gothic" pitchFamily="34" charset="-122"/>
                <a:cs typeface="Malgun Gothic" pitchFamily="34" charset="-120"/>
              </a:rPr>
              <a:t>해결</a:t>
            </a:r>
            <a:endParaRPr lang="en-US" sz="900" dirty="0"/>
          </a:p>
        </p:txBody>
      </p:sp>
      <p:sp>
        <p:nvSpPr>
          <p:cNvPr id="10" name="Shape 8"/>
          <p:cNvSpPr/>
          <p:nvPr/>
        </p:nvSpPr>
        <p:spPr>
          <a:xfrm>
            <a:off x="713232" y="2103120"/>
            <a:ext cx="10765231" cy="694944"/>
          </a:xfrm>
          <a:prstGeom prst="rect">
            <a:avLst/>
          </a:prstGeom>
          <a:solidFill>
            <a:srgbClr val="FFFFFF"/>
          </a:solidFill>
          <a:ln w="9525">
            <a:solidFill>
              <a:srgbClr val="DFE3E8"/>
            </a:solidFill>
            <a:prstDash val="solid"/>
          </a:ln>
        </p:spPr>
      </p:sp>
      <p:sp>
        <p:nvSpPr>
          <p:cNvPr id="11" name="Text 9"/>
          <p:cNvSpPr txBox="1"/>
          <p:nvPr/>
        </p:nvSpPr>
        <p:spPr>
          <a:xfrm>
            <a:off x="969264" y="2340864"/>
            <a:ext cx="329184" cy="219456"/>
          </a:xfrm>
          <a:prstGeom prst="rect">
            <a:avLst/>
          </a:prstGeom>
          <a:noFill/>
          <a:ln/>
        </p:spPr>
        <p:txBody>
          <a:bodyPr wrap="square" lIns="0" tIns="0" rIns="0" bIns="0" rtlCol="0" anchor="t"/>
          <a:lstStyle/>
          <a:p>
            <a:pPr indent="0" marL="0">
              <a:buNone/>
            </a:pPr>
            <a:r>
              <a:rPr lang="en-US" sz="950" b="1" dirty="0">
                <a:solidFill>
                  <a:srgbClr val="B0703A"/>
                </a:solidFill>
                <a:latin typeface="Malgun Gothic" pitchFamily="34" charset="0"/>
                <a:ea typeface="Malgun Gothic" pitchFamily="34" charset="-122"/>
                <a:cs typeface="Malgun Gothic" pitchFamily="34" charset="-120"/>
              </a:rPr>
              <a:t>01</a:t>
            </a:r>
            <a:endParaRPr lang="en-US" sz="950" dirty="0"/>
          </a:p>
        </p:txBody>
      </p:sp>
      <p:sp>
        <p:nvSpPr>
          <p:cNvPr id="12" name="Text 10"/>
          <p:cNvSpPr txBox="1"/>
          <p:nvPr/>
        </p:nvSpPr>
        <p:spPr>
          <a:xfrm>
            <a:off x="1371600" y="2249424"/>
            <a:ext cx="2468880" cy="420624"/>
          </a:xfrm>
          <a:prstGeom prst="rect">
            <a:avLst/>
          </a:prstGeom>
          <a:noFill/>
          <a:ln/>
        </p:spPr>
        <p:txBody>
          <a:bodyPr wrap="square" lIns="0" tIns="0" rIns="0" bIns="0" rtlCol="0" anchor="t"/>
          <a:lstStyle/>
          <a:p>
            <a:pPr indent="0" marL="0">
              <a:lnSpc>
                <a:spcPts val="1600"/>
              </a:lnSpc>
              <a:buNone/>
            </a:pPr>
            <a:r>
              <a:rPr lang="en-US" sz="1100" b="1" dirty="0">
                <a:solidFill>
                  <a:srgbClr val="0E1621"/>
                </a:solidFill>
                <a:latin typeface="Malgun Gothic" pitchFamily="34" charset="0"/>
                <a:ea typeface="Malgun Gothic" pitchFamily="34" charset="-122"/>
                <a:cs typeface="Malgun Gothic" pitchFamily="34" charset="-120"/>
              </a:rPr>
              <a:t>같은 공시가 반복 발송됐다</a:t>
            </a:r>
            <a:endParaRPr lang="en-US" sz="1100" dirty="0"/>
          </a:p>
        </p:txBody>
      </p:sp>
      <p:sp>
        <p:nvSpPr>
          <p:cNvPr id="13" name="Text 11"/>
          <p:cNvSpPr txBox="1"/>
          <p:nvPr/>
        </p:nvSpPr>
        <p:spPr>
          <a:xfrm>
            <a:off x="3913632" y="2231136"/>
            <a:ext cx="3566160" cy="475488"/>
          </a:xfrm>
          <a:prstGeom prst="rect">
            <a:avLst/>
          </a:prstGeom>
          <a:noFill/>
          <a:ln/>
        </p:spPr>
        <p:txBody>
          <a:bodyPr wrap="square" lIns="0" tIns="0" rIns="0" bIns="0" rtlCol="0" anchor="t"/>
          <a:lstStyle/>
          <a:p>
            <a:pPr indent="0" marL="0">
              <a:lnSpc>
                <a:spcPts val="1500"/>
              </a:lnSpc>
              <a:buNone/>
            </a:pPr>
            <a:r>
              <a:rPr lang="en-US" sz="950" dirty="0">
                <a:solidFill>
                  <a:srgbClr val="68747F"/>
                </a:solidFill>
                <a:latin typeface="Malgun Gothic" pitchFamily="34" charset="0"/>
                <a:ea typeface="Malgun Gothic" pitchFamily="34" charset="-122"/>
                <a:cs typeface="Malgun Gothic" pitchFamily="34" charset="-120"/>
              </a:rPr>
              <a:t>당일 공시는 자정까지 조회 결과에 남는데 5분마다 스캔이 돎</a:t>
            </a:r>
            <a:endParaRPr lang="en-US" sz="950" dirty="0"/>
          </a:p>
        </p:txBody>
      </p:sp>
      <p:sp>
        <p:nvSpPr>
          <p:cNvPr id="14" name="Shape 12"/>
          <p:cNvSpPr/>
          <p:nvPr/>
        </p:nvSpPr>
        <p:spPr>
          <a:xfrm>
            <a:off x="7571232" y="2231136"/>
            <a:ext cx="14630" cy="438912"/>
          </a:xfrm>
          <a:prstGeom prst="rect">
            <a:avLst/>
          </a:prstGeom>
          <a:solidFill>
            <a:srgbClr val="DFE3E8"/>
          </a:solidFill>
          <a:ln w="12700">
            <a:solidFill>
              <a:srgbClr val="DFE3E8"/>
            </a:solidFill>
            <a:prstDash val="solid"/>
          </a:ln>
        </p:spPr>
      </p:sp>
      <p:sp>
        <p:nvSpPr>
          <p:cNvPr id="15" name="Text 13"/>
          <p:cNvSpPr txBox="1"/>
          <p:nvPr/>
        </p:nvSpPr>
        <p:spPr>
          <a:xfrm>
            <a:off x="7790688" y="2231136"/>
            <a:ext cx="3529584" cy="475488"/>
          </a:xfrm>
          <a:prstGeom prst="rect">
            <a:avLst/>
          </a:prstGeom>
          <a:noFill/>
          <a:ln/>
        </p:spPr>
        <p:txBody>
          <a:bodyPr wrap="square" lIns="0" tIns="0" rIns="0" bIns="0" rtlCol="0" anchor="t"/>
          <a:lstStyle/>
          <a:p>
            <a:pPr indent="0" marL="0">
              <a:lnSpc>
                <a:spcPts val="1500"/>
              </a:lnSpc>
              <a:buNone/>
            </a:pPr>
            <a:r>
              <a:rPr lang="en-US" sz="950" dirty="0">
                <a:solidFill>
                  <a:srgbClr val="4A5560"/>
                </a:solidFill>
                <a:latin typeface="Malgun Gothic" pitchFamily="34" charset="0"/>
                <a:ea typeface="Malgun Gothic" pitchFamily="34" charset="-122"/>
                <a:cs typeface="Malgun Gothic" pitchFamily="34" charset="-120"/>
              </a:rPr>
              <a:t>(수신자·접수번호·채널) 복합 기본키 이력 테이블로 발송 전 조회·발송 후 기록</a:t>
            </a:r>
            <a:endParaRPr lang="en-US" sz="950" dirty="0"/>
          </a:p>
        </p:txBody>
      </p:sp>
      <p:sp>
        <p:nvSpPr>
          <p:cNvPr id="16" name="Shape 14"/>
          <p:cNvSpPr/>
          <p:nvPr/>
        </p:nvSpPr>
        <p:spPr>
          <a:xfrm>
            <a:off x="713232" y="2907792"/>
            <a:ext cx="10765231" cy="694944"/>
          </a:xfrm>
          <a:prstGeom prst="rect">
            <a:avLst/>
          </a:prstGeom>
          <a:solidFill>
            <a:srgbClr val="FFFFFF"/>
          </a:solidFill>
          <a:ln w="9525">
            <a:solidFill>
              <a:srgbClr val="DFE3E8"/>
            </a:solidFill>
            <a:prstDash val="solid"/>
          </a:ln>
        </p:spPr>
      </p:sp>
      <p:sp>
        <p:nvSpPr>
          <p:cNvPr id="17" name="Text 15"/>
          <p:cNvSpPr txBox="1"/>
          <p:nvPr/>
        </p:nvSpPr>
        <p:spPr>
          <a:xfrm>
            <a:off x="969264" y="3145536"/>
            <a:ext cx="329184" cy="219456"/>
          </a:xfrm>
          <a:prstGeom prst="rect">
            <a:avLst/>
          </a:prstGeom>
          <a:noFill/>
          <a:ln/>
        </p:spPr>
        <p:txBody>
          <a:bodyPr wrap="square" lIns="0" tIns="0" rIns="0" bIns="0" rtlCol="0" anchor="t"/>
          <a:lstStyle/>
          <a:p>
            <a:pPr indent="0" marL="0">
              <a:buNone/>
            </a:pPr>
            <a:r>
              <a:rPr lang="en-US" sz="950" b="1" dirty="0">
                <a:solidFill>
                  <a:srgbClr val="B0703A"/>
                </a:solidFill>
                <a:latin typeface="Malgun Gothic" pitchFamily="34" charset="0"/>
                <a:ea typeface="Malgun Gothic" pitchFamily="34" charset="-122"/>
                <a:cs typeface="Malgun Gothic" pitchFamily="34" charset="-120"/>
              </a:rPr>
              <a:t>02</a:t>
            </a:r>
            <a:endParaRPr lang="en-US" sz="950" dirty="0"/>
          </a:p>
        </p:txBody>
      </p:sp>
      <p:sp>
        <p:nvSpPr>
          <p:cNvPr id="18" name="Text 16"/>
          <p:cNvSpPr txBox="1"/>
          <p:nvPr/>
        </p:nvSpPr>
        <p:spPr>
          <a:xfrm>
            <a:off x="1371600" y="3054096"/>
            <a:ext cx="2468880" cy="420624"/>
          </a:xfrm>
          <a:prstGeom prst="rect">
            <a:avLst/>
          </a:prstGeom>
          <a:noFill/>
          <a:ln/>
        </p:spPr>
        <p:txBody>
          <a:bodyPr wrap="square" lIns="0" tIns="0" rIns="0" bIns="0" rtlCol="0" anchor="t"/>
          <a:lstStyle/>
          <a:p>
            <a:pPr indent="0" marL="0">
              <a:lnSpc>
                <a:spcPts val="1600"/>
              </a:lnSpc>
              <a:buNone/>
            </a:pPr>
            <a:r>
              <a:rPr lang="en-US" sz="1100" b="1" dirty="0">
                <a:solidFill>
                  <a:srgbClr val="0E1621"/>
                </a:solidFill>
                <a:latin typeface="Malgun Gothic" pitchFamily="34" charset="0"/>
                <a:ea typeface="Malgun Gothic" pitchFamily="34" charset="-122"/>
                <a:cs typeface="Malgun Gothic" pitchFamily="34" charset="-120"/>
              </a:rPr>
              <a:t>공시 본문이 전부 깨졌다</a:t>
            </a:r>
            <a:endParaRPr lang="en-US" sz="1100" dirty="0"/>
          </a:p>
        </p:txBody>
      </p:sp>
      <p:sp>
        <p:nvSpPr>
          <p:cNvPr id="19" name="Text 17"/>
          <p:cNvSpPr txBox="1"/>
          <p:nvPr/>
        </p:nvSpPr>
        <p:spPr>
          <a:xfrm>
            <a:off x="3913632" y="3035808"/>
            <a:ext cx="3566160" cy="475488"/>
          </a:xfrm>
          <a:prstGeom prst="rect">
            <a:avLst/>
          </a:prstGeom>
          <a:noFill/>
          <a:ln/>
        </p:spPr>
        <p:txBody>
          <a:bodyPr wrap="square" lIns="0" tIns="0" rIns="0" bIns="0" rtlCol="0" anchor="t"/>
          <a:lstStyle/>
          <a:p>
            <a:pPr indent="0" marL="0">
              <a:lnSpc>
                <a:spcPts val="1500"/>
              </a:lnSpc>
              <a:buNone/>
            </a:pPr>
            <a:r>
              <a:rPr lang="en-US" sz="950" dirty="0">
                <a:solidFill>
                  <a:srgbClr val="68747F"/>
                </a:solidFill>
                <a:latin typeface="Malgun Gothic" pitchFamily="34" charset="0"/>
                <a:ea typeface="Malgun Gothic" pitchFamily="34" charset="-122"/>
                <a:cs typeface="Malgun Gothic" pitchFamily="34" charset="-120"/>
              </a:rPr>
              <a:t>DART 뷰어 응답 메타데이터가 한글 레거시 charset을 가리킴</a:t>
            </a:r>
            <a:endParaRPr lang="en-US" sz="950" dirty="0"/>
          </a:p>
        </p:txBody>
      </p:sp>
      <p:sp>
        <p:nvSpPr>
          <p:cNvPr id="20" name="Shape 18"/>
          <p:cNvSpPr/>
          <p:nvPr/>
        </p:nvSpPr>
        <p:spPr>
          <a:xfrm>
            <a:off x="7571232" y="3035808"/>
            <a:ext cx="14630" cy="438912"/>
          </a:xfrm>
          <a:prstGeom prst="rect">
            <a:avLst/>
          </a:prstGeom>
          <a:solidFill>
            <a:srgbClr val="DFE3E8"/>
          </a:solidFill>
          <a:ln w="12700">
            <a:solidFill>
              <a:srgbClr val="DFE3E8"/>
            </a:solidFill>
            <a:prstDash val="solid"/>
          </a:ln>
        </p:spPr>
      </p:sp>
      <p:sp>
        <p:nvSpPr>
          <p:cNvPr id="21" name="Text 19"/>
          <p:cNvSpPr txBox="1"/>
          <p:nvPr/>
        </p:nvSpPr>
        <p:spPr>
          <a:xfrm>
            <a:off x="7790688" y="3035808"/>
            <a:ext cx="3529584" cy="475488"/>
          </a:xfrm>
          <a:prstGeom prst="rect">
            <a:avLst/>
          </a:prstGeom>
          <a:noFill/>
          <a:ln/>
        </p:spPr>
        <p:txBody>
          <a:bodyPr wrap="square" lIns="0" tIns="0" rIns="0" bIns="0" rtlCol="0" anchor="t"/>
          <a:lstStyle/>
          <a:p>
            <a:pPr indent="0" marL="0">
              <a:lnSpc>
                <a:spcPts val="1500"/>
              </a:lnSpc>
              <a:buNone/>
            </a:pPr>
            <a:r>
              <a:rPr lang="en-US" sz="950" dirty="0">
                <a:solidFill>
                  <a:srgbClr val="4A5560"/>
                </a:solidFill>
                <a:latin typeface="Malgun Gothic" pitchFamily="34" charset="0"/>
                <a:ea typeface="Malgun Gothic" pitchFamily="34" charset="-122"/>
                <a:cs typeface="Malgun Gothic" pitchFamily="34" charset="-120"/>
              </a:rPr>
              <a:t>메타데이터를 무시하고 UTF-8로 강제 디코딩, errors="replace"로 부분 손상 허용</a:t>
            </a:r>
            <a:endParaRPr lang="en-US" sz="950" dirty="0"/>
          </a:p>
        </p:txBody>
      </p:sp>
      <p:sp>
        <p:nvSpPr>
          <p:cNvPr id="22" name="Shape 20"/>
          <p:cNvSpPr/>
          <p:nvPr/>
        </p:nvSpPr>
        <p:spPr>
          <a:xfrm>
            <a:off x="713232" y="3712464"/>
            <a:ext cx="10765231" cy="694944"/>
          </a:xfrm>
          <a:prstGeom prst="rect">
            <a:avLst/>
          </a:prstGeom>
          <a:solidFill>
            <a:srgbClr val="FFFFFF"/>
          </a:solidFill>
          <a:ln w="9525">
            <a:solidFill>
              <a:srgbClr val="DFE3E8"/>
            </a:solidFill>
            <a:prstDash val="solid"/>
          </a:ln>
        </p:spPr>
      </p:sp>
      <p:sp>
        <p:nvSpPr>
          <p:cNvPr id="23" name="Text 21"/>
          <p:cNvSpPr txBox="1"/>
          <p:nvPr/>
        </p:nvSpPr>
        <p:spPr>
          <a:xfrm>
            <a:off x="969264" y="3950208"/>
            <a:ext cx="329184" cy="219456"/>
          </a:xfrm>
          <a:prstGeom prst="rect">
            <a:avLst/>
          </a:prstGeom>
          <a:noFill/>
          <a:ln/>
        </p:spPr>
        <p:txBody>
          <a:bodyPr wrap="square" lIns="0" tIns="0" rIns="0" bIns="0" rtlCol="0" anchor="t"/>
          <a:lstStyle/>
          <a:p>
            <a:pPr indent="0" marL="0">
              <a:buNone/>
            </a:pPr>
            <a:r>
              <a:rPr lang="en-US" sz="950" b="1" dirty="0">
                <a:solidFill>
                  <a:srgbClr val="B0703A"/>
                </a:solidFill>
                <a:latin typeface="Malgun Gothic" pitchFamily="34" charset="0"/>
                <a:ea typeface="Malgun Gothic" pitchFamily="34" charset="-122"/>
                <a:cs typeface="Malgun Gothic" pitchFamily="34" charset="-120"/>
              </a:rPr>
              <a:t>03</a:t>
            </a:r>
            <a:endParaRPr lang="en-US" sz="950" dirty="0"/>
          </a:p>
        </p:txBody>
      </p:sp>
      <p:sp>
        <p:nvSpPr>
          <p:cNvPr id="24" name="Text 22"/>
          <p:cNvSpPr txBox="1"/>
          <p:nvPr/>
        </p:nvSpPr>
        <p:spPr>
          <a:xfrm>
            <a:off x="1371600" y="3858768"/>
            <a:ext cx="2468880" cy="420624"/>
          </a:xfrm>
          <a:prstGeom prst="rect">
            <a:avLst/>
          </a:prstGeom>
          <a:noFill/>
          <a:ln/>
        </p:spPr>
        <p:txBody>
          <a:bodyPr wrap="square" lIns="0" tIns="0" rIns="0" bIns="0" rtlCol="0" anchor="t"/>
          <a:lstStyle/>
          <a:p>
            <a:pPr indent="0" marL="0">
              <a:lnSpc>
                <a:spcPts val="1600"/>
              </a:lnSpc>
              <a:buNone/>
            </a:pPr>
            <a:r>
              <a:rPr lang="en-US" sz="1100" b="1" dirty="0">
                <a:solidFill>
                  <a:srgbClr val="0E1621"/>
                </a:solidFill>
                <a:latin typeface="Malgun Gothic" pitchFamily="34" charset="0"/>
                <a:ea typeface="Malgun Gothic" pitchFamily="34" charset="-122"/>
                <a:cs typeface="Malgun Gothic" pitchFamily="34" charset="-120"/>
              </a:rPr>
              <a:t>보고서명만으로는 내용이 없었다</a:t>
            </a:r>
            <a:endParaRPr lang="en-US" sz="1100" dirty="0"/>
          </a:p>
        </p:txBody>
      </p:sp>
      <p:sp>
        <p:nvSpPr>
          <p:cNvPr id="25" name="Text 23"/>
          <p:cNvSpPr txBox="1"/>
          <p:nvPr/>
        </p:nvSpPr>
        <p:spPr>
          <a:xfrm>
            <a:off x="3913632" y="3840480"/>
            <a:ext cx="3566160" cy="475488"/>
          </a:xfrm>
          <a:prstGeom prst="rect">
            <a:avLst/>
          </a:prstGeom>
          <a:noFill/>
          <a:ln/>
        </p:spPr>
        <p:txBody>
          <a:bodyPr wrap="square" lIns="0" tIns="0" rIns="0" bIns="0" rtlCol="0" anchor="t"/>
          <a:lstStyle/>
          <a:p>
            <a:pPr indent="0" marL="0">
              <a:lnSpc>
                <a:spcPts val="1500"/>
              </a:lnSpc>
              <a:buNone/>
            </a:pPr>
            <a:r>
              <a:rPr lang="en-US" sz="950" dirty="0">
                <a:solidFill>
                  <a:srgbClr val="68747F"/>
                </a:solidFill>
                <a:latin typeface="Malgun Gothic" pitchFamily="34" charset="0"/>
                <a:ea typeface="Malgun Gothic" pitchFamily="34" charset="-122"/>
                <a:cs typeface="Malgun Gothic" pitchFamily="34" charset="-120"/>
              </a:rPr>
              <a:t>‘임원ㆍ주요주주특정증권등소유상황보고서’ 같은 제목은 정보가 0</a:t>
            </a:r>
            <a:endParaRPr lang="en-US" sz="950" dirty="0"/>
          </a:p>
        </p:txBody>
      </p:sp>
      <p:sp>
        <p:nvSpPr>
          <p:cNvPr id="26" name="Shape 24"/>
          <p:cNvSpPr/>
          <p:nvPr/>
        </p:nvSpPr>
        <p:spPr>
          <a:xfrm>
            <a:off x="7571232" y="3840480"/>
            <a:ext cx="14630" cy="438912"/>
          </a:xfrm>
          <a:prstGeom prst="rect">
            <a:avLst/>
          </a:prstGeom>
          <a:solidFill>
            <a:srgbClr val="DFE3E8"/>
          </a:solidFill>
          <a:ln w="12700">
            <a:solidFill>
              <a:srgbClr val="DFE3E8"/>
            </a:solidFill>
            <a:prstDash val="solid"/>
          </a:ln>
        </p:spPr>
      </p:sp>
      <p:sp>
        <p:nvSpPr>
          <p:cNvPr id="27" name="Text 25"/>
          <p:cNvSpPr txBox="1"/>
          <p:nvPr/>
        </p:nvSpPr>
        <p:spPr>
          <a:xfrm>
            <a:off x="7790688" y="3840480"/>
            <a:ext cx="3529584" cy="475488"/>
          </a:xfrm>
          <a:prstGeom prst="rect">
            <a:avLst/>
          </a:prstGeom>
          <a:noFill/>
          <a:ln/>
        </p:spPr>
        <p:txBody>
          <a:bodyPr wrap="square" lIns="0" tIns="0" rIns="0" bIns="0" rtlCol="0" anchor="t"/>
          <a:lstStyle/>
          <a:p>
            <a:pPr indent="0" marL="0">
              <a:lnSpc>
                <a:spcPts val="1500"/>
              </a:lnSpc>
              <a:buNone/>
            </a:pPr>
            <a:r>
              <a:rPr lang="en-US" sz="950" dirty="0">
                <a:solidFill>
                  <a:srgbClr val="4A5560"/>
                </a:solidFill>
                <a:latin typeface="Malgun Gothic" pitchFamily="34" charset="0"/>
                <a:ea typeface="Malgun Gothic" pitchFamily="34" charset="-122"/>
                <a:cs typeface="Malgun Gothic" pitchFamily="34" charset="-120"/>
              </a:rPr>
              <a:t>원문 HTML을 파싱해 본문을 붙이고, 프롬프트에서 지분율·주식 수를 찾도록 명시</a:t>
            </a:r>
            <a:endParaRPr lang="en-US" sz="950" dirty="0"/>
          </a:p>
        </p:txBody>
      </p:sp>
      <p:sp>
        <p:nvSpPr>
          <p:cNvPr id="28" name="Shape 26"/>
          <p:cNvSpPr/>
          <p:nvPr/>
        </p:nvSpPr>
        <p:spPr>
          <a:xfrm>
            <a:off x="713232" y="4517136"/>
            <a:ext cx="10765231" cy="694944"/>
          </a:xfrm>
          <a:prstGeom prst="rect">
            <a:avLst/>
          </a:prstGeom>
          <a:solidFill>
            <a:srgbClr val="FFFFFF"/>
          </a:solidFill>
          <a:ln w="9525">
            <a:solidFill>
              <a:srgbClr val="DFE3E8"/>
            </a:solidFill>
            <a:prstDash val="solid"/>
          </a:ln>
        </p:spPr>
      </p:sp>
      <p:sp>
        <p:nvSpPr>
          <p:cNvPr id="29" name="Text 27"/>
          <p:cNvSpPr txBox="1"/>
          <p:nvPr/>
        </p:nvSpPr>
        <p:spPr>
          <a:xfrm>
            <a:off x="969264" y="4754880"/>
            <a:ext cx="329184" cy="219456"/>
          </a:xfrm>
          <a:prstGeom prst="rect">
            <a:avLst/>
          </a:prstGeom>
          <a:noFill/>
          <a:ln/>
        </p:spPr>
        <p:txBody>
          <a:bodyPr wrap="square" lIns="0" tIns="0" rIns="0" bIns="0" rtlCol="0" anchor="t"/>
          <a:lstStyle/>
          <a:p>
            <a:pPr indent="0" marL="0">
              <a:buNone/>
            </a:pPr>
            <a:r>
              <a:rPr lang="en-US" sz="950" b="1" dirty="0">
                <a:solidFill>
                  <a:srgbClr val="B0703A"/>
                </a:solidFill>
                <a:latin typeface="Malgun Gothic" pitchFamily="34" charset="0"/>
                <a:ea typeface="Malgun Gothic" pitchFamily="34" charset="-122"/>
                <a:cs typeface="Malgun Gothic" pitchFamily="34" charset="-120"/>
              </a:rPr>
              <a:t>04</a:t>
            </a:r>
            <a:endParaRPr lang="en-US" sz="950" dirty="0"/>
          </a:p>
        </p:txBody>
      </p:sp>
      <p:sp>
        <p:nvSpPr>
          <p:cNvPr id="30" name="Text 28"/>
          <p:cNvSpPr txBox="1"/>
          <p:nvPr/>
        </p:nvSpPr>
        <p:spPr>
          <a:xfrm>
            <a:off x="1371600" y="4663440"/>
            <a:ext cx="2468880" cy="420624"/>
          </a:xfrm>
          <a:prstGeom prst="rect">
            <a:avLst/>
          </a:prstGeom>
          <a:noFill/>
          <a:ln/>
        </p:spPr>
        <p:txBody>
          <a:bodyPr wrap="square" lIns="0" tIns="0" rIns="0" bIns="0" rtlCol="0" anchor="t"/>
          <a:lstStyle/>
          <a:p>
            <a:pPr indent="0" marL="0">
              <a:lnSpc>
                <a:spcPts val="1600"/>
              </a:lnSpc>
              <a:buNone/>
            </a:pPr>
            <a:r>
              <a:rPr lang="en-US" sz="1100" b="1" dirty="0">
                <a:solidFill>
                  <a:srgbClr val="0E1621"/>
                </a:solidFill>
                <a:latin typeface="Malgun Gothic" pitchFamily="34" charset="0"/>
                <a:ea typeface="Malgun Gothic" pitchFamily="34" charset="-122"/>
                <a:cs typeface="Malgun Gothic" pitchFamily="34" charset="-120"/>
              </a:rPr>
              <a:t>LLM 호출이 불필요하게 많았다</a:t>
            </a:r>
            <a:endParaRPr lang="en-US" sz="1100" dirty="0"/>
          </a:p>
        </p:txBody>
      </p:sp>
      <p:sp>
        <p:nvSpPr>
          <p:cNvPr id="31" name="Text 29"/>
          <p:cNvSpPr txBox="1"/>
          <p:nvPr/>
        </p:nvSpPr>
        <p:spPr>
          <a:xfrm>
            <a:off x="3913632" y="4645152"/>
            <a:ext cx="3566160" cy="475488"/>
          </a:xfrm>
          <a:prstGeom prst="rect">
            <a:avLst/>
          </a:prstGeom>
          <a:noFill/>
          <a:ln/>
        </p:spPr>
        <p:txBody>
          <a:bodyPr wrap="square" lIns="0" tIns="0" rIns="0" bIns="0" rtlCol="0" anchor="t"/>
          <a:lstStyle/>
          <a:p>
            <a:pPr indent="0" marL="0">
              <a:lnSpc>
                <a:spcPts val="1500"/>
              </a:lnSpc>
              <a:buNone/>
            </a:pPr>
            <a:r>
              <a:rPr lang="en-US" sz="950" dirty="0">
                <a:solidFill>
                  <a:srgbClr val="68747F"/>
                </a:solidFill>
                <a:latin typeface="Malgun Gothic" pitchFamily="34" charset="0"/>
                <a:ea typeface="Malgun Gothic" pitchFamily="34" charset="-122"/>
                <a:cs typeface="Malgun Gothic" pitchFamily="34" charset="-120"/>
              </a:rPr>
              <a:t>감지될 때마다 분석했는데 대부분 이미 발송된 건이었음</a:t>
            </a:r>
            <a:endParaRPr lang="en-US" sz="950" dirty="0"/>
          </a:p>
        </p:txBody>
      </p:sp>
      <p:sp>
        <p:nvSpPr>
          <p:cNvPr id="32" name="Shape 30"/>
          <p:cNvSpPr/>
          <p:nvPr/>
        </p:nvSpPr>
        <p:spPr>
          <a:xfrm>
            <a:off x="7571232" y="4645152"/>
            <a:ext cx="14630" cy="438912"/>
          </a:xfrm>
          <a:prstGeom prst="rect">
            <a:avLst/>
          </a:prstGeom>
          <a:solidFill>
            <a:srgbClr val="DFE3E8"/>
          </a:solidFill>
          <a:ln w="12700">
            <a:solidFill>
              <a:srgbClr val="DFE3E8"/>
            </a:solidFill>
            <a:prstDash val="solid"/>
          </a:ln>
        </p:spPr>
      </p:sp>
      <p:sp>
        <p:nvSpPr>
          <p:cNvPr id="33" name="Text 31"/>
          <p:cNvSpPr txBox="1"/>
          <p:nvPr/>
        </p:nvSpPr>
        <p:spPr>
          <a:xfrm>
            <a:off x="7790688" y="4645152"/>
            <a:ext cx="3529584" cy="475488"/>
          </a:xfrm>
          <a:prstGeom prst="rect">
            <a:avLst/>
          </a:prstGeom>
          <a:noFill/>
          <a:ln/>
        </p:spPr>
        <p:txBody>
          <a:bodyPr wrap="square" lIns="0" tIns="0" rIns="0" bIns="0" rtlCol="0" anchor="t"/>
          <a:lstStyle/>
          <a:p>
            <a:pPr indent="0" marL="0">
              <a:lnSpc>
                <a:spcPts val="1500"/>
              </a:lnSpc>
              <a:buNone/>
            </a:pPr>
            <a:r>
              <a:rPr lang="en-US" sz="950" dirty="0">
                <a:solidFill>
                  <a:srgbClr val="4A5560"/>
                </a:solidFill>
                <a:latin typeface="Malgun Gothic" pitchFamily="34" charset="0"/>
                <a:ea typeface="Malgun Gothic" pitchFamily="34" charset="-122"/>
                <a:cs typeface="Malgun Gothic" pitchFamily="34" charset="-120"/>
              </a:rPr>
              <a:t>발송 대상(pending)을 먼저 계산하고 비어 있으면 원문 수집·분석을 건너뜀</a:t>
            </a:r>
            <a:endParaRPr lang="en-US" sz="950" dirty="0"/>
          </a:p>
        </p:txBody>
      </p:sp>
      <p:sp>
        <p:nvSpPr>
          <p:cNvPr id="34" name="Shape 32"/>
          <p:cNvSpPr/>
          <p:nvPr/>
        </p:nvSpPr>
        <p:spPr>
          <a:xfrm>
            <a:off x="713232" y="5321808"/>
            <a:ext cx="10765231" cy="694944"/>
          </a:xfrm>
          <a:prstGeom prst="rect">
            <a:avLst/>
          </a:prstGeom>
          <a:solidFill>
            <a:srgbClr val="FFFFFF"/>
          </a:solidFill>
          <a:ln w="9525">
            <a:solidFill>
              <a:srgbClr val="DFE3E8"/>
            </a:solidFill>
            <a:prstDash val="solid"/>
          </a:ln>
        </p:spPr>
      </p:sp>
      <p:sp>
        <p:nvSpPr>
          <p:cNvPr id="35" name="Text 33"/>
          <p:cNvSpPr txBox="1"/>
          <p:nvPr/>
        </p:nvSpPr>
        <p:spPr>
          <a:xfrm>
            <a:off x="969264" y="5559552"/>
            <a:ext cx="329184" cy="219456"/>
          </a:xfrm>
          <a:prstGeom prst="rect">
            <a:avLst/>
          </a:prstGeom>
          <a:noFill/>
          <a:ln/>
        </p:spPr>
        <p:txBody>
          <a:bodyPr wrap="square" lIns="0" tIns="0" rIns="0" bIns="0" rtlCol="0" anchor="t"/>
          <a:lstStyle/>
          <a:p>
            <a:pPr indent="0" marL="0">
              <a:buNone/>
            </a:pPr>
            <a:r>
              <a:rPr lang="en-US" sz="950" b="1" dirty="0">
                <a:solidFill>
                  <a:srgbClr val="B0703A"/>
                </a:solidFill>
                <a:latin typeface="Malgun Gothic" pitchFamily="34" charset="0"/>
                <a:ea typeface="Malgun Gothic" pitchFamily="34" charset="-122"/>
                <a:cs typeface="Malgun Gothic" pitchFamily="34" charset="-120"/>
              </a:rPr>
              <a:t>05</a:t>
            </a:r>
            <a:endParaRPr lang="en-US" sz="950" dirty="0"/>
          </a:p>
        </p:txBody>
      </p:sp>
      <p:sp>
        <p:nvSpPr>
          <p:cNvPr id="36" name="Text 34"/>
          <p:cNvSpPr txBox="1"/>
          <p:nvPr/>
        </p:nvSpPr>
        <p:spPr>
          <a:xfrm>
            <a:off x="1371600" y="5468112"/>
            <a:ext cx="2468880" cy="420624"/>
          </a:xfrm>
          <a:prstGeom prst="rect">
            <a:avLst/>
          </a:prstGeom>
          <a:noFill/>
          <a:ln/>
        </p:spPr>
        <p:txBody>
          <a:bodyPr wrap="square" lIns="0" tIns="0" rIns="0" bIns="0" rtlCol="0" anchor="t"/>
          <a:lstStyle/>
          <a:p>
            <a:pPr indent="0" marL="0">
              <a:lnSpc>
                <a:spcPts val="1600"/>
              </a:lnSpc>
              <a:buNone/>
            </a:pPr>
            <a:r>
              <a:rPr lang="en-US" sz="1100" b="1" dirty="0">
                <a:solidFill>
                  <a:srgbClr val="0E1621"/>
                </a:solidFill>
                <a:latin typeface="Malgun Gothic" pitchFamily="34" charset="0"/>
                <a:ea typeface="Malgun Gothic" pitchFamily="34" charset="-122"/>
                <a:cs typeface="Malgun Gothic" pitchFamily="34" charset="-120"/>
              </a:rPr>
              <a:t>이메일 추가 시 기존 데이터가 걸렸다</a:t>
            </a:r>
            <a:endParaRPr lang="en-US" sz="1100" dirty="0"/>
          </a:p>
        </p:txBody>
      </p:sp>
      <p:sp>
        <p:nvSpPr>
          <p:cNvPr id="37" name="Text 35"/>
          <p:cNvSpPr txBox="1"/>
          <p:nvPr/>
        </p:nvSpPr>
        <p:spPr>
          <a:xfrm>
            <a:off x="3913632" y="5449824"/>
            <a:ext cx="3566160" cy="475488"/>
          </a:xfrm>
          <a:prstGeom prst="rect">
            <a:avLst/>
          </a:prstGeom>
          <a:noFill/>
          <a:ln/>
        </p:spPr>
        <p:txBody>
          <a:bodyPr wrap="square" lIns="0" tIns="0" rIns="0" bIns="0" rtlCol="0" anchor="t"/>
          <a:lstStyle/>
          <a:p>
            <a:pPr indent="0" marL="0">
              <a:lnSpc>
                <a:spcPts val="1500"/>
              </a:lnSpc>
              <a:buNone/>
            </a:pPr>
            <a:r>
              <a:rPr lang="en-US" sz="950" dirty="0">
                <a:solidFill>
                  <a:srgbClr val="68747F"/>
                </a:solidFill>
                <a:latin typeface="Malgun Gothic" pitchFamily="34" charset="0"/>
                <a:ea typeface="Malgun Gothic" pitchFamily="34" charset="-122"/>
                <a:cs typeface="Malgun Gothic" pitchFamily="34" charset="-120"/>
              </a:rPr>
              <a:t>Telegram 전용 테이블 구조여서 스키마 변경이 필요했음</a:t>
            </a:r>
            <a:endParaRPr lang="en-US" sz="950" dirty="0"/>
          </a:p>
        </p:txBody>
      </p:sp>
      <p:sp>
        <p:nvSpPr>
          <p:cNvPr id="38" name="Shape 36"/>
          <p:cNvSpPr/>
          <p:nvPr/>
        </p:nvSpPr>
        <p:spPr>
          <a:xfrm>
            <a:off x="7571232" y="5449824"/>
            <a:ext cx="14630" cy="438912"/>
          </a:xfrm>
          <a:prstGeom prst="rect">
            <a:avLst/>
          </a:prstGeom>
          <a:solidFill>
            <a:srgbClr val="DFE3E8"/>
          </a:solidFill>
          <a:ln w="12700">
            <a:solidFill>
              <a:srgbClr val="DFE3E8"/>
            </a:solidFill>
            <a:prstDash val="solid"/>
          </a:ln>
        </p:spPr>
      </p:sp>
      <p:sp>
        <p:nvSpPr>
          <p:cNvPr id="39" name="Text 37"/>
          <p:cNvSpPr txBox="1"/>
          <p:nvPr/>
        </p:nvSpPr>
        <p:spPr>
          <a:xfrm>
            <a:off x="7790688" y="5449824"/>
            <a:ext cx="3529584" cy="475488"/>
          </a:xfrm>
          <a:prstGeom prst="rect">
            <a:avLst/>
          </a:prstGeom>
          <a:noFill/>
          <a:ln/>
        </p:spPr>
        <p:txBody>
          <a:bodyPr wrap="square" lIns="0" tIns="0" rIns="0" bIns="0" rtlCol="0" anchor="t"/>
          <a:lstStyle/>
          <a:p>
            <a:pPr indent="0" marL="0">
              <a:lnSpc>
                <a:spcPts val="1500"/>
              </a:lnSpc>
              <a:buNone/>
            </a:pPr>
            <a:r>
              <a:rPr lang="en-US" sz="950" dirty="0">
                <a:solidFill>
                  <a:srgbClr val="4A5560"/>
                </a:solidFill>
                <a:latin typeface="Malgun Gothic" pitchFamily="34" charset="0"/>
                <a:ea typeface="Malgun Gothic" pitchFamily="34" charset="-122"/>
                <a:cs typeface="Malgun Gothic" pitchFamily="34" charset="-120"/>
              </a:rPr>
              <a:t>서버 시작 시 구 테이블을 감지해 INSERT OR IGNORE로 자동 이전</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713232" y="498348"/>
            <a:ext cx="82296" cy="82296"/>
          </a:xfrm>
          <a:prstGeom prst="rect">
            <a:avLst/>
          </a:prstGeom>
          <a:solidFill>
            <a:srgbClr val="E0A76D"/>
          </a:solidFill>
          <a:ln w="12700">
            <a:solidFill>
              <a:srgbClr val="E0A76D"/>
            </a:solidFill>
            <a:prstDash val="solid"/>
          </a:ln>
        </p:spPr>
      </p:sp>
      <p:sp>
        <p:nvSpPr>
          <p:cNvPr id="3" name="Text 1"/>
          <p:cNvSpPr txBox="1"/>
          <p:nvPr/>
        </p:nvSpPr>
        <p:spPr>
          <a:xfrm>
            <a:off x="914400" y="457200"/>
            <a:ext cx="10564063" cy="219456"/>
          </a:xfrm>
          <a:prstGeom prst="rect">
            <a:avLst/>
          </a:prstGeom>
          <a:noFill/>
          <a:ln/>
        </p:spPr>
        <p:txBody>
          <a:bodyPr wrap="square" lIns="0" tIns="0" rIns="0" bIns="0" rtlCol="0" anchor="t"/>
          <a:lstStyle/>
          <a:p>
            <a:pPr indent="0" marL="0">
              <a:buNone/>
            </a:pPr>
            <a:r>
              <a:rPr lang="en-US" sz="1000" b="1" spc="190" kern="0" dirty="0">
                <a:solidFill>
                  <a:srgbClr val="E0A76D"/>
                </a:solidFill>
                <a:latin typeface="Malgun Gothic" pitchFamily="34" charset="0"/>
                <a:ea typeface="Malgun Gothic" pitchFamily="34" charset="-122"/>
                <a:cs typeface="Malgun Gothic" pitchFamily="34" charset="-120"/>
              </a:rPr>
              <a:t>SUMMARY</a:t>
            </a:r>
            <a:endParaRPr lang="en-US" sz="1000" dirty="0"/>
          </a:p>
        </p:txBody>
      </p:sp>
      <p:sp>
        <p:nvSpPr>
          <p:cNvPr id="4" name="Text 2"/>
          <p:cNvSpPr txBox="1"/>
          <p:nvPr/>
        </p:nvSpPr>
        <p:spPr>
          <a:xfrm>
            <a:off x="713232" y="768096"/>
            <a:ext cx="10765231" cy="585216"/>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정리</a:t>
            </a:r>
            <a:endParaRPr lang="en-US" sz="3000" dirty="0"/>
          </a:p>
        </p:txBody>
      </p:sp>
      <p:sp>
        <p:nvSpPr>
          <p:cNvPr id="5" name="Shape 3"/>
          <p:cNvSpPr/>
          <p:nvPr/>
        </p:nvSpPr>
        <p:spPr>
          <a:xfrm>
            <a:off x="713232" y="1700784"/>
            <a:ext cx="5230368" cy="3200400"/>
          </a:xfrm>
          <a:prstGeom prst="rect">
            <a:avLst/>
          </a:prstGeom>
          <a:solidFill>
            <a:srgbClr val="1B2635"/>
          </a:solidFill>
          <a:ln w="12700">
            <a:solidFill>
              <a:srgbClr val="333333"/>
            </a:solidFill>
            <a:prstDash val="solid"/>
          </a:ln>
        </p:spPr>
      </p:sp>
      <p:sp>
        <p:nvSpPr>
          <p:cNvPr id="6" name="Text 4"/>
          <p:cNvSpPr txBox="1"/>
          <p:nvPr/>
        </p:nvSpPr>
        <p:spPr>
          <a:xfrm>
            <a:off x="1042416" y="1920240"/>
            <a:ext cx="2743200" cy="256032"/>
          </a:xfrm>
          <a:prstGeom prst="rect">
            <a:avLst/>
          </a:prstGeom>
          <a:noFill/>
          <a:ln/>
        </p:spPr>
        <p:txBody>
          <a:bodyPr wrap="square" lIns="0" tIns="0" rIns="0" bIns="0" rtlCol="0" anchor="t"/>
          <a:lstStyle/>
          <a:p>
            <a:pPr indent="0" marL="0">
              <a:buNone/>
            </a:pPr>
            <a:r>
              <a:rPr lang="en-US" sz="1300" b="1" dirty="0">
                <a:solidFill>
                  <a:srgbClr val="E0A76D"/>
                </a:solidFill>
                <a:latin typeface="Malgun Gothic" pitchFamily="34" charset="0"/>
                <a:ea typeface="Malgun Gothic" pitchFamily="34" charset="-122"/>
                <a:cs typeface="Malgun Gothic" pitchFamily="34" charset="-120"/>
              </a:rPr>
              <a:t>구현한 것</a:t>
            </a:r>
            <a:endParaRPr lang="en-US" sz="1300" dirty="0"/>
          </a:p>
        </p:txBody>
      </p:sp>
      <p:sp>
        <p:nvSpPr>
          <p:cNvPr id="7" name="Shape 5"/>
          <p:cNvSpPr/>
          <p:nvPr/>
        </p:nvSpPr>
        <p:spPr>
          <a:xfrm>
            <a:off x="1042416" y="2350008"/>
            <a:ext cx="64008" cy="64008"/>
          </a:xfrm>
          <a:prstGeom prst="rect">
            <a:avLst/>
          </a:prstGeom>
          <a:solidFill>
            <a:srgbClr val="E0A76D"/>
          </a:solidFill>
          <a:ln w="12700">
            <a:solidFill>
              <a:srgbClr val="E0A76D"/>
            </a:solidFill>
            <a:prstDash val="solid"/>
          </a:ln>
        </p:spPr>
      </p:sp>
      <p:sp>
        <p:nvSpPr>
          <p:cNvPr id="8" name="Text 6"/>
          <p:cNvSpPr txBox="1"/>
          <p:nvPr/>
        </p:nvSpPr>
        <p:spPr>
          <a:xfrm>
            <a:off x="1225296" y="228600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5분 주기 백그라운드 감시 워커</a:t>
            </a:r>
            <a:endParaRPr lang="en-US" sz="1050" dirty="0"/>
          </a:p>
        </p:txBody>
      </p:sp>
      <p:sp>
        <p:nvSpPr>
          <p:cNvPr id="9" name="Shape 7"/>
          <p:cNvSpPr/>
          <p:nvPr/>
        </p:nvSpPr>
        <p:spPr>
          <a:xfrm>
            <a:off x="1042416" y="2715768"/>
            <a:ext cx="64008" cy="64008"/>
          </a:xfrm>
          <a:prstGeom prst="rect">
            <a:avLst/>
          </a:prstGeom>
          <a:solidFill>
            <a:srgbClr val="E0A76D"/>
          </a:solidFill>
          <a:ln w="12700">
            <a:solidFill>
              <a:srgbClr val="E0A76D"/>
            </a:solidFill>
            <a:prstDash val="solid"/>
          </a:ln>
        </p:spPr>
      </p:sp>
      <p:sp>
        <p:nvSpPr>
          <p:cNvPr id="10" name="Text 8"/>
          <p:cNvSpPr txBox="1"/>
          <p:nvPr/>
        </p:nvSpPr>
        <p:spPr>
          <a:xfrm>
            <a:off x="1225296" y="265176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12개 유형 규칙 기반 중요도 판별</a:t>
            </a:r>
            <a:endParaRPr lang="en-US" sz="1050" dirty="0"/>
          </a:p>
        </p:txBody>
      </p:sp>
      <p:sp>
        <p:nvSpPr>
          <p:cNvPr id="11" name="Shape 9"/>
          <p:cNvSpPr/>
          <p:nvPr/>
        </p:nvSpPr>
        <p:spPr>
          <a:xfrm>
            <a:off x="1042416" y="3081528"/>
            <a:ext cx="64008" cy="64008"/>
          </a:xfrm>
          <a:prstGeom prst="rect">
            <a:avLst/>
          </a:prstGeom>
          <a:solidFill>
            <a:srgbClr val="E0A76D"/>
          </a:solidFill>
          <a:ln w="12700">
            <a:solidFill>
              <a:srgbClr val="E0A76D"/>
            </a:solidFill>
            <a:prstDash val="solid"/>
          </a:ln>
        </p:spPr>
      </p:sp>
      <p:sp>
        <p:nvSpPr>
          <p:cNvPr id="12" name="Text 10"/>
          <p:cNvSpPr txBox="1"/>
          <p:nvPr/>
        </p:nvSpPr>
        <p:spPr>
          <a:xfrm>
            <a:off x="1225296" y="301752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DART 원문 HTML 2단 폴백 파싱</a:t>
            </a:r>
            <a:endParaRPr lang="en-US" sz="1050" dirty="0"/>
          </a:p>
        </p:txBody>
      </p:sp>
      <p:sp>
        <p:nvSpPr>
          <p:cNvPr id="13" name="Shape 11"/>
          <p:cNvSpPr/>
          <p:nvPr/>
        </p:nvSpPr>
        <p:spPr>
          <a:xfrm>
            <a:off x="1042416" y="3447288"/>
            <a:ext cx="64008" cy="64008"/>
          </a:xfrm>
          <a:prstGeom prst="rect">
            <a:avLst/>
          </a:prstGeom>
          <a:solidFill>
            <a:srgbClr val="E0A76D"/>
          </a:solidFill>
          <a:ln w="12700">
            <a:solidFill>
              <a:srgbClr val="E0A76D"/>
            </a:solidFill>
            <a:prstDash val="solid"/>
          </a:ln>
        </p:spPr>
      </p:sp>
      <p:sp>
        <p:nvSpPr>
          <p:cNvPr id="14" name="Text 12"/>
          <p:cNvSpPr txBox="1"/>
          <p:nvPr/>
        </p:nvSpPr>
        <p:spPr>
          <a:xfrm>
            <a:off x="1225296" y="338328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AI 구조화 분석 + 3단 폴백</a:t>
            </a:r>
            <a:endParaRPr lang="en-US" sz="1050" dirty="0"/>
          </a:p>
        </p:txBody>
      </p:sp>
      <p:sp>
        <p:nvSpPr>
          <p:cNvPr id="15" name="Shape 13"/>
          <p:cNvSpPr/>
          <p:nvPr/>
        </p:nvSpPr>
        <p:spPr>
          <a:xfrm>
            <a:off x="1042416" y="3813048"/>
            <a:ext cx="64008" cy="64008"/>
          </a:xfrm>
          <a:prstGeom prst="rect">
            <a:avLst/>
          </a:prstGeom>
          <a:solidFill>
            <a:srgbClr val="E0A76D"/>
          </a:solidFill>
          <a:ln w="12700">
            <a:solidFill>
              <a:srgbClr val="E0A76D"/>
            </a:solidFill>
            <a:prstDash val="solid"/>
          </a:ln>
        </p:spPr>
      </p:sp>
      <p:sp>
        <p:nvSpPr>
          <p:cNvPr id="16" name="Text 14"/>
          <p:cNvSpPr txBox="1"/>
          <p:nvPr/>
        </p:nvSpPr>
        <p:spPr>
          <a:xfrm>
            <a:off x="1225296" y="374904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Telegram · 이메일 이중 채널 발송</a:t>
            </a:r>
            <a:endParaRPr lang="en-US" sz="1050" dirty="0"/>
          </a:p>
        </p:txBody>
      </p:sp>
      <p:sp>
        <p:nvSpPr>
          <p:cNvPr id="17" name="Shape 15"/>
          <p:cNvSpPr/>
          <p:nvPr/>
        </p:nvSpPr>
        <p:spPr>
          <a:xfrm>
            <a:off x="1042416" y="4178808"/>
            <a:ext cx="64008" cy="64008"/>
          </a:xfrm>
          <a:prstGeom prst="rect">
            <a:avLst/>
          </a:prstGeom>
          <a:solidFill>
            <a:srgbClr val="E0A76D"/>
          </a:solidFill>
          <a:ln w="12700">
            <a:solidFill>
              <a:srgbClr val="E0A76D"/>
            </a:solidFill>
            <a:prstDash val="solid"/>
          </a:ln>
        </p:spPr>
      </p:sp>
      <p:sp>
        <p:nvSpPr>
          <p:cNvPr id="18" name="Text 16"/>
          <p:cNvSpPr txBox="1"/>
          <p:nvPr/>
        </p:nvSpPr>
        <p:spPr>
          <a:xfrm>
            <a:off x="1225296" y="411480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복합키 기반 중복 발송 차단</a:t>
            </a:r>
            <a:endParaRPr lang="en-US" sz="1050" dirty="0"/>
          </a:p>
        </p:txBody>
      </p:sp>
      <p:sp>
        <p:nvSpPr>
          <p:cNvPr id="19" name="Shape 17"/>
          <p:cNvSpPr/>
          <p:nvPr/>
        </p:nvSpPr>
        <p:spPr>
          <a:xfrm>
            <a:off x="1042416" y="4544568"/>
            <a:ext cx="64008" cy="64008"/>
          </a:xfrm>
          <a:prstGeom prst="rect">
            <a:avLst/>
          </a:prstGeom>
          <a:solidFill>
            <a:srgbClr val="E0A76D"/>
          </a:solidFill>
          <a:ln w="12700">
            <a:solidFill>
              <a:srgbClr val="E0A76D"/>
            </a:solidFill>
            <a:prstDash val="solid"/>
          </a:ln>
        </p:spPr>
      </p:sp>
      <p:sp>
        <p:nvSpPr>
          <p:cNvPr id="20" name="Text 18"/>
          <p:cNvSpPr txBox="1"/>
          <p:nvPr/>
        </p:nvSpPr>
        <p:spPr>
          <a:xfrm>
            <a:off x="1225296" y="448056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수신자 관리 전용 관리자 화면</a:t>
            </a:r>
            <a:endParaRPr lang="en-US" sz="1050" dirty="0"/>
          </a:p>
        </p:txBody>
      </p:sp>
      <p:sp>
        <p:nvSpPr>
          <p:cNvPr id="21" name="Shape 19"/>
          <p:cNvSpPr/>
          <p:nvPr/>
        </p:nvSpPr>
        <p:spPr>
          <a:xfrm>
            <a:off x="6245352" y="1700784"/>
            <a:ext cx="5230368" cy="3200400"/>
          </a:xfrm>
          <a:prstGeom prst="rect">
            <a:avLst/>
          </a:prstGeom>
          <a:solidFill>
            <a:srgbClr val="1B2635"/>
          </a:solidFill>
          <a:ln w="12700">
            <a:solidFill>
              <a:srgbClr val="333333"/>
            </a:solidFill>
            <a:prstDash val="solid"/>
          </a:ln>
        </p:spPr>
      </p:sp>
      <p:sp>
        <p:nvSpPr>
          <p:cNvPr id="22" name="Text 20"/>
          <p:cNvSpPr txBox="1"/>
          <p:nvPr/>
        </p:nvSpPr>
        <p:spPr>
          <a:xfrm>
            <a:off x="6574536" y="1920240"/>
            <a:ext cx="2743200" cy="256032"/>
          </a:xfrm>
          <a:prstGeom prst="rect">
            <a:avLst/>
          </a:prstGeom>
          <a:noFill/>
          <a:ln/>
        </p:spPr>
        <p:txBody>
          <a:bodyPr wrap="square" lIns="0" tIns="0" rIns="0" bIns="0" rtlCol="0" anchor="t"/>
          <a:lstStyle/>
          <a:p>
            <a:pPr indent="0" marL="0">
              <a:buNone/>
            </a:pPr>
            <a:r>
              <a:rPr lang="en-US" sz="1300" b="1" dirty="0">
                <a:solidFill>
                  <a:srgbClr val="E0A76D"/>
                </a:solidFill>
                <a:latin typeface="Malgun Gothic" pitchFamily="34" charset="0"/>
                <a:ea typeface="Malgun Gothic" pitchFamily="34" charset="-122"/>
                <a:cs typeface="Malgun Gothic" pitchFamily="34" charset="-120"/>
              </a:rPr>
              <a:t>설계에서 지킨 것</a:t>
            </a:r>
            <a:endParaRPr lang="en-US" sz="1300" dirty="0"/>
          </a:p>
        </p:txBody>
      </p:sp>
      <p:sp>
        <p:nvSpPr>
          <p:cNvPr id="23" name="Shape 21"/>
          <p:cNvSpPr/>
          <p:nvPr/>
        </p:nvSpPr>
        <p:spPr>
          <a:xfrm>
            <a:off x="6574536" y="2350008"/>
            <a:ext cx="64008" cy="64008"/>
          </a:xfrm>
          <a:prstGeom prst="rect">
            <a:avLst/>
          </a:prstGeom>
          <a:solidFill>
            <a:srgbClr val="E0A76D"/>
          </a:solidFill>
          <a:ln w="12700">
            <a:solidFill>
              <a:srgbClr val="E0A76D"/>
            </a:solidFill>
            <a:prstDash val="solid"/>
          </a:ln>
        </p:spPr>
      </p:sp>
      <p:sp>
        <p:nvSpPr>
          <p:cNvPr id="24" name="Text 22"/>
          <p:cNvSpPr txBox="1"/>
          <p:nvPr/>
        </p:nvSpPr>
        <p:spPr>
          <a:xfrm>
            <a:off x="6757416" y="228600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무엇을 보낼지는 규칙, 무슨 의미인지는 LLM</a:t>
            </a:r>
            <a:endParaRPr lang="en-US" sz="1050" dirty="0"/>
          </a:p>
        </p:txBody>
      </p:sp>
      <p:sp>
        <p:nvSpPr>
          <p:cNvPr id="25" name="Shape 23"/>
          <p:cNvSpPr/>
          <p:nvPr/>
        </p:nvSpPr>
        <p:spPr>
          <a:xfrm>
            <a:off x="6574536" y="2715768"/>
            <a:ext cx="64008" cy="64008"/>
          </a:xfrm>
          <a:prstGeom prst="rect">
            <a:avLst/>
          </a:prstGeom>
          <a:solidFill>
            <a:srgbClr val="E0A76D"/>
          </a:solidFill>
          <a:ln w="12700">
            <a:solidFill>
              <a:srgbClr val="E0A76D"/>
            </a:solidFill>
            <a:prstDash val="solid"/>
          </a:ln>
        </p:spPr>
      </p:sp>
      <p:sp>
        <p:nvSpPr>
          <p:cNvPr id="26" name="Text 24"/>
          <p:cNvSpPr txBox="1"/>
          <p:nvPr/>
        </p:nvSpPr>
        <p:spPr>
          <a:xfrm>
            <a:off x="6757416" y="265176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성공했을 때만 이력을 남겨 자동 재시도</a:t>
            </a:r>
            <a:endParaRPr lang="en-US" sz="1050" dirty="0"/>
          </a:p>
        </p:txBody>
      </p:sp>
      <p:sp>
        <p:nvSpPr>
          <p:cNvPr id="27" name="Shape 25"/>
          <p:cNvSpPr/>
          <p:nvPr/>
        </p:nvSpPr>
        <p:spPr>
          <a:xfrm>
            <a:off x="6574536" y="3081528"/>
            <a:ext cx="64008" cy="64008"/>
          </a:xfrm>
          <a:prstGeom prst="rect">
            <a:avLst/>
          </a:prstGeom>
          <a:solidFill>
            <a:srgbClr val="E0A76D"/>
          </a:solidFill>
          <a:ln w="12700">
            <a:solidFill>
              <a:srgbClr val="E0A76D"/>
            </a:solidFill>
            <a:prstDash val="solid"/>
          </a:ln>
        </p:spPr>
      </p:sp>
      <p:sp>
        <p:nvSpPr>
          <p:cNvPr id="28" name="Text 26"/>
          <p:cNvSpPr txBox="1"/>
          <p:nvPr/>
        </p:nvSpPr>
        <p:spPr>
          <a:xfrm>
            <a:off x="6757416" y="301752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채널별 실패 격리로 한쪽이 죽어도 계속</a:t>
            </a:r>
            <a:endParaRPr lang="en-US" sz="1050" dirty="0"/>
          </a:p>
        </p:txBody>
      </p:sp>
      <p:sp>
        <p:nvSpPr>
          <p:cNvPr id="29" name="Shape 27"/>
          <p:cNvSpPr/>
          <p:nvPr/>
        </p:nvSpPr>
        <p:spPr>
          <a:xfrm>
            <a:off x="6574536" y="3447288"/>
            <a:ext cx="64008" cy="64008"/>
          </a:xfrm>
          <a:prstGeom prst="rect">
            <a:avLst/>
          </a:prstGeom>
          <a:solidFill>
            <a:srgbClr val="E0A76D"/>
          </a:solidFill>
          <a:ln w="12700">
            <a:solidFill>
              <a:srgbClr val="E0A76D"/>
            </a:solidFill>
            <a:prstDash val="solid"/>
          </a:ln>
        </p:spPr>
      </p:sp>
      <p:sp>
        <p:nvSpPr>
          <p:cNvPr id="30" name="Text 28"/>
          <p:cNvSpPr txBox="1"/>
          <p:nvPr/>
        </p:nvSpPr>
        <p:spPr>
          <a:xfrm>
            <a:off x="6757416" y="338328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AI는 보낼 사람이 있을 때만 호출</a:t>
            </a:r>
            <a:endParaRPr lang="en-US" sz="1050" dirty="0"/>
          </a:p>
        </p:txBody>
      </p:sp>
      <p:sp>
        <p:nvSpPr>
          <p:cNvPr id="31" name="Shape 29"/>
          <p:cNvSpPr/>
          <p:nvPr/>
        </p:nvSpPr>
        <p:spPr>
          <a:xfrm>
            <a:off x="6574536" y="3813048"/>
            <a:ext cx="64008" cy="64008"/>
          </a:xfrm>
          <a:prstGeom prst="rect">
            <a:avLst/>
          </a:prstGeom>
          <a:solidFill>
            <a:srgbClr val="E0A76D"/>
          </a:solidFill>
          <a:ln w="12700">
            <a:solidFill>
              <a:srgbClr val="E0A76D"/>
            </a:solidFill>
            <a:prstDash val="solid"/>
          </a:ln>
        </p:spPr>
      </p:sp>
      <p:sp>
        <p:nvSpPr>
          <p:cNvPr id="32" name="Text 30"/>
          <p:cNvSpPr txBox="1"/>
          <p:nvPr/>
        </p:nvSpPr>
        <p:spPr>
          <a:xfrm>
            <a:off x="6757416" y="374904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시크릿은 어떤 응답에도 담지 않음</a:t>
            </a:r>
            <a:endParaRPr lang="en-US" sz="1050" dirty="0"/>
          </a:p>
        </p:txBody>
      </p:sp>
      <p:sp>
        <p:nvSpPr>
          <p:cNvPr id="33" name="Shape 31"/>
          <p:cNvSpPr/>
          <p:nvPr/>
        </p:nvSpPr>
        <p:spPr>
          <a:xfrm>
            <a:off x="6574536" y="4178808"/>
            <a:ext cx="64008" cy="64008"/>
          </a:xfrm>
          <a:prstGeom prst="rect">
            <a:avLst/>
          </a:prstGeom>
          <a:solidFill>
            <a:srgbClr val="E0A76D"/>
          </a:solidFill>
          <a:ln w="12700">
            <a:solidFill>
              <a:srgbClr val="E0A76D"/>
            </a:solidFill>
            <a:prstDash val="solid"/>
          </a:ln>
        </p:spPr>
      </p:sp>
      <p:sp>
        <p:nvSpPr>
          <p:cNvPr id="34" name="Text 32"/>
          <p:cNvSpPr txBox="1"/>
          <p:nvPr/>
        </p:nvSpPr>
        <p:spPr>
          <a:xfrm>
            <a:off x="6757416" y="411480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모든 변수 이스케이프 후 메시지 조립</a:t>
            </a:r>
            <a:endParaRPr lang="en-US" sz="1050" dirty="0"/>
          </a:p>
        </p:txBody>
      </p:sp>
      <p:sp>
        <p:nvSpPr>
          <p:cNvPr id="35" name="Shape 33"/>
          <p:cNvSpPr/>
          <p:nvPr/>
        </p:nvSpPr>
        <p:spPr>
          <a:xfrm>
            <a:off x="6574536" y="4544568"/>
            <a:ext cx="64008" cy="64008"/>
          </a:xfrm>
          <a:prstGeom prst="rect">
            <a:avLst/>
          </a:prstGeom>
          <a:solidFill>
            <a:srgbClr val="E0A76D"/>
          </a:solidFill>
          <a:ln w="12700">
            <a:solidFill>
              <a:srgbClr val="E0A76D"/>
            </a:solidFill>
            <a:prstDash val="solid"/>
          </a:ln>
        </p:spPr>
      </p:sp>
      <p:sp>
        <p:nvSpPr>
          <p:cNvPr id="36" name="Text 34"/>
          <p:cNvSpPr txBox="1"/>
          <p:nvPr/>
        </p:nvSpPr>
        <p:spPr>
          <a:xfrm>
            <a:off x="6757416" y="4480560"/>
            <a:ext cx="4572000" cy="237744"/>
          </a:xfrm>
          <a:prstGeom prst="rect">
            <a:avLst/>
          </a:prstGeom>
          <a:noFill/>
          <a:ln/>
        </p:spPr>
        <p:txBody>
          <a:bodyPr wrap="square" lIns="0" tIns="0" rIns="0" bIns="0" rtlCol="0" anchor="t"/>
          <a:lstStyle/>
          <a:p>
            <a:pPr indent="0" marL="0">
              <a:buNone/>
            </a:pPr>
            <a:r>
              <a:rPr lang="en-US" sz="1050" dirty="0">
                <a:solidFill>
                  <a:srgbClr val="9FADBB"/>
                </a:solidFill>
                <a:latin typeface="Malgun Gothic" pitchFamily="34" charset="0"/>
                <a:ea typeface="Malgun Gothic" pitchFamily="34" charset="-122"/>
                <a:cs typeface="Malgun Gothic" pitchFamily="34" charset="-120"/>
              </a:rPr>
              <a:t>운영자가 배포 없이 수신자 변경</a:t>
            </a:r>
            <a:endParaRPr lang="en-US" sz="1050" dirty="0"/>
          </a:p>
        </p:txBody>
      </p:sp>
      <p:sp>
        <p:nvSpPr>
          <p:cNvPr id="37" name="Shape 35"/>
          <p:cNvSpPr/>
          <p:nvPr/>
        </p:nvSpPr>
        <p:spPr>
          <a:xfrm>
            <a:off x="713232" y="5084064"/>
            <a:ext cx="10765231" cy="786384"/>
          </a:xfrm>
          <a:prstGeom prst="rect">
            <a:avLst/>
          </a:prstGeom>
          <a:solidFill>
            <a:srgbClr val="1B2635"/>
          </a:solidFill>
          <a:ln w="12700">
            <a:solidFill>
              <a:srgbClr val="333333"/>
            </a:solidFill>
            <a:prstDash val="solid"/>
          </a:ln>
        </p:spPr>
      </p:sp>
      <p:sp>
        <p:nvSpPr>
          <p:cNvPr id="38" name="Text 36"/>
          <p:cNvSpPr txBox="1"/>
          <p:nvPr/>
        </p:nvSpPr>
        <p:spPr>
          <a:xfrm>
            <a:off x="1097280" y="5266944"/>
            <a:ext cx="1645920" cy="237744"/>
          </a:xfrm>
          <a:prstGeom prst="rect">
            <a:avLst/>
          </a:prstGeom>
          <a:noFill/>
          <a:ln/>
        </p:spPr>
        <p:txBody>
          <a:bodyPr wrap="square" lIns="0" tIns="0" rIns="0" bIns="0" rtlCol="0" anchor="t"/>
          <a:lstStyle/>
          <a:p>
            <a:pPr indent="0" marL="0">
              <a:buNone/>
            </a:pPr>
            <a:r>
              <a:rPr lang="en-US" sz="1000" b="1" spc="140" kern="0" dirty="0">
                <a:solidFill>
                  <a:srgbClr val="E0A76D"/>
                </a:solidFill>
                <a:latin typeface="Malgun Gothic" pitchFamily="34" charset="0"/>
                <a:ea typeface="Malgun Gothic" pitchFamily="34" charset="-122"/>
                <a:cs typeface="Malgun Gothic" pitchFamily="34" charset="-120"/>
              </a:rPr>
              <a:t>한 줄 요약</a:t>
            </a:r>
            <a:endParaRPr lang="en-US" sz="1000" dirty="0"/>
          </a:p>
        </p:txBody>
      </p:sp>
      <p:sp>
        <p:nvSpPr>
          <p:cNvPr id="39" name="Text 37"/>
          <p:cNvSpPr txBox="1"/>
          <p:nvPr/>
        </p:nvSpPr>
        <p:spPr>
          <a:xfrm>
            <a:off x="2724912" y="5248656"/>
            <a:ext cx="8321040" cy="457200"/>
          </a:xfrm>
          <a:prstGeom prst="rect">
            <a:avLst/>
          </a:prstGeom>
          <a:noFill/>
          <a:ln/>
        </p:spPr>
        <p:txBody>
          <a:bodyPr wrap="square" lIns="0" tIns="0" rIns="0" bIns="0" rtlCol="0" anchor="t"/>
          <a:lstStyle/>
          <a:p>
            <a:pPr indent="0" marL="0">
              <a:lnSpc>
                <a:spcPts val="2000"/>
              </a:lnSpc>
              <a:buNone/>
            </a:pPr>
            <a:r>
              <a:rPr lang="en-US" sz="1300" b="1" dirty="0">
                <a:solidFill>
                  <a:srgbClr val="FFFFFF"/>
                </a:solidFill>
                <a:latin typeface="Malgun Gothic" pitchFamily="34" charset="0"/>
                <a:ea typeface="Malgun Gothic" pitchFamily="34" charset="-122"/>
                <a:cs typeface="Malgun Gothic" pitchFamily="34" charset="-120"/>
              </a:rPr>
              <a:t>5분마다 도는 스캔에서 ‘같은 것을 두 번 보내지 않기’와 ‘실패하면 다시 보내기’를 동시에 만족시키는 것이 이 기능의 핵심이었습니다.</a:t>
            </a:r>
            <a:endParaRPr lang="en-US" sz="1300" dirty="0"/>
          </a:p>
        </p:txBody>
      </p:sp>
      <p:sp>
        <p:nvSpPr>
          <p:cNvPr id="40" name="Shape 38"/>
          <p:cNvSpPr/>
          <p:nvPr/>
        </p:nvSpPr>
        <p:spPr>
          <a:xfrm>
            <a:off x="713232" y="6108192"/>
            <a:ext cx="100584" cy="100584"/>
          </a:xfrm>
          <a:prstGeom prst="rect">
            <a:avLst/>
          </a:prstGeom>
          <a:solidFill>
            <a:srgbClr val="2B3A4B"/>
          </a:solidFill>
          <a:ln w="12700">
            <a:solidFill>
              <a:srgbClr val="2B3A4B"/>
            </a:solidFill>
            <a:prstDash val="solid"/>
          </a:ln>
        </p:spPr>
      </p:sp>
      <p:sp>
        <p:nvSpPr>
          <p:cNvPr id="41" name="Shape 39"/>
          <p:cNvSpPr/>
          <p:nvPr/>
        </p:nvSpPr>
        <p:spPr>
          <a:xfrm>
            <a:off x="873252" y="6108192"/>
            <a:ext cx="100584" cy="100584"/>
          </a:xfrm>
          <a:prstGeom prst="rect">
            <a:avLst/>
          </a:prstGeom>
          <a:solidFill>
            <a:srgbClr val="2B3A4B"/>
          </a:solidFill>
          <a:ln w="12700">
            <a:solidFill>
              <a:srgbClr val="2B3A4B"/>
            </a:solidFill>
            <a:prstDash val="solid"/>
          </a:ln>
        </p:spPr>
      </p:sp>
      <p:sp>
        <p:nvSpPr>
          <p:cNvPr id="42" name="Shape 40"/>
          <p:cNvSpPr/>
          <p:nvPr/>
        </p:nvSpPr>
        <p:spPr>
          <a:xfrm>
            <a:off x="1033272" y="6108192"/>
            <a:ext cx="100584" cy="100584"/>
          </a:xfrm>
          <a:prstGeom prst="rect">
            <a:avLst/>
          </a:prstGeom>
          <a:solidFill>
            <a:srgbClr val="2B3A4B"/>
          </a:solidFill>
          <a:ln w="12700">
            <a:solidFill>
              <a:srgbClr val="2B3A4B"/>
            </a:solidFill>
            <a:prstDash val="solid"/>
          </a:ln>
        </p:spPr>
      </p:sp>
      <p:sp>
        <p:nvSpPr>
          <p:cNvPr id="43" name="Shape 41"/>
          <p:cNvSpPr/>
          <p:nvPr/>
        </p:nvSpPr>
        <p:spPr>
          <a:xfrm>
            <a:off x="1193292" y="6108192"/>
            <a:ext cx="100584" cy="100584"/>
          </a:xfrm>
          <a:prstGeom prst="rect">
            <a:avLst/>
          </a:prstGeom>
          <a:solidFill>
            <a:srgbClr val="2B3A4B"/>
          </a:solidFill>
          <a:ln w="12700">
            <a:solidFill>
              <a:srgbClr val="2B3A4B"/>
            </a:solidFill>
            <a:prstDash val="solid"/>
          </a:ln>
        </p:spPr>
      </p:sp>
      <p:sp>
        <p:nvSpPr>
          <p:cNvPr id="44" name="Shape 42"/>
          <p:cNvSpPr/>
          <p:nvPr/>
        </p:nvSpPr>
        <p:spPr>
          <a:xfrm>
            <a:off x="1353312" y="6108192"/>
            <a:ext cx="100584" cy="176022"/>
          </a:xfrm>
          <a:prstGeom prst="rect">
            <a:avLst/>
          </a:prstGeom>
          <a:solidFill>
            <a:srgbClr val="B0703A"/>
          </a:solidFill>
          <a:ln w="12700">
            <a:solidFill>
              <a:srgbClr val="B0703A"/>
            </a:solidFill>
            <a:prstDash val="solid"/>
          </a:ln>
        </p:spPr>
      </p:sp>
      <p:sp>
        <p:nvSpPr>
          <p:cNvPr id="45" name="Shape 43"/>
          <p:cNvSpPr/>
          <p:nvPr/>
        </p:nvSpPr>
        <p:spPr>
          <a:xfrm>
            <a:off x="1513332" y="6108192"/>
            <a:ext cx="100584" cy="100584"/>
          </a:xfrm>
          <a:prstGeom prst="rect">
            <a:avLst/>
          </a:prstGeom>
          <a:solidFill>
            <a:srgbClr val="2B3A4B"/>
          </a:solidFill>
          <a:ln w="12700">
            <a:solidFill>
              <a:srgbClr val="2B3A4B"/>
            </a:solidFill>
            <a:prstDash val="solid"/>
          </a:ln>
        </p:spPr>
      </p:sp>
      <p:sp>
        <p:nvSpPr>
          <p:cNvPr id="46" name="Shape 44"/>
          <p:cNvSpPr/>
          <p:nvPr/>
        </p:nvSpPr>
        <p:spPr>
          <a:xfrm>
            <a:off x="1673352" y="6108192"/>
            <a:ext cx="100584" cy="100584"/>
          </a:xfrm>
          <a:prstGeom prst="rect">
            <a:avLst/>
          </a:prstGeom>
          <a:solidFill>
            <a:srgbClr val="2B3A4B"/>
          </a:solidFill>
          <a:ln w="12700">
            <a:solidFill>
              <a:srgbClr val="2B3A4B"/>
            </a:solidFill>
            <a:prstDash val="solid"/>
          </a:ln>
        </p:spPr>
      </p:sp>
      <p:sp>
        <p:nvSpPr>
          <p:cNvPr id="47" name="Shape 45"/>
          <p:cNvSpPr/>
          <p:nvPr/>
        </p:nvSpPr>
        <p:spPr>
          <a:xfrm>
            <a:off x="1833372" y="6108192"/>
            <a:ext cx="100584" cy="100584"/>
          </a:xfrm>
          <a:prstGeom prst="rect">
            <a:avLst/>
          </a:prstGeom>
          <a:solidFill>
            <a:srgbClr val="2B3A4B"/>
          </a:solidFill>
          <a:ln w="12700">
            <a:solidFill>
              <a:srgbClr val="2B3A4B"/>
            </a:solidFill>
            <a:prstDash val="solid"/>
          </a:ln>
        </p:spPr>
      </p:sp>
      <p:sp>
        <p:nvSpPr>
          <p:cNvPr id="48" name="Shape 46"/>
          <p:cNvSpPr/>
          <p:nvPr/>
        </p:nvSpPr>
        <p:spPr>
          <a:xfrm>
            <a:off x="1993392" y="6108192"/>
            <a:ext cx="100584" cy="100584"/>
          </a:xfrm>
          <a:prstGeom prst="rect">
            <a:avLst/>
          </a:prstGeom>
          <a:solidFill>
            <a:srgbClr val="2B3A4B"/>
          </a:solidFill>
          <a:ln w="12700">
            <a:solidFill>
              <a:srgbClr val="2B3A4B"/>
            </a:solidFill>
            <a:prstDash val="solid"/>
          </a:ln>
        </p:spPr>
      </p:sp>
      <p:sp>
        <p:nvSpPr>
          <p:cNvPr id="49" name="Shape 47"/>
          <p:cNvSpPr/>
          <p:nvPr/>
        </p:nvSpPr>
        <p:spPr>
          <a:xfrm>
            <a:off x="2153412" y="6108192"/>
            <a:ext cx="100584" cy="100584"/>
          </a:xfrm>
          <a:prstGeom prst="rect">
            <a:avLst/>
          </a:prstGeom>
          <a:solidFill>
            <a:srgbClr val="2B3A4B"/>
          </a:solidFill>
          <a:ln w="12700">
            <a:solidFill>
              <a:srgbClr val="2B3A4B"/>
            </a:solidFill>
            <a:prstDash val="solid"/>
          </a:ln>
        </p:spPr>
      </p:sp>
      <p:sp>
        <p:nvSpPr>
          <p:cNvPr id="50" name="Shape 48"/>
          <p:cNvSpPr/>
          <p:nvPr/>
        </p:nvSpPr>
        <p:spPr>
          <a:xfrm>
            <a:off x="2313432" y="6108192"/>
            <a:ext cx="100584" cy="100584"/>
          </a:xfrm>
          <a:prstGeom prst="rect">
            <a:avLst/>
          </a:prstGeom>
          <a:solidFill>
            <a:srgbClr val="2B3A4B"/>
          </a:solidFill>
          <a:ln w="12700">
            <a:solidFill>
              <a:srgbClr val="2B3A4B"/>
            </a:solidFill>
            <a:prstDash val="solid"/>
          </a:ln>
        </p:spPr>
      </p:sp>
      <p:sp>
        <p:nvSpPr>
          <p:cNvPr id="51" name="Shape 49"/>
          <p:cNvSpPr/>
          <p:nvPr/>
        </p:nvSpPr>
        <p:spPr>
          <a:xfrm>
            <a:off x="2473452" y="6108192"/>
            <a:ext cx="100584" cy="176022"/>
          </a:xfrm>
          <a:prstGeom prst="rect">
            <a:avLst/>
          </a:prstGeom>
          <a:solidFill>
            <a:srgbClr val="B0703A"/>
          </a:solidFill>
          <a:ln w="12700">
            <a:solidFill>
              <a:srgbClr val="B0703A"/>
            </a:solidFill>
            <a:prstDash val="solid"/>
          </a:ln>
        </p:spPr>
      </p:sp>
      <p:sp>
        <p:nvSpPr>
          <p:cNvPr id="52" name="Shape 50"/>
          <p:cNvSpPr/>
          <p:nvPr/>
        </p:nvSpPr>
        <p:spPr>
          <a:xfrm>
            <a:off x="2633472" y="6108192"/>
            <a:ext cx="100584" cy="100584"/>
          </a:xfrm>
          <a:prstGeom prst="rect">
            <a:avLst/>
          </a:prstGeom>
          <a:solidFill>
            <a:srgbClr val="2B3A4B"/>
          </a:solidFill>
          <a:ln w="12700">
            <a:solidFill>
              <a:srgbClr val="2B3A4B"/>
            </a:solidFill>
            <a:prstDash val="solid"/>
          </a:ln>
        </p:spPr>
      </p:sp>
      <p:sp>
        <p:nvSpPr>
          <p:cNvPr id="53" name="Shape 51"/>
          <p:cNvSpPr/>
          <p:nvPr/>
        </p:nvSpPr>
        <p:spPr>
          <a:xfrm>
            <a:off x="2793492" y="6108192"/>
            <a:ext cx="100584" cy="100584"/>
          </a:xfrm>
          <a:prstGeom prst="rect">
            <a:avLst/>
          </a:prstGeom>
          <a:solidFill>
            <a:srgbClr val="2B3A4B"/>
          </a:solidFill>
          <a:ln w="12700">
            <a:solidFill>
              <a:srgbClr val="2B3A4B"/>
            </a:solidFill>
            <a:prstDash val="solid"/>
          </a:ln>
        </p:spPr>
      </p:sp>
      <p:sp>
        <p:nvSpPr>
          <p:cNvPr id="54" name="Shape 52"/>
          <p:cNvSpPr/>
          <p:nvPr/>
        </p:nvSpPr>
        <p:spPr>
          <a:xfrm>
            <a:off x="2953512" y="6108192"/>
            <a:ext cx="100584" cy="100584"/>
          </a:xfrm>
          <a:prstGeom prst="rect">
            <a:avLst/>
          </a:prstGeom>
          <a:solidFill>
            <a:srgbClr val="2B3A4B"/>
          </a:solidFill>
          <a:ln w="12700">
            <a:solidFill>
              <a:srgbClr val="2B3A4B"/>
            </a:solidFill>
            <a:prstDash val="solid"/>
          </a:ln>
        </p:spPr>
      </p:sp>
      <p:sp>
        <p:nvSpPr>
          <p:cNvPr id="55" name="Shape 53"/>
          <p:cNvSpPr/>
          <p:nvPr/>
        </p:nvSpPr>
        <p:spPr>
          <a:xfrm>
            <a:off x="3113532" y="6108192"/>
            <a:ext cx="100584" cy="100584"/>
          </a:xfrm>
          <a:prstGeom prst="rect">
            <a:avLst/>
          </a:prstGeom>
          <a:solidFill>
            <a:srgbClr val="2B3A4B"/>
          </a:solidFill>
          <a:ln w="12700">
            <a:solidFill>
              <a:srgbClr val="2B3A4B"/>
            </a:solidFill>
            <a:prstDash val="solid"/>
          </a:ln>
        </p:spPr>
      </p:sp>
      <p:sp>
        <p:nvSpPr>
          <p:cNvPr id="56" name="Shape 54"/>
          <p:cNvSpPr/>
          <p:nvPr/>
        </p:nvSpPr>
        <p:spPr>
          <a:xfrm>
            <a:off x="3273552" y="6108192"/>
            <a:ext cx="100584" cy="100584"/>
          </a:xfrm>
          <a:prstGeom prst="rect">
            <a:avLst/>
          </a:prstGeom>
          <a:solidFill>
            <a:srgbClr val="2B3A4B"/>
          </a:solidFill>
          <a:ln w="12700">
            <a:solidFill>
              <a:srgbClr val="2B3A4B"/>
            </a:solidFill>
            <a:prstDash val="solid"/>
          </a:ln>
        </p:spPr>
      </p:sp>
      <p:sp>
        <p:nvSpPr>
          <p:cNvPr id="57" name="Shape 55"/>
          <p:cNvSpPr/>
          <p:nvPr/>
        </p:nvSpPr>
        <p:spPr>
          <a:xfrm>
            <a:off x="3433572" y="6108192"/>
            <a:ext cx="100584" cy="100584"/>
          </a:xfrm>
          <a:prstGeom prst="rect">
            <a:avLst/>
          </a:prstGeom>
          <a:solidFill>
            <a:srgbClr val="2B3A4B"/>
          </a:solidFill>
          <a:ln w="12700">
            <a:solidFill>
              <a:srgbClr val="2B3A4B"/>
            </a:solidFill>
            <a:prstDash val="solid"/>
          </a:ln>
        </p:spPr>
      </p:sp>
      <p:sp>
        <p:nvSpPr>
          <p:cNvPr id="58" name="Shape 56"/>
          <p:cNvSpPr/>
          <p:nvPr/>
        </p:nvSpPr>
        <p:spPr>
          <a:xfrm>
            <a:off x="3593592" y="6108192"/>
            <a:ext cx="100584" cy="100584"/>
          </a:xfrm>
          <a:prstGeom prst="rect">
            <a:avLst/>
          </a:prstGeom>
          <a:solidFill>
            <a:srgbClr val="2B3A4B"/>
          </a:solidFill>
          <a:ln w="12700">
            <a:solidFill>
              <a:srgbClr val="2B3A4B"/>
            </a:solidFill>
            <a:prstDash val="solid"/>
          </a:ln>
        </p:spPr>
      </p:sp>
      <p:sp>
        <p:nvSpPr>
          <p:cNvPr id="59" name="Shape 57"/>
          <p:cNvSpPr/>
          <p:nvPr/>
        </p:nvSpPr>
        <p:spPr>
          <a:xfrm>
            <a:off x="3753612" y="6108192"/>
            <a:ext cx="100584" cy="176022"/>
          </a:xfrm>
          <a:prstGeom prst="rect">
            <a:avLst/>
          </a:prstGeom>
          <a:solidFill>
            <a:srgbClr val="B0703A"/>
          </a:solidFill>
          <a:ln w="12700">
            <a:solidFill>
              <a:srgbClr val="B0703A"/>
            </a:solidFill>
            <a:prstDash val="solid"/>
          </a:ln>
        </p:spPr>
      </p:sp>
      <p:sp>
        <p:nvSpPr>
          <p:cNvPr id="60" name="Shape 58"/>
          <p:cNvSpPr/>
          <p:nvPr/>
        </p:nvSpPr>
        <p:spPr>
          <a:xfrm>
            <a:off x="3913632" y="6108192"/>
            <a:ext cx="100584" cy="100584"/>
          </a:xfrm>
          <a:prstGeom prst="rect">
            <a:avLst/>
          </a:prstGeom>
          <a:solidFill>
            <a:srgbClr val="2B3A4B"/>
          </a:solidFill>
          <a:ln w="12700">
            <a:solidFill>
              <a:srgbClr val="2B3A4B"/>
            </a:solidFill>
            <a:prstDash val="solid"/>
          </a:ln>
        </p:spPr>
      </p:sp>
      <p:sp>
        <p:nvSpPr>
          <p:cNvPr id="61" name="Shape 59"/>
          <p:cNvSpPr/>
          <p:nvPr/>
        </p:nvSpPr>
        <p:spPr>
          <a:xfrm>
            <a:off x="4073652" y="6108192"/>
            <a:ext cx="100584" cy="100584"/>
          </a:xfrm>
          <a:prstGeom prst="rect">
            <a:avLst/>
          </a:prstGeom>
          <a:solidFill>
            <a:srgbClr val="2B3A4B"/>
          </a:solidFill>
          <a:ln w="12700">
            <a:solidFill>
              <a:srgbClr val="2B3A4B"/>
            </a:solidFill>
            <a:prstDash val="solid"/>
          </a:ln>
        </p:spPr>
      </p:sp>
      <p:sp>
        <p:nvSpPr>
          <p:cNvPr id="62" name="Text 60"/>
          <p:cNvSpPr txBox="1"/>
          <p:nvPr/>
        </p:nvSpPr>
        <p:spPr>
          <a:xfrm>
            <a:off x="7820863" y="6035040"/>
            <a:ext cx="3657600" cy="310896"/>
          </a:xfrm>
          <a:prstGeom prst="rect">
            <a:avLst/>
          </a:prstGeom>
          <a:noFill/>
          <a:ln/>
        </p:spPr>
        <p:txBody>
          <a:bodyPr wrap="square" lIns="0" tIns="0" rIns="0" bIns="0" rtlCol="0" anchor="t"/>
          <a:lstStyle/>
          <a:p>
            <a:pPr algn="r" indent="0" marL="0">
              <a:buNone/>
            </a:pPr>
            <a:r>
              <a:rPr lang="en-US" sz="1500" b="1" dirty="0">
                <a:solidFill>
                  <a:srgbClr val="FFFFFF"/>
                </a:solidFill>
                <a:latin typeface="Malgun Gothic" pitchFamily="34" charset="0"/>
                <a:ea typeface="Malgun Gothic" pitchFamily="34" charset="-122"/>
                <a:cs typeface="Malgun Gothic" pitchFamily="34" charset="-120"/>
              </a:rPr>
              <a:t>감사합니다</a:t>
            </a:r>
            <a:endParaRPr lang="en-US" sz="1500" dirty="0"/>
          </a:p>
        </p:txBody>
      </p:sp>
      <p:sp>
        <p:nvSpPr>
          <p:cNvPr id="63" name="Text 61"/>
          <p:cNvSpPr txBox="1"/>
          <p:nvPr/>
        </p:nvSpPr>
        <p:spPr>
          <a:xfrm>
            <a:off x="10381183" y="6382512"/>
            <a:ext cx="1097280" cy="219456"/>
          </a:xfrm>
          <a:prstGeom prst="rect">
            <a:avLst/>
          </a:prstGeom>
          <a:noFill/>
          <a:ln/>
        </p:spPr>
        <p:txBody>
          <a:bodyPr wrap="square" lIns="0" tIns="0" rIns="0" bIns="0" rtlCol="0" anchor="t"/>
          <a:lstStyle/>
          <a:p>
            <a:pPr algn="r" indent="0" marL="0">
              <a:buNone/>
            </a:pPr>
            <a:r>
              <a:rPr lang="en-US" sz="950" dirty="0">
                <a:solidFill>
                  <a:srgbClr val="6E7F91"/>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FUTURE:M RADAR — 중요 공시 자동 알림</dc:title>
  <dc:subject>PptxGenJS Presentation</dc:subject>
  <dc:creator>FUTURE:M RADAR</dc:creator>
  <cp:lastModifiedBy>FUTURE:M RADAR</cp:lastModifiedBy>
  <cp:revision>1</cp:revision>
  <dcterms:created xsi:type="dcterms:W3CDTF">2026-09-10T08:52:57Z</dcterms:created>
  <dcterms:modified xsi:type="dcterms:W3CDTF">2026-09-10T08:52:57Z</dcterms:modified>
</cp:coreProperties>
</file>