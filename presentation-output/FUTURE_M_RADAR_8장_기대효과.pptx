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목적] 측정되지 않은 수치를 내세우지 않고, 업무 방식이 어떻게 달라지는지로 효과를 설명한다.
[대본] 기대 효과는 수치보다 업무 방식의 변화로 말씀드리겠습니다. 왼쪽이 기존 방식, 오른쪽이 FUTURE:M RADAR를 쓸 때입니다. 정보 수집은 출처별로 사이트를 각각 방문하던 것이 한 번의 조회로 통합됩니다. 중요도 판단은 담당자 경험에 따라 달라지던 것이 동일한 규칙으로 우선순위가 제시됩니다. 사업 해석은 확인한 뒤 다시 해석해야 했던 과정이 사업 영향과 대응 방향까지 함께 제시되는 방식으로 바뀝니다. 근거 확인은 원문을 다시 찾아 대조하던 것이 결과에서 원문으로 바로 이동하게 되고, 공유는 보고자료를 매번 새로 쓰던 것이 중요 변화가 채널로 자동 전달되는 형태가 됩니다. 시간 단축 같은 수치는 실제 사용자를 대상으로 측정한 뒤 별도로 보고드리겠습니다. 마지막으로 이 프로젝트에서 가장 크게 배운 점입니다. 처음에는 정보를 많이 보여주는 것이 좋은 시스템이라고 생각했는데, 경영진에게 필요한 것은 정보의 양이 아니라 무엇을 봐야 하고 그것이 어떤 의미인지 빠르게 이해할 수 있는 구조라는 걸 알게 됐습니다.
[강조할 한 문장] 필요한 것은 정보의 양이 아니라, 무엇을 봐야 하는지 알려주는 구조였다.
[예상 시간] 55초
[다음 연결] 이후 질의응답에서는 부록의 기술 구성과 한계 자료를 활용한다.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8FC"/>
        </a:solidFill>
      </p:bgPr>
    </p:bg>
    <p:spTree>
      <p:nvGrpSpPr>
        <p:cNvPr id="1" name=""/>
        <p:cNvGrpSpPr/>
        <p:nvPr/>
      </p:nvGrpSpPr>
      <p:grpSpPr>
        <a:xfrm>
          <a:off x="0" y="0"/>
          <a:ext cx="0" cy="0"/>
          <a:chOff x="0" y="0"/>
          <a:chExt cx="0" cy="0"/>
        </a:xfrm>
      </p:grpSpPr>
      <p:sp>
        <p:nvSpPr>
          <p:cNvPr id="2" name="Shape 0"/>
          <p:cNvSpPr/>
          <p:nvPr/>
        </p:nvSpPr>
        <p:spPr>
          <a:xfrm>
            <a:off x="731520" y="676656"/>
            <a:ext cx="566928" cy="16459"/>
          </a:xfrm>
          <a:prstGeom prst="rect">
            <a:avLst/>
          </a:prstGeom>
          <a:solidFill>
            <a:srgbClr val="00A88F"/>
          </a:solidFill>
          <a:ln w="12700">
            <a:solidFill>
              <a:srgbClr val="00A88F"/>
            </a:solidFill>
            <a:prstDash val="solid"/>
          </a:ln>
        </p:spPr>
      </p:sp>
      <p:sp>
        <p:nvSpPr>
          <p:cNvPr id="3" name="Text 1"/>
          <p:cNvSpPr txBox="1"/>
          <p:nvPr/>
        </p:nvSpPr>
        <p:spPr>
          <a:xfrm>
            <a:off x="731520" y="868680"/>
            <a:ext cx="10728655" cy="512064"/>
          </a:xfrm>
          <a:prstGeom prst="rect">
            <a:avLst/>
          </a:prstGeom>
          <a:noFill/>
          <a:ln/>
        </p:spPr>
        <p:txBody>
          <a:bodyPr wrap="square" lIns="0" tIns="0" rIns="0" bIns="0" rtlCol="0" anchor="t"/>
          <a:lstStyle/>
          <a:p>
            <a:pPr indent="0" marL="0">
              <a:buNone/>
            </a:pPr>
            <a:r>
              <a:rPr lang="en-US" sz="3200" b="1" dirty="0">
                <a:solidFill>
                  <a:srgbClr val="0B2545"/>
                </a:solidFill>
                <a:latin typeface="함초롬돋움" pitchFamily="34" charset="0"/>
                <a:ea typeface="함초롬돋움" pitchFamily="34" charset="-122"/>
                <a:cs typeface="함초롬돋움" pitchFamily="34" charset="-120"/>
              </a:rPr>
              <a:t>기대 효과와 성장 경험</a:t>
            </a:r>
            <a:endParaRPr lang="en-US" sz="3200" dirty="0"/>
          </a:p>
        </p:txBody>
      </p:sp>
      <p:sp>
        <p:nvSpPr>
          <p:cNvPr id="4" name="Text 2"/>
          <p:cNvSpPr txBox="1"/>
          <p:nvPr/>
        </p:nvSpPr>
        <p:spPr>
          <a:xfrm>
            <a:off x="731520" y="1463040"/>
            <a:ext cx="10728655" cy="310896"/>
          </a:xfrm>
          <a:prstGeom prst="rect">
            <a:avLst/>
          </a:prstGeom>
          <a:noFill/>
          <a:ln/>
        </p:spPr>
        <p:txBody>
          <a:bodyPr wrap="square" lIns="0" tIns="0" rIns="0" bIns="0" rtlCol="0" anchor="t"/>
          <a:lstStyle/>
          <a:p>
            <a:pPr indent="0" marL="0">
              <a:buNone/>
            </a:pPr>
            <a:r>
              <a:rPr lang="en-US" sz="1800" dirty="0">
                <a:solidFill>
                  <a:srgbClr val="5A6B7C"/>
                </a:solidFill>
                <a:latin typeface="함초롬돋움" pitchFamily="34" charset="0"/>
                <a:ea typeface="함초롬돋움" pitchFamily="34" charset="-122"/>
                <a:cs typeface="함초롬돋움" pitchFamily="34" charset="-120"/>
              </a:rPr>
              <a:t>정보 확인 시간을 줄이고 경영진이 판단에 집중할 수 있는 기반을 만들었습니다</a:t>
            </a:r>
            <a:endParaRPr lang="en-US" sz="1800" dirty="0"/>
          </a:p>
        </p:txBody>
      </p:sp>
      <p:sp>
        <p:nvSpPr>
          <p:cNvPr id="5" name="Text 3"/>
          <p:cNvSpPr txBox="1"/>
          <p:nvPr/>
        </p:nvSpPr>
        <p:spPr>
          <a:xfrm>
            <a:off x="731520" y="1920240"/>
            <a:ext cx="3657600" cy="292608"/>
          </a:xfrm>
          <a:prstGeom prst="rect">
            <a:avLst/>
          </a:prstGeom>
          <a:noFill/>
          <a:ln/>
        </p:spPr>
        <p:txBody>
          <a:bodyPr wrap="square" lIns="0" tIns="0" rIns="0" bIns="0" rtlCol="0" anchor="t"/>
          <a:lstStyle/>
          <a:p>
            <a:pPr indent="0" marL="0">
              <a:buNone/>
            </a:pPr>
            <a:r>
              <a:rPr lang="en-US" sz="1900" b="1" dirty="0">
                <a:solidFill>
                  <a:srgbClr val="0B2545"/>
                </a:solidFill>
                <a:latin typeface="함초롬돋움" pitchFamily="34" charset="0"/>
                <a:ea typeface="함초롬돋움" pitchFamily="34" charset="-122"/>
                <a:cs typeface="함초롬돋움" pitchFamily="34" charset="-120"/>
              </a:rPr>
              <a:t>업무 흐름의 변화</a:t>
            </a:r>
            <a:endParaRPr lang="en-US" sz="1900" dirty="0"/>
          </a:p>
        </p:txBody>
      </p:sp>
      <p:sp>
        <p:nvSpPr>
          <p:cNvPr id="6" name="Shape 4"/>
          <p:cNvSpPr/>
          <p:nvPr/>
        </p:nvSpPr>
        <p:spPr>
          <a:xfrm>
            <a:off x="2468880" y="2231136"/>
            <a:ext cx="3840480" cy="347472"/>
          </a:xfrm>
          <a:prstGeom prst="rect">
            <a:avLst/>
          </a:prstGeom>
          <a:solidFill>
            <a:srgbClr val="DCE3EA"/>
          </a:solidFill>
          <a:ln w="12700">
            <a:solidFill>
              <a:srgbClr val="DCE3EA"/>
            </a:solidFill>
            <a:prstDash val="solid"/>
          </a:ln>
        </p:spPr>
      </p:sp>
      <p:sp>
        <p:nvSpPr>
          <p:cNvPr id="7" name="Text 5"/>
          <p:cNvSpPr txBox="1"/>
          <p:nvPr/>
        </p:nvSpPr>
        <p:spPr>
          <a:xfrm>
            <a:off x="2468880" y="2322576"/>
            <a:ext cx="3840480" cy="237744"/>
          </a:xfrm>
          <a:prstGeom prst="rect">
            <a:avLst/>
          </a:prstGeom>
          <a:noFill/>
          <a:ln/>
        </p:spPr>
        <p:txBody>
          <a:bodyPr wrap="square" lIns="0" tIns="0" rIns="0" bIns="0" rtlCol="0" anchor="t"/>
          <a:lstStyle/>
          <a:p>
            <a:pPr algn="ctr" indent="0" marL="0">
              <a:buNone/>
            </a:pPr>
            <a:r>
              <a:rPr lang="en-US" sz="1500" b="1" dirty="0">
                <a:solidFill>
                  <a:srgbClr val="5A6B7C"/>
                </a:solidFill>
                <a:latin typeface="함초롬돋움" pitchFamily="34" charset="0"/>
                <a:ea typeface="함초롬돋움" pitchFamily="34" charset="-122"/>
                <a:cs typeface="함초롬돋움" pitchFamily="34" charset="-120"/>
              </a:rPr>
              <a:t>기존 방식</a:t>
            </a:r>
            <a:endParaRPr lang="en-US" sz="1500" dirty="0"/>
          </a:p>
        </p:txBody>
      </p:sp>
      <p:sp>
        <p:nvSpPr>
          <p:cNvPr id="8" name="Shape 6"/>
          <p:cNvSpPr/>
          <p:nvPr/>
        </p:nvSpPr>
        <p:spPr>
          <a:xfrm>
            <a:off x="6766560" y="2231136"/>
            <a:ext cx="4690872" cy="347472"/>
          </a:xfrm>
          <a:prstGeom prst="rect">
            <a:avLst/>
          </a:prstGeom>
          <a:solidFill>
            <a:srgbClr val="0B2545"/>
          </a:solidFill>
          <a:ln w="12700">
            <a:solidFill>
              <a:srgbClr val="0B2545"/>
            </a:solidFill>
            <a:prstDash val="solid"/>
          </a:ln>
        </p:spPr>
      </p:sp>
      <p:sp>
        <p:nvSpPr>
          <p:cNvPr id="9" name="Text 7"/>
          <p:cNvSpPr txBox="1"/>
          <p:nvPr/>
        </p:nvSpPr>
        <p:spPr>
          <a:xfrm>
            <a:off x="6766560" y="2322576"/>
            <a:ext cx="4690872" cy="237744"/>
          </a:xfrm>
          <a:prstGeom prst="rect">
            <a:avLst/>
          </a:prstGeom>
          <a:noFill/>
          <a:ln/>
        </p:spPr>
        <p:txBody>
          <a:bodyPr wrap="square" lIns="0" tIns="0" rIns="0" bIns="0" rtlCol="0" anchor="t"/>
          <a:lstStyle/>
          <a:p>
            <a:pPr algn="ctr" indent="0" marL="0">
              <a:buNone/>
            </a:pPr>
            <a:r>
              <a:rPr lang="en-US" sz="1500" b="1" dirty="0">
                <a:solidFill>
                  <a:srgbClr val="4FD1BC"/>
                </a:solidFill>
                <a:latin typeface="함초롬돋움" pitchFamily="34" charset="0"/>
                <a:ea typeface="함초롬돋움" pitchFamily="34" charset="-122"/>
                <a:cs typeface="함초롬돋움" pitchFamily="34" charset="-120"/>
              </a:rPr>
              <a:t>FUTURE:M RADAR</a:t>
            </a:r>
            <a:endParaRPr lang="en-US" sz="1500" dirty="0"/>
          </a:p>
        </p:txBody>
      </p:sp>
      <p:sp>
        <p:nvSpPr>
          <p:cNvPr id="10" name="Shape 8"/>
          <p:cNvSpPr/>
          <p:nvPr/>
        </p:nvSpPr>
        <p:spPr>
          <a:xfrm>
            <a:off x="2468880" y="2578608"/>
            <a:ext cx="3840480" cy="2798064"/>
          </a:xfrm>
          <a:prstGeom prst="rect">
            <a:avLst/>
          </a:prstGeom>
          <a:solidFill>
            <a:srgbClr val="EBEFF4"/>
          </a:solidFill>
          <a:ln w="12700">
            <a:solidFill>
              <a:srgbClr val="EBEFF4"/>
            </a:solidFill>
            <a:prstDash val="solid"/>
          </a:ln>
        </p:spPr>
      </p:sp>
      <p:sp>
        <p:nvSpPr>
          <p:cNvPr id="11" name="Shape 9"/>
          <p:cNvSpPr/>
          <p:nvPr/>
        </p:nvSpPr>
        <p:spPr>
          <a:xfrm>
            <a:off x="6766560" y="2578608"/>
            <a:ext cx="4690872" cy="2798064"/>
          </a:xfrm>
          <a:prstGeom prst="rect">
            <a:avLst/>
          </a:prstGeom>
          <a:solidFill>
            <a:srgbClr val="E4F4F1"/>
          </a:solidFill>
          <a:ln w="12700">
            <a:solidFill>
              <a:srgbClr val="4FD1BC"/>
            </a:solidFill>
            <a:prstDash val="solid"/>
          </a:ln>
        </p:spPr>
      </p:sp>
      <p:sp>
        <p:nvSpPr>
          <p:cNvPr id="12" name="Text 10"/>
          <p:cNvSpPr txBox="1"/>
          <p:nvPr/>
        </p:nvSpPr>
        <p:spPr>
          <a:xfrm>
            <a:off x="731520" y="2724912"/>
            <a:ext cx="1600200" cy="292608"/>
          </a:xfrm>
          <a:prstGeom prst="rect">
            <a:avLst/>
          </a:prstGeom>
          <a:noFill/>
          <a:ln/>
        </p:spPr>
        <p:txBody>
          <a:bodyPr wrap="square" lIns="0" tIns="0" rIns="0" bIns="0" rtlCol="0" anchor="t"/>
          <a:lstStyle/>
          <a:p>
            <a:pPr indent="0" marL="0">
              <a:buNone/>
            </a:pPr>
            <a:r>
              <a:rPr lang="en-US" sz="1600" b="1" dirty="0">
                <a:solidFill>
                  <a:srgbClr val="0B2545"/>
                </a:solidFill>
                <a:latin typeface="함초롬돋움" pitchFamily="34" charset="0"/>
                <a:ea typeface="함초롬돋움" pitchFamily="34" charset="-122"/>
                <a:cs typeface="함초롬돋움" pitchFamily="34" charset="-120"/>
              </a:rPr>
              <a:t>정보 수집</a:t>
            </a:r>
            <a:endParaRPr lang="en-US" sz="1600" dirty="0"/>
          </a:p>
        </p:txBody>
      </p:sp>
      <p:sp>
        <p:nvSpPr>
          <p:cNvPr id="13" name="Text 11"/>
          <p:cNvSpPr txBox="1"/>
          <p:nvPr/>
        </p:nvSpPr>
        <p:spPr>
          <a:xfrm>
            <a:off x="2670048" y="2724912"/>
            <a:ext cx="3438144" cy="292608"/>
          </a:xfrm>
          <a:prstGeom prst="rect">
            <a:avLst/>
          </a:prstGeom>
          <a:noFill/>
          <a:ln/>
        </p:spPr>
        <p:txBody>
          <a:bodyPr wrap="square" lIns="0" tIns="0" rIns="0" bIns="0" rtlCol="0" anchor="t"/>
          <a:lstStyle/>
          <a:p>
            <a:pPr indent="0" marL="0">
              <a:buNone/>
            </a:pPr>
            <a:r>
              <a:rPr lang="en-US" sz="1550" dirty="0">
                <a:solidFill>
                  <a:srgbClr val="5A6B7C"/>
                </a:solidFill>
                <a:latin typeface="함초롬돋움" pitchFamily="34" charset="0"/>
                <a:ea typeface="함초롬돋움" pitchFamily="34" charset="-122"/>
                <a:cs typeface="함초롬돋움" pitchFamily="34" charset="-120"/>
              </a:rPr>
              <a:t>출처별로 사이트를 각각 방문해 확인</a:t>
            </a:r>
            <a:endParaRPr lang="en-US" sz="1550" dirty="0"/>
          </a:p>
        </p:txBody>
      </p:sp>
      <p:sp>
        <p:nvSpPr>
          <p:cNvPr id="14" name="Shape 12"/>
          <p:cNvSpPr/>
          <p:nvPr/>
        </p:nvSpPr>
        <p:spPr>
          <a:xfrm rot="5400000">
            <a:off x="6455664" y="2788920"/>
            <a:ext cx="164592" cy="182880"/>
          </a:xfrm>
          <a:prstGeom prst="triangle">
            <a:avLst/>
          </a:prstGeom>
          <a:solidFill>
            <a:srgbClr val="00A88F"/>
          </a:solidFill>
          <a:ln w="12700">
            <a:solidFill>
              <a:srgbClr val="00A88F"/>
            </a:solidFill>
            <a:prstDash val="solid"/>
          </a:ln>
        </p:spPr>
      </p:sp>
      <p:sp>
        <p:nvSpPr>
          <p:cNvPr id="15" name="Shape 13"/>
          <p:cNvSpPr/>
          <p:nvPr/>
        </p:nvSpPr>
        <p:spPr>
          <a:xfrm>
            <a:off x="6986016" y="2816352"/>
            <a:ext cx="100584" cy="100584"/>
          </a:xfrm>
          <a:prstGeom prst="ellipse">
            <a:avLst/>
          </a:prstGeom>
          <a:solidFill>
            <a:srgbClr val="00A88F"/>
          </a:solidFill>
          <a:ln w="12700">
            <a:solidFill>
              <a:srgbClr val="00A88F"/>
            </a:solidFill>
            <a:prstDash val="solid"/>
          </a:ln>
        </p:spPr>
      </p:sp>
      <p:sp>
        <p:nvSpPr>
          <p:cNvPr id="16" name="Text 14"/>
          <p:cNvSpPr txBox="1"/>
          <p:nvPr/>
        </p:nvSpPr>
        <p:spPr>
          <a:xfrm>
            <a:off x="7223760" y="2724912"/>
            <a:ext cx="4014216" cy="292608"/>
          </a:xfrm>
          <a:prstGeom prst="rect">
            <a:avLst/>
          </a:prstGeom>
          <a:noFill/>
          <a:ln/>
        </p:spPr>
        <p:txBody>
          <a:bodyPr wrap="square" lIns="0" tIns="0" rIns="0" bIns="0" rtlCol="0" anchor="t"/>
          <a:lstStyle/>
          <a:p>
            <a:pPr indent="0" marL="0">
              <a:buNone/>
            </a:pPr>
            <a:r>
              <a:rPr lang="en-US" sz="1550" b="1" dirty="0">
                <a:solidFill>
                  <a:srgbClr val="143A63"/>
                </a:solidFill>
                <a:latin typeface="함초롬돋움" pitchFamily="34" charset="0"/>
                <a:ea typeface="함초롬돋움" pitchFamily="34" charset="-122"/>
                <a:cs typeface="함초롬돋움" pitchFamily="34" charset="-120"/>
              </a:rPr>
              <a:t>한 번의 조회로 전 출처를 통합 수집</a:t>
            </a:r>
            <a:endParaRPr lang="en-US" sz="1550" dirty="0"/>
          </a:p>
        </p:txBody>
      </p:sp>
      <p:sp>
        <p:nvSpPr>
          <p:cNvPr id="17" name="Shape 15"/>
          <p:cNvSpPr/>
          <p:nvPr/>
        </p:nvSpPr>
        <p:spPr>
          <a:xfrm>
            <a:off x="731520" y="3145536"/>
            <a:ext cx="1600200" cy="16459"/>
          </a:xfrm>
          <a:prstGeom prst="rect">
            <a:avLst/>
          </a:prstGeom>
          <a:solidFill>
            <a:srgbClr val="D2DEEA"/>
          </a:solidFill>
          <a:ln w="12700">
            <a:solidFill>
              <a:srgbClr val="D2DEEA"/>
            </a:solidFill>
            <a:prstDash val="solid"/>
          </a:ln>
        </p:spPr>
      </p:sp>
      <p:sp>
        <p:nvSpPr>
          <p:cNvPr id="18" name="Shape 16"/>
          <p:cNvSpPr/>
          <p:nvPr/>
        </p:nvSpPr>
        <p:spPr>
          <a:xfrm>
            <a:off x="2670048" y="3145536"/>
            <a:ext cx="3438144" cy="16459"/>
          </a:xfrm>
          <a:prstGeom prst="rect">
            <a:avLst/>
          </a:prstGeom>
          <a:solidFill>
            <a:srgbClr val="DCE2E9"/>
          </a:solidFill>
          <a:ln w="12700">
            <a:solidFill>
              <a:srgbClr val="DCE2E9"/>
            </a:solidFill>
            <a:prstDash val="solid"/>
          </a:ln>
        </p:spPr>
      </p:sp>
      <p:sp>
        <p:nvSpPr>
          <p:cNvPr id="19" name="Shape 17"/>
          <p:cNvSpPr/>
          <p:nvPr/>
        </p:nvSpPr>
        <p:spPr>
          <a:xfrm>
            <a:off x="6986016" y="3145536"/>
            <a:ext cx="4251960" cy="16459"/>
          </a:xfrm>
          <a:prstGeom prst="rect">
            <a:avLst/>
          </a:prstGeom>
          <a:solidFill>
            <a:srgbClr val="CBE8E2"/>
          </a:solidFill>
          <a:ln w="12700">
            <a:solidFill>
              <a:srgbClr val="CBE8E2"/>
            </a:solidFill>
            <a:prstDash val="solid"/>
          </a:ln>
        </p:spPr>
      </p:sp>
      <p:sp>
        <p:nvSpPr>
          <p:cNvPr id="20" name="Text 18"/>
          <p:cNvSpPr txBox="1"/>
          <p:nvPr/>
        </p:nvSpPr>
        <p:spPr>
          <a:xfrm>
            <a:off x="731520" y="3273552"/>
            <a:ext cx="1600200" cy="292608"/>
          </a:xfrm>
          <a:prstGeom prst="rect">
            <a:avLst/>
          </a:prstGeom>
          <a:noFill/>
          <a:ln/>
        </p:spPr>
        <p:txBody>
          <a:bodyPr wrap="square" lIns="0" tIns="0" rIns="0" bIns="0" rtlCol="0" anchor="t"/>
          <a:lstStyle/>
          <a:p>
            <a:pPr indent="0" marL="0">
              <a:buNone/>
            </a:pPr>
            <a:r>
              <a:rPr lang="en-US" sz="1600" b="1" dirty="0">
                <a:solidFill>
                  <a:srgbClr val="0B2545"/>
                </a:solidFill>
                <a:latin typeface="함초롬돋움" pitchFamily="34" charset="0"/>
                <a:ea typeface="함초롬돋움" pitchFamily="34" charset="-122"/>
                <a:cs typeface="함초롬돋움" pitchFamily="34" charset="-120"/>
              </a:rPr>
              <a:t>중요도 판단</a:t>
            </a:r>
            <a:endParaRPr lang="en-US" sz="1600" dirty="0"/>
          </a:p>
        </p:txBody>
      </p:sp>
      <p:sp>
        <p:nvSpPr>
          <p:cNvPr id="21" name="Text 19"/>
          <p:cNvSpPr txBox="1"/>
          <p:nvPr/>
        </p:nvSpPr>
        <p:spPr>
          <a:xfrm>
            <a:off x="2670048" y="3273552"/>
            <a:ext cx="3438144" cy="292608"/>
          </a:xfrm>
          <a:prstGeom prst="rect">
            <a:avLst/>
          </a:prstGeom>
          <a:noFill/>
          <a:ln/>
        </p:spPr>
        <p:txBody>
          <a:bodyPr wrap="square" lIns="0" tIns="0" rIns="0" bIns="0" rtlCol="0" anchor="t"/>
          <a:lstStyle/>
          <a:p>
            <a:pPr indent="0" marL="0">
              <a:buNone/>
            </a:pPr>
            <a:r>
              <a:rPr lang="en-US" sz="1550" dirty="0">
                <a:solidFill>
                  <a:srgbClr val="5A6B7C"/>
                </a:solidFill>
                <a:latin typeface="함초롬돋움" pitchFamily="34" charset="0"/>
                <a:ea typeface="함초롬돋움" pitchFamily="34" charset="-122"/>
                <a:cs typeface="함초롬돋움" pitchFamily="34" charset="-120"/>
              </a:rPr>
              <a:t>담당자의 경험에 따라 달라짐</a:t>
            </a:r>
            <a:endParaRPr lang="en-US" sz="1550" dirty="0"/>
          </a:p>
        </p:txBody>
      </p:sp>
      <p:sp>
        <p:nvSpPr>
          <p:cNvPr id="22" name="Shape 20"/>
          <p:cNvSpPr/>
          <p:nvPr/>
        </p:nvSpPr>
        <p:spPr>
          <a:xfrm rot="5400000">
            <a:off x="6455664" y="3337560"/>
            <a:ext cx="164592" cy="182880"/>
          </a:xfrm>
          <a:prstGeom prst="triangle">
            <a:avLst/>
          </a:prstGeom>
          <a:solidFill>
            <a:srgbClr val="00A88F"/>
          </a:solidFill>
          <a:ln w="12700">
            <a:solidFill>
              <a:srgbClr val="00A88F"/>
            </a:solidFill>
            <a:prstDash val="solid"/>
          </a:ln>
        </p:spPr>
      </p:sp>
      <p:sp>
        <p:nvSpPr>
          <p:cNvPr id="23" name="Shape 21"/>
          <p:cNvSpPr/>
          <p:nvPr/>
        </p:nvSpPr>
        <p:spPr>
          <a:xfrm>
            <a:off x="6986016" y="3364992"/>
            <a:ext cx="100584" cy="100584"/>
          </a:xfrm>
          <a:prstGeom prst="ellipse">
            <a:avLst/>
          </a:prstGeom>
          <a:solidFill>
            <a:srgbClr val="00A88F"/>
          </a:solidFill>
          <a:ln w="12700">
            <a:solidFill>
              <a:srgbClr val="00A88F"/>
            </a:solidFill>
            <a:prstDash val="solid"/>
          </a:ln>
        </p:spPr>
      </p:sp>
      <p:sp>
        <p:nvSpPr>
          <p:cNvPr id="24" name="Text 22"/>
          <p:cNvSpPr txBox="1"/>
          <p:nvPr/>
        </p:nvSpPr>
        <p:spPr>
          <a:xfrm>
            <a:off x="7223760" y="3273552"/>
            <a:ext cx="4014216" cy="292608"/>
          </a:xfrm>
          <a:prstGeom prst="rect">
            <a:avLst/>
          </a:prstGeom>
          <a:noFill/>
          <a:ln/>
        </p:spPr>
        <p:txBody>
          <a:bodyPr wrap="square" lIns="0" tIns="0" rIns="0" bIns="0" rtlCol="0" anchor="t"/>
          <a:lstStyle/>
          <a:p>
            <a:pPr indent="0" marL="0">
              <a:buNone/>
            </a:pPr>
            <a:r>
              <a:rPr lang="en-US" sz="1550" b="1" dirty="0">
                <a:solidFill>
                  <a:srgbClr val="143A63"/>
                </a:solidFill>
                <a:latin typeface="함초롬돋움" pitchFamily="34" charset="0"/>
                <a:ea typeface="함초롬돋움" pitchFamily="34" charset="-122"/>
                <a:cs typeface="함초롬돋움" pitchFamily="34" charset="-120"/>
              </a:rPr>
              <a:t>동일한 규칙으로 우선순위 제시</a:t>
            </a:r>
            <a:endParaRPr lang="en-US" sz="1550" dirty="0"/>
          </a:p>
        </p:txBody>
      </p:sp>
      <p:sp>
        <p:nvSpPr>
          <p:cNvPr id="25" name="Shape 23"/>
          <p:cNvSpPr/>
          <p:nvPr/>
        </p:nvSpPr>
        <p:spPr>
          <a:xfrm>
            <a:off x="731520" y="3694176"/>
            <a:ext cx="1600200" cy="16459"/>
          </a:xfrm>
          <a:prstGeom prst="rect">
            <a:avLst/>
          </a:prstGeom>
          <a:solidFill>
            <a:srgbClr val="D2DEEA"/>
          </a:solidFill>
          <a:ln w="12700">
            <a:solidFill>
              <a:srgbClr val="D2DEEA"/>
            </a:solidFill>
            <a:prstDash val="solid"/>
          </a:ln>
        </p:spPr>
      </p:sp>
      <p:sp>
        <p:nvSpPr>
          <p:cNvPr id="26" name="Shape 24"/>
          <p:cNvSpPr/>
          <p:nvPr/>
        </p:nvSpPr>
        <p:spPr>
          <a:xfrm>
            <a:off x="2670048" y="3694176"/>
            <a:ext cx="3438144" cy="16459"/>
          </a:xfrm>
          <a:prstGeom prst="rect">
            <a:avLst/>
          </a:prstGeom>
          <a:solidFill>
            <a:srgbClr val="DCE2E9"/>
          </a:solidFill>
          <a:ln w="12700">
            <a:solidFill>
              <a:srgbClr val="DCE2E9"/>
            </a:solidFill>
            <a:prstDash val="solid"/>
          </a:ln>
        </p:spPr>
      </p:sp>
      <p:sp>
        <p:nvSpPr>
          <p:cNvPr id="27" name="Shape 25"/>
          <p:cNvSpPr/>
          <p:nvPr/>
        </p:nvSpPr>
        <p:spPr>
          <a:xfrm>
            <a:off x="6986016" y="3694176"/>
            <a:ext cx="4251960" cy="16459"/>
          </a:xfrm>
          <a:prstGeom prst="rect">
            <a:avLst/>
          </a:prstGeom>
          <a:solidFill>
            <a:srgbClr val="CBE8E2"/>
          </a:solidFill>
          <a:ln w="12700">
            <a:solidFill>
              <a:srgbClr val="CBE8E2"/>
            </a:solidFill>
            <a:prstDash val="solid"/>
          </a:ln>
        </p:spPr>
      </p:sp>
      <p:sp>
        <p:nvSpPr>
          <p:cNvPr id="28" name="Text 26"/>
          <p:cNvSpPr txBox="1"/>
          <p:nvPr/>
        </p:nvSpPr>
        <p:spPr>
          <a:xfrm>
            <a:off x="731520" y="3822192"/>
            <a:ext cx="1600200" cy="292608"/>
          </a:xfrm>
          <a:prstGeom prst="rect">
            <a:avLst/>
          </a:prstGeom>
          <a:noFill/>
          <a:ln/>
        </p:spPr>
        <p:txBody>
          <a:bodyPr wrap="square" lIns="0" tIns="0" rIns="0" bIns="0" rtlCol="0" anchor="t"/>
          <a:lstStyle/>
          <a:p>
            <a:pPr indent="0" marL="0">
              <a:buNone/>
            </a:pPr>
            <a:r>
              <a:rPr lang="en-US" sz="1600" b="1" dirty="0">
                <a:solidFill>
                  <a:srgbClr val="0B2545"/>
                </a:solidFill>
                <a:latin typeface="함초롬돋움" pitchFamily="34" charset="0"/>
                <a:ea typeface="함초롬돋움" pitchFamily="34" charset="-122"/>
                <a:cs typeface="함초롬돋움" pitchFamily="34" charset="-120"/>
              </a:rPr>
              <a:t>사업 해석</a:t>
            </a:r>
            <a:endParaRPr lang="en-US" sz="1600" dirty="0"/>
          </a:p>
        </p:txBody>
      </p:sp>
      <p:sp>
        <p:nvSpPr>
          <p:cNvPr id="29" name="Text 27"/>
          <p:cNvSpPr txBox="1"/>
          <p:nvPr/>
        </p:nvSpPr>
        <p:spPr>
          <a:xfrm>
            <a:off x="2670048" y="3822192"/>
            <a:ext cx="3438144" cy="292608"/>
          </a:xfrm>
          <a:prstGeom prst="rect">
            <a:avLst/>
          </a:prstGeom>
          <a:noFill/>
          <a:ln/>
        </p:spPr>
        <p:txBody>
          <a:bodyPr wrap="square" lIns="0" tIns="0" rIns="0" bIns="0" rtlCol="0" anchor="t"/>
          <a:lstStyle/>
          <a:p>
            <a:pPr indent="0" marL="0">
              <a:buNone/>
            </a:pPr>
            <a:r>
              <a:rPr lang="en-US" sz="1550" dirty="0">
                <a:solidFill>
                  <a:srgbClr val="5A6B7C"/>
                </a:solidFill>
                <a:latin typeface="함초롬돋움" pitchFamily="34" charset="0"/>
                <a:ea typeface="함초롬돋움" pitchFamily="34" charset="-122"/>
                <a:cs typeface="함초롬돋움" pitchFamily="34" charset="-120"/>
              </a:rPr>
              <a:t>확인한 뒤 다시 해석하는 과정 필요</a:t>
            </a:r>
            <a:endParaRPr lang="en-US" sz="1550" dirty="0"/>
          </a:p>
        </p:txBody>
      </p:sp>
      <p:sp>
        <p:nvSpPr>
          <p:cNvPr id="30" name="Shape 28"/>
          <p:cNvSpPr/>
          <p:nvPr/>
        </p:nvSpPr>
        <p:spPr>
          <a:xfrm rot="5400000">
            <a:off x="6455664" y="3886200"/>
            <a:ext cx="164592" cy="182880"/>
          </a:xfrm>
          <a:prstGeom prst="triangle">
            <a:avLst/>
          </a:prstGeom>
          <a:solidFill>
            <a:srgbClr val="00A88F"/>
          </a:solidFill>
          <a:ln w="12700">
            <a:solidFill>
              <a:srgbClr val="00A88F"/>
            </a:solidFill>
            <a:prstDash val="solid"/>
          </a:ln>
        </p:spPr>
      </p:sp>
      <p:sp>
        <p:nvSpPr>
          <p:cNvPr id="31" name="Shape 29"/>
          <p:cNvSpPr/>
          <p:nvPr/>
        </p:nvSpPr>
        <p:spPr>
          <a:xfrm>
            <a:off x="6986016" y="3913632"/>
            <a:ext cx="100584" cy="100584"/>
          </a:xfrm>
          <a:prstGeom prst="ellipse">
            <a:avLst/>
          </a:prstGeom>
          <a:solidFill>
            <a:srgbClr val="00A88F"/>
          </a:solidFill>
          <a:ln w="12700">
            <a:solidFill>
              <a:srgbClr val="00A88F"/>
            </a:solidFill>
            <a:prstDash val="solid"/>
          </a:ln>
        </p:spPr>
      </p:sp>
      <p:sp>
        <p:nvSpPr>
          <p:cNvPr id="32" name="Text 30"/>
          <p:cNvSpPr txBox="1"/>
          <p:nvPr/>
        </p:nvSpPr>
        <p:spPr>
          <a:xfrm>
            <a:off x="7223760" y="3822192"/>
            <a:ext cx="4014216" cy="292608"/>
          </a:xfrm>
          <a:prstGeom prst="rect">
            <a:avLst/>
          </a:prstGeom>
          <a:noFill/>
          <a:ln/>
        </p:spPr>
        <p:txBody>
          <a:bodyPr wrap="square" lIns="0" tIns="0" rIns="0" bIns="0" rtlCol="0" anchor="t"/>
          <a:lstStyle/>
          <a:p>
            <a:pPr indent="0" marL="0">
              <a:buNone/>
            </a:pPr>
            <a:r>
              <a:rPr lang="en-US" sz="1550" b="1" dirty="0">
                <a:solidFill>
                  <a:srgbClr val="143A63"/>
                </a:solidFill>
                <a:latin typeface="함초롬돋움" pitchFamily="34" charset="0"/>
                <a:ea typeface="함초롬돋움" pitchFamily="34" charset="-122"/>
                <a:cs typeface="함초롬돋움" pitchFamily="34" charset="-120"/>
              </a:rPr>
              <a:t>사업 영향과 대응 방향까지 함께 제시</a:t>
            </a:r>
            <a:endParaRPr lang="en-US" sz="1550" dirty="0"/>
          </a:p>
        </p:txBody>
      </p:sp>
      <p:sp>
        <p:nvSpPr>
          <p:cNvPr id="33" name="Shape 31"/>
          <p:cNvSpPr/>
          <p:nvPr/>
        </p:nvSpPr>
        <p:spPr>
          <a:xfrm>
            <a:off x="731520" y="4242816"/>
            <a:ext cx="1600200" cy="16459"/>
          </a:xfrm>
          <a:prstGeom prst="rect">
            <a:avLst/>
          </a:prstGeom>
          <a:solidFill>
            <a:srgbClr val="D2DEEA"/>
          </a:solidFill>
          <a:ln w="12700">
            <a:solidFill>
              <a:srgbClr val="D2DEEA"/>
            </a:solidFill>
            <a:prstDash val="solid"/>
          </a:ln>
        </p:spPr>
      </p:sp>
      <p:sp>
        <p:nvSpPr>
          <p:cNvPr id="34" name="Shape 32"/>
          <p:cNvSpPr/>
          <p:nvPr/>
        </p:nvSpPr>
        <p:spPr>
          <a:xfrm>
            <a:off x="2670048" y="4242816"/>
            <a:ext cx="3438144" cy="16459"/>
          </a:xfrm>
          <a:prstGeom prst="rect">
            <a:avLst/>
          </a:prstGeom>
          <a:solidFill>
            <a:srgbClr val="DCE2E9"/>
          </a:solidFill>
          <a:ln w="12700">
            <a:solidFill>
              <a:srgbClr val="DCE2E9"/>
            </a:solidFill>
            <a:prstDash val="solid"/>
          </a:ln>
        </p:spPr>
      </p:sp>
      <p:sp>
        <p:nvSpPr>
          <p:cNvPr id="35" name="Shape 33"/>
          <p:cNvSpPr/>
          <p:nvPr/>
        </p:nvSpPr>
        <p:spPr>
          <a:xfrm>
            <a:off x="6986016" y="4242816"/>
            <a:ext cx="4251960" cy="16459"/>
          </a:xfrm>
          <a:prstGeom prst="rect">
            <a:avLst/>
          </a:prstGeom>
          <a:solidFill>
            <a:srgbClr val="CBE8E2"/>
          </a:solidFill>
          <a:ln w="12700">
            <a:solidFill>
              <a:srgbClr val="CBE8E2"/>
            </a:solidFill>
            <a:prstDash val="solid"/>
          </a:ln>
        </p:spPr>
      </p:sp>
      <p:sp>
        <p:nvSpPr>
          <p:cNvPr id="36" name="Text 34"/>
          <p:cNvSpPr txBox="1"/>
          <p:nvPr/>
        </p:nvSpPr>
        <p:spPr>
          <a:xfrm>
            <a:off x="731520" y="4370832"/>
            <a:ext cx="1600200" cy="292608"/>
          </a:xfrm>
          <a:prstGeom prst="rect">
            <a:avLst/>
          </a:prstGeom>
          <a:noFill/>
          <a:ln/>
        </p:spPr>
        <p:txBody>
          <a:bodyPr wrap="square" lIns="0" tIns="0" rIns="0" bIns="0" rtlCol="0" anchor="t"/>
          <a:lstStyle/>
          <a:p>
            <a:pPr indent="0" marL="0">
              <a:buNone/>
            </a:pPr>
            <a:r>
              <a:rPr lang="en-US" sz="1600" b="1" dirty="0">
                <a:solidFill>
                  <a:srgbClr val="0B2545"/>
                </a:solidFill>
                <a:latin typeface="함초롬돋움" pitchFamily="34" charset="0"/>
                <a:ea typeface="함초롬돋움" pitchFamily="34" charset="-122"/>
                <a:cs typeface="함초롬돋움" pitchFamily="34" charset="-120"/>
              </a:rPr>
              <a:t>근거 확인</a:t>
            </a:r>
            <a:endParaRPr lang="en-US" sz="1600" dirty="0"/>
          </a:p>
        </p:txBody>
      </p:sp>
      <p:sp>
        <p:nvSpPr>
          <p:cNvPr id="37" name="Text 35"/>
          <p:cNvSpPr txBox="1"/>
          <p:nvPr/>
        </p:nvSpPr>
        <p:spPr>
          <a:xfrm>
            <a:off x="2670048" y="4370832"/>
            <a:ext cx="3438144" cy="292608"/>
          </a:xfrm>
          <a:prstGeom prst="rect">
            <a:avLst/>
          </a:prstGeom>
          <a:noFill/>
          <a:ln/>
        </p:spPr>
        <p:txBody>
          <a:bodyPr wrap="square" lIns="0" tIns="0" rIns="0" bIns="0" rtlCol="0" anchor="t"/>
          <a:lstStyle/>
          <a:p>
            <a:pPr indent="0" marL="0">
              <a:buNone/>
            </a:pPr>
            <a:r>
              <a:rPr lang="en-US" sz="1550" dirty="0">
                <a:solidFill>
                  <a:srgbClr val="5A6B7C"/>
                </a:solidFill>
                <a:latin typeface="함초롬돋움" pitchFamily="34" charset="0"/>
                <a:ea typeface="함초롬돋움" pitchFamily="34" charset="-122"/>
                <a:cs typeface="함초롬돋움" pitchFamily="34" charset="-120"/>
              </a:rPr>
              <a:t>원문을 다시 찾아 대조</a:t>
            </a:r>
            <a:endParaRPr lang="en-US" sz="1550" dirty="0"/>
          </a:p>
        </p:txBody>
      </p:sp>
      <p:sp>
        <p:nvSpPr>
          <p:cNvPr id="38" name="Shape 36"/>
          <p:cNvSpPr/>
          <p:nvPr/>
        </p:nvSpPr>
        <p:spPr>
          <a:xfrm rot="5400000">
            <a:off x="6455664" y="4434840"/>
            <a:ext cx="164592" cy="182880"/>
          </a:xfrm>
          <a:prstGeom prst="triangle">
            <a:avLst/>
          </a:prstGeom>
          <a:solidFill>
            <a:srgbClr val="00A88F"/>
          </a:solidFill>
          <a:ln w="12700">
            <a:solidFill>
              <a:srgbClr val="00A88F"/>
            </a:solidFill>
            <a:prstDash val="solid"/>
          </a:ln>
        </p:spPr>
      </p:sp>
      <p:sp>
        <p:nvSpPr>
          <p:cNvPr id="39" name="Shape 37"/>
          <p:cNvSpPr/>
          <p:nvPr/>
        </p:nvSpPr>
        <p:spPr>
          <a:xfrm>
            <a:off x="6986016" y="4462272"/>
            <a:ext cx="100584" cy="100584"/>
          </a:xfrm>
          <a:prstGeom prst="ellipse">
            <a:avLst/>
          </a:prstGeom>
          <a:solidFill>
            <a:srgbClr val="00A88F"/>
          </a:solidFill>
          <a:ln w="12700">
            <a:solidFill>
              <a:srgbClr val="00A88F"/>
            </a:solidFill>
            <a:prstDash val="solid"/>
          </a:ln>
        </p:spPr>
      </p:sp>
      <p:sp>
        <p:nvSpPr>
          <p:cNvPr id="40" name="Text 38"/>
          <p:cNvSpPr txBox="1"/>
          <p:nvPr/>
        </p:nvSpPr>
        <p:spPr>
          <a:xfrm>
            <a:off x="7223760" y="4370832"/>
            <a:ext cx="4014216" cy="292608"/>
          </a:xfrm>
          <a:prstGeom prst="rect">
            <a:avLst/>
          </a:prstGeom>
          <a:noFill/>
          <a:ln/>
        </p:spPr>
        <p:txBody>
          <a:bodyPr wrap="square" lIns="0" tIns="0" rIns="0" bIns="0" rtlCol="0" anchor="t"/>
          <a:lstStyle/>
          <a:p>
            <a:pPr indent="0" marL="0">
              <a:buNone/>
            </a:pPr>
            <a:r>
              <a:rPr lang="en-US" sz="1550" b="1" dirty="0">
                <a:solidFill>
                  <a:srgbClr val="143A63"/>
                </a:solidFill>
                <a:latin typeface="함초롬돋움" pitchFamily="34" charset="0"/>
                <a:ea typeface="함초롬돋움" pitchFamily="34" charset="-122"/>
                <a:cs typeface="함초롬돋움" pitchFamily="34" charset="-120"/>
              </a:rPr>
              <a:t>결과에서 원문으로 바로 이동</a:t>
            </a:r>
            <a:endParaRPr lang="en-US" sz="1550" dirty="0"/>
          </a:p>
        </p:txBody>
      </p:sp>
      <p:sp>
        <p:nvSpPr>
          <p:cNvPr id="41" name="Shape 39"/>
          <p:cNvSpPr/>
          <p:nvPr/>
        </p:nvSpPr>
        <p:spPr>
          <a:xfrm>
            <a:off x="731520" y="4791456"/>
            <a:ext cx="1600200" cy="16459"/>
          </a:xfrm>
          <a:prstGeom prst="rect">
            <a:avLst/>
          </a:prstGeom>
          <a:solidFill>
            <a:srgbClr val="D2DEEA"/>
          </a:solidFill>
          <a:ln w="12700">
            <a:solidFill>
              <a:srgbClr val="D2DEEA"/>
            </a:solidFill>
            <a:prstDash val="solid"/>
          </a:ln>
        </p:spPr>
      </p:sp>
      <p:sp>
        <p:nvSpPr>
          <p:cNvPr id="42" name="Shape 40"/>
          <p:cNvSpPr/>
          <p:nvPr/>
        </p:nvSpPr>
        <p:spPr>
          <a:xfrm>
            <a:off x="2670048" y="4791456"/>
            <a:ext cx="3438144" cy="16459"/>
          </a:xfrm>
          <a:prstGeom prst="rect">
            <a:avLst/>
          </a:prstGeom>
          <a:solidFill>
            <a:srgbClr val="DCE2E9"/>
          </a:solidFill>
          <a:ln w="12700">
            <a:solidFill>
              <a:srgbClr val="DCE2E9"/>
            </a:solidFill>
            <a:prstDash val="solid"/>
          </a:ln>
        </p:spPr>
      </p:sp>
      <p:sp>
        <p:nvSpPr>
          <p:cNvPr id="43" name="Shape 41"/>
          <p:cNvSpPr/>
          <p:nvPr/>
        </p:nvSpPr>
        <p:spPr>
          <a:xfrm>
            <a:off x="6986016" y="4791456"/>
            <a:ext cx="4251960" cy="16459"/>
          </a:xfrm>
          <a:prstGeom prst="rect">
            <a:avLst/>
          </a:prstGeom>
          <a:solidFill>
            <a:srgbClr val="CBE8E2"/>
          </a:solidFill>
          <a:ln w="12700">
            <a:solidFill>
              <a:srgbClr val="CBE8E2"/>
            </a:solidFill>
            <a:prstDash val="solid"/>
          </a:ln>
        </p:spPr>
      </p:sp>
      <p:sp>
        <p:nvSpPr>
          <p:cNvPr id="44" name="Text 42"/>
          <p:cNvSpPr txBox="1"/>
          <p:nvPr/>
        </p:nvSpPr>
        <p:spPr>
          <a:xfrm>
            <a:off x="731520" y="4919472"/>
            <a:ext cx="1600200" cy="292608"/>
          </a:xfrm>
          <a:prstGeom prst="rect">
            <a:avLst/>
          </a:prstGeom>
          <a:noFill/>
          <a:ln/>
        </p:spPr>
        <p:txBody>
          <a:bodyPr wrap="square" lIns="0" tIns="0" rIns="0" bIns="0" rtlCol="0" anchor="t"/>
          <a:lstStyle/>
          <a:p>
            <a:pPr indent="0" marL="0">
              <a:buNone/>
            </a:pPr>
            <a:r>
              <a:rPr lang="en-US" sz="1600" b="1" dirty="0">
                <a:solidFill>
                  <a:srgbClr val="0B2545"/>
                </a:solidFill>
                <a:latin typeface="함초롬돋움" pitchFamily="34" charset="0"/>
                <a:ea typeface="함초롬돋움" pitchFamily="34" charset="-122"/>
                <a:cs typeface="함초롬돋움" pitchFamily="34" charset="-120"/>
              </a:rPr>
              <a:t>공유</a:t>
            </a:r>
            <a:endParaRPr lang="en-US" sz="1600" dirty="0"/>
          </a:p>
        </p:txBody>
      </p:sp>
      <p:sp>
        <p:nvSpPr>
          <p:cNvPr id="45" name="Text 43"/>
          <p:cNvSpPr txBox="1"/>
          <p:nvPr/>
        </p:nvSpPr>
        <p:spPr>
          <a:xfrm>
            <a:off x="2670048" y="4919472"/>
            <a:ext cx="3438144" cy="292608"/>
          </a:xfrm>
          <a:prstGeom prst="rect">
            <a:avLst/>
          </a:prstGeom>
          <a:noFill/>
          <a:ln/>
        </p:spPr>
        <p:txBody>
          <a:bodyPr wrap="square" lIns="0" tIns="0" rIns="0" bIns="0" rtlCol="0" anchor="t"/>
          <a:lstStyle/>
          <a:p>
            <a:pPr indent="0" marL="0">
              <a:buNone/>
            </a:pPr>
            <a:r>
              <a:rPr lang="en-US" sz="1550" dirty="0">
                <a:solidFill>
                  <a:srgbClr val="5A6B7C"/>
                </a:solidFill>
                <a:latin typeface="함초롬돋움" pitchFamily="34" charset="0"/>
                <a:ea typeface="함초롬돋움" pitchFamily="34" charset="-122"/>
                <a:cs typeface="함초롬돋움" pitchFamily="34" charset="-120"/>
              </a:rPr>
              <a:t>보고자료를 매번 새로 작성</a:t>
            </a:r>
            <a:endParaRPr lang="en-US" sz="1550" dirty="0"/>
          </a:p>
        </p:txBody>
      </p:sp>
      <p:sp>
        <p:nvSpPr>
          <p:cNvPr id="46" name="Shape 44"/>
          <p:cNvSpPr/>
          <p:nvPr/>
        </p:nvSpPr>
        <p:spPr>
          <a:xfrm rot="5400000">
            <a:off x="6455664" y="4983480"/>
            <a:ext cx="164592" cy="182880"/>
          </a:xfrm>
          <a:prstGeom prst="triangle">
            <a:avLst/>
          </a:prstGeom>
          <a:solidFill>
            <a:srgbClr val="00A88F"/>
          </a:solidFill>
          <a:ln w="12700">
            <a:solidFill>
              <a:srgbClr val="00A88F"/>
            </a:solidFill>
            <a:prstDash val="solid"/>
          </a:ln>
        </p:spPr>
      </p:sp>
      <p:sp>
        <p:nvSpPr>
          <p:cNvPr id="47" name="Shape 45"/>
          <p:cNvSpPr/>
          <p:nvPr/>
        </p:nvSpPr>
        <p:spPr>
          <a:xfrm>
            <a:off x="6986016" y="5010912"/>
            <a:ext cx="100584" cy="100584"/>
          </a:xfrm>
          <a:prstGeom prst="ellipse">
            <a:avLst/>
          </a:prstGeom>
          <a:solidFill>
            <a:srgbClr val="00A88F"/>
          </a:solidFill>
          <a:ln w="12700">
            <a:solidFill>
              <a:srgbClr val="00A88F"/>
            </a:solidFill>
            <a:prstDash val="solid"/>
          </a:ln>
        </p:spPr>
      </p:sp>
      <p:sp>
        <p:nvSpPr>
          <p:cNvPr id="48" name="Text 46"/>
          <p:cNvSpPr txBox="1"/>
          <p:nvPr/>
        </p:nvSpPr>
        <p:spPr>
          <a:xfrm>
            <a:off x="7223760" y="4919472"/>
            <a:ext cx="4014216" cy="292608"/>
          </a:xfrm>
          <a:prstGeom prst="rect">
            <a:avLst/>
          </a:prstGeom>
          <a:noFill/>
          <a:ln/>
        </p:spPr>
        <p:txBody>
          <a:bodyPr wrap="square" lIns="0" tIns="0" rIns="0" bIns="0" rtlCol="0" anchor="t"/>
          <a:lstStyle/>
          <a:p>
            <a:pPr indent="0" marL="0">
              <a:buNone/>
            </a:pPr>
            <a:r>
              <a:rPr lang="en-US" sz="1550" b="1" dirty="0">
                <a:solidFill>
                  <a:srgbClr val="143A63"/>
                </a:solidFill>
                <a:latin typeface="함초롬돋움" pitchFamily="34" charset="0"/>
                <a:ea typeface="함초롬돋움" pitchFamily="34" charset="-122"/>
                <a:cs typeface="함초롬돋움" pitchFamily="34" charset="-120"/>
              </a:rPr>
              <a:t>중요 변화는 채널로 자동 전달</a:t>
            </a:r>
            <a:endParaRPr lang="en-US" sz="1550" dirty="0"/>
          </a:p>
        </p:txBody>
      </p:sp>
      <p:sp>
        <p:nvSpPr>
          <p:cNvPr id="49" name="Text 47"/>
          <p:cNvSpPr txBox="1"/>
          <p:nvPr/>
        </p:nvSpPr>
        <p:spPr>
          <a:xfrm>
            <a:off x="731520" y="5468112"/>
            <a:ext cx="10728655" cy="256032"/>
          </a:xfrm>
          <a:prstGeom prst="rect">
            <a:avLst/>
          </a:prstGeom>
          <a:noFill/>
          <a:ln/>
        </p:spPr>
        <p:txBody>
          <a:bodyPr wrap="square" lIns="0" tIns="0" rIns="0" bIns="0" rtlCol="0" anchor="t"/>
          <a:lstStyle/>
          <a:p>
            <a:pPr indent="0" marL="0">
              <a:buNone/>
            </a:pPr>
            <a:r>
              <a:rPr lang="en-US" sz="1350" dirty="0">
                <a:solidFill>
                  <a:srgbClr val="8B9BAA"/>
                </a:solidFill>
                <a:latin typeface="함초롬돋움" pitchFamily="34" charset="0"/>
                <a:ea typeface="함초롬돋움" pitchFamily="34" charset="-122"/>
                <a:cs typeface="함초롬돋움" pitchFamily="34" charset="-120"/>
              </a:rPr>
              <a:t>수치 기반 효과는 실제 사용자를 대상으로 측정한 뒤 별도로 보고할 예정입니다.</a:t>
            </a:r>
            <a:endParaRPr lang="en-US" sz="1350" dirty="0"/>
          </a:p>
        </p:txBody>
      </p:sp>
      <p:sp>
        <p:nvSpPr>
          <p:cNvPr id="50" name="Shape 48"/>
          <p:cNvSpPr/>
          <p:nvPr/>
        </p:nvSpPr>
        <p:spPr>
          <a:xfrm>
            <a:off x="731520" y="5724144"/>
            <a:ext cx="10728655" cy="731520"/>
          </a:xfrm>
          <a:prstGeom prst="rect">
            <a:avLst/>
          </a:prstGeom>
          <a:solidFill>
            <a:srgbClr val="0B2545"/>
          </a:solidFill>
          <a:ln w="12700">
            <a:solidFill>
              <a:srgbClr val="333333"/>
            </a:solidFill>
            <a:prstDash val="solid"/>
          </a:ln>
        </p:spPr>
      </p:sp>
      <p:sp>
        <p:nvSpPr>
          <p:cNvPr id="51" name="Text 49"/>
          <p:cNvSpPr txBox="1"/>
          <p:nvPr/>
        </p:nvSpPr>
        <p:spPr>
          <a:xfrm>
            <a:off x="1060704" y="5870448"/>
            <a:ext cx="1097280" cy="274320"/>
          </a:xfrm>
          <a:prstGeom prst="rect">
            <a:avLst/>
          </a:prstGeom>
          <a:noFill/>
          <a:ln/>
        </p:spPr>
        <p:txBody>
          <a:bodyPr wrap="square" lIns="0" tIns="0" rIns="0" bIns="0" rtlCol="0" anchor="t"/>
          <a:lstStyle/>
          <a:p>
            <a:pPr indent="0" marL="0">
              <a:buNone/>
            </a:pPr>
            <a:r>
              <a:rPr lang="en-US" sz="1500" b="1" dirty="0">
                <a:solidFill>
                  <a:srgbClr val="4FD1BC"/>
                </a:solidFill>
                <a:latin typeface="함초롬돋움" pitchFamily="34" charset="0"/>
                <a:ea typeface="함초롬돋움" pitchFamily="34" charset="-122"/>
                <a:cs typeface="함초롬돋움" pitchFamily="34" charset="-120"/>
              </a:rPr>
              <a:t>회고</a:t>
            </a:r>
            <a:endParaRPr lang="en-US" sz="1500" dirty="0"/>
          </a:p>
        </p:txBody>
      </p:sp>
      <p:sp>
        <p:nvSpPr>
          <p:cNvPr id="52" name="Text 50"/>
          <p:cNvSpPr txBox="1"/>
          <p:nvPr/>
        </p:nvSpPr>
        <p:spPr>
          <a:xfrm>
            <a:off x="2304288" y="5852160"/>
            <a:ext cx="8961120" cy="256032"/>
          </a:xfrm>
          <a:prstGeom prst="rect">
            <a:avLst/>
          </a:prstGeom>
          <a:noFill/>
          <a:ln/>
        </p:spPr>
        <p:txBody>
          <a:bodyPr wrap="square" lIns="0" tIns="0" rIns="0" bIns="0" rtlCol="0" anchor="t"/>
          <a:lstStyle/>
          <a:p>
            <a:pPr indent="0" marL="0">
              <a:buNone/>
            </a:pPr>
            <a:r>
              <a:rPr lang="en-US" sz="1400" dirty="0">
                <a:solidFill>
                  <a:srgbClr val="FFFFFF"/>
                </a:solidFill>
                <a:latin typeface="함초롬돋움" pitchFamily="34" charset="0"/>
                <a:ea typeface="함초롬돋움" pitchFamily="34" charset="-122"/>
                <a:cs typeface="함초롬돋움" pitchFamily="34" charset="-120"/>
              </a:rPr>
              <a:t>처음에는 정보를 많이 보여주는 것이 좋은 시스템이라고 생각했습니다. 경영진에게 필요한 것은 정보의 양보다,</a:t>
            </a:r>
            <a:endParaRPr lang="en-US" sz="1400" dirty="0"/>
          </a:p>
        </p:txBody>
      </p:sp>
      <p:sp>
        <p:nvSpPr>
          <p:cNvPr id="53" name="Text 51"/>
          <p:cNvSpPr txBox="1"/>
          <p:nvPr/>
        </p:nvSpPr>
        <p:spPr>
          <a:xfrm>
            <a:off x="2304288" y="6108192"/>
            <a:ext cx="8961120" cy="256032"/>
          </a:xfrm>
          <a:prstGeom prst="rect">
            <a:avLst/>
          </a:prstGeom>
          <a:noFill/>
          <a:ln/>
        </p:spPr>
        <p:txBody>
          <a:bodyPr wrap="square" lIns="0" tIns="0" rIns="0" bIns="0" rtlCol="0" anchor="t"/>
          <a:lstStyle/>
          <a:p>
            <a:pPr indent="0" marL="0">
              <a:buNone/>
            </a:pPr>
            <a:r>
              <a:rPr lang="en-US" sz="1400" b="1" dirty="0">
                <a:solidFill>
                  <a:srgbClr val="4FD1BC"/>
                </a:solidFill>
                <a:latin typeface="함초롬돋움" pitchFamily="34" charset="0"/>
                <a:ea typeface="함초롬돋움" pitchFamily="34" charset="-122"/>
                <a:cs typeface="함초롬돋움" pitchFamily="34" charset="-120"/>
              </a:rPr>
              <a:t>무엇을 봐야 하고 그것이 어떤 의미인지 빠르게 이해할 수 있는 구조였습니다.</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기대 효과와 성장 경험</dc:title>
  <dc:subject>PptxGenJS Presentation</dc:subject>
  <dc:creator>FUTURE:M RADAR</dc:creator>
  <cp:lastModifiedBy>FUTURE:M RADAR</cp:lastModifiedBy>
  <cp:revision>1</cp:revision>
  <dcterms:created xsi:type="dcterms:W3CDTF">2026-09-11T02:06:41Z</dcterms:created>
  <dcterms:modified xsi:type="dcterms:W3CDTF">2026-09-11T02:06:41Z</dcterms:modified>
</cp:coreProperties>
</file>