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FUTURE:M RADAR 발표를 시작하겠습니다. 배터리 소재 산업의 공시·뉴스·재무·주가·원자재 정보를 자동으로 모으고, AI가 자사 관점의 시사점까지 붙여주는 경쟁 인텔리전스 플랫폼입니다. 오늘은 왜 이 문제를 풀었는지, 어떻게 만들었는지, 무엇이 남았는지 순서로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크게 세 부분입니다. 첫째 문제 정의, 둘째 기능과 구현, 셋째 결과와 회고입니다.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제가 개선하려 한 업무는 배터리 소재 밸류체인 9개사의 동향 모니터링입니다. 자사 1개, 경쟁사 4개, 고객사 4개입니다. 기존에는 DART에 들어가 회사별로 검색하고, 뉴스도 따로 찾고, 중복 기사를 눈으로 걸러내고, 중요도를 경험으로 판단해 메일로 공유했습니다. 최근 30일 기준 실제 수집량은 공시 55건, 뉴스 40건입니다.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업무의 문제는 정보가 부족한 게 아니었습니다. 첫째 지연, 하루 한 번 확인이라 공시 인지가 하루 늦습니다. 둘째 중복, 같은 이슈가 4~5개 매체로 재생산됩니다. 셋째 해석 부재, 원문 어디에도 우리 관점의 시사점이 없습니다. 시간으로 환산하면 월 30시간 정도인데, 이건 실측이 아니라 추정치라는 점을 분명히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문제를 반복성, 판단 개입도, 근거 추적성 세 기준으로 봤습니다. 그리고 세 가지 가설을 세웠습니다. 수집·중복제거 자동화로 확인 대상을 줄일 수 있다, LLM에게 요약이 아니라 자사 관점 시사점을 강제하면 재해석이 사라진다, 중요 공시는 푸시가 맞다. 이 세 가설이 그대로 구현의 뼈대가 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구현한 서비스는 다섯 개 화면으로 구성됩니다. 산업 인텔리전스, 경쟁사 신호 히트맵, 재무분석, 주가분석, 원자재 가격입니다. 화면 상단의 AI 데일리 브리핑이 오늘 확인할 3건을 자동으로 뽑아줍니다.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아키텍처는 수집, 처리, 분석, 표현 네 계층으로 분리했습니다. 계층을 나눈 실질적 이득은 교체 비용입니다. 원자재 가격 소스를 SMM에서 KOMIS로 바꿀 때 수집 모듈 하나만 교체하면 됐습니다. 백그라운드 워커 두 개가 상시 돌면서 중요 공시는 5분마다, 원자재는 1시간마다 수집합니다.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기술 스택입니다. 프론트는 React와 Recharts, 백엔드는 FastAPI, AI는 Gemini를 1차로 쓰고 실패하면 GPT-4o로 넘어갑니다. 관측은 LangSmith로 붙였습니다. 규모는 백엔드 서비스 모듈 11개, API 16개, 전체 3,300줄 정도입니다.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프로젝트에서 품질을 만든 건 모델 선택이 아니라 세 가지 규칙이었습니다. 첫째 뉴스 중복 제거, 제목 키워드 유사도로 같은 이슈를 묶습니다. 둘째 4축 신호 분류인데 리스크에 0.45로 가장 큰 가중치를 뒀습니다. 셋째 AI 출력 검증과 3단 폴백입니다. 같은 모델이라도 입력을 정리하고 출력 형식을 강제했을 때 결과가 가장 크게 좋아졌습니다.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가설 3번, 중요 공시는 푸시가 맞다를 구현한 부분입니다. 5분마다 스캔해서 12개 주요 공시 유형에 걸리면 원문을 파싱하고 AI 분석을 붙여 텔레그램과 이메일로 동시에 보냅니다. 핵심은 중복 발송 차단인데, 수신자·접수번호·채널을 복합키로 기록해서 5분마다 스캔이 돌아도 같은 건은 다시 나가지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교육에서 배운 내용이 어느 코드에 어떻게 들어갔는지 정리한 표입니다. 주차와 개념 칸은 발표 전에 실제 커리큘럼에 맞춰 채워 넣으세요.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멘토링에서 받은 피드백과 반영 결과를 회차별로 정리하는 슬라이드입니다. 발표 전에 실제 내용으로 채워 넣으세요.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동작 화면입니다. 경쟁사 신호 히트맵은 9개사를 4개 축으로 등급화합니다. AI 공시 분석은 원문을 파싱해 3문장 요약과 전략 시사점을 만듭니다. 재무분석은 8분기 추이를, 주가 비교는 시작일 100 기준 상대수익률을 보여줍니다. 모든 결과에 원문 링크가 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기대 효과입니다. 정량적으로는 확인 대상이 40건에서 3건으로, 중요 공시 인지가 하루에서 5분으로 줄어듭니다. 정성적으로는 근거 추적성, 판단 기준의 고정, 비전문가 접근성, 조직 공유가 개선됩니다. 시간 관련 수치는 추정치라는 점을 다시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회고입니다. 배운 점 세 가지는 출력 계약의 중요성, 전처리가 AI 품질을 좌우한다는 것, 현실 데이터는 항상 예외로 온다는 것입니다. 아쉬운 점도 솔직히 말씀드리면 외부 소스 의존, 검증되지 않은 가중치, 테스트와 배포 자동화 부재입니다. 다만 AI 호출 실패로 화면이 비었던 경험이 3단 폴백 구조를 만들었다는 점이 가장 큰 수확이었습니다.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교육 소감입니다. 기억에 남는 순간, 성장한 부분, 실무 활용 계획을 정리했습니다. 발표를 마치겠습니다.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203C"/>
        </a:solidFill>
      </p:bgPr>
    </p:bg>
    <p:spTree>
      <p:nvGrpSpPr>
        <p:cNvPr id="1" name=""/>
        <p:cNvGrpSpPr/>
        <p:nvPr/>
      </p:nvGrpSpPr>
      <p:grpSpPr>
        <a:xfrm>
          <a:off x="0" y="0"/>
          <a:ext cx="0" cy="0"/>
          <a:chOff x="0" y="0"/>
          <a:chExt cx="0" cy="0"/>
        </a:xfrm>
      </p:grpSpPr>
      <p:sp>
        <p:nvSpPr>
          <p:cNvPr id="2" name="Shape 0"/>
          <p:cNvSpPr/>
          <p:nvPr/>
        </p:nvSpPr>
        <p:spPr>
          <a:xfrm>
            <a:off x="6080760" y="-502920"/>
            <a:ext cx="7132320" cy="7132320"/>
          </a:xfrm>
          <a:prstGeom prst="ellipse">
            <a:avLst/>
          </a:prstGeom>
          <a:solidFill>
            <a:srgbClr val="07203C"/>
          </a:solidFill>
          <a:ln w="12700">
            <a:solidFill>
              <a:srgbClr val="1B4B75"/>
            </a:solidFill>
            <a:prstDash val="solid"/>
          </a:ln>
        </p:spPr>
      </p:sp>
      <p:sp>
        <p:nvSpPr>
          <p:cNvPr id="3" name="Shape 1"/>
          <p:cNvSpPr/>
          <p:nvPr/>
        </p:nvSpPr>
        <p:spPr>
          <a:xfrm>
            <a:off x="6995160" y="411480"/>
            <a:ext cx="5303520" cy="5303520"/>
          </a:xfrm>
          <a:prstGeom prst="ellipse">
            <a:avLst/>
          </a:prstGeom>
          <a:solidFill>
            <a:srgbClr val="07203C"/>
          </a:solidFill>
          <a:ln w="12700">
            <a:solidFill>
              <a:srgbClr val="1B4B75"/>
            </a:solidFill>
            <a:prstDash val="solid"/>
          </a:ln>
        </p:spPr>
      </p:sp>
      <p:sp>
        <p:nvSpPr>
          <p:cNvPr id="4" name="Shape 2"/>
          <p:cNvSpPr/>
          <p:nvPr/>
        </p:nvSpPr>
        <p:spPr>
          <a:xfrm>
            <a:off x="7863840" y="1280160"/>
            <a:ext cx="3566160" cy="3566160"/>
          </a:xfrm>
          <a:prstGeom prst="ellipse">
            <a:avLst/>
          </a:prstGeom>
          <a:solidFill>
            <a:srgbClr val="07203C"/>
          </a:solidFill>
          <a:ln w="12700">
            <a:solidFill>
              <a:srgbClr val="1B4B75"/>
            </a:solidFill>
            <a:prstDash val="solid"/>
          </a:ln>
        </p:spPr>
      </p:sp>
      <p:sp>
        <p:nvSpPr>
          <p:cNvPr id="5" name="Shape 3"/>
          <p:cNvSpPr/>
          <p:nvPr/>
        </p:nvSpPr>
        <p:spPr>
          <a:xfrm>
            <a:off x="8641080" y="2057400"/>
            <a:ext cx="2011680" cy="2011680"/>
          </a:xfrm>
          <a:prstGeom prst="ellipse">
            <a:avLst/>
          </a:prstGeom>
          <a:solidFill>
            <a:srgbClr val="07203C"/>
          </a:solidFill>
          <a:ln w="20320">
            <a:solidFill>
              <a:srgbClr val="17B7A6"/>
            </a:solidFill>
            <a:prstDash val="solid"/>
          </a:ln>
        </p:spPr>
      </p:sp>
      <p:sp>
        <p:nvSpPr>
          <p:cNvPr id="6" name="Shape 4"/>
          <p:cNvSpPr/>
          <p:nvPr/>
        </p:nvSpPr>
        <p:spPr>
          <a:xfrm>
            <a:off x="9509760" y="2926080"/>
            <a:ext cx="274320" cy="274320"/>
          </a:xfrm>
          <a:prstGeom prst="ellipse">
            <a:avLst/>
          </a:prstGeom>
          <a:solidFill>
            <a:srgbClr val="17B7A6"/>
          </a:solidFill>
          <a:ln w="12700">
            <a:solidFill>
              <a:srgbClr val="17B7A6"/>
            </a:solidFill>
            <a:prstDash val="solid"/>
          </a:ln>
        </p:spPr>
      </p:sp>
      <p:sp>
        <p:nvSpPr>
          <p:cNvPr id="7" name="Shape 5"/>
          <p:cNvSpPr/>
          <p:nvPr/>
        </p:nvSpPr>
        <p:spPr>
          <a:xfrm>
            <a:off x="11018520" y="1572768"/>
            <a:ext cx="155448" cy="155448"/>
          </a:xfrm>
          <a:prstGeom prst="ellipse">
            <a:avLst/>
          </a:prstGeom>
          <a:solidFill>
            <a:srgbClr val="6FE0D2"/>
          </a:solidFill>
          <a:ln w="12700">
            <a:solidFill>
              <a:srgbClr val="6FE0D2"/>
            </a:solidFill>
            <a:prstDash val="solid"/>
          </a:ln>
        </p:spPr>
      </p:sp>
      <p:sp>
        <p:nvSpPr>
          <p:cNvPr id="8" name="Shape 6"/>
          <p:cNvSpPr/>
          <p:nvPr/>
        </p:nvSpPr>
        <p:spPr>
          <a:xfrm>
            <a:off x="7973568" y="4443984"/>
            <a:ext cx="118872" cy="118872"/>
          </a:xfrm>
          <a:prstGeom prst="ellipse">
            <a:avLst/>
          </a:prstGeom>
          <a:solidFill>
            <a:srgbClr val="2C6FE3"/>
          </a:solidFill>
          <a:ln w="12700">
            <a:solidFill>
              <a:srgbClr val="2C6FE3"/>
            </a:solidFill>
            <a:prstDash val="solid"/>
          </a:ln>
        </p:spPr>
      </p:sp>
      <p:sp>
        <p:nvSpPr>
          <p:cNvPr id="9" name="Text 7"/>
          <p:cNvSpPr txBox="1"/>
          <p:nvPr/>
        </p:nvSpPr>
        <p:spPr>
          <a:xfrm>
            <a:off x="566928" y="1170432"/>
            <a:ext cx="7680960" cy="274320"/>
          </a:xfrm>
          <a:prstGeom prst="rect">
            <a:avLst/>
          </a:prstGeom>
          <a:noFill/>
          <a:ln/>
        </p:spPr>
        <p:txBody>
          <a:bodyPr wrap="square" lIns="0" tIns="0" rIns="0" bIns="0" rtlCol="0" anchor="t"/>
          <a:lstStyle/>
          <a:p>
            <a:pPr indent="0" marL="0">
              <a:buNone/>
            </a:pPr>
            <a:r>
              <a:rPr lang="en-US" sz="1250" b="1" spc="200" kern="0" dirty="0">
                <a:solidFill>
                  <a:srgbClr val="6FE0D2"/>
                </a:solidFill>
                <a:latin typeface="Malgun Gothic" pitchFamily="34" charset="0"/>
                <a:ea typeface="Malgun Gothic" pitchFamily="34" charset="-122"/>
                <a:cs typeface="Malgun Gothic" pitchFamily="34" charset="-120"/>
              </a:rPr>
              <a:t>AI 활용 실무 프로젝트   ·   최종 발표</a:t>
            </a:r>
            <a:endParaRPr lang="en-US" sz="1250" dirty="0"/>
          </a:p>
        </p:txBody>
      </p:sp>
      <p:sp>
        <p:nvSpPr>
          <p:cNvPr id="10" name="Text 8"/>
          <p:cNvSpPr txBox="1"/>
          <p:nvPr/>
        </p:nvSpPr>
        <p:spPr>
          <a:xfrm>
            <a:off x="566928" y="1700784"/>
            <a:ext cx="7863840" cy="1005840"/>
          </a:xfrm>
          <a:prstGeom prst="rect">
            <a:avLst/>
          </a:prstGeom>
          <a:noFill/>
          <a:ln/>
        </p:spPr>
        <p:txBody>
          <a:bodyPr wrap="square" lIns="0" tIns="0" rIns="0" bIns="0" rtlCol="0" anchor="t"/>
          <a:lstStyle/>
          <a:p>
            <a:pPr indent="0" marL="0">
              <a:buNone/>
            </a:pPr>
            <a:r>
              <a:rPr lang="en-US" sz="5400" b="1" spc="-50" kern="0" dirty="0">
                <a:solidFill>
                  <a:srgbClr val="FFFFFF"/>
                </a:solidFill>
                <a:latin typeface="Malgun Gothic" pitchFamily="34" charset="0"/>
                <a:ea typeface="Malgun Gothic" pitchFamily="34" charset="-122"/>
                <a:cs typeface="Malgun Gothic" pitchFamily="34" charset="-120"/>
              </a:rPr>
              <a:t>FUTURE:M RADAR</a:t>
            </a:r>
            <a:endParaRPr lang="en-US" sz="5400" dirty="0"/>
          </a:p>
        </p:txBody>
      </p:sp>
      <p:sp>
        <p:nvSpPr>
          <p:cNvPr id="11" name="Text 9"/>
          <p:cNvSpPr txBox="1"/>
          <p:nvPr/>
        </p:nvSpPr>
        <p:spPr>
          <a:xfrm>
            <a:off x="566928" y="2761488"/>
            <a:ext cx="7680960" cy="411480"/>
          </a:xfrm>
          <a:prstGeom prst="rect">
            <a:avLst/>
          </a:prstGeom>
          <a:noFill/>
          <a:ln/>
        </p:spPr>
        <p:txBody>
          <a:bodyPr wrap="square" lIns="0" tIns="0" rIns="0" bIns="0" rtlCol="0" anchor="t"/>
          <a:lstStyle/>
          <a:p>
            <a:pPr indent="0" marL="0">
              <a:buNone/>
            </a:pPr>
            <a:r>
              <a:rPr lang="en-US" sz="2000" b="1" dirty="0">
                <a:solidFill>
                  <a:srgbClr val="DCE7F1"/>
                </a:solidFill>
                <a:latin typeface="Malgun Gothic" pitchFamily="34" charset="0"/>
                <a:ea typeface="Malgun Gothic" pitchFamily="34" charset="-122"/>
                <a:cs typeface="Malgun Gothic" pitchFamily="34" charset="-120"/>
              </a:rPr>
              <a:t>배터리 소재 산업 경쟁 인텔리전스 자동화 플랫폼</a:t>
            </a:r>
            <a:endParaRPr lang="en-US" sz="2000" dirty="0"/>
          </a:p>
        </p:txBody>
      </p:sp>
      <p:sp>
        <p:nvSpPr>
          <p:cNvPr id="12" name="Text 10"/>
          <p:cNvSpPr txBox="1"/>
          <p:nvPr/>
        </p:nvSpPr>
        <p:spPr>
          <a:xfrm>
            <a:off x="566928" y="3310128"/>
            <a:ext cx="6858000" cy="822960"/>
          </a:xfrm>
          <a:prstGeom prst="rect">
            <a:avLst/>
          </a:prstGeom>
          <a:noFill/>
          <a:ln/>
        </p:spPr>
        <p:txBody>
          <a:bodyPr wrap="square" lIns="0" tIns="0" rIns="0" bIns="0" rtlCol="0" anchor="t"/>
          <a:lstStyle/>
          <a:p>
            <a:pPr indent="0" marL="0">
              <a:lnSpc>
                <a:spcPts val="2400"/>
              </a:lnSpc>
              <a:buNone/>
            </a:pPr>
            <a:r>
              <a:rPr lang="en-US" sz="1350" dirty="0">
                <a:solidFill>
                  <a:srgbClr val="9EB8CD"/>
                </a:solidFill>
                <a:latin typeface="Malgun Gothic" pitchFamily="34" charset="0"/>
                <a:ea typeface="Malgun Gothic" pitchFamily="34" charset="-122"/>
                <a:cs typeface="Malgun Gothic" pitchFamily="34" charset="-120"/>
              </a:rPr>
              <a:t>공시 · 뉴스 · 재무 · 주가 · 원자재를 자동으로 모으고,</a:t>
            </a:r>
            <a:endParaRPr lang="en-US" sz="1350" dirty="0"/>
          </a:p>
          <a:p>
            <a:pPr indent="0" marL="0">
              <a:lnSpc>
                <a:spcPts val="2400"/>
              </a:lnSpc>
              <a:buNone/>
            </a:pPr>
            <a:r>
              <a:rPr lang="en-US" sz="1350" dirty="0">
                <a:solidFill>
                  <a:srgbClr val="9EB8CD"/>
                </a:solidFill>
                <a:latin typeface="Malgun Gothic" pitchFamily="34" charset="0"/>
                <a:ea typeface="Malgun Gothic" pitchFamily="34" charset="-122"/>
                <a:cs typeface="Malgun Gothic" pitchFamily="34" charset="-120"/>
              </a:rPr>
              <a:t>AI가 자사 관점의 시사점까지 붙여 경영 판단 직전 단계로 전달합니다.</a:t>
            </a:r>
            <a:endParaRPr lang="en-US" sz="1350" dirty="0"/>
          </a:p>
        </p:txBody>
      </p:sp>
      <p:sp>
        <p:nvSpPr>
          <p:cNvPr id="13" name="Shape 11"/>
          <p:cNvSpPr/>
          <p:nvPr/>
        </p:nvSpPr>
        <p:spPr>
          <a:xfrm>
            <a:off x="566928" y="4443984"/>
            <a:ext cx="1517904" cy="896112"/>
          </a:xfrm>
          <a:prstGeom prst="roundRect">
            <a:avLst>
              <a:gd name="adj" fmla="val 5612"/>
            </a:avLst>
          </a:prstGeom>
          <a:solidFill>
            <a:srgbClr val="10375D"/>
          </a:solidFill>
          <a:ln w="9525">
            <a:solidFill>
              <a:srgbClr val="1B4B75"/>
            </a:solidFill>
            <a:prstDash val="solid"/>
          </a:ln>
        </p:spPr>
      </p:sp>
      <p:sp>
        <p:nvSpPr>
          <p:cNvPr id="14" name="Text 12"/>
          <p:cNvSpPr txBox="1"/>
          <p:nvPr/>
        </p:nvSpPr>
        <p:spPr>
          <a:xfrm>
            <a:off x="566928" y="4590288"/>
            <a:ext cx="1517904" cy="329184"/>
          </a:xfrm>
          <a:prstGeom prst="rect">
            <a:avLst/>
          </a:prstGeom>
          <a:noFill/>
          <a:ln/>
        </p:spPr>
        <p:txBody>
          <a:bodyPr wrap="square" lIns="0" tIns="0" rIns="0" bIns="0" rtlCol="0" anchor="t"/>
          <a:lstStyle/>
          <a:p>
            <a:pPr algn="ctr" indent="0" marL="0">
              <a:buNone/>
            </a:pPr>
            <a:r>
              <a:rPr lang="en-US" sz="1800" b="1" dirty="0">
                <a:solidFill>
                  <a:srgbClr val="6FE0D2"/>
                </a:solidFill>
                <a:latin typeface="Malgun Gothic" pitchFamily="34" charset="0"/>
                <a:ea typeface="Malgun Gothic" pitchFamily="34" charset="-122"/>
                <a:cs typeface="Malgun Gothic" pitchFamily="34" charset="-120"/>
              </a:rPr>
              <a:t>9개사</a:t>
            </a:r>
            <a:endParaRPr lang="en-US" sz="1800" dirty="0"/>
          </a:p>
        </p:txBody>
      </p:sp>
      <p:sp>
        <p:nvSpPr>
          <p:cNvPr id="15" name="Text 13"/>
          <p:cNvSpPr txBox="1"/>
          <p:nvPr/>
        </p:nvSpPr>
        <p:spPr>
          <a:xfrm>
            <a:off x="566928" y="4956048"/>
            <a:ext cx="1517904" cy="237744"/>
          </a:xfrm>
          <a:prstGeom prst="rect">
            <a:avLst/>
          </a:prstGeom>
          <a:noFill/>
          <a:ln/>
        </p:spPr>
        <p:txBody>
          <a:bodyPr wrap="square" lIns="0" tIns="0" rIns="0" bIns="0" rtlCol="0" anchor="t"/>
          <a:lstStyle/>
          <a:p>
            <a:pPr algn="ctr" indent="0" marL="0">
              <a:buNone/>
            </a:pPr>
            <a:r>
              <a:rPr lang="en-US" sz="950" dirty="0">
                <a:solidFill>
                  <a:srgbClr val="8FAAC1"/>
                </a:solidFill>
                <a:latin typeface="Malgun Gothic" pitchFamily="34" charset="0"/>
                <a:ea typeface="Malgun Gothic" pitchFamily="34" charset="-122"/>
                <a:cs typeface="Malgun Gothic" pitchFamily="34" charset="-120"/>
              </a:rPr>
              <a:t>모니터링 대상</a:t>
            </a:r>
            <a:endParaRPr lang="en-US" sz="950" dirty="0"/>
          </a:p>
        </p:txBody>
      </p:sp>
      <p:sp>
        <p:nvSpPr>
          <p:cNvPr id="16" name="Shape 14"/>
          <p:cNvSpPr/>
          <p:nvPr/>
        </p:nvSpPr>
        <p:spPr>
          <a:xfrm>
            <a:off x="2240280" y="4443984"/>
            <a:ext cx="1517904" cy="896112"/>
          </a:xfrm>
          <a:prstGeom prst="roundRect">
            <a:avLst>
              <a:gd name="adj" fmla="val 5612"/>
            </a:avLst>
          </a:prstGeom>
          <a:solidFill>
            <a:srgbClr val="10375D"/>
          </a:solidFill>
          <a:ln w="9525">
            <a:solidFill>
              <a:srgbClr val="1B4B75"/>
            </a:solidFill>
            <a:prstDash val="solid"/>
          </a:ln>
        </p:spPr>
      </p:sp>
      <p:sp>
        <p:nvSpPr>
          <p:cNvPr id="17" name="Text 15"/>
          <p:cNvSpPr txBox="1"/>
          <p:nvPr/>
        </p:nvSpPr>
        <p:spPr>
          <a:xfrm>
            <a:off x="2240280" y="4590288"/>
            <a:ext cx="1517904" cy="329184"/>
          </a:xfrm>
          <a:prstGeom prst="rect">
            <a:avLst/>
          </a:prstGeom>
          <a:noFill/>
          <a:ln/>
        </p:spPr>
        <p:txBody>
          <a:bodyPr wrap="square" lIns="0" tIns="0" rIns="0" bIns="0" rtlCol="0" anchor="t"/>
          <a:lstStyle/>
          <a:p>
            <a:pPr algn="ctr" indent="0" marL="0">
              <a:buNone/>
            </a:pPr>
            <a:r>
              <a:rPr lang="en-US" sz="1800" b="1" dirty="0">
                <a:solidFill>
                  <a:srgbClr val="6FE0D2"/>
                </a:solidFill>
                <a:latin typeface="Malgun Gothic" pitchFamily="34" charset="0"/>
                <a:ea typeface="Malgun Gothic" pitchFamily="34" charset="-122"/>
                <a:cs typeface="Malgun Gothic" pitchFamily="34" charset="-120"/>
              </a:rPr>
              <a:t>4종</a:t>
            </a:r>
            <a:endParaRPr lang="en-US" sz="1800" dirty="0"/>
          </a:p>
        </p:txBody>
      </p:sp>
      <p:sp>
        <p:nvSpPr>
          <p:cNvPr id="18" name="Text 16"/>
          <p:cNvSpPr txBox="1"/>
          <p:nvPr/>
        </p:nvSpPr>
        <p:spPr>
          <a:xfrm>
            <a:off x="2240280" y="4956048"/>
            <a:ext cx="1517904" cy="237744"/>
          </a:xfrm>
          <a:prstGeom prst="rect">
            <a:avLst/>
          </a:prstGeom>
          <a:noFill/>
          <a:ln/>
        </p:spPr>
        <p:txBody>
          <a:bodyPr wrap="square" lIns="0" tIns="0" rIns="0" bIns="0" rtlCol="0" anchor="t"/>
          <a:lstStyle/>
          <a:p>
            <a:pPr algn="ctr" indent="0" marL="0">
              <a:buNone/>
            </a:pPr>
            <a:r>
              <a:rPr lang="en-US" sz="950" dirty="0">
                <a:solidFill>
                  <a:srgbClr val="8FAAC1"/>
                </a:solidFill>
                <a:latin typeface="Malgun Gothic" pitchFamily="34" charset="0"/>
                <a:ea typeface="Malgun Gothic" pitchFamily="34" charset="-122"/>
                <a:cs typeface="Malgun Gothic" pitchFamily="34" charset="-120"/>
              </a:rPr>
              <a:t>외부 데이터 소스</a:t>
            </a:r>
            <a:endParaRPr lang="en-US" sz="950" dirty="0"/>
          </a:p>
        </p:txBody>
      </p:sp>
      <p:sp>
        <p:nvSpPr>
          <p:cNvPr id="19" name="Shape 17"/>
          <p:cNvSpPr/>
          <p:nvPr/>
        </p:nvSpPr>
        <p:spPr>
          <a:xfrm>
            <a:off x="3913632" y="4443984"/>
            <a:ext cx="1517904" cy="896112"/>
          </a:xfrm>
          <a:prstGeom prst="roundRect">
            <a:avLst>
              <a:gd name="adj" fmla="val 5612"/>
            </a:avLst>
          </a:prstGeom>
          <a:solidFill>
            <a:srgbClr val="10375D"/>
          </a:solidFill>
          <a:ln w="9525">
            <a:solidFill>
              <a:srgbClr val="1B4B75"/>
            </a:solidFill>
            <a:prstDash val="solid"/>
          </a:ln>
        </p:spPr>
      </p:sp>
      <p:sp>
        <p:nvSpPr>
          <p:cNvPr id="20" name="Text 18"/>
          <p:cNvSpPr txBox="1"/>
          <p:nvPr/>
        </p:nvSpPr>
        <p:spPr>
          <a:xfrm>
            <a:off x="3913632" y="4590288"/>
            <a:ext cx="1517904" cy="329184"/>
          </a:xfrm>
          <a:prstGeom prst="rect">
            <a:avLst/>
          </a:prstGeom>
          <a:noFill/>
          <a:ln/>
        </p:spPr>
        <p:txBody>
          <a:bodyPr wrap="square" lIns="0" tIns="0" rIns="0" bIns="0" rtlCol="0" anchor="t"/>
          <a:lstStyle/>
          <a:p>
            <a:pPr algn="ctr" indent="0" marL="0">
              <a:buNone/>
            </a:pPr>
            <a:r>
              <a:rPr lang="en-US" sz="1800" b="1" dirty="0">
                <a:solidFill>
                  <a:srgbClr val="6FE0D2"/>
                </a:solidFill>
                <a:latin typeface="Malgun Gothic" pitchFamily="34" charset="0"/>
                <a:ea typeface="Malgun Gothic" pitchFamily="34" charset="-122"/>
                <a:cs typeface="Malgun Gothic" pitchFamily="34" charset="-120"/>
              </a:rPr>
              <a:t>16개</a:t>
            </a:r>
            <a:endParaRPr lang="en-US" sz="1800" dirty="0"/>
          </a:p>
        </p:txBody>
      </p:sp>
      <p:sp>
        <p:nvSpPr>
          <p:cNvPr id="21" name="Text 19"/>
          <p:cNvSpPr txBox="1"/>
          <p:nvPr/>
        </p:nvSpPr>
        <p:spPr>
          <a:xfrm>
            <a:off x="3913632" y="4956048"/>
            <a:ext cx="1517904" cy="237744"/>
          </a:xfrm>
          <a:prstGeom prst="rect">
            <a:avLst/>
          </a:prstGeom>
          <a:noFill/>
          <a:ln/>
        </p:spPr>
        <p:txBody>
          <a:bodyPr wrap="square" lIns="0" tIns="0" rIns="0" bIns="0" rtlCol="0" anchor="t"/>
          <a:lstStyle/>
          <a:p>
            <a:pPr algn="ctr" indent="0" marL="0">
              <a:buNone/>
            </a:pPr>
            <a:r>
              <a:rPr lang="en-US" sz="950" dirty="0">
                <a:solidFill>
                  <a:srgbClr val="8FAAC1"/>
                </a:solidFill>
                <a:latin typeface="Malgun Gothic" pitchFamily="34" charset="0"/>
                <a:ea typeface="Malgun Gothic" pitchFamily="34" charset="-122"/>
                <a:cs typeface="Malgun Gothic" pitchFamily="34" charset="-120"/>
              </a:rPr>
              <a:t>REST API</a:t>
            </a:r>
            <a:endParaRPr lang="en-US" sz="950" dirty="0"/>
          </a:p>
        </p:txBody>
      </p:sp>
      <p:sp>
        <p:nvSpPr>
          <p:cNvPr id="22" name="Shape 20"/>
          <p:cNvSpPr/>
          <p:nvPr/>
        </p:nvSpPr>
        <p:spPr>
          <a:xfrm>
            <a:off x="5586984" y="4443984"/>
            <a:ext cx="1517904" cy="896112"/>
          </a:xfrm>
          <a:prstGeom prst="roundRect">
            <a:avLst>
              <a:gd name="adj" fmla="val 5612"/>
            </a:avLst>
          </a:prstGeom>
          <a:solidFill>
            <a:srgbClr val="10375D"/>
          </a:solidFill>
          <a:ln w="9525">
            <a:solidFill>
              <a:srgbClr val="1B4B75"/>
            </a:solidFill>
            <a:prstDash val="solid"/>
          </a:ln>
        </p:spPr>
      </p:sp>
      <p:sp>
        <p:nvSpPr>
          <p:cNvPr id="23" name="Text 21"/>
          <p:cNvSpPr txBox="1"/>
          <p:nvPr/>
        </p:nvSpPr>
        <p:spPr>
          <a:xfrm>
            <a:off x="5586984" y="4590288"/>
            <a:ext cx="1517904" cy="329184"/>
          </a:xfrm>
          <a:prstGeom prst="rect">
            <a:avLst/>
          </a:prstGeom>
          <a:noFill/>
          <a:ln/>
        </p:spPr>
        <p:txBody>
          <a:bodyPr wrap="square" lIns="0" tIns="0" rIns="0" bIns="0" rtlCol="0" anchor="t"/>
          <a:lstStyle/>
          <a:p>
            <a:pPr algn="ctr" indent="0" marL="0">
              <a:buNone/>
            </a:pPr>
            <a:r>
              <a:rPr lang="en-US" sz="1800" b="1" dirty="0">
                <a:solidFill>
                  <a:srgbClr val="6FE0D2"/>
                </a:solidFill>
                <a:latin typeface="Malgun Gothic" pitchFamily="34" charset="0"/>
                <a:ea typeface="Malgun Gothic" pitchFamily="34" charset="-122"/>
                <a:cs typeface="Malgun Gothic" pitchFamily="34" charset="-120"/>
              </a:rPr>
              <a:t>5분</a:t>
            </a:r>
            <a:endParaRPr lang="en-US" sz="1800" dirty="0"/>
          </a:p>
        </p:txBody>
      </p:sp>
      <p:sp>
        <p:nvSpPr>
          <p:cNvPr id="24" name="Text 22"/>
          <p:cNvSpPr txBox="1"/>
          <p:nvPr/>
        </p:nvSpPr>
        <p:spPr>
          <a:xfrm>
            <a:off x="5586984" y="4956048"/>
            <a:ext cx="1517904" cy="237744"/>
          </a:xfrm>
          <a:prstGeom prst="rect">
            <a:avLst/>
          </a:prstGeom>
          <a:noFill/>
          <a:ln/>
        </p:spPr>
        <p:txBody>
          <a:bodyPr wrap="square" lIns="0" tIns="0" rIns="0" bIns="0" rtlCol="0" anchor="t"/>
          <a:lstStyle/>
          <a:p>
            <a:pPr algn="ctr" indent="0" marL="0">
              <a:buNone/>
            </a:pPr>
            <a:r>
              <a:rPr lang="en-US" sz="950" dirty="0">
                <a:solidFill>
                  <a:srgbClr val="8FAAC1"/>
                </a:solidFill>
                <a:latin typeface="Malgun Gothic" pitchFamily="34" charset="0"/>
                <a:ea typeface="Malgun Gothic" pitchFamily="34" charset="-122"/>
                <a:cs typeface="Malgun Gothic" pitchFamily="34" charset="-120"/>
              </a:rPr>
              <a:t>중요공시 감지 주기</a:t>
            </a:r>
            <a:endParaRPr lang="en-US" sz="950" dirty="0"/>
          </a:p>
        </p:txBody>
      </p:sp>
      <p:sp>
        <p:nvSpPr>
          <p:cNvPr id="25" name="Text 23"/>
          <p:cNvSpPr txBox="1"/>
          <p:nvPr/>
        </p:nvSpPr>
        <p:spPr>
          <a:xfrm>
            <a:off x="566928" y="5779008"/>
            <a:ext cx="3840480" cy="274320"/>
          </a:xfrm>
          <a:prstGeom prst="rect">
            <a:avLst/>
          </a:prstGeom>
          <a:noFill/>
          <a:ln/>
        </p:spPr>
        <p:txBody>
          <a:bodyPr wrap="square" lIns="0" tIns="0" rIns="0" bIns="0" rtlCol="0" anchor="t"/>
          <a:lstStyle/>
          <a:p>
            <a:pPr indent="0" marL="0">
              <a:buNone/>
            </a:pPr>
            <a:r>
              <a:rPr lang="en-US" sz="1300" b="1" dirty="0">
                <a:solidFill>
                  <a:srgbClr val="F0C270"/>
                </a:solidFill>
                <a:latin typeface="Malgun Gothic" pitchFamily="34" charset="0"/>
                <a:ea typeface="Malgun Gothic" pitchFamily="34" charset="-122"/>
                <a:cs typeface="Malgun Gothic" pitchFamily="34" charset="-120"/>
              </a:rPr>
              <a:t>발표자 [입력 필요]</a:t>
            </a:r>
            <a:endParaRPr lang="en-US" sz="1300" dirty="0"/>
          </a:p>
        </p:txBody>
      </p:sp>
      <p:sp>
        <p:nvSpPr>
          <p:cNvPr id="26" name="Text 24"/>
          <p:cNvSpPr txBox="1"/>
          <p:nvPr/>
        </p:nvSpPr>
        <p:spPr>
          <a:xfrm>
            <a:off x="566928" y="6108192"/>
            <a:ext cx="3840480" cy="256032"/>
          </a:xfrm>
          <a:prstGeom prst="rect">
            <a:avLst/>
          </a:prstGeom>
          <a:noFill/>
          <a:ln/>
        </p:spPr>
        <p:txBody>
          <a:bodyPr wrap="square" lIns="0" tIns="0" rIns="0" bIns="0" rtlCol="0" anchor="t"/>
          <a:lstStyle/>
          <a:p>
            <a:pPr indent="0" marL="0">
              <a:buNone/>
            </a:pPr>
            <a:r>
              <a:rPr lang="en-US" sz="1150" dirty="0">
                <a:solidFill>
                  <a:srgbClr val="6C8AA5"/>
                </a:solidFill>
                <a:latin typeface="Malgun Gothic" pitchFamily="34" charset="0"/>
                <a:ea typeface="Malgun Gothic" pitchFamily="34" charset="-122"/>
                <a:cs typeface="Malgun Gothic" pitchFamily="34" charset="-120"/>
              </a:rPr>
              <a:t>2026. 09.</a:t>
            </a:r>
            <a:endParaRPr lang="en-US" sz="1150" dirty="0"/>
          </a:p>
        </p:txBody>
      </p:sp>
      <p:sp>
        <p:nvSpPr>
          <p:cNvPr id="27" name="Text 25"/>
          <p:cNvSpPr txBox="1"/>
          <p:nvPr/>
        </p:nvSpPr>
        <p:spPr>
          <a:xfrm>
            <a:off x="8332927" y="6437376"/>
            <a:ext cx="3291840" cy="219456"/>
          </a:xfrm>
          <a:prstGeom prst="rect">
            <a:avLst/>
          </a:prstGeom>
          <a:noFill/>
          <a:ln/>
        </p:spPr>
        <p:txBody>
          <a:bodyPr wrap="square" lIns="0" tIns="0" rIns="0" bIns="0" rtlCol="0" anchor="t"/>
          <a:lstStyle/>
          <a:p>
            <a:pPr algn="r" indent="0" marL="0">
              <a:buNone/>
            </a:pPr>
            <a:r>
              <a:rPr lang="en-US" sz="950" spc="60" kern="0" dirty="0">
                <a:solidFill>
                  <a:srgbClr val="5D7C97"/>
                </a:solidFill>
                <a:latin typeface="Malgun Gothic" pitchFamily="34" charset="0"/>
                <a:ea typeface="Malgun Gothic" pitchFamily="34" charset="-122"/>
                <a:cs typeface="Malgun Gothic" pitchFamily="34" charset="-120"/>
              </a:rPr>
              <a:t>01 / 16     FUTURE:M RADAR</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203C"/>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37744"/>
          </a:xfrm>
          <a:prstGeom prst="rect">
            <a:avLst/>
          </a:prstGeom>
          <a:noFill/>
          <a:ln/>
        </p:spPr>
        <p:txBody>
          <a:bodyPr wrap="square" lIns="0" tIns="0" rIns="0" bIns="0" rtlCol="0" anchor="t"/>
          <a:lstStyle/>
          <a:p>
            <a:pPr indent="0" marL="0">
              <a:buNone/>
            </a:pPr>
            <a:r>
              <a:rPr lang="en-US" sz="1100" b="1" spc="110" kern="0" dirty="0">
                <a:solidFill>
                  <a:srgbClr val="6FE0D2"/>
                </a:solidFill>
                <a:latin typeface="Malgun Gothic" pitchFamily="34" charset="0"/>
                <a:ea typeface="Malgun Gothic" pitchFamily="34" charset="-122"/>
                <a:cs typeface="Malgun Gothic" pitchFamily="34" charset="-120"/>
              </a:rPr>
              <a:t>AGENDA</a:t>
            </a:r>
            <a:endParaRPr lang="en-US" sz="1100" dirty="0"/>
          </a:p>
        </p:txBody>
      </p:sp>
      <p:sp>
        <p:nvSpPr>
          <p:cNvPr id="3" name="Text 1"/>
          <p:cNvSpPr txBox="1"/>
          <p:nvPr/>
        </p:nvSpPr>
        <p:spPr>
          <a:xfrm>
            <a:off x="566928" y="713232"/>
            <a:ext cx="11057839" cy="566928"/>
          </a:xfrm>
          <a:prstGeom prst="rect">
            <a:avLst/>
          </a:prstGeom>
          <a:noFill/>
          <a:ln/>
        </p:spPr>
        <p:txBody>
          <a:bodyPr wrap="square" lIns="0" tIns="0" rIns="0" bIns="0" rtlCol="0" anchor="t"/>
          <a:lstStyle/>
          <a:p>
            <a:pPr indent="0" marL="0">
              <a:buNone/>
            </a:pPr>
            <a:r>
              <a:rPr lang="en-US" sz="3200" b="1" dirty="0">
                <a:solidFill>
                  <a:srgbClr val="FFFFFF"/>
                </a:solidFill>
                <a:latin typeface="Malgun Gothic" pitchFamily="34" charset="0"/>
                <a:ea typeface="Malgun Gothic" pitchFamily="34" charset="-122"/>
                <a:cs typeface="Malgun Gothic" pitchFamily="34" charset="-120"/>
              </a:rPr>
              <a:t>발표 순서</a:t>
            </a:r>
            <a:endParaRPr lang="en-US" sz="3200" dirty="0"/>
          </a:p>
        </p:txBody>
      </p:sp>
      <p:sp>
        <p:nvSpPr>
          <p:cNvPr id="4" name="Text 2"/>
          <p:cNvSpPr txBox="1"/>
          <p:nvPr/>
        </p:nvSpPr>
        <p:spPr>
          <a:xfrm>
            <a:off x="8332927" y="6437376"/>
            <a:ext cx="3291840" cy="219456"/>
          </a:xfrm>
          <a:prstGeom prst="rect">
            <a:avLst/>
          </a:prstGeom>
          <a:noFill/>
          <a:ln/>
        </p:spPr>
        <p:txBody>
          <a:bodyPr wrap="square" lIns="0" tIns="0" rIns="0" bIns="0" rtlCol="0" anchor="t"/>
          <a:lstStyle/>
          <a:p>
            <a:pPr algn="r" indent="0" marL="0">
              <a:buNone/>
            </a:pPr>
            <a:r>
              <a:rPr lang="en-US" sz="950" spc="60" kern="0" dirty="0">
                <a:solidFill>
                  <a:srgbClr val="5D7C97"/>
                </a:solidFill>
                <a:latin typeface="Malgun Gothic" pitchFamily="34" charset="0"/>
                <a:ea typeface="Malgun Gothic" pitchFamily="34" charset="-122"/>
                <a:cs typeface="Malgun Gothic" pitchFamily="34" charset="-120"/>
              </a:rPr>
              <a:t>02 / 16     FUTURE:M RADAR</a:t>
            </a:r>
            <a:endParaRPr lang="en-US" sz="950" dirty="0"/>
          </a:p>
        </p:txBody>
      </p:sp>
      <p:sp>
        <p:nvSpPr>
          <p:cNvPr id="5" name="Shape 3"/>
          <p:cNvSpPr/>
          <p:nvPr/>
        </p:nvSpPr>
        <p:spPr>
          <a:xfrm>
            <a:off x="566928" y="2066544"/>
            <a:ext cx="3593592" cy="3346704"/>
          </a:xfrm>
          <a:prstGeom prst="roundRect">
            <a:avLst>
              <a:gd name="adj" fmla="val 1503"/>
            </a:avLst>
          </a:prstGeom>
          <a:solidFill>
            <a:srgbClr val="10375D"/>
          </a:solidFill>
          <a:ln w="9525">
            <a:solidFill>
              <a:srgbClr val="1B4B75"/>
            </a:solidFill>
            <a:prstDash val="solid"/>
          </a:ln>
        </p:spPr>
      </p:sp>
      <p:sp>
        <p:nvSpPr>
          <p:cNvPr id="6" name="Text 4"/>
          <p:cNvSpPr txBox="1"/>
          <p:nvPr/>
        </p:nvSpPr>
        <p:spPr>
          <a:xfrm>
            <a:off x="932688" y="2432304"/>
            <a:ext cx="1280160" cy="694944"/>
          </a:xfrm>
          <a:prstGeom prst="rect">
            <a:avLst/>
          </a:prstGeom>
          <a:noFill/>
          <a:ln/>
        </p:spPr>
        <p:txBody>
          <a:bodyPr wrap="square" lIns="0" tIns="0" rIns="0" bIns="0" rtlCol="0" anchor="t"/>
          <a:lstStyle/>
          <a:p>
            <a:pPr indent="0" marL="0">
              <a:buNone/>
            </a:pPr>
            <a:r>
              <a:rPr lang="en-US" sz="4200" b="1" dirty="0">
                <a:solidFill>
                  <a:srgbClr val="17B7A6"/>
                </a:solidFill>
                <a:latin typeface="Malgun Gothic" pitchFamily="34" charset="0"/>
                <a:ea typeface="Malgun Gothic" pitchFamily="34" charset="-122"/>
                <a:cs typeface="Malgun Gothic" pitchFamily="34" charset="-120"/>
              </a:rPr>
              <a:t>01</a:t>
            </a:r>
            <a:endParaRPr lang="en-US" sz="4200" dirty="0"/>
          </a:p>
        </p:txBody>
      </p:sp>
      <p:sp>
        <p:nvSpPr>
          <p:cNvPr id="7" name="Text 5"/>
          <p:cNvSpPr txBox="1"/>
          <p:nvPr/>
        </p:nvSpPr>
        <p:spPr>
          <a:xfrm>
            <a:off x="932688" y="3255264"/>
            <a:ext cx="2926080" cy="411480"/>
          </a:xfrm>
          <a:prstGeom prst="rect">
            <a:avLst/>
          </a:prstGeom>
          <a:noFill/>
          <a:ln/>
        </p:spPr>
        <p:txBody>
          <a:bodyPr wrap="square" lIns="0" tIns="0" rIns="0" bIns="0" rtlCol="0" anchor="t"/>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문제 정의</a:t>
            </a:r>
            <a:endParaRPr lang="en-US" sz="2000" dirty="0"/>
          </a:p>
        </p:txBody>
      </p:sp>
      <p:sp>
        <p:nvSpPr>
          <p:cNvPr id="8" name="Text 6"/>
          <p:cNvSpPr txBox="1"/>
          <p:nvPr/>
        </p:nvSpPr>
        <p:spPr>
          <a:xfrm>
            <a:off x="932688" y="3895344"/>
            <a:ext cx="2926080" cy="1371600"/>
          </a:xfrm>
          <a:prstGeom prst="rect">
            <a:avLst/>
          </a:prstGeom>
          <a:noFill/>
          <a:ln/>
        </p:spPr>
        <p:txBody>
          <a:bodyPr wrap="square" lIns="0" tIns="0" rIns="0" bIns="0" rtlCol="0" anchor="t"/>
          <a:lstStyle/>
          <a:p>
            <a:pPr marL="342900" indent="-342900">
              <a:lnSpc>
                <a:spcPts val="2000"/>
              </a:lnSpc>
              <a:spcAft>
                <a:spcPts val="1200"/>
              </a:spcAft>
              <a:buSzPct val="100000"/>
              <a:buChar char="•"/>
            </a:pPr>
            <a:r>
              <a:rPr lang="en-US" sz="1250" dirty="0">
                <a:solidFill>
                  <a:srgbClr val="A9C2D6"/>
                </a:solidFill>
                <a:latin typeface="Malgun Gothic" pitchFamily="34" charset="0"/>
                <a:ea typeface="Malgun Gothic" pitchFamily="34" charset="-122"/>
                <a:cs typeface="Malgun Gothic" pitchFamily="34" charset="-120"/>
              </a:rPr>
              <a:t>매일 9개사를 손으로 도는 업무</a:t>
            </a:r>
            <a:endParaRPr lang="en-US" sz="1250" dirty="0"/>
          </a:p>
          <a:p>
            <a:pPr marL="342900" indent="-342900">
              <a:lnSpc>
                <a:spcPts val="2000"/>
              </a:lnSpc>
              <a:spcAft>
                <a:spcPts val="1200"/>
              </a:spcAft>
              <a:buSzPct val="100000"/>
              <a:buChar char="•"/>
            </a:pPr>
            <a:r>
              <a:rPr lang="en-US" sz="1250" dirty="0">
                <a:solidFill>
                  <a:srgbClr val="A9C2D6"/>
                </a:solidFill>
                <a:latin typeface="Malgun Gothic" pitchFamily="34" charset="0"/>
                <a:ea typeface="Malgun Gothic" pitchFamily="34" charset="-122"/>
                <a:cs typeface="Malgun Gothic" pitchFamily="34" charset="-120"/>
              </a:rPr>
              <a:t>지연 · 중복 · 해석 부재의 3중 병목</a:t>
            </a:r>
            <a:endParaRPr lang="en-US" sz="1250" dirty="0"/>
          </a:p>
          <a:p>
            <a:pPr marL="342900" indent="-342900">
              <a:lnSpc>
                <a:spcPts val="2000"/>
              </a:lnSpc>
              <a:spcAft>
                <a:spcPts val="1200"/>
              </a:spcAft>
              <a:buSzPct val="100000"/>
              <a:buChar char="•"/>
            </a:pPr>
            <a:r>
              <a:rPr lang="en-US" sz="1250" dirty="0">
                <a:solidFill>
                  <a:srgbClr val="A9C2D6"/>
                </a:solidFill>
                <a:latin typeface="Malgun Gothic" pitchFamily="34" charset="0"/>
                <a:ea typeface="Malgun Gothic" pitchFamily="34" charset="-122"/>
                <a:cs typeface="Malgun Gothic" pitchFamily="34" charset="-120"/>
              </a:rPr>
              <a:t>‘판단까지의 거리’로 문제를 재정의</a:t>
            </a:r>
            <a:endParaRPr lang="en-US" sz="1250" dirty="0"/>
          </a:p>
        </p:txBody>
      </p:sp>
      <p:sp>
        <p:nvSpPr>
          <p:cNvPr id="9" name="Shape 7"/>
          <p:cNvSpPr/>
          <p:nvPr/>
        </p:nvSpPr>
        <p:spPr>
          <a:xfrm>
            <a:off x="4334256" y="2066544"/>
            <a:ext cx="3593592" cy="3346704"/>
          </a:xfrm>
          <a:prstGeom prst="roundRect">
            <a:avLst>
              <a:gd name="adj" fmla="val 1503"/>
            </a:avLst>
          </a:prstGeom>
          <a:solidFill>
            <a:srgbClr val="10375D"/>
          </a:solidFill>
          <a:ln w="9525">
            <a:solidFill>
              <a:srgbClr val="1B4B75"/>
            </a:solidFill>
            <a:prstDash val="solid"/>
          </a:ln>
        </p:spPr>
      </p:sp>
      <p:sp>
        <p:nvSpPr>
          <p:cNvPr id="10" name="Text 8"/>
          <p:cNvSpPr txBox="1"/>
          <p:nvPr/>
        </p:nvSpPr>
        <p:spPr>
          <a:xfrm>
            <a:off x="4700016" y="2432304"/>
            <a:ext cx="1280160" cy="694944"/>
          </a:xfrm>
          <a:prstGeom prst="rect">
            <a:avLst/>
          </a:prstGeom>
          <a:noFill/>
          <a:ln/>
        </p:spPr>
        <p:txBody>
          <a:bodyPr wrap="square" lIns="0" tIns="0" rIns="0" bIns="0" rtlCol="0" anchor="t"/>
          <a:lstStyle/>
          <a:p>
            <a:pPr indent="0" marL="0">
              <a:buNone/>
            </a:pPr>
            <a:r>
              <a:rPr lang="en-US" sz="4200" b="1" dirty="0">
                <a:solidFill>
                  <a:srgbClr val="17B7A6"/>
                </a:solidFill>
                <a:latin typeface="Malgun Gothic" pitchFamily="34" charset="0"/>
                <a:ea typeface="Malgun Gothic" pitchFamily="34" charset="-122"/>
                <a:cs typeface="Malgun Gothic" pitchFamily="34" charset="-120"/>
              </a:rPr>
              <a:t>02</a:t>
            </a:r>
            <a:endParaRPr lang="en-US" sz="4200" dirty="0"/>
          </a:p>
        </p:txBody>
      </p:sp>
      <p:sp>
        <p:nvSpPr>
          <p:cNvPr id="11" name="Text 9"/>
          <p:cNvSpPr txBox="1"/>
          <p:nvPr/>
        </p:nvSpPr>
        <p:spPr>
          <a:xfrm>
            <a:off x="4700016" y="3255264"/>
            <a:ext cx="2926080" cy="411480"/>
          </a:xfrm>
          <a:prstGeom prst="rect">
            <a:avLst/>
          </a:prstGeom>
          <a:noFill/>
          <a:ln/>
        </p:spPr>
        <p:txBody>
          <a:bodyPr wrap="square" lIns="0" tIns="0" rIns="0" bIns="0" rtlCol="0" anchor="t"/>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주요 기능 및 구현</a:t>
            </a:r>
            <a:endParaRPr lang="en-US" sz="2000" dirty="0"/>
          </a:p>
        </p:txBody>
      </p:sp>
      <p:sp>
        <p:nvSpPr>
          <p:cNvPr id="12" name="Text 10"/>
          <p:cNvSpPr txBox="1"/>
          <p:nvPr/>
        </p:nvSpPr>
        <p:spPr>
          <a:xfrm>
            <a:off x="4700016" y="3895344"/>
            <a:ext cx="2926080" cy="1371600"/>
          </a:xfrm>
          <a:prstGeom prst="rect">
            <a:avLst/>
          </a:prstGeom>
          <a:noFill/>
          <a:ln/>
        </p:spPr>
        <p:txBody>
          <a:bodyPr wrap="square" lIns="0" tIns="0" rIns="0" bIns="0" rtlCol="0" anchor="t"/>
          <a:lstStyle/>
          <a:p>
            <a:pPr marL="342900" indent="-342900">
              <a:lnSpc>
                <a:spcPts val="2000"/>
              </a:lnSpc>
              <a:spcAft>
                <a:spcPts val="1200"/>
              </a:spcAft>
              <a:buSzPct val="100000"/>
              <a:buChar char="•"/>
            </a:pPr>
            <a:r>
              <a:rPr lang="en-US" sz="1250" dirty="0">
                <a:solidFill>
                  <a:srgbClr val="A9C2D6"/>
                </a:solidFill>
                <a:latin typeface="Malgun Gothic" pitchFamily="34" charset="0"/>
                <a:ea typeface="Malgun Gothic" pitchFamily="34" charset="-122"/>
                <a:cs typeface="Malgun Gothic" pitchFamily="34" charset="-120"/>
              </a:rPr>
              <a:t>4계층 아키텍처와 기술 스택</a:t>
            </a:r>
            <a:endParaRPr lang="en-US" sz="1250" dirty="0"/>
          </a:p>
          <a:p>
            <a:pPr marL="342900" indent="-342900">
              <a:lnSpc>
                <a:spcPts val="2000"/>
              </a:lnSpc>
              <a:spcAft>
                <a:spcPts val="1200"/>
              </a:spcAft>
              <a:buSzPct val="100000"/>
              <a:buChar char="•"/>
            </a:pPr>
            <a:r>
              <a:rPr lang="en-US" sz="1250" dirty="0">
                <a:solidFill>
                  <a:srgbClr val="A9C2D6"/>
                </a:solidFill>
                <a:latin typeface="Malgun Gothic" pitchFamily="34" charset="0"/>
                <a:ea typeface="Malgun Gothic" pitchFamily="34" charset="-122"/>
                <a:cs typeface="Malgun Gothic" pitchFamily="34" charset="-120"/>
              </a:rPr>
              <a:t>정확도를 만든 3개의 전처리 규칙</a:t>
            </a:r>
            <a:endParaRPr lang="en-US" sz="1250" dirty="0"/>
          </a:p>
          <a:p>
            <a:pPr marL="342900" indent="-342900">
              <a:lnSpc>
                <a:spcPts val="2000"/>
              </a:lnSpc>
              <a:spcAft>
                <a:spcPts val="1200"/>
              </a:spcAft>
              <a:buSzPct val="100000"/>
              <a:buChar char="•"/>
            </a:pPr>
            <a:r>
              <a:rPr lang="en-US" sz="1250" dirty="0">
                <a:solidFill>
                  <a:srgbClr val="A9C2D6"/>
                </a:solidFill>
                <a:latin typeface="Malgun Gothic" pitchFamily="34" charset="0"/>
                <a:ea typeface="Malgun Gothic" pitchFamily="34" charset="-122"/>
                <a:cs typeface="Malgun Gothic" pitchFamily="34" charset="-120"/>
              </a:rPr>
              <a:t>교육 내용 연계 · 멘토링 반영</a:t>
            </a:r>
            <a:endParaRPr lang="en-US" sz="1250" dirty="0"/>
          </a:p>
        </p:txBody>
      </p:sp>
      <p:sp>
        <p:nvSpPr>
          <p:cNvPr id="13" name="Shape 11"/>
          <p:cNvSpPr/>
          <p:nvPr/>
        </p:nvSpPr>
        <p:spPr>
          <a:xfrm>
            <a:off x="8101584" y="2066544"/>
            <a:ext cx="3593592" cy="3346704"/>
          </a:xfrm>
          <a:prstGeom prst="roundRect">
            <a:avLst>
              <a:gd name="adj" fmla="val 1503"/>
            </a:avLst>
          </a:prstGeom>
          <a:solidFill>
            <a:srgbClr val="10375D"/>
          </a:solidFill>
          <a:ln w="9525">
            <a:solidFill>
              <a:srgbClr val="1B4B75"/>
            </a:solidFill>
            <a:prstDash val="solid"/>
          </a:ln>
        </p:spPr>
      </p:sp>
      <p:sp>
        <p:nvSpPr>
          <p:cNvPr id="14" name="Text 12"/>
          <p:cNvSpPr txBox="1"/>
          <p:nvPr/>
        </p:nvSpPr>
        <p:spPr>
          <a:xfrm>
            <a:off x="8467344" y="2432304"/>
            <a:ext cx="1280160" cy="694944"/>
          </a:xfrm>
          <a:prstGeom prst="rect">
            <a:avLst/>
          </a:prstGeom>
          <a:noFill/>
          <a:ln/>
        </p:spPr>
        <p:txBody>
          <a:bodyPr wrap="square" lIns="0" tIns="0" rIns="0" bIns="0" rtlCol="0" anchor="t"/>
          <a:lstStyle/>
          <a:p>
            <a:pPr indent="0" marL="0">
              <a:buNone/>
            </a:pPr>
            <a:r>
              <a:rPr lang="en-US" sz="4200" b="1" dirty="0">
                <a:solidFill>
                  <a:srgbClr val="17B7A6"/>
                </a:solidFill>
                <a:latin typeface="Malgun Gothic" pitchFamily="34" charset="0"/>
                <a:ea typeface="Malgun Gothic" pitchFamily="34" charset="-122"/>
                <a:cs typeface="Malgun Gothic" pitchFamily="34" charset="-120"/>
              </a:rPr>
              <a:t>03</a:t>
            </a:r>
            <a:endParaRPr lang="en-US" sz="4200" dirty="0"/>
          </a:p>
        </p:txBody>
      </p:sp>
      <p:sp>
        <p:nvSpPr>
          <p:cNvPr id="15" name="Text 13"/>
          <p:cNvSpPr txBox="1"/>
          <p:nvPr/>
        </p:nvSpPr>
        <p:spPr>
          <a:xfrm>
            <a:off x="8467344" y="3255264"/>
            <a:ext cx="2926080" cy="411480"/>
          </a:xfrm>
          <a:prstGeom prst="rect">
            <a:avLst/>
          </a:prstGeom>
          <a:noFill/>
          <a:ln/>
        </p:spPr>
        <p:txBody>
          <a:bodyPr wrap="square" lIns="0" tIns="0" rIns="0" bIns="0" rtlCol="0" anchor="t"/>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결과 및 회고</a:t>
            </a:r>
            <a:endParaRPr lang="en-US" sz="2000" dirty="0"/>
          </a:p>
        </p:txBody>
      </p:sp>
      <p:sp>
        <p:nvSpPr>
          <p:cNvPr id="16" name="Text 14"/>
          <p:cNvSpPr txBox="1"/>
          <p:nvPr/>
        </p:nvSpPr>
        <p:spPr>
          <a:xfrm>
            <a:off x="8467344" y="3895344"/>
            <a:ext cx="2926080" cy="1371600"/>
          </a:xfrm>
          <a:prstGeom prst="rect">
            <a:avLst/>
          </a:prstGeom>
          <a:noFill/>
          <a:ln/>
        </p:spPr>
        <p:txBody>
          <a:bodyPr wrap="square" lIns="0" tIns="0" rIns="0" bIns="0" rtlCol="0" anchor="t"/>
          <a:lstStyle/>
          <a:p>
            <a:pPr marL="342900" indent="-342900">
              <a:lnSpc>
                <a:spcPts val="2000"/>
              </a:lnSpc>
              <a:spcAft>
                <a:spcPts val="1200"/>
              </a:spcAft>
              <a:buSzPct val="100000"/>
              <a:buChar char="•"/>
            </a:pPr>
            <a:r>
              <a:rPr lang="en-US" sz="1250" dirty="0">
                <a:solidFill>
                  <a:srgbClr val="A9C2D6"/>
                </a:solidFill>
                <a:latin typeface="Malgun Gothic" pitchFamily="34" charset="0"/>
                <a:ea typeface="Malgun Gothic" pitchFamily="34" charset="-122"/>
                <a:cs typeface="Malgun Gothic" pitchFamily="34" charset="-120"/>
              </a:rPr>
              <a:t>구현 결과 화면</a:t>
            </a:r>
            <a:endParaRPr lang="en-US" sz="1250" dirty="0"/>
          </a:p>
          <a:p>
            <a:pPr marL="342900" indent="-342900">
              <a:lnSpc>
                <a:spcPts val="2000"/>
              </a:lnSpc>
              <a:spcAft>
                <a:spcPts val="1200"/>
              </a:spcAft>
              <a:buSzPct val="100000"/>
              <a:buChar char="•"/>
            </a:pPr>
            <a:r>
              <a:rPr lang="en-US" sz="1250" dirty="0">
                <a:solidFill>
                  <a:srgbClr val="A9C2D6"/>
                </a:solidFill>
                <a:latin typeface="Malgun Gothic" pitchFamily="34" charset="0"/>
                <a:ea typeface="Malgun Gothic" pitchFamily="34" charset="-122"/>
                <a:cs typeface="Malgun Gothic" pitchFamily="34" charset="-120"/>
              </a:rPr>
              <a:t>정량 · 정성 기대 효과</a:t>
            </a:r>
            <a:endParaRPr lang="en-US" sz="1250" dirty="0"/>
          </a:p>
          <a:p>
            <a:pPr marL="342900" indent="-342900">
              <a:lnSpc>
                <a:spcPts val="2000"/>
              </a:lnSpc>
              <a:spcAft>
                <a:spcPts val="1200"/>
              </a:spcAft>
              <a:buSzPct val="100000"/>
              <a:buChar char="•"/>
            </a:pPr>
            <a:r>
              <a:rPr lang="en-US" sz="1250" dirty="0">
                <a:solidFill>
                  <a:srgbClr val="A9C2D6"/>
                </a:solidFill>
                <a:latin typeface="Malgun Gothic" pitchFamily="34" charset="0"/>
                <a:ea typeface="Malgun Gothic" pitchFamily="34" charset="-122"/>
                <a:cs typeface="Malgun Gothic" pitchFamily="34" charset="-120"/>
              </a:rPr>
              <a:t>인사이트 · 회고 · 교육 소감</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6FA"/>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37744"/>
          </a:xfrm>
          <a:prstGeom prst="rect">
            <a:avLst/>
          </a:prstGeom>
          <a:noFill/>
          <a:ln/>
        </p:spPr>
        <p:txBody>
          <a:bodyPr wrap="square" lIns="0" tIns="0" rIns="0" bIns="0" rtlCol="0" anchor="t"/>
          <a:lstStyle/>
          <a:p>
            <a:pPr indent="0" marL="0">
              <a:buNone/>
            </a:pPr>
            <a:r>
              <a:rPr lang="en-US" sz="1100" b="1" spc="110" kern="0" dirty="0">
                <a:solidFill>
                  <a:srgbClr val="0E8477"/>
                </a:solidFill>
                <a:latin typeface="Malgun Gothic" pitchFamily="34" charset="0"/>
                <a:ea typeface="Malgun Gothic" pitchFamily="34" charset="-122"/>
                <a:cs typeface="Malgun Gothic" pitchFamily="34" charset="-120"/>
              </a:rPr>
              <a:t>01  PROBLEM  ·  업무 정의</a:t>
            </a:r>
            <a:endParaRPr lang="en-US" sz="1100" dirty="0"/>
          </a:p>
        </p:txBody>
      </p:sp>
      <p:sp>
        <p:nvSpPr>
          <p:cNvPr id="3" name="Text 1"/>
          <p:cNvSpPr txBox="1"/>
          <p:nvPr/>
        </p:nvSpPr>
        <p:spPr>
          <a:xfrm>
            <a:off x="566928" y="713232"/>
            <a:ext cx="11057839" cy="566928"/>
          </a:xfrm>
          <a:prstGeom prst="rect">
            <a:avLst/>
          </a:prstGeom>
          <a:noFill/>
          <a:ln/>
        </p:spPr>
        <p:txBody>
          <a:bodyPr wrap="square" lIns="0" tIns="0" rIns="0" bIns="0" rtlCol="0" anchor="t"/>
          <a:lstStyle/>
          <a:p>
            <a:pPr indent="0" marL="0">
              <a:buNone/>
            </a:pPr>
            <a:r>
              <a:rPr lang="en-US" sz="2800" b="1" dirty="0">
                <a:solidFill>
                  <a:srgbClr val="07203C"/>
                </a:solidFill>
                <a:latin typeface="Malgun Gothic" pitchFamily="34" charset="0"/>
                <a:ea typeface="Malgun Gothic" pitchFamily="34" charset="-122"/>
                <a:cs typeface="Malgun Gothic" pitchFamily="34" charset="-120"/>
              </a:rPr>
              <a:t>경쟁사·고객사 동향 파악은 매일 9개사를 손으로 도는 일이었습니다</a:t>
            </a:r>
            <a:endParaRPr lang="en-US" sz="2800" dirty="0"/>
          </a:p>
        </p:txBody>
      </p:sp>
      <p:sp>
        <p:nvSpPr>
          <p:cNvPr id="4" name="Text 2"/>
          <p:cNvSpPr txBox="1"/>
          <p:nvPr/>
        </p:nvSpPr>
        <p:spPr>
          <a:xfrm>
            <a:off x="8332927" y="6437376"/>
            <a:ext cx="3291840" cy="219456"/>
          </a:xfrm>
          <a:prstGeom prst="rect">
            <a:avLst/>
          </a:prstGeom>
          <a:noFill/>
          <a:ln/>
        </p:spPr>
        <p:txBody>
          <a:bodyPr wrap="square" lIns="0" tIns="0" rIns="0" bIns="0" rtlCol="0" anchor="t"/>
          <a:lstStyle/>
          <a:p>
            <a:pPr algn="r" indent="0" marL="0">
              <a:buNone/>
            </a:pPr>
            <a:r>
              <a:rPr lang="en-US" sz="950" spc="60" kern="0" dirty="0">
                <a:solidFill>
                  <a:srgbClr val="8A9BAB"/>
                </a:solidFill>
                <a:latin typeface="Malgun Gothic" pitchFamily="34" charset="0"/>
                <a:ea typeface="Malgun Gothic" pitchFamily="34" charset="-122"/>
                <a:cs typeface="Malgun Gothic" pitchFamily="34" charset="-120"/>
              </a:rPr>
              <a:t>03 / 16     FUTURE:M RADAR</a:t>
            </a:r>
            <a:endParaRPr lang="en-US" sz="950" dirty="0"/>
          </a:p>
        </p:txBody>
      </p:sp>
      <p:sp>
        <p:nvSpPr>
          <p:cNvPr id="5" name="Shape 3"/>
          <p:cNvSpPr/>
          <p:nvPr/>
        </p:nvSpPr>
        <p:spPr>
          <a:xfrm>
            <a:off x="566928" y="1755648"/>
            <a:ext cx="4224528" cy="3749040"/>
          </a:xfrm>
          <a:prstGeom prst="roundRect">
            <a:avLst>
              <a:gd name="adj" fmla="val 1341"/>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6" name="Text 4"/>
          <p:cNvSpPr txBox="1"/>
          <p:nvPr/>
        </p:nvSpPr>
        <p:spPr>
          <a:xfrm>
            <a:off x="877824" y="1975104"/>
            <a:ext cx="3566160" cy="274320"/>
          </a:xfrm>
          <a:prstGeom prst="rect">
            <a:avLst/>
          </a:prstGeom>
          <a:noFill/>
          <a:ln/>
        </p:spPr>
        <p:txBody>
          <a:bodyPr wrap="square" lIns="0" tIns="0" rIns="0" bIns="0" rtlCol="0" anchor="t"/>
          <a:lstStyle/>
          <a:p>
            <a:pPr indent="0" marL="0">
              <a:buNone/>
            </a:pPr>
            <a:r>
              <a:rPr lang="en-US" sz="1500" b="1" dirty="0">
                <a:solidFill>
                  <a:srgbClr val="07203C"/>
                </a:solidFill>
                <a:latin typeface="Malgun Gothic" pitchFamily="34" charset="0"/>
                <a:ea typeface="Malgun Gothic" pitchFamily="34" charset="-122"/>
                <a:cs typeface="Malgun Gothic" pitchFamily="34" charset="-120"/>
              </a:rPr>
              <a:t>모니터링 대상</a:t>
            </a:r>
            <a:endParaRPr lang="en-US" sz="1500" dirty="0"/>
          </a:p>
        </p:txBody>
      </p:sp>
      <p:sp>
        <p:nvSpPr>
          <p:cNvPr id="7" name="Text 5"/>
          <p:cNvSpPr txBox="1"/>
          <p:nvPr/>
        </p:nvSpPr>
        <p:spPr>
          <a:xfrm>
            <a:off x="877824" y="2286000"/>
            <a:ext cx="3602736" cy="274320"/>
          </a:xfrm>
          <a:prstGeom prst="rect">
            <a:avLst/>
          </a:prstGeom>
          <a:noFill/>
          <a:ln/>
        </p:spPr>
        <p:txBody>
          <a:bodyPr wrap="square" lIns="0" tIns="0" rIns="0" bIns="0" rtlCol="0" anchor="t"/>
          <a:lstStyle/>
          <a:p>
            <a:pPr indent="0" marL="0">
              <a:buNone/>
            </a:pPr>
            <a:r>
              <a:rPr lang="en-US" sz="1100" dirty="0">
                <a:solidFill>
                  <a:srgbClr val="6B7F92"/>
                </a:solidFill>
                <a:latin typeface="Malgun Gothic" pitchFamily="34" charset="0"/>
                <a:ea typeface="Malgun Gothic" pitchFamily="34" charset="-122"/>
                <a:cs typeface="Malgun Gothic" pitchFamily="34" charset="-120"/>
              </a:rPr>
              <a:t>포스코퓨처엠을 기준으로 한 배터리 소재 밸류체인</a:t>
            </a:r>
            <a:endParaRPr lang="en-US" sz="1100" dirty="0"/>
          </a:p>
        </p:txBody>
      </p:sp>
      <p:sp>
        <p:nvSpPr>
          <p:cNvPr id="8" name="Shape 6"/>
          <p:cNvSpPr/>
          <p:nvPr/>
        </p:nvSpPr>
        <p:spPr>
          <a:xfrm>
            <a:off x="877824" y="2724912"/>
            <a:ext cx="731520" cy="274320"/>
          </a:xfrm>
          <a:prstGeom prst="roundRect">
            <a:avLst>
              <a:gd name="adj" fmla="val 166667"/>
            </a:avLst>
          </a:prstGeom>
          <a:solidFill>
            <a:srgbClr val="FFFFFF"/>
          </a:solidFill>
          <a:ln w="9525">
            <a:solidFill>
              <a:srgbClr val="0E8477"/>
            </a:solidFill>
            <a:prstDash val="solid"/>
          </a:ln>
        </p:spPr>
      </p:sp>
      <p:sp>
        <p:nvSpPr>
          <p:cNvPr id="9" name="Text 7"/>
          <p:cNvSpPr txBox="1"/>
          <p:nvPr/>
        </p:nvSpPr>
        <p:spPr>
          <a:xfrm>
            <a:off x="877824" y="2724912"/>
            <a:ext cx="731520" cy="274320"/>
          </a:xfrm>
          <a:prstGeom prst="rect">
            <a:avLst/>
          </a:prstGeom>
          <a:noFill/>
          <a:ln/>
        </p:spPr>
        <p:txBody>
          <a:bodyPr wrap="square" lIns="0" tIns="0" rIns="0" bIns="0" rtlCol="0" anchor="ctr"/>
          <a:lstStyle/>
          <a:p>
            <a:pPr algn="ctr" indent="0" marL="0">
              <a:buNone/>
            </a:pPr>
            <a:r>
              <a:rPr lang="en-US" sz="1050" b="1" dirty="0">
                <a:solidFill>
                  <a:srgbClr val="0E8477"/>
                </a:solidFill>
                <a:latin typeface="Malgun Gothic" pitchFamily="34" charset="0"/>
                <a:ea typeface="Malgun Gothic" pitchFamily="34" charset="-122"/>
                <a:cs typeface="Malgun Gothic" pitchFamily="34" charset="-120"/>
              </a:rPr>
              <a:t>자사</a:t>
            </a:r>
            <a:endParaRPr lang="en-US" sz="1050" dirty="0"/>
          </a:p>
        </p:txBody>
      </p:sp>
      <p:sp>
        <p:nvSpPr>
          <p:cNvPr id="10" name="Text 8"/>
          <p:cNvSpPr txBox="1"/>
          <p:nvPr/>
        </p:nvSpPr>
        <p:spPr>
          <a:xfrm>
            <a:off x="877824" y="3090672"/>
            <a:ext cx="3602736" cy="402336"/>
          </a:xfrm>
          <a:prstGeom prst="rect">
            <a:avLst/>
          </a:prstGeom>
          <a:noFill/>
          <a:ln/>
        </p:spPr>
        <p:txBody>
          <a:bodyPr wrap="square" lIns="0" tIns="0" rIns="0" bIns="0" rtlCol="0" anchor="t"/>
          <a:lstStyle/>
          <a:p>
            <a:pPr indent="0" marL="0">
              <a:lnSpc>
                <a:spcPts val="1800"/>
              </a:lnSpc>
              <a:buNone/>
            </a:pPr>
            <a:r>
              <a:rPr lang="en-US" sz="1200" b="1" dirty="0">
                <a:solidFill>
                  <a:srgbClr val="15304C"/>
                </a:solidFill>
                <a:latin typeface="Malgun Gothic" pitchFamily="34" charset="0"/>
                <a:ea typeface="Malgun Gothic" pitchFamily="34" charset="-122"/>
                <a:cs typeface="Malgun Gothic" pitchFamily="34" charset="-120"/>
              </a:rPr>
              <a:t>포스코퓨처엠</a:t>
            </a:r>
            <a:endParaRPr lang="en-US" sz="1200" dirty="0"/>
          </a:p>
        </p:txBody>
      </p:sp>
      <p:sp>
        <p:nvSpPr>
          <p:cNvPr id="11" name="Shape 9"/>
          <p:cNvSpPr/>
          <p:nvPr/>
        </p:nvSpPr>
        <p:spPr>
          <a:xfrm>
            <a:off x="877824" y="3547872"/>
            <a:ext cx="731520" cy="274320"/>
          </a:xfrm>
          <a:prstGeom prst="roundRect">
            <a:avLst>
              <a:gd name="adj" fmla="val 166667"/>
            </a:avLst>
          </a:prstGeom>
          <a:solidFill>
            <a:srgbClr val="FFFFFF"/>
          </a:solidFill>
          <a:ln w="9525">
            <a:solidFill>
              <a:srgbClr val="2C6FE3"/>
            </a:solidFill>
            <a:prstDash val="solid"/>
          </a:ln>
        </p:spPr>
      </p:sp>
      <p:sp>
        <p:nvSpPr>
          <p:cNvPr id="12" name="Text 10"/>
          <p:cNvSpPr txBox="1"/>
          <p:nvPr/>
        </p:nvSpPr>
        <p:spPr>
          <a:xfrm>
            <a:off x="877824" y="3547872"/>
            <a:ext cx="731520" cy="274320"/>
          </a:xfrm>
          <a:prstGeom prst="rect">
            <a:avLst/>
          </a:prstGeom>
          <a:noFill/>
          <a:ln/>
        </p:spPr>
        <p:txBody>
          <a:bodyPr wrap="square" lIns="0" tIns="0" rIns="0" bIns="0" rtlCol="0" anchor="ctr"/>
          <a:lstStyle/>
          <a:p>
            <a:pPr algn="ctr" indent="0" marL="0">
              <a:buNone/>
            </a:pPr>
            <a:r>
              <a:rPr lang="en-US" sz="1050" b="1" dirty="0">
                <a:solidFill>
                  <a:srgbClr val="2C6FE3"/>
                </a:solidFill>
                <a:latin typeface="Malgun Gothic" pitchFamily="34" charset="0"/>
                <a:ea typeface="Malgun Gothic" pitchFamily="34" charset="-122"/>
                <a:cs typeface="Malgun Gothic" pitchFamily="34" charset="-120"/>
              </a:rPr>
              <a:t>경쟁사</a:t>
            </a:r>
            <a:endParaRPr lang="en-US" sz="1050" dirty="0"/>
          </a:p>
        </p:txBody>
      </p:sp>
      <p:sp>
        <p:nvSpPr>
          <p:cNvPr id="13" name="Text 11"/>
          <p:cNvSpPr txBox="1"/>
          <p:nvPr/>
        </p:nvSpPr>
        <p:spPr>
          <a:xfrm>
            <a:off x="877824" y="3913632"/>
            <a:ext cx="3602736" cy="402336"/>
          </a:xfrm>
          <a:prstGeom prst="rect">
            <a:avLst/>
          </a:prstGeom>
          <a:noFill/>
          <a:ln/>
        </p:spPr>
        <p:txBody>
          <a:bodyPr wrap="square" lIns="0" tIns="0" rIns="0" bIns="0" rtlCol="0" anchor="t"/>
          <a:lstStyle/>
          <a:p>
            <a:pPr indent="0" marL="0">
              <a:lnSpc>
                <a:spcPts val="1800"/>
              </a:lnSpc>
              <a:buNone/>
            </a:pPr>
            <a:r>
              <a:rPr lang="en-US" sz="1200" b="1" dirty="0">
                <a:solidFill>
                  <a:srgbClr val="15304C"/>
                </a:solidFill>
                <a:latin typeface="Malgun Gothic" pitchFamily="34" charset="0"/>
                <a:ea typeface="Malgun Gothic" pitchFamily="34" charset="-122"/>
                <a:cs typeface="Malgun Gothic" pitchFamily="34" charset="-120"/>
              </a:rPr>
              <a:t>포스코홀딩스 · LG화학 · 에코프로비엠 · 엘앤에프</a:t>
            </a:r>
            <a:endParaRPr lang="en-US" sz="1200" dirty="0"/>
          </a:p>
        </p:txBody>
      </p:sp>
      <p:sp>
        <p:nvSpPr>
          <p:cNvPr id="14" name="Shape 12"/>
          <p:cNvSpPr/>
          <p:nvPr/>
        </p:nvSpPr>
        <p:spPr>
          <a:xfrm>
            <a:off x="877824" y="4370832"/>
            <a:ext cx="731520" cy="274320"/>
          </a:xfrm>
          <a:prstGeom prst="roundRect">
            <a:avLst>
              <a:gd name="adj" fmla="val 166667"/>
            </a:avLst>
          </a:prstGeom>
          <a:solidFill>
            <a:srgbClr val="FFFFFF"/>
          </a:solidFill>
          <a:ln w="9525">
            <a:solidFill>
              <a:srgbClr val="7A5AB5"/>
            </a:solidFill>
            <a:prstDash val="solid"/>
          </a:ln>
        </p:spPr>
      </p:sp>
      <p:sp>
        <p:nvSpPr>
          <p:cNvPr id="15" name="Text 13"/>
          <p:cNvSpPr txBox="1"/>
          <p:nvPr/>
        </p:nvSpPr>
        <p:spPr>
          <a:xfrm>
            <a:off x="877824" y="4370832"/>
            <a:ext cx="731520" cy="274320"/>
          </a:xfrm>
          <a:prstGeom prst="rect">
            <a:avLst/>
          </a:prstGeom>
          <a:noFill/>
          <a:ln/>
        </p:spPr>
        <p:txBody>
          <a:bodyPr wrap="square" lIns="0" tIns="0" rIns="0" bIns="0" rtlCol="0" anchor="ctr"/>
          <a:lstStyle/>
          <a:p>
            <a:pPr algn="ctr" indent="0" marL="0">
              <a:buNone/>
            </a:pPr>
            <a:r>
              <a:rPr lang="en-US" sz="1050" b="1" dirty="0">
                <a:solidFill>
                  <a:srgbClr val="7A5AB5"/>
                </a:solidFill>
                <a:latin typeface="Malgun Gothic" pitchFamily="34" charset="0"/>
                <a:ea typeface="Malgun Gothic" pitchFamily="34" charset="-122"/>
                <a:cs typeface="Malgun Gothic" pitchFamily="34" charset="-120"/>
              </a:rPr>
              <a:t>고객사</a:t>
            </a:r>
            <a:endParaRPr lang="en-US" sz="1050" dirty="0"/>
          </a:p>
        </p:txBody>
      </p:sp>
      <p:sp>
        <p:nvSpPr>
          <p:cNvPr id="16" name="Text 14"/>
          <p:cNvSpPr txBox="1"/>
          <p:nvPr/>
        </p:nvSpPr>
        <p:spPr>
          <a:xfrm>
            <a:off x="877824" y="4736592"/>
            <a:ext cx="3602736" cy="402336"/>
          </a:xfrm>
          <a:prstGeom prst="rect">
            <a:avLst/>
          </a:prstGeom>
          <a:noFill/>
          <a:ln/>
        </p:spPr>
        <p:txBody>
          <a:bodyPr wrap="square" lIns="0" tIns="0" rIns="0" bIns="0" rtlCol="0" anchor="t"/>
          <a:lstStyle/>
          <a:p>
            <a:pPr indent="0" marL="0">
              <a:lnSpc>
                <a:spcPts val="1800"/>
              </a:lnSpc>
              <a:buNone/>
            </a:pPr>
            <a:r>
              <a:rPr lang="en-US" sz="1200" b="1" dirty="0">
                <a:solidFill>
                  <a:srgbClr val="15304C"/>
                </a:solidFill>
                <a:latin typeface="Malgun Gothic" pitchFamily="34" charset="0"/>
                <a:ea typeface="Malgun Gothic" pitchFamily="34" charset="-122"/>
                <a:cs typeface="Malgun Gothic" pitchFamily="34" charset="-120"/>
              </a:rPr>
              <a:t>LG에너지솔루션 · 삼성SDI · SK온 · 현대차</a:t>
            </a:r>
            <a:endParaRPr lang="en-US" sz="1200" dirty="0"/>
          </a:p>
        </p:txBody>
      </p:sp>
      <p:sp>
        <p:nvSpPr>
          <p:cNvPr id="17" name="Text 15"/>
          <p:cNvSpPr txBox="1"/>
          <p:nvPr/>
        </p:nvSpPr>
        <p:spPr>
          <a:xfrm>
            <a:off x="877824" y="5120640"/>
            <a:ext cx="3602736" cy="274320"/>
          </a:xfrm>
          <a:prstGeom prst="rect">
            <a:avLst/>
          </a:prstGeom>
          <a:noFill/>
          <a:ln/>
        </p:spPr>
        <p:txBody>
          <a:bodyPr wrap="square" lIns="0" tIns="0" rIns="0" bIns="0" rtlCol="0" anchor="t"/>
          <a:lstStyle/>
          <a:p>
            <a:pPr indent="0" marL="0">
              <a:buNone/>
            </a:pPr>
            <a:r>
              <a:rPr lang="en-US" sz="1050" dirty="0">
                <a:solidFill>
                  <a:srgbClr val="6B7F92"/>
                </a:solidFill>
                <a:latin typeface="Malgun Gothic" pitchFamily="34" charset="0"/>
                <a:ea typeface="Malgun Gothic" pitchFamily="34" charset="-122"/>
                <a:cs typeface="Malgun Gothic" pitchFamily="34" charset="-120"/>
              </a:rPr>
              <a:t>총 9개사 · 사용자가 상장기업을 직접 추가할 수 있습니다</a:t>
            </a:r>
            <a:endParaRPr lang="en-US" sz="1050" dirty="0"/>
          </a:p>
        </p:txBody>
      </p:sp>
      <p:sp>
        <p:nvSpPr>
          <p:cNvPr id="18" name="Shape 16"/>
          <p:cNvSpPr/>
          <p:nvPr/>
        </p:nvSpPr>
        <p:spPr>
          <a:xfrm>
            <a:off x="5010912" y="1755648"/>
            <a:ext cx="6611112" cy="3749040"/>
          </a:xfrm>
          <a:prstGeom prst="roundRect">
            <a:avLst>
              <a:gd name="adj" fmla="val 1341"/>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19" name="Text 17"/>
          <p:cNvSpPr txBox="1"/>
          <p:nvPr/>
        </p:nvSpPr>
        <p:spPr>
          <a:xfrm>
            <a:off x="5321808" y="1975104"/>
            <a:ext cx="5943600" cy="274320"/>
          </a:xfrm>
          <a:prstGeom prst="rect">
            <a:avLst/>
          </a:prstGeom>
          <a:noFill/>
          <a:ln/>
        </p:spPr>
        <p:txBody>
          <a:bodyPr wrap="square" lIns="0" tIns="0" rIns="0" bIns="0" rtlCol="0" anchor="t"/>
          <a:lstStyle/>
          <a:p>
            <a:pPr indent="0" marL="0">
              <a:buNone/>
            </a:pPr>
            <a:r>
              <a:rPr lang="en-US" sz="1500" b="1" dirty="0">
                <a:solidFill>
                  <a:srgbClr val="07203C"/>
                </a:solidFill>
                <a:latin typeface="Malgun Gothic" pitchFamily="34" charset="0"/>
                <a:ea typeface="Malgun Gothic" pitchFamily="34" charset="-122"/>
                <a:cs typeface="Malgun Gothic" pitchFamily="34" charset="-120"/>
              </a:rPr>
              <a:t>기존 수작업 흐름</a:t>
            </a:r>
            <a:endParaRPr lang="en-US" sz="1500" dirty="0"/>
          </a:p>
        </p:txBody>
      </p:sp>
      <p:sp>
        <p:nvSpPr>
          <p:cNvPr id="20" name="Text 18"/>
          <p:cNvSpPr txBox="1"/>
          <p:nvPr/>
        </p:nvSpPr>
        <p:spPr>
          <a:xfrm>
            <a:off x="5321808" y="2286000"/>
            <a:ext cx="5943600" cy="274320"/>
          </a:xfrm>
          <a:prstGeom prst="rect">
            <a:avLst/>
          </a:prstGeom>
          <a:noFill/>
          <a:ln/>
        </p:spPr>
        <p:txBody>
          <a:bodyPr wrap="square" lIns="0" tIns="0" rIns="0" bIns="0" rtlCol="0" anchor="t"/>
          <a:lstStyle/>
          <a:p>
            <a:pPr indent="0" marL="0">
              <a:buNone/>
            </a:pPr>
            <a:r>
              <a:rPr lang="en-US" sz="1100" dirty="0">
                <a:solidFill>
                  <a:srgbClr val="6B7F92"/>
                </a:solidFill>
                <a:latin typeface="Malgun Gothic" pitchFamily="34" charset="0"/>
                <a:ea typeface="Malgun Gothic" pitchFamily="34" charset="-122"/>
                <a:cs typeface="Malgun Gothic" pitchFamily="34" charset="-120"/>
              </a:rPr>
              <a:t>매일 반복되며, 어느 단계도 기록으로 남지 않습니다</a:t>
            </a:r>
            <a:endParaRPr lang="en-US" sz="1100" dirty="0"/>
          </a:p>
        </p:txBody>
      </p:sp>
      <p:sp>
        <p:nvSpPr>
          <p:cNvPr id="21" name="Shape 19"/>
          <p:cNvSpPr/>
          <p:nvPr/>
        </p:nvSpPr>
        <p:spPr>
          <a:xfrm>
            <a:off x="5321808" y="2724912"/>
            <a:ext cx="347472" cy="347472"/>
          </a:xfrm>
          <a:prstGeom prst="roundRect">
            <a:avLst>
              <a:gd name="adj" fmla="val 31579"/>
            </a:avLst>
          </a:prstGeom>
          <a:solidFill>
            <a:srgbClr val="07203C"/>
          </a:solidFill>
          <a:ln w="12700">
            <a:solidFill>
              <a:srgbClr val="07203C"/>
            </a:solidFill>
            <a:prstDash val="solid"/>
          </a:ln>
        </p:spPr>
      </p:sp>
      <p:sp>
        <p:nvSpPr>
          <p:cNvPr id="22" name="Text 20"/>
          <p:cNvSpPr txBox="1"/>
          <p:nvPr/>
        </p:nvSpPr>
        <p:spPr>
          <a:xfrm>
            <a:off x="5321808" y="2724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01</a:t>
            </a:r>
            <a:endParaRPr lang="en-US" sz="1100" dirty="0"/>
          </a:p>
        </p:txBody>
      </p:sp>
      <p:sp>
        <p:nvSpPr>
          <p:cNvPr id="23" name="Text 21"/>
          <p:cNvSpPr txBox="1"/>
          <p:nvPr/>
        </p:nvSpPr>
        <p:spPr>
          <a:xfrm>
            <a:off x="5797296" y="2743200"/>
            <a:ext cx="2286000" cy="237744"/>
          </a:xfrm>
          <a:prstGeom prst="rect">
            <a:avLst/>
          </a:prstGeom>
          <a:noFill/>
          <a:ln/>
        </p:spPr>
        <p:txBody>
          <a:bodyPr wrap="square" lIns="0" tIns="0" rIns="0" bIns="0" rtlCol="0" anchor="t"/>
          <a:lstStyle/>
          <a:p>
            <a:pPr indent="0" marL="0">
              <a:buNone/>
            </a:pPr>
            <a:r>
              <a:rPr lang="en-US" sz="1250" b="1" dirty="0">
                <a:solidFill>
                  <a:srgbClr val="15304C"/>
                </a:solidFill>
                <a:latin typeface="Malgun Gothic" pitchFamily="34" charset="0"/>
                <a:ea typeface="Malgun Gothic" pitchFamily="34" charset="-122"/>
                <a:cs typeface="Malgun Gothic" pitchFamily="34" charset="-120"/>
              </a:rPr>
              <a:t>DART 전자공시 접속</a:t>
            </a:r>
            <a:endParaRPr lang="en-US" sz="1250" dirty="0"/>
          </a:p>
        </p:txBody>
      </p:sp>
      <p:sp>
        <p:nvSpPr>
          <p:cNvPr id="24" name="Text 22"/>
          <p:cNvSpPr txBox="1"/>
          <p:nvPr/>
        </p:nvSpPr>
        <p:spPr>
          <a:xfrm>
            <a:off x="8156448" y="2761488"/>
            <a:ext cx="3108960" cy="292608"/>
          </a:xfrm>
          <a:prstGeom prst="rect">
            <a:avLst/>
          </a:prstGeom>
          <a:noFill/>
          <a:ln/>
        </p:spPr>
        <p:txBody>
          <a:bodyPr wrap="square" lIns="0" tIns="0" rIns="0" bIns="0" rtlCol="0" anchor="t"/>
          <a:lstStyle/>
          <a:p>
            <a:pPr indent="0" marL="0">
              <a:lnSpc>
                <a:spcPts val="1400"/>
              </a:lnSpc>
              <a:buNone/>
            </a:pPr>
            <a:r>
              <a:rPr lang="en-US" sz="1050" dirty="0">
                <a:solidFill>
                  <a:srgbClr val="6B7F92"/>
                </a:solidFill>
                <a:latin typeface="Malgun Gothic" pitchFamily="34" charset="0"/>
                <a:ea typeface="Malgun Gothic" pitchFamily="34" charset="-122"/>
                <a:cs typeface="Malgun Gothic" pitchFamily="34" charset="-120"/>
              </a:rPr>
              <a:t>9개사를 하나씩 검색하고 접수일 기준으로 훑어봄</a:t>
            </a:r>
            <a:endParaRPr lang="en-US" sz="1050" dirty="0"/>
          </a:p>
        </p:txBody>
      </p:sp>
      <p:sp>
        <p:nvSpPr>
          <p:cNvPr id="25" name="Shape 23"/>
          <p:cNvSpPr/>
          <p:nvPr/>
        </p:nvSpPr>
        <p:spPr>
          <a:xfrm>
            <a:off x="5321808" y="3291840"/>
            <a:ext cx="347472" cy="347472"/>
          </a:xfrm>
          <a:prstGeom prst="roundRect">
            <a:avLst>
              <a:gd name="adj" fmla="val 31579"/>
            </a:avLst>
          </a:prstGeom>
          <a:solidFill>
            <a:srgbClr val="07203C"/>
          </a:solidFill>
          <a:ln w="12700">
            <a:solidFill>
              <a:srgbClr val="07203C"/>
            </a:solidFill>
            <a:prstDash val="solid"/>
          </a:ln>
        </p:spPr>
      </p:sp>
      <p:sp>
        <p:nvSpPr>
          <p:cNvPr id="26" name="Text 24"/>
          <p:cNvSpPr txBox="1"/>
          <p:nvPr/>
        </p:nvSpPr>
        <p:spPr>
          <a:xfrm>
            <a:off x="5321808" y="329184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02</a:t>
            </a:r>
            <a:endParaRPr lang="en-US" sz="1100" dirty="0"/>
          </a:p>
        </p:txBody>
      </p:sp>
      <p:sp>
        <p:nvSpPr>
          <p:cNvPr id="27" name="Text 25"/>
          <p:cNvSpPr txBox="1"/>
          <p:nvPr/>
        </p:nvSpPr>
        <p:spPr>
          <a:xfrm>
            <a:off x="5797296" y="3310128"/>
            <a:ext cx="2286000" cy="237744"/>
          </a:xfrm>
          <a:prstGeom prst="rect">
            <a:avLst/>
          </a:prstGeom>
          <a:noFill/>
          <a:ln/>
        </p:spPr>
        <p:txBody>
          <a:bodyPr wrap="square" lIns="0" tIns="0" rIns="0" bIns="0" rtlCol="0" anchor="t"/>
          <a:lstStyle/>
          <a:p>
            <a:pPr indent="0" marL="0">
              <a:buNone/>
            </a:pPr>
            <a:r>
              <a:rPr lang="en-US" sz="1250" b="1" dirty="0">
                <a:solidFill>
                  <a:srgbClr val="15304C"/>
                </a:solidFill>
                <a:latin typeface="Malgun Gothic" pitchFamily="34" charset="0"/>
                <a:ea typeface="Malgun Gothic" pitchFamily="34" charset="-122"/>
                <a:cs typeface="Malgun Gothic" pitchFamily="34" charset="-120"/>
              </a:rPr>
              <a:t>뉴스 포털 개별 검색</a:t>
            </a:r>
            <a:endParaRPr lang="en-US" sz="1250" dirty="0"/>
          </a:p>
        </p:txBody>
      </p:sp>
      <p:sp>
        <p:nvSpPr>
          <p:cNvPr id="28" name="Text 26"/>
          <p:cNvSpPr txBox="1"/>
          <p:nvPr/>
        </p:nvSpPr>
        <p:spPr>
          <a:xfrm>
            <a:off x="8156448" y="3328416"/>
            <a:ext cx="3108960" cy="292608"/>
          </a:xfrm>
          <a:prstGeom prst="rect">
            <a:avLst/>
          </a:prstGeom>
          <a:noFill/>
          <a:ln/>
        </p:spPr>
        <p:txBody>
          <a:bodyPr wrap="square" lIns="0" tIns="0" rIns="0" bIns="0" rtlCol="0" anchor="t"/>
          <a:lstStyle/>
          <a:p>
            <a:pPr indent="0" marL="0">
              <a:lnSpc>
                <a:spcPts val="1400"/>
              </a:lnSpc>
              <a:buNone/>
            </a:pPr>
            <a:r>
              <a:rPr lang="en-US" sz="1050" dirty="0">
                <a:solidFill>
                  <a:srgbClr val="6B7F92"/>
                </a:solidFill>
                <a:latin typeface="Malgun Gothic" pitchFamily="34" charset="0"/>
                <a:ea typeface="Malgun Gothic" pitchFamily="34" charset="-122"/>
                <a:cs typeface="Malgun Gothic" pitchFamily="34" charset="-120"/>
              </a:rPr>
              <a:t>회사명 + 배터리 키워드를 조합해 매체별로 재검색</a:t>
            </a:r>
            <a:endParaRPr lang="en-US" sz="1050" dirty="0"/>
          </a:p>
        </p:txBody>
      </p:sp>
      <p:sp>
        <p:nvSpPr>
          <p:cNvPr id="29" name="Shape 27"/>
          <p:cNvSpPr/>
          <p:nvPr/>
        </p:nvSpPr>
        <p:spPr>
          <a:xfrm>
            <a:off x="5321808" y="3858768"/>
            <a:ext cx="347472" cy="347472"/>
          </a:xfrm>
          <a:prstGeom prst="roundRect">
            <a:avLst>
              <a:gd name="adj" fmla="val 31579"/>
            </a:avLst>
          </a:prstGeom>
          <a:solidFill>
            <a:srgbClr val="07203C"/>
          </a:solidFill>
          <a:ln w="12700">
            <a:solidFill>
              <a:srgbClr val="07203C"/>
            </a:solidFill>
            <a:prstDash val="solid"/>
          </a:ln>
        </p:spPr>
      </p:sp>
      <p:sp>
        <p:nvSpPr>
          <p:cNvPr id="30" name="Text 28"/>
          <p:cNvSpPr txBox="1"/>
          <p:nvPr/>
        </p:nvSpPr>
        <p:spPr>
          <a:xfrm>
            <a:off x="5321808" y="385876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03</a:t>
            </a:r>
            <a:endParaRPr lang="en-US" sz="1100" dirty="0"/>
          </a:p>
        </p:txBody>
      </p:sp>
      <p:sp>
        <p:nvSpPr>
          <p:cNvPr id="31" name="Text 29"/>
          <p:cNvSpPr txBox="1"/>
          <p:nvPr/>
        </p:nvSpPr>
        <p:spPr>
          <a:xfrm>
            <a:off x="5797296" y="3877056"/>
            <a:ext cx="2286000" cy="237744"/>
          </a:xfrm>
          <a:prstGeom prst="rect">
            <a:avLst/>
          </a:prstGeom>
          <a:noFill/>
          <a:ln/>
        </p:spPr>
        <p:txBody>
          <a:bodyPr wrap="square" lIns="0" tIns="0" rIns="0" bIns="0" rtlCol="0" anchor="t"/>
          <a:lstStyle/>
          <a:p>
            <a:pPr indent="0" marL="0">
              <a:buNone/>
            </a:pPr>
            <a:r>
              <a:rPr lang="en-US" sz="1250" b="1" dirty="0">
                <a:solidFill>
                  <a:srgbClr val="15304C"/>
                </a:solidFill>
                <a:latin typeface="Malgun Gothic" pitchFamily="34" charset="0"/>
                <a:ea typeface="Malgun Gothic" pitchFamily="34" charset="-122"/>
                <a:cs typeface="Malgun Gothic" pitchFamily="34" charset="-120"/>
              </a:rPr>
              <a:t>중복 기사 수동 선별</a:t>
            </a:r>
            <a:endParaRPr lang="en-US" sz="1250" dirty="0"/>
          </a:p>
        </p:txBody>
      </p:sp>
      <p:sp>
        <p:nvSpPr>
          <p:cNvPr id="32" name="Text 30"/>
          <p:cNvSpPr txBox="1"/>
          <p:nvPr/>
        </p:nvSpPr>
        <p:spPr>
          <a:xfrm>
            <a:off x="8156448" y="3895344"/>
            <a:ext cx="3108960" cy="292608"/>
          </a:xfrm>
          <a:prstGeom prst="rect">
            <a:avLst/>
          </a:prstGeom>
          <a:noFill/>
          <a:ln/>
        </p:spPr>
        <p:txBody>
          <a:bodyPr wrap="square" lIns="0" tIns="0" rIns="0" bIns="0" rtlCol="0" anchor="t"/>
          <a:lstStyle/>
          <a:p>
            <a:pPr indent="0" marL="0">
              <a:lnSpc>
                <a:spcPts val="1400"/>
              </a:lnSpc>
              <a:buNone/>
            </a:pPr>
            <a:r>
              <a:rPr lang="en-US" sz="1050" dirty="0">
                <a:solidFill>
                  <a:srgbClr val="6B7F92"/>
                </a:solidFill>
                <a:latin typeface="Malgun Gothic" pitchFamily="34" charset="0"/>
                <a:ea typeface="Malgun Gothic" pitchFamily="34" charset="-122"/>
                <a:cs typeface="Malgun Gothic" pitchFamily="34" charset="-120"/>
              </a:rPr>
              <a:t>같은 이슈가 4~5개 매체에 재생산되어 눈으로 걸러냄</a:t>
            </a:r>
            <a:endParaRPr lang="en-US" sz="1050" dirty="0"/>
          </a:p>
        </p:txBody>
      </p:sp>
      <p:sp>
        <p:nvSpPr>
          <p:cNvPr id="33" name="Shape 31"/>
          <p:cNvSpPr/>
          <p:nvPr/>
        </p:nvSpPr>
        <p:spPr>
          <a:xfrm>
            <a:off x="5321808" y="4425696"/>
            <a:ext cx="347472" cy="347472"/>
          </a:xfrm>
          <a:prstGeom prst="roundRect">
            <a:avLst>
              <a:gd name="adj" fmla="val 31579"/>
            </a:avLst>
          </a:prstGeom>
          <a:solidFill>
            <a:srgbClr val="07203C"/>
          </a:solidFill>
          <a:ln w="12700">
            <a:solidFill>
              <a:srgbClr val="07203C"/>
            </a:solidFill>
            <a:prstDash val="solid"/>
          </a:ln>
        </p:spPr>
      </p:sp>
      <p:sp>
        <p:nvSpPr>
          <p:cNvPr id="34" name="Text 32"/>
          <p:cNvSpPr txBox="1"/>
          <p:nvPr/>
        </p:nvSpPr>
        <p:spPr>
          <a:xfrm>
            <a:off x="5321808" y="442569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04</a:t>
            </a:r>
            <a:endParaRPr lang="en-US" sz="1100" dirty="0"/>
          </a:p>
        </p:txBody>
      </p:sp>
      <p:sp>
        <p:nvSpPr>
          <p:cNvPr id="35" name="Text 33"/>
          <p:cNvSpPr txBox="1"/>
          <p:nvPr/>
        </p:nvSpPr>
        <p:spPr>
          <a:xfrm>
            <a:off x="5797296" y="4443984"/>
            <a:ext cx="2286000" cy="237744"/>
          </a:xfrm>
          <a:prstGeom prst="rect">
            <a:avLst/>
          </a:prstGeom>
          <a:noFill/>
          <a:ln/>
        </p:spPr>
        <p:txBody>
          <a:bodyPr wrap="square" lIns="0" tIns="0" rIns="0" bIns="0" rtlCol="0" anchor="t"/>
          <a:lstStyle/>
          <a:p>
            <a:pPr indent="0" marL="0">
              <a:buNone/>
            </a:pPr>
            <a:r>
              <a:rPr lang="en-US" sz="1250" b="1" dirty="0">
                <a:solidFill>
                  <a:srgbClr val="15304C"/>
                </a:solidFill>
                <a:latin typeface="Malgun Gothic" pitchFamily="34" charset="0"/>
                <a:ea typeface="Malgun Gothic" pitchFamily="34" charset="-122"/>
                <a:cs typeface="Malgun Gothic" pitchFamily="34" charset="-120"/>
              </a:rPr>
              <a:t>중요도 판단</a:t>
            </a:r>
            <a:endParaRPr lang="en-US" sz="1250" dirty="0"/>
          </a:p>
        </p:txBody>
      </p:sp>
      <p:sp>
        <p:nvSpPr>
          <p:cNvPr id="36" name="Text 34"/>
          <p:cNvSpPr txBox="1"/>
          <p:nvPr/>
        </p:nvSpPr>
        <p:spPr>
          <a:xfrm>
            <a:off x="8156448" y="4462272"/>
            <a:ext cx="3108960" cy="292608"/>
          </a:xfrm>
          <a:prstGeom prst="rect">
            <a:avLst/>
          </a:prstGeom>
          <a:noFill/>
          <a:ln/>
        </p:spPr>
        <p:txBody>
          <a:bodyPr wrap="square" lIns="0" tIns="0" rIns="0" bIns="0" rtlCol="0" anchor="t"/>
          <a:lstStyle/>
          <a:p>
            <a:pPr indent="0" marL="0">
              <a:lnSpc>
                <a:spcPts val="1400"/>
              </a:lnSpc>
              <a:buNone/>
            </a:pPr>
            <a:r>
              <a:rPr lang="en-US" sz="1050" dirty="0">
                <a:solidFill>
                  <a:srgbClr val="6B7F92"/>
                </a:solidFill>
                <a:latin typeface="Malgun Gothic" pitchFamily="34" charset="0"/>
                <a:ea typeface="Malgun Gothic" pitchFamily="34" charset="-122"/>
                <a:cs typeface="Malgun Gothic" pitchFamily="34" charset="-120"/>
              </a:rPr>
              <a:t>담당자 경험에 의존 · 판단 기준이 사람마다 다름</a:t>
            </a:r>
            <a:endParaRPr lang="en-US" sz="1050" dirty="0"/>
          </a:p>
        </p:txBody>
      </p:sp>
      <p:sp>
        <p:nvSpPr>
          <p:cNvPr id="37" name="Shape 35"/>
          <p:cNvSpPr/>
          <p:nvPr/>
        </p:nvSpPr>
        <p:spPr>
          <a:xfrm>
            <a:off x="5321808" y="4992624"/>
            <a:ext cx="347472" cy="347472"/>
          </a:xfrm>
          <a:prstGeom prst="roundRect">
            <a:avLst>
              <a:gd name="adj" fmla="val 31579"/>
            </a:avLst>
          </a:prstGeom>
          <a:solidFill>
            <a:srgbClr val="C2504F"/>
          </a:solidFill>
          <a:ln w="12700">
            <a:solidFill>
              <a:srgbClr val="C2504F"/>
            </a:solidFill>
            <a:prstDash val="solid"/>
          </a:ln>
        </p:spPr>
      </p:sp>
      <p:sp>
        <p:nvSpPr>
          <p:cNvPr id="38" name="Text 36"/>
          <p:cNvSpPr txBox="1"/>
          <p:nvPr/>
        </p:nvSpPr>
        <p:spPr>
          <a:xfrm>
            <a:off x="5321808" y="499262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05</a:t>
            </a:r>
            <a:endParaRPr lang="en-US" sz="1100" dirty="0"/>
          </a:p>
        </p:txBody>
      </p:sp>
      <p:sp>
        <p:nvSpPr>
          <p:cNvPr id="39" name="Text 37"/>
          <p:cNvSpPr txBox="1"/>
          <p:nvPr/>
        </p:nvSpPr>
        <p:spPr>
          <a:xfrm>
            <a:off x="5797296" y="5010912"/>
            <a:ext cx="2286000" cy="237744"/>
          </a:xfrm>
          <a:prstGeom prst="rect">
            <a:avLst/>
          </a:prstGeom>
          <a:noFill/>
          <a:ln/>
        </p:spPr>
        <p:txBody>
          <a:bodyPr wrap="square" lIns="0" tIns="0" rIns="0" bIns="0" rtlCol="0" anchor="t"/>
          <a:lstStyle/>
          <a:p>
            <a:pPr indent="0" marL="0">
              <a:buNone/>
            </a:pPr>
            <a:r>
              <a:rPr lang="en-US" sz="1250" b="1" dirty="0">
                <a:solidFill>
                  <a:srgbClr val="15304C"/>
                </a:solidFill>
                <a:latin typeface="Malgun Gothic" pitchFamily="34" charset="0"/>
                <a:ea typeface="Malgun Gothic" pitchFamily="34" charset="-122"/>
                <a:cs typeface="Malgun Gothic" pitchFamily="34" charset="-120"/>
              </a:rPr>
              <a:t>메일·메신저 수동 공유</a:t>
            </a:r>
            <a:endParaRPr lang="en-US" sz="1250" dirty="0"/>
          </a:p>
        </p:txBody>
      </p:sp>
      <p:sp>
        <p:nvSpPr>
          <p:cNvPr id="40" name="Text 38"/>
          <p:cNvSpPr txBox="1"/>
          <p:nvPr/>
        </p:nvSpPr>
        <p:spPr>
          <a:xfrm>
            <a:off x="8156448" y="5029200"/>
            <a:ext cx="3108960" cy="292608"/>
          </a:xfrm>
          <a:prstGeom prst="rect">
            <a:avLst/>
          </a:prstGeom>
          <a:noFill/>
          <a:ln/>
        </p:spPr>
        <p:txBody>
          <a:bodyPr wrap="square" lIns="0" tIns="0" rIns="0" bIns="0" rtlCol="0" anchor="t"/>
          <a:lstStyle/>
          <a:p>
            <a:pPr indent="0" marL="0">
              <a:lnSpc>
                <a:spcPts val="1400"/>
              </a:lnSpc>
              <a:buNone/>
            </a:pPr>
            <a:r>
              <a:rPr lang="en-US" sz="1050" dirty="0">
                <a:solidFill>
                  <a:srgbClr val="6B7F92"/>
                </a:solidFill>
                <a:latin typeface="Malgun Gothic" pitchFamily="34" charset="0"/>
                <a:ea typeface="Malgun Gothic" pitchFamily="34" charset="-122"/>
                <a:cs typeface="Malgun Gothic" pitchFamily="34" charset="-120"/>
              </a:rPr>
              <a:t>요약과 시사점을 그때그때 다시 작성</a:t>
            </a:r>
            <a:endParaRPr lang="en-US" sz="1050" dirty="0"/>
          </a:p>
        </p:txBody>
      </p:sp>
      <p:sp>
        <p:nvSpPr>
          <p:cNvPr id="41" name="Shape 39"/>
          <p:cNvSpPr/>
          <p:nvPr/>
        </p:nvSpPr>
        <p:spPr>
          <a:xfrm>
            <a:off x="566928" y="5650992"/>
            <a:ext cx="11055096" cy="548640"/>
          </a:xfrm>
          <a:prstGeom prst="roundRect">
            <a:avLst>
              <a:gd name="adj" fmla="val 9167"/>
            </a:avLst>
          </a:prstGeom>
          <a:solidFill>
            <a:srgbClr val="E7EFF7"/>
          </a:solidFill>
          <a:ln w="9525">
            <a:solidFill>
              <a:srgbClr val="CBDCEB"/>
            </a:solidFill>
            <a:prstDash val="solid"/>
          </a:ln>
        </p:spPr>
      </p:sp>
      <p:sp>
        <p:nvSpPr>
          <p:cNvPr id="42" name="Text 40"/>
          <p:cNvSpPr txBox="1"/>
          <p:nvPr/>
        </p:nvSpPr>
        <p:spPr>
          <a:xfrm>
            <a:off x="841248" y="5779008"/>
            <a:ext cx="3017520" cy="274320"/>
          </a:xfrm>
          <a:prstGeom prst="rect">
            <a:avLst/>
          </a:prstGeom>
          <a:noFill/>
          <a:ln/>
        </p:spPr>
        <p:txBody>
          <a:bodyPr wrap="square" lIns="0" tIns="0" rIns="0" bIns="0" rtlCol="0" anchor="t"/>
          <a:lstStyle/>
          <a:p>
            <a:pPr indent="0" marL="0">
              <a:buNone/>
            </a:pPr>
            <a:r>
              <a:rPr lang="en-US" sz="1100" b="1" dirty="0">
                <a:solidFill>
                  <a:srgbClr val="0E8477"/>
                </a:solidFill>
                <a:latin typeface="Malgun Gothic" pitchFamily="34" charset="0"/>
                <a:ea typeface="Malgun Gothic" pitchFamily="34" charset="-122"/>
                <a:cs typeface="Malgun Gothic" pitchFamily="34" charset="-120"/>
              </a:rPr>
              <a:t>실측 · 9개사 최근 30일 기준 수집량</a:t>
            </a:r>
            <a:endParaRPr lang="en-US" sz="1100" dirty="0"/>
          </a:p>
        </p:txBody>
      </p:sp>
      <p:sp>
        <p:nvSpPr>
          <p:cNvPr id="43" name="Text 41"/>
          <p:cNvSpPr txBox="1"/>
          <p:nvPr/>
        </p:nvSpPr>
        <p:spPr>
          <a:xfrm>
            <a:off x="3858768" y="5779008"/>
            <a:ext cx="7589520" cy="274320"/>
          </a:xfrm>
          <a:prstGeom prst="rect">
            <a:avLst/>
          </a:prstGeom>
          <a:noFill/>
          <a:ln/>
        </p:spPr>
        <p:txBody>
          <a:bodyPr wrap="square" lIns="0" tIns="0" rIns="0" bIns="0" rtlCol="0" anchor="t"/>
          <a:lstStyle/>
          <a:p>
            <a:pPr indent="0" marL="0">
              <a:buNone/>
            </a:pPr>
            <a:r>
              <a:rPr lang="en-US" sz="1200" b="1" dirty="0">
                <a:solidFill>
                  <a:srgbClr val="07203C"/>
                </a:solidFill>
                <a:latin typeface="Malgun Gothic" pitchFamily="34" charset="0"/>
                <a:ea typeface="Malgun Gothic" pitchFamily="34" charset="-122"/>
                <a:cs typeface="Malgun Gothic" pitchFamily="34" charset="-120"/>
              </a:rPr>
              <a:t>DART 공시 55건   ·   뉴스 40건   —   이 중 담당자가 실제로 판단에 쓰는 것은 매일 소수 건에 불과했습니다.</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6FA"/>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37744"/>
          </a:xfrm>
          <a:prstGeom prst="rect">
            <a:avLst/>
          </a:prstGeom>
          <a:noFill/>
          <a:ln/>
        </p:spPr>
        <p:txBody>
          <a:bodyPr wrap="square" lIns="0" tIns="0" rIns="0" bIns="0" rtlCol="0" anchor="t"/>
          <a:lstStyle/>
          <a:p>
            <a:pPr indent="0" marL="0">
              <a:buNone/>
            </a:pPr>
            <a:r>
              <a:rPr lang="en-US" sz="1100" b="1" spc="110" kern="0" dirty="0">
                <a:solidFill>
                  <a:srgbClr val="0E8477"/>
                </a:solidFill>
                <a:latin typeface="Malgun Gothic" pitchFamily="34" charset="0"/>
                <a:ea typeface="Malgun Gothic" pitchFamily="34" charset="-122"/>
                <a:cs typeface="Malgun Gothic" pitchFamily="34" charset="-120"/>
              </a:rPr>
              <a:t>01  PROBLEM  ·  문제의 크기</a:t>
            </a:r>
            <a:endParaRPr lang="en-US" sz="1100" dirty="0"/>
          </a:p>
        </p:txBody>
      </p:sp>
      <p:sp>
        <p:nvSpPr>
          <p:cNvPr id="3" name="Text 1"/>
          <p:cNvSpPr txBox="1"/>
          <p:nvPr/>
        </p:nvSpPr>
        <p:spPr>
          <a:xfrm>
            <a:off x="566928" y="713232"/>
            <a:ext cx="11057839" cy="566928"/>
          </a:xfrm>
          <a:prstGeom prst="rect">
            <a:avLst/>
          </a:prstGeom>
          <a:noFill/>
          <a:ln/>
        </p:spPr>
        <p:txBody>
          <a:bodyPr wrap="square" lIns="0" tIns="0" rIns="0" bIns="0" rtlCol="0" anchor="t"/>
          <a:lstStyle/>
          <a:p>
            <a:pPr indent="0" marL="0">
              <a:buNone/>
            </a:pPr>
            <a:r>
              <a:rPr lang="en-US" sz="2800" b="1" dirty="0">
                <a:solidFill>
                  <a:srgbClr val="07203C"/>
                </a:solidFill>
                <a:latin typeface="Malgun Gothic" pitchFamily="34" charset="0"/>
                <a:ea typeface="Malgun Gothic" pitchFamily="34" charset="-122"/>
                <a:cs typeface="Malgun Gothic" pitchFamily="34" charset="-120"/>
              </a:rPr>
              <a:t>정보가 없는 게 아니라, 늦고 · 겹치고 · 해석이 없었습니다</a:t>
            </a:r>
            <a:endParaRPr lang="en-US" sz="2800" dirty="0"/>
          </a:p>
        </p:txBody>
      </p:sp>
      <p:sp>
        <p:nvSpPr>
          <p:cNvPr id="4" name="Text 2"/>
          <p:cNvSpPr txBox="1"/>
          <p:nvPr/>
        </p:nvSpPr>
        <p:spPr>
          <a:xfrm>
            <a:off x="8332927" y="6437376"/>
            <a:ext cx="3291840" cy="219456"/>
          </a:xfrm>
          <a:prstGeom prst="rect">
            <a:avLst/>
          </a:prstGeom>
          <a:noFill/>
          <a:ln/>
        </p:spPr>
        <p:txBody>
          <a:bodyPr wrap="square" lIns="0" tIns="0" rIns="0" bIns="0" rtlCol="0" anchor="t"/>
          <a:lstStyle/>
          <a:p>
            <a:pPr algn="r" indent="0" marL="0">
              <a:buNone/>
            </a:pPr>
            <a:r>
              <a:rPr lang="en-US" sz="950" spc="60" kern="0" dirty="0">
                <a:solidFill>
                  <a:srgbClr val="8A9BAB"/>
                </a:solidFill>
                <a:latin typeface="Malgun Gothic" pitchFamily="34" charset="0"/>
                <a:ea typeface="Malgun Gothic" pitchFamily="34" charset="-122"/>
                <a:cs typeface="Malgun Gothic" pitchFamily="34" charset="-120"/>
              </a:rPr>
              <a:t>04 / 16     FUTURE:M RADAR</a:t>
            </a:r>
            <a:endParaRPr lang="en-US" sz="950" dirty="0"/>
          </a:p>
        </p:txBody>
      </p:sp>
      <p:sp>
        <p:nvSpPr>
          <p:cNvPr id="5" name="Shape 3"/>
          <p:cNvSpPr/>
          <p:nvPr/>
        </p:nvSpPr>
        <p:spPr>
          <a:xfrm>
            <a:off x="566928" y="1737360"/>
            <a:ext cx="3593592" cy="2962656"/>
          </a:xfrm>
          <a:prstGeom prst="roundRect">
            <a:avLst>
              <a:gd name="adj" fmla="val 1698"/>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6" name="Shape 4"/>
          <p:cNvSpPr/>
          <p:nvPr/>
        </p:nvSpPr>
        <p:spPr>
          <a:xfrm>
            <a:off x="859536" y="1975104"/>
            <a:ext cx="786384" cy="292608"/>
          </a:xfrm>
          <a:prstGeom prst="roundRect">
            <a:avLst>
              <a:gd name="adj" fmla="val 156250"/>
            </a:avLst>
          </a:prstGeom>
          <a:solidFill>
            <a:srgbClr val="FFFFFF"/>
          </a:solidFill>
          <a:ln w="9525">
            <a:solidFill>
              <a:srgbClr val="C2504F"/>
            </a:solidFill>
            <a:prstDash val="solid"/>
          </a:ln>
        </p:spPr>
      </p:sp>
      <p:sp>
        <p:nvSpPr>
          <p:cNvPr id="7" name="Text 5"/>
          <p:cNvSpPr txBox="1"/>
          <p:nvPr/>
        </p:nvSpPr>
        <p:spPr>
          <a:xfrm>
            <a:off x="859536" y="1975104"/>
            <a:ext cx="786384" cy="292608"/>
          </a:xfrm>
          <a:prstGeom prst="rect">
            <a:avLst/>
          </a:prstGeom>
          <a:noFill/>
          <a:ln/>
        </p:spPr>
        <p:txBody>
          <a:bodyPr wrap="square" lIns="0" tIns="0" rIns="0" bIns="0" rtlCol="0" anchor="ctr"/>
          <a:lstStyle/>
          <a:p>
            <a:pPr algn="ctr" indent="0" marL="0">
              <a:buNone/>
            </a:pPr>
            <a:r>
              <a:rPr lang="en-US" sz="1100" b="1" dirty="0">
                <a:solidFill>
                  <a:srgbClr val="C2504F"/>
                </a:solidFill>
                <a:latin typeface="Malgun Gothic" pitchFamily="34" charset="0"/>
                <a:ea typeface="Malgun Gothic" pitchFamily="34" charset="-122"/>
                <a:cs typeface="Malgun Gothic" pitchFamily="34" charset="-120"/>
              </a:rPr>
              <a:t>지연</a:t>
            </a:r>
            <a:endParaRPr lang="en-US" sz="1100" dirty="0"/>
          </a:p>
        </p:txBody>
      </p:sp>
      <p:sp>
        <p:nvSpPr>
          <p:cNvPr id="8" name="Text 6"/>
          <p:cNvSpPr txBox="1"/>
          <p:nvPr/>
        </p:nvSpPr>
        <p:spPr>
          <a:xfrm>
            <a:off x="859536" y="2414016"/>
            <a:ext cx="3017520" cy="731520"/>
          </a:xfrm>
          <a:prstGeom prst="rect">
            <a:avLst/>
          </a:prstGeom>
          <a:noFill/>
          <a:ln/>
        </p:spPr>
        <p:txBody>
          <a:bodyPr wrap="square" lIns="0" tIns="0" rIns="0" bIns="0" rtlCol="0" anchor="t"/>
          <a:lstStyle/>
          <a:p>
            <a:pPr indent="0" marL="0">
              <a:buNone/>
            </a:pPr>
            <a:r>
              <a:rPr lang="en-US" sz="4400" b="1" dirty="0">
                <a:solidFill>
                  <a:srgbClr val="C2504F"/>
                </a:solidFill>
                <a:latin typeface="Malgun Gothic" pitchFamily="34" charset="0"/>
                <a:ea typeface="Malgun Gothic" pitchFamily="34" charset="-122"/>
                <a:cs typeface="Malgun Gothic" pitchFamily="34" charset="-120"/>
              </a:rPr>
              <a:t>1일</a:t>
            </a:r>
            <a:endParaRPr lang="en-US" sz="4400" dirty="0"/>
          </a:p>
        </p:txBody>
      </p:sp>
      <p:sp>
        <p:nvSpPr>
          <p:cNvPr id="9" name="Text 7"/>
          <p:cNvSpPr txBox="1"/>
          <p:nvPr/>
        </p:nvSpPr>
        <p:spPr>
          <a:xfrm>
            <a:off x="859536" y="3200400"/>
            <a:ext cx="3017520" cy="274320"/>
          </a:xfrm>
          <a:prstGeom prst="rect">
            <a:avLst/>
          </a:prstGeom>
          <a:noFill/>
          <a:ln/>
        </p:spPr>
        <p:txBody>
          <a:bodyPr wrap="square" lIns="0" tIns="0" rIns="0" bIns="0" rtlCol="0" anchor="t"/>
          <a:lstStyle/>
          <a:p>
            <a:pPr indent="0" marL="0">
              <a:buNone/>
            </a:pPr>
            <a:r>
              <a:rPr lang="en-US" sz="1200" b="1" dirty="0">
                <a:solidFill>
                  <a:srgbClr val="07203C"/>
                </a:solidFill>
                <a:latin typeface="Malgun Gothic" pitchFamily="34" charset="0"/>
                <a:ea typeface="Malgun Gothic" pitchFamily="34" charset="-122"/>
                <a:cs typeface="Malgun Gothic" pitchFamily="34" charset="-120"/>
              </a:rPr>
              <a:t>공시 접수 → 담당자 인지</a:t>
            </a:r>
            <a:endParaRPr lang="en-US" sz="1200" dirty="0"/>
          </a:p>
        </p:txBody>
      </p:sp>
      <p:sp>
        <p:nvSpPr>
          <p:cNvPr id="10" name="Text 8"/>
          <p:cNvSpPr txBox="1"/>
          <p:nvPr/>
        </p:nvSpPr>
        <p:spPr>
          <a:xfrm>
            <a:off x="859536" y="3529584"/>
            <a:ext cx="3017520" cy="1005840"/>
          </a:xfrm>
          <a:prstGeom prst="rect">
            <a:avLst/>
          </a:prstGeom>
          <a:noFill/>
          <a:ln/>
        </p:spPr>
        <p:txBody>
          <a:bodyPr wrap="square" lIns="0" tIns="0" rIns="0" bIns="0" rtlCol="0" anchor="t"/>
          <a:lstStyle/>
          <a:p>
            <a:pPr indent="0" marL="0">
              <a:lnSpc>
                <a:spcPts val="1800"/>
              </a:lnSpc>
              <a:buNone/>
            </a:pPr>
            <a:r>
              <a:rPr lang="en-US" sz="1150" dirty="0">
                <a:solidFill>
                  <a:srgbClr val="6B7F92"/>
                </a:solidFill>
                <a:latin typeface="Malgun Gothic" pitchFamily="34" charset="0"/>
                <a:ea typeface="Malgun Gothic" pitchFamily="34" charset="-122"/>
                <a:cs typeface="Malgun Gothic" pitchFamily="34" charset="-120"/>
              </a:rPr>
              <a:t>하루 1회 확인 기준. 계약·증자 공시는 당일 주가와 경쟁 대응에 직접 영향을 주지만, 확인은 다음 사이클에서야 이뤄집니다.</a:t>
            </a:r>
            <a:endParaRPr lang="en-US" sz="1150" dirty="0"/>
          </a:p>
        </p:txBody>
      </p:sp>
      <p:sp>
        <p:nvSpPr>
          <p:cNvPr id="11" name="Shape 9"/>
          <p:cNvSpPr/>
          <p:nvPr/>
        </p:nvSpPr>
        <p:spPr>
          <a:xfrm>
            <a:off x="4334256" y="1737360"/>
            <a:ext cx="3593592" cy="2962656"/>
          </a:xfrm>
          <a:prstGeom prst="roundRect">
            <a:avLst>
              <a:gd name="adj" fmla="val 1698"/>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12" name="Shape 10"/>
          <p:cNvSpPr/>
          <p:nvPr/>
        </p:nvSpPr>
        <p:spPr>
          <a:xfrm>
            <a:off x="4626864" y="1975104"/>
            <a:ext cx="786384" cy="292608"/>
          </a:xfrm>
          <a:prstGeom prst="roundRect">
            <a:avLst>
              <a:gd name="adj" fmla="val 156250"/>
            </a:avLst>
          </a:prstGeom>
          <a:solidFill>
            <a:srgbClr val="FFFFFF"/>
          </a:solidFill>
          <a:ln w="9525">
            <a:solidFill>
              <a:srgbClr val="C98A2B"/>
            </a:solidFill>
            <a:prstDash val="solid"/>
          </a:ln>
        </p:spPr>
      </p:sp>
      <p:sp>
        <p:nvSpPr>
          <p:cNvPr id="13" name="Text 11"/>
          <p:cNvSpPr txBox="1"/>
          <p:nvPr/>
        </p:nvSpPr>
        <p:spPr>
          <a:xfrm>
            <a:off x="4626864" y="1975104"/>
            <a:ext cx="786384" cy="292608"/>
          </a:xfrm>
          <a:prstGeom prst="rect">
            <a:avLst/>
          </a:prstGeom>
          <a:noFill/>
          <a:ln/>
        </p:spPr>
        <p:txBody>
          <a:bodyPr wrap="square" lIns="0" tIns="0" rIns="0" bIns="0" rtlCol="0" anchor="ctr"/>
          <a:lstStyle/>
          <a:p>
            <a:pPr algn="ctr" indent="0" marL="0">
              <a:buNone/>
            </a:pPr>
            <a:r>
              <a:rPr lang="en-US" sz="1100" b="1" dirty="0">
                <a:solidFill>
                  <a:srgbClr val="C98A2B"/>
                </a:solidFill>
                <a:latin typeface="Malgun Gothic" pitchFamily="34" charset="0"/>
                <a:ea typeface="Malgun Gothic" pitchFamily="34" charset="-122"/>
                <a:cs typeface="Malgun Gothic" pitchFamily="34" charset="-120"/>
              </a:rPr>
              <a:t>중복</a:t>
            </a:r>
            <a:endParaRPr lang="en-US" sz="1100" dirty="0"/>
          </a:p>
        </p:txBody>
      </p:sp>
      <p:sp>
        <p:nvSpPr>
          <p:cNvPr id="14" name="Text 12"/>
          <p:cNvSpPr txBox="1"/>
          <p:nvPr/>
        </p:nvSpPr>
        <p:spPr>
          <a:xfrm>
            <a:off x="4626864" y="2414016"/>
            <a:ext cx="3017520" cy="731520"/>
          </a:xfrm>
          <a:prstGeom prst="rect">
            <a:avLst/>
          </a:prstGeom>
          <a:noFill/>
          <a:ln/>
        </p:spPr>
        <p:txBody>
          <a:bodyPr wrap="square" lIns="0" tIns="0" rIns="0" bIns="0" rtlCol="0" anchor="t"/>
          <a:lstStyle/>
          <a:p>
            <a:pPr indent="0" marL="0">
              <a:buNone/>
            </a:pPr>
            <a:r>
              <a:rPr lang="en-US" sz="4400" b="1" dirty="0">
                <a:solidFill>
                  <a:srgbClr val="C98A2B"/>
                </a:solidFill>
                <a:latin typeface="Malgun Gothic" pitchFamily="34" charset="0"/>
                <a:ea typeface="Malgun Gothic" pitchFamily="34" charset="-122"/>
                <a:cs typeface="Malgun Gothic" pitchFamily="34" charset="-120"/>
              </a:rPr>
              <a:t>4~5건</a:t>
            </a:r>
            <a:endParaRPr lang="en-US" sz="4400" dirty="0"/>
          </a:p>
        </p:txBody>
      </p:sp>
      <p:sp>
        <p:nvSpPr>
          <p:cNvPr id="15" name="Text 13"/>
          <p:cNvSpPr txBox="1"/>
          <p:nvPr/>
        </p:nvSpPr>
        <p:spPr>
          <a:xfrm>
            <a:off x="4626864" y="3200400"/>
            <a:ext cx="3017520" cy="274320"/>
          </a:xfrm>
          <a:prstGeom prst="rect">
            <a:avLst/>
          </a:prstGeom>
          <a:noFill/>
          <a:ln/>
        </p:spPr>
        <p:txBody>
          <a:bodyPr wrap="square" lIns="0" tIns="0" rIns="0" bIns="0" rtlCol="0" anchor="t"/>
          <a:lstStyle/>
          <a:p>
            <a:pPr indent="0" marL="0">
              <a:buNone/>
            </a:pPr>
            <a:r>
              <a:rPr lang="en-US" sz="1200" b="1" dirty="0">
                <a:solidFill>
                  <a:srgbClr val="07203C"/>
                </a:solidFill>
                <a:latin typeface="Malgun Gothic" pitchFamily="34" charset="0"/>
                <a:ea typeface="Malgun Gothic" pitchFamily="34" charset="-122"/>
                <a:cs typeface="Malgun Gothic" pitchFamily="34" charset="-120"/>
              </a:rPr>
              <a:t>동일 이슈의 매체 재생산</a:t>
            </a:r>
            <a:endParaRPr lang="en-US" sz="1200" dirty="0"/>
          </a:p>
        </p:txBody>
      </p:sp>
      <p:sp>
        <p:nvSpPr>
          <p:cNvPr id="16" name="Text 14"/>
          <p:cNvSpPr txBox="1"/>
          <p:nvPr/>
        </p:nvSpPr>
        <p:spPr>
          <a:xfrm>
            <a:off x="4626864" y="3529584"/>
            <a:ext cx="3017520" cy="1005840"/>
          </a:xfrm>
          <a:prstGeom prst="rect">
            <a:avLst/>
          </a:prstGeom>
          <a:noFill/>
          <a:ln/>
        </p:spPr>
        <p:txBody>
          <a:bodyPr wrap="square" lIns="0" tIns="0" rIns="0" bIns="0" rtlCol="0" anchor="t"/>
          <a:lstStyle/>
          <a:p>
            <a:pPr indent="0" marL="0">
              <a:lnSpc>
                <a:spcPts val="1800"/>
              </a:lnSpc>
              <a:buNone/>
            </a:pPr>
            <a:r>
              <a:rPr lang="en-US" sz="1150" dirty="0">
                <a:solidFill>
                  <a:srgbClr val="6B7F92"/>
                </a:solidFill>
                <a:latin typeface="Malgun Gothic" pitchFamily="34" charset="0"/>
                <a:ea typeface="Malgun Gothic" pitchFamily="34" charset="-122"/>
                <a:cs typeface="Malgun Gothic" pitchFamily="34" charset="-120"/>
              </a:rPr>
              <a:t>‘에코프로 휴머노이드 로봇 배터리’ 한 건이 5개 매체 기사로 노출되어, 읽는 시간의 상당 부분이 같은 내용 재확인에 쓰입니다.</a:t>
            </a:r>
            <a:endParaRPr lang="en-US" sz="1150" dirty="0"/>
          </a:p>
        </p:txBody>
      </p:sp>
      <p:sp>
        <p:nvSpPr>
          <p:cNvPr id="17" name="Shape 15"/>
          <p:cNvSpPr/>
          <p:nvPr/>
        </p:nvSpPr>
        <p:spPr>
          <a:xfrm>
            <a:off x="8101584" y="1737360"/>
            <a:ext cx="3593592" cy="2962656"/>
          </a:xfrm>
          <a:prstGeom prst="roundRect">
            <a:avLst>
              <a:gd name="adj" fmla="val 1698"/>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18" name="Shape 16"/>
          <p:cNvSpPr/>
          <p:nvPr/>
        </p:nvSpPr>
        <p:spPr>
          <a:xfrm>
            <a:off x="8394192" y="1975104"/>
            <a:ext cx="786384" cy="292608"/>
          </a:xfrm>
          <a:prstGeom prst="roundRect">
            <a:avLst>
              <a:gd name="adj" fmla="val 156250"/>
            </a:avLst>
          </a:prstGeom>
          <a:solidFill>
            <a:srgbClr val="FFFFFF"/>
          </a:solidFill>
          <a:ln w="9525">
            <a:solidFill>
              <a:srgbClr val="2C6FE3"/>
            </a:solidFill>
            <a:prstDash val="solid"/>
          </a:ln>
        </p:spPr>
      </p:sp>
      <p:sp>
        <p:nvSpPr>
          <p:cNvPr id="19" name="Text 17"/>
          <p:cNvSpPr txBox="1"/>
          <p:nvPr/>
        </p:nvSpPr>
        <p:spPr>
          <a:xfrm>
            <a:off x="8394192" y="1975104"/>
            <a:ext cx="786384" cy="292608"/>
          </a:xfrm>
          <a:prstGeom prst="rect">
            <a:avLst/>
          </a:prstGeom>
          <a:noFill/>
          <a:ln/>
        </p:spPr>
        <p:txBody>
          <a:bodyPr wrap="square" lIns="0" tIns="0" rIns="0" bIns="0" rtlCol="0" anchor="ctr"/>
          <a:lstStyle/>
          <a:p>
            <a:pPr algn="ctr" indent="0" marL="0">
              <a:buNone/>
            </a:pPr>
            <a:r>
              <a:rPr lang="en-US" sz="1100" b="1" dirty="0">
                <a:solidFill>
                  <a:srgbClr val="2C6FE3"/>
                </a:solidFill>
                <a:latin typeface="Malgun Gothic" pitchFamily="34" charset="0"/>
                <a:ea typeface="Malgun Gothic" pitchFamily="34" charset="-122"/>
                <a:cs typeface="Malgun Gothic" pitchFamily="34" charset="-120"/>
              </a:rPr>
              <a:t>해석</a:t>
            </a:r>
            <a:endParaRPr lang="en-US" sz="1100" dirty="0"/>
          </a:p>
        </p:txBody>
      </p:sp>
      <p:sp>
        <p:nvSpPr>
          <p:cNvPr id="20" name="Text 18"/>
          <p:cNvSpPr txBox="1"/>
          <p:nvPr/>
        </p:nvSpPr>
        <p:spPr>
          <a:xfrm>
            <a:off x="8394192" y="2414016"/>
            <a:ext cx="3017520" cy="731520"/>
          </a:xfrm>
          <a:prstGeom prst="rect">
            <a:avLst/>
          </a:prstGeom>
          <a:noFill/>
          <a:ln/>
        </p:spPr>
        <p:txBody>
          <a:bodyPr wrap="square" lIns="0" tIns="0" rIns="0" bIns="0" rtlCol="0" anchor="t"/>
          <a:lstStyle/>
          <a:p>
            <a:pPr indent="0" marL="0">
              <a:buNone/>
            </a:pPr>
            <a:r>
              <a:rPr lang="en-US" sz="4400" b="1" dirty="0">
                <a:solidFill>
                  <a:srgbClr val="2C6FE3"/>
                </a:solidFill>
                <a:latin typeface="Malgun Gothic" pitchFamily="34" charset="0"/>
                <a:ea typeface="Malgun Gothic" pitchFamily="34" charset="-122"/>
                <a:cs typeface="Malgun Gothic" pitchFamily="34" charset="-120"/>
              </a:rPr>
              <a:t>0건</a:t>
            </a:r>
            <a:endParaRPr lang="en-US" sz="4400" dirty="0"/>
          </a:p>
        </p:txBody>
      </p:sp>
      <p:sp>
        <p:nvSpPr>
          <p:cNvPr id="21" name="Text 19"/>
          <p:cNvSpPr txBox="1"/>
          <p:nvPr/>
        </p:nvSpPr>
        <p:spPr>
          <a:xfrm>
            <a:off x="8394192" y="3200400"/>
            <a:ext cx="3017520" cy="274320"/>
          </a:xfrm>
          <a:prstGeom prst="rect">
            <a:avLst/>
          </a:prstGeom>
          <a:noFill/>
          <a:ln/>
        </p:spPr>
        <p:txBody>
          <a:bodyPr wrap="square" lIns="0" tIns="0" rIns="0" bIns="0" rtlCol="0" anchor="t"/>
          <a:lstStyle/>
          <a:p>
            <a:pPr indent="0" marL="0">
              <a:buNone/>
            </a:pPr>
            <a:r>
              <a:rPr lang="en-US" sz="1200" b="1" dirty="0">
                <a:solidFill>
                  <a:srgbClr val="07203C"/>
                </a:solidFill>
                <a:latin typeface="Malgun Gothic" pitchFamily="34" charset="0"/>
                <a:ea typeface="Malgun Gothic" pitchFamily="34" charset="-122"/>
                <a:cs typeface="Malgun Gothic" pitchFamily="34" charset="-120"/>
              </a:rPr>
              <a:t>원문에 붙어 있는 자사 관점</a:t>
            </a:r>
            <a:endParaRPr lang="en-US" sz="1200" dirty="0"/>
          </a:p>
        </p:txBody>
      </p:sp>
      <p:sp>
        <p:nvSpPr>
          <p:cNvPr id="22" name="Text 20"/>
          <p:cNvSpPr txBox="1"/>
          <p:nvPr/>
        </p:nvSpPr>
        <p:spPr>
          <a:xfrm>
            <a:off x="8394192" y="3529584"/>
            <a:ext cx="3017520" cy="1005840"/>
          </a:xfrm>
          <a:prstGeom prst="rect">
            <a:avLst/>
          </a:prstGeom>
          <a:noFill/>
          <a:ln/>
        </p:spPr>
        <p:txBody>
          <a:bodyPr wrap="square" lIns="0" tIns="0" rIns="0" bIns="0" rtlCol="0" anchor="t"/>
          <a:lstStyle/>
          <a:p>
            <a:pPr indent="0" marL="0">
              <a:lnSpc>
                <a:spcPts val="1800"/>
              </a:lnSpc>
              <a:buNone/>
            </a:pPr>
            <a:r>
              <a:rPr lang="en-US" sz="1150" dirty="0">
                <a:solidFill>
                  <a:srgbClr val="6B7F92"/>
                </a:solidFill>
                <a:latin typeface="Malgun Gothic" pitchFamily="34" charset="0"/>
                <a:ea typeface="Malgun Gothic" pitchFamily="34" charset="-122"/>
                <a:cs typeface="Malgun Gothic" pitchFamily="34" charset="-120"/>
              </a:rPr>
              <a:t>DART 원문과 뉴스에는 ‘우리에게 무슨 의미인가’가 없습니다. 매번 담당자가 다시 해석하고, 기준은 사람마다 달라집니다.</a:t>
            </a:r>
            <a:endParaRPr lang="en-US" sz="1150" dirty="0"/>
          </a:p>
        </p:txBody>
      </p:sp>
      <p:sp>
        <p:nvSpPr>
          <p:cNvPr id="23" name="Shape 21"/>
          <p:cNvSpPr/>
          <p:nvPr/>
        </p:nvSpPr>
        <p:spPr>
          <a:xfrm>
            <a:off x="566928" y="5029200"/>
            <a:ext cx="11055096" cy="1060704"/>
          </a:xfrm>
          <a:prstGeom prst="roundRect">
            <a:avLst>
              <a:gd name="adj" fmla="val 4741"/>
            </a:avLst>
          </a:prstGeom>
          <a:solidFill>
            <a:srgbClr val="07203C"/>
          </a:solidFill>
          <a:ln w="9525">
            <a:solidFill>
              <a:srgbClr val="07203C"/>
            </a:solidFill>
            <a:prstDash val="solid"/>
          </a:ln>
        </p:spPr>
      </p:sp>
      <p:sp>
        <p:nvSpPr>
          <p:cNvPr id="24" name="Text 22"/>
          <p:cNvSpPr txBox="1"/>
          <p:nvPr/>
        </p:nvSpPr>
        <p:spPr>
          <a:xfrm>
            <a:off x="932688" y="5321808"/>
            <a:ext cx="1188720" cy="274320"/>
          </a:xfrm>
          <a:prstGeom prst="rect">
            <a:avLst/>
          </a:prstGeom>
          <a:noFill/>
          <a:ln/>
        </p:spPr>
        <p:txBody>
          <a:bodyPr wrap="square" lIns="0" tIns="0" rIns="0" bIns="0" rtlCol="0" anchor="t"/>
          <a:lstStyle/>
          <a:p>
            <a:pPr indent="0" marL="0">
              <a:buNone/>
            </a:pPr>
            <a:r>
              <a:rPr lang="en-US" sz="1150" b="1" dirty="0">
                <a:solidFill>
                  <a:srgbClr val="6FE0D2"/>
                </a:solidFill>
                <a:latin typeface="Malgun Gothic" pitchFamily="34" charset="0"/>
                <a:ea typeface="Malgun Gothic" pitchFamily="34" charset="-122"/>
                <a:cs typeface="Malgun Gothic" pitchFamily="34" charset="-120"/>
              </a:rPr>
              <a:t>누적하면</a:t>
            </a:r>
            <a:endParaRPr lang="en-US" sz="1150" dirty="0"/>
          </a:p>
        </p:txBody>
      </p:sp>
      <p:sp>
        <p:nvSpPr>
          <p:cNvPr id="25" name="Text 23"/>
          <p:cNvSpPr txBox="1"/>
          <p:nvPr/>
        </p:nvSpPr>
        <p:spPr>
          <a:xfrm>
            <a:off x="2212848" y="5248656"/>
            <a:ext cx="7680960" cy="384048"/>
          </a:xfrm>
          <a:prstGeom prst="rect">
            <a:avLst/>
          </a:prstGeom>
          <a:noFill/>
          <a:ln/>
        </p:spPr>
        <p:txBody>
          <a:bodyPr wrap="square" lIns="0" tIns="0" rIns="0" bIns="0" rtlCol="0" anchor="t"/>
          <a:lstStyle/>
          <a:p>
            <a:pPr indent="0" marL="0">
              <a:buNone/>
            </a:pPr>
            <a:r>
              <a:rPr lang="en-US" sz="1800" b="1" dirty="0">
                <a:solidFill>
                  <a:srgbClr val="FFFFFF"/>
                </a:solidFill>
                <a:latin typeface="Malgun Gothic" pitchFamily="34" charset="0"/>
                <a:ea typeface="Malgun Gothic" pitchFamily="34" charset="-122"/>
                <a:cs typeface="Malgun Gothic" pitchFamily="34" charset="-120"/>
              </a:rPr>
              <a:t>9개사 × 약 10분  =  하루 90분  ·  월 약 30시간</a:t>
            </a:r>
            <a:endParaRPr lang="en-US" sz="1800" dirty="0"/>
          </a:p>
        </p:txBody>
      </p:sp>
      <p:sp>
        <p:nvSpPr>
          <p:cNvPr id="26" name="Text 24"/>
          <p:cNvSpPr txBox="1"/>
          <p:nvPr/>
        </p:nvSpPr>
        <p:spPr>
          <a:xfrm>
            <a:off x="2212848" y="5687568"/>
            <a:ext cx="9326880" cy="274320"/>
          </a:xfrm>
          <a:prstGeom prst="rect">
            <a:avLst/>
          </a:prstGeom>
          <a:noFill/>
          <a:ln/>
        </p:spPr>
        <p:txBody>
          <a:bodyPr wrap="square" lIns="0" tIns="0" rIns="0" bIns="0" rtlCol="0" anchor="t"/>
          <a:lstStyle/>
          <a:p>
            <a:pPr indent="0" marL="0">
              <a:buNone/>
            </a:pPr>
            <a:r>
              <a:rPr lang="en-US" sz="1050" dirty="0">
                <a:solidFill>
                  <a:srgbClr val="8FAAC1"/>
                </a:solidFill>
                <a:latin typeface="Malgun Gothic" pitchFamily="34" charset="0"/>
                <a:ea typeface="Malgun Gothic" pitchFamily="34" charset="-122"/>
                <a:cs typeface="Malgun Gothic" pitchFamily="34" charset="-120"/>
              </a:rPr>
              <a:t>※ 시간 수치는 실측이 아닌 담당 업무 기준 추정치입니다. 수집량(공시 55건·뉴스 40건)만 실측값입니다.</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6FA"/>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37744"/>
          </a:xfrm>
          <a:prstGeom prst="rect">
            <a:avLst/>
          </a:prstGeom>
          <a:noFill/>
          <a:ln/>
        </p:spPr>
        <p:txBody>
          <a:bodyPr wrap="square" lIns="0" tIns="0" rIns="0" bIns="0" rtlCol="0" anchor="t"/>
          <a:lstStyle/>
          <a:p>
            <a:pPr indent="0" marL="0">
              <a:buNone/>
            </a:pPr>
            <a:r>
              <a:rPr lang="en-US" sz="1100" b="1" spc="110" kern="0" dirty="0">
                <a:solidFill>
                  <a:srgbClr val="0E8477"/>
                </a:solidFill>
                <a:latin typeface="Malgun Gothic" pitchFamily="34" charset="0"/>
                <a:ea typeface="Malgun Gothic" pitchFamily="34" charset="-122"/>
                <a:cs typeface="Malgun Gothic" pitchFamily="34" charset="-120"/>
              </a:rPr>
              <a:t>01  PROBLEM  ·  관점과 가설</a:t>
            </a:r>
            <a:endParaRPr lang="en-US" sz="1100" dirty="0"/>
          </a:p>
        </p:txBody>
      </p:sp>
      <p:sp>
        <p:nvSpPr>
          <p:cNvPr id="3" name="Text 1"/>
          <p:cNvSpPr txBox="1"/>
          <p:nvPr/>
        </p:nvSpPr>
        <p:spPr>
          <a:xfrm>
            <a:off x="566928" y="713232"/>
            <a:ext cx="11057839" cy="566928"/>
          </a:xfrm>
          <a:prstGeom prst="rect">
            <a:avLst/>
          </a:prstGeom>
          <a:noFill/>
          <a:ln/>
        </p:spPr>
        <p:txBody>
          <a:bodyPr wrap="square" lIns="0" tIns="0" rIns="0" bIns="0" rtlCol="0" anchor="t"/>
          <a:lstStyle/>
          <a:p>
            <a:pPr indent="0" marL="0">
              <a:buNone/>
            </a:pPr>
            <a:r>
              <a:rPr lang="en-US" sz="2800" b="1" dirty="0">
                <a:solidFill>
                  <a:srgbClr val="07203C"/>
                </a:solidFill>
                <a:latin typeface="Malgun Gothic" pitchFamily="34" charset="0"/>
                <a:ea typeface="Malgun Gothic" pitchFamily="34" charset="-122"/>
                <a:cs typeface="Malgun Gothic" pitchFamily="34" charset="-120"/>
              </a:rPr>
              <a:t>‘모으는 문제’가 아니라 ‘판단까지의 거리’ 문제로 정의했습니다</a:t>
            </a:r>
            <a:endParaRPr lang="en-US" sz="2800" dirty="0"/>
          </a:p>
        </p:txBody>
      </p:sp>
      <p:sp>
        <p:nvSpPr>
          <p:cNvPr id="4" name="Text 2"/>
          <p:cNvSpPr txBox="1"/>
          <p:nvPr/>
        </p:nvSpPr>
        <p:spPr>
          <a:xfrm>
            <a:off x="8332927" y="6437376"/>
            <a:ext cx="3291840" cy="219456"/>
          </a:xfrm>
          <a:prstGeom prst="rect">
            <a:avLst/>
          </a:prstGeom>
          <a:noFill/>
          <a:ln/>
        </p:spPr>
        <p:txBody>
          <a:bodyPr wrap="square" lIns="0" tIns="0" rIns="0" bIns="0" rtlCol="0" anchor="t"/>
          <a:lstStyle/>
          <a:p>
            <a:pPr algn="r" indent="0" marL="0">
              <a:buNone/>
            </a:pPr>
            <a:r>
              <a:rPr lang="en-US" sz="950" spc="60" kern="0" dirty="0">
                <a:solidFill>
                  <a:srgbClr val="8A9BAB"/>
                </a:solidFill>
                <a:latin typeface="Malgun Gothic" pitchFamily="34" charset="0"/>
                <a:ea typeface="Malgun Gothic" pitchFamily="34" charset="-122"/>
                <a:cs typeface="Malgun Gothic" pitchFamily="34" charset="-120"/>
              </a:rPr>
              <a:t>05 / 16     FUTURE:M RADAR</a:t>
            </a:r>
            <a:endParaRPr lang="en-US" sz="950" dirty="0"/>
          </a:p>
        </p:txBody>
      </p:sp>
      <p:sp>
        <p:nvSpPr>
          <p:cNvPr id="5" name="Shape 3"/>
          <p:cNvSpPr/>
          <p:nvPr/>
        </p:nvSpPr>
        <p:spPr>
          <a:xfrm>
            <a:off x="566928" y="1737360"/>
            <a:ext cx="3931920" cy="3749040"/>
          </a:xfrm>
          <a:prstGeom prst="roundRect">
            <a:avLst>
              <a:gd name="adj" fmla="val 1341"/>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6" name="Text 4"/>
          <p:cNvSpPr txBox="1"/>
          <p:nvPr/>
        </p:nvSpPr>
        <p:spPr>
          <a:xfrm>
            <a:off x="859536" y="1956816"/>
            <a:ext cx="3383280" cy="274320"/>
          </a:xfrm>
          <a:prstGeom prst="rect">
            <a:avLst/>
          </a:prstGeom>
          <a:noFill/>
          <a:ln/>
        </p:spPr>
        <p:txBody>
          <a:bodyPr wrap="square" lIns="0" tIns="0" rIns="0" bIns="0" rtlCol="0" anchor="t"/>
          <a:lstStyle/>
          <a:p>
            <a:pPr indent="0" marL="0">
              <a:buNone/>
            </a:pPr>
            <a:r>
              <a:rPr lang="en-US" sz="1500" b="1" dirty="0">
                <a:solidFill>
                  <a:srgbClr val="07203C"/>
                </a:solidFill>
                <a:latin typeface="Malgun Gothic" pitchFamily="34" charset="0"/>
                <a:ea typeface="Malgun Gothic" pitchFamily="34" charset="-122"/>
                <a:cs typeface="Malgun Gothic" pitchFamily="34" charset="-120"/>
              </a:rPr>
              <a:t>문제를 바라본 세 가지 기준</a:t>
            </a:r>
            <a:endParaRPr lang="en-US" sz="1500" dirty="0"/>
          </a:p>
        </p:txBody>
      </p:sp>
      <p:sp>
        <p:nvSpPr>
          <p:cNvPr id="7" name="Shape 5"/>
          <p:cNvSpPr/>
          <p:nvPr/>
        </p:nvSpPr>
        <p:spPr>
          <a:xfrm>
            <a:off x="859536" y="2468880"/>
            <a:ext cx="3346704" cy="786384"/>
          </a:xfrm>
          <a:prstGeom prst="roundRect">
            <a:avLst>
              <a:gd name="adj" fmla="val 6395"/>
            </a:avLst>
          </a:prstGeom>
          <a:solidFill>
            <a:srgbClr val="F1F6FA"/>
          </a:solidFill>
          <a:ln w="9525">
            <a:solidFill>
              <a:srgbClr val="DCE7F1"/>
            </a:solidFill>
            <a:prstDash val="solid"/>
          </a:ln>
        </p:spPr>
      </p:sp>
      <p:sp>
        <p:nvSpPr>
          <p:cNvPr id="8" name="Text 6"/>
          <p:cNvSpPr txBox="1"/>
          <p:nvPr/>
        </p:nvSpPr>
        <p:spPr>
          <a:xfrm>
            <a:off x="1078992" y="2596896"/>
            <a:ext cx="2926080" cy="256032"/>
          </a:xfrm>
          <a:prstGeom prst="rect">
            <a:avLst/>
          </a:prstGeom>
          <a:noFill/>
          <a:ln/>
        </p:spPr>
        <p:txBody>
          <a:bodyPr wrap="square" lIns="0" tIns="0" rIns="0" bIns="0" rtlCol="0" anchor="t"/>
          <a:lstStyle/>
          <a:p>
            <a:pPr indent="0" marL="0">
              <a:buNone/>
            </a:pPr>
            <a:r>
              <a:rPr lang="en-US" sz="1300" b="1" dirty="0">
                <a:solidFill>
                  <a:srgbClr val="0E8477"/>
                </a:solidFill>
                <a:latin typeface="Malgun Gothic" pitchFamily="34" charset="0"/>
                <a:ea typeface="Malgun Gothic" pitchFamily="34" charset="-122"/>
                <a:cs typeface="Malgun Gothic" pitchFamily="34" charset="-120"/>
              </a:rPr>
              <a:t>반복성</a:t>
            </a:r>
            <a:endParaRPr lang="en-US" sz="1300" dirty="0"/>
          </a:p>
        </p:txBody>
      </p:sp>
      <p:sp>
        <p:nvSpPr>
          <p:cNvPr id="9" name="Text 7"/>
          <p:cNvSpPr txBox="1"/>
          <p:nvPr/>
        </p:nvSpPr>
        <p:spPr>
          <a:xfrm>
            <a:off x="1078992" y="2889504"/>
            <a:ext cx="3017520" cy="256032"/>
          </a:xfrm>
          <a:prstGeom prst="rect">
            <a:avLst/>
          </a:prstGeom>
          <a:noFill/>
          <a:ln/>
        </p:spPr>
        <p:txBody>
          <a:bodyPr wrap="square" lIns="0" tIns="0" rIns="0" bIns="0" rtlCol="0" anchor="t"/>
          <a:lstStyle/>
          <a:p>
            <a:pPr indent="0" marL="0">
              <a:buNone/>
            </a:pPr>
            <a:r>
              <a:rPr lang="en-US" sz="1100" dirty="0">
                <a:solidFill>
                  <a:srgbClr val="6B7F92"/>
                </a:solidFill>
                <a:latin typeface="Malgun Gothic" pitchFamily="34" charset="0"/>
                <a:ea typeface="Malgun Gothic" pitchFamily="34" charset="-122"/>
                <a:cs typeface="Malgun Gothic" pitchFamily="34" charset="-120"/>
              </a:rPr>
              <a:t>매일 같은 순서로 같은 사이트를 도는가</a:t>
            </a:r>
            <a:endParaRPr lang="en-US" sz="1100" dirty="0"/>
          </a:p>
        </p:txBody>
      </p:sp>
      <p:sp>
        <p:nvSpPr>
          <p:cNvPr id="10" name="Shape 8"/>
          <p:cNvSpPr/>
          <p:nvPr/>
        </p:nvSpPr>
        <p:spPr>
          <a:xfrm>
            <a:off x="859536" y="3419856"/>
            <a:ext cx="3346704" cy="786384"/>
          </a:xfrm>
          <a:prstGeom prst="roundRect">
            <a:avLst>
              <a:gd name="adj" fmla="val 6395"/>
            </a:avLst>
          </a:prstGeom>
          <a:solidFill>
            <a:srgbClr val="F1F6FA"/>
          </a:solidFill>
          <a:ln w="9525">
            <a:solidFill>
              <a:srgbClr val="DCE7F1"/>
            </a:solidFill>
            <a:prstDash val="solid"/>
          </a:ln>
        </p:spPr>
      </p:sp>
      <p:sp>
        <p:nvSpPr>
          <p:cNvPr id="11" name="Text 9"/>
          <p:cNvSpPr txBox="1"/>
          <p:nvPr/>
        </p:nvSpPr>
        <p:spPr>
          <a:xfrm>
            <a:off x="1078992" y="3547872"/>
            <a:ext cx="2926080" cy="256032"/>
          </a:xfrm>
          <a:prstGeom prst="rect">
            <a:avLst/>
          </a:prstGeom>
          <a:noFill/>
          <a:ln/>
        </p:spPr>
        <p:txBody>
          <a:bodyPr wrap="square" lIns="0" tIns="0" rIns="0" bIns="0" rtlCol="0" anchor="t"/>
          <a:lstStyle/>
          <a:p>
            <a:pPr indent="0" marL="0">
              <a:buNone/>
            </a:pPr>
            <a:r>
              <a:rPr lang="en-US" sz="1300" b="1" dirty="0">
                <a:solidFill>
                  <a:srgbClr val="0E8477"/>
                </a:solidFill>
                <a:latin typeface="Malgun Gothic" pitchFamily="34" charset="0"/>
                <a:ea typeface="Malgun Gothic" pitchFamily="34" charset="-122"/>
                <a:cs typeface="Malgun Gothic" pitchFamily="34" charset="-120"/>
              </a:rPr>
              <a:t>판단 개입도</a:t>
            </a:r>
            <a:endParaRPr lang="en-US" sz="1300" dirty="0"/>
          </a:p>
        </p:txBody>
      </p:sp>
      <p:sp>
        <p:nvSpPr>
          <p:cNvPr id="12" name="Text 10"/>
          <p:cNvSpPr txBox="1"/>
          <p:nvPr/>
        </p:nvSpPr>
        <p:spPr>
          <a:xfrm>
            <a:off x="1078992" y="3840480"/>
            <a:ext cx="3017520" cy="256032"/>
          </a:xfrm>
          <a:prstGeom prst="rect">
            <a:avLst/>
          </a:prstGeom>
          <a:noFill/>
          <a:ln/>
        </p:spPr>
        <p:txBody>
          <a:bodyPr wrap="square" lIns="0" tIns="0" rIns="0" bIns="0" rtlCol="0" anchor="t"/>
          <a:lstStyle/>
          <a:p>
            <a:pPr indent="0" marL="0">
              <a:buNone/>
            </a:pPr>
            <a:r>
              <a:rPr lang="en-US" sz="1100" dirty="0">
                <a:solidFill>
                  <a:srgbClr val="6B7F92"/>
                </a:solidFill>
                <a:latin typeface="Malgun Gothic" pitchFamily="34" charset="0"/>
                <a:ea typeface="Malgun Gothic" pitchFamily="34" charset="-122"/>
                <a:cs typeface="Malgun Gothic" pitchFamily="34" charset="-120"/>
              </a:rPr>
              <a:t>사람의 해석이 반드시 필요한 단계인가</a:t>
            </a:r>
            <a:endParaRPr lang="en-US" sz="1100" dirty="0"/>
          </a:p>
        </p:txBody>
      </p:sp>
      <p:sp>
        <p:nvSpPr>
          <p:cNvPr id="13" name="Shape 11"/>
          <p:cNvSpPr/>
          <p:nvPr/>
        </p:nvSpPr>
        <p:spPr>
          <a:xfrm>
            <a:off x="859536" y="4370832"/>
            <a:ext cx="3346704" cy="786384"/>
          </a:xfrm>
          <a:prstGeom prst="roundRect">
            <a:avLst>
              <a:gd name="adj" fmla="val 6395"/>
            </a:avLst>
          </a:prstGeom>
          <a:solidFill>
            <a:srgbClr val="F1F6FA"/>
          </a:solidFill>
          <a:ln w="9525">
            <a:solidFill>
              <a:srgbClr val="DCE7F1"/>
            </a:solidFill>
            <a:prstDash val="solid"/>
          </a:ln>
        </p:spPr>
      </p:sp>
      <p:sp>
        <p:nvSpPr>
          <p:cNvPr id="14" name="Text 12"/>
          <p:cNvSpPr txBox="1"/>
          <p:nvPr/>
        </p:nvSpPr>
        <p:spPr>
          <a:xfrm>
            <a:off x="1078992" y="4498848"/>
            <a:ext cx="2926080" cy="256032"/>
          </a:xfrm>
          <a:prstGeom prst="rect">
            <a:avLst/>
          </a:prstGeom>
          <a:noFill/>
          <a:ln/>
        </p:spPr>
        <p:txBody>
          <a:bodyPr wrap="square" lIns="0" tIns="0" rIns="0" bIns="0" rtlCol="0" anchor="t"/>
          <a:lstStyle/>
          <a:p>
            <a:pPr indent="0" marL="0">
              <a:buNone/>
            </a:pPr>
            <a:r>
              <a:rPr lang="en-US" sz="1300" b="1" dirty="0">
                <a:solidFill>
                  <a:srgbClr val="0E8477"/>
                </a:solidFill>
                <a:latin typeface="Malgun Gothic" pitchFamily="34" charset="0"/>
                <a:ea typeface="Malgun Gothic" pitchFamily="34" charset="-122"/>
                <a:cs typeface="Malgun Gothic" pitchFamily="34" charset="-120"/>
              </a:rPr>
              <a:t>근거 추적성</a:t>
            </a:r>
            <a:endParaRPr lang="en-US" sz="1300" dirty="0"/>
          </a:p>
        </p:txBody>
      </p:sp>
      <p:sp>
        <p:nvSpPr>
          <p:cNvPr id="15" name="Text 13"/>
          <p:cNvSpPr txBox="1"/>
          <p:nvPr/>
        </p:nvSpPr>
        <p:spPr>
          <a:xfrm>
            <a:off x="1078992" y="4791456"/>
            <a:ext cx="3017520" cy="256032"/>
          </a:xfrm>
          <a:prstGeom prst="rect">
            <a:avLst/>
          </a:prstGeom>
          <a:noFill/>
          <a:ln/>
        </p:spPr>
        <p:txBody>
          <a:bodyPr wrap="square" lIns="0" tIns="0" rIns="0" bIns="0" rtlCol="0" anchor="t"/>
          <a:lstStyle/>
          <a:p>
            <a:pPr indent="0" marL="0">
              <a:buNone/>
            </a:pPr>
            <a:r>
              <a:rPr lang="en-US" sz="1100" dirty="0">
                <a:solidFill>
                  <a:srgbClr val="6B7F92"/>
                </a:solidFill>
                <a:latin typeface="Malgun Gothic" pitchFamily="34" charset="0"/>
                <a:ea typeface="Malgun Gothic" pitchFamily="34" charset="-122"/>
                <a:cs typeface="Malgun Gothic" pitchFamily="34" charset="-120"/>
              </a:rPr>
              <a:t>결론을 원문까지 되짚을 수 있는가</a:t>
            </a:r>
            <a:endParaRPr lang="en-US" sz="1100" dirty="0"/>
          </a:p>
        </p:txBody>
      </p:sp>
      <p:sp>
        <p:nvSpPr>
          <p:cNvPr id="16" name="Shape 14"/>
          <p:cNvSpPr/>
          <p:nvPr/>
        </p:nvSpPr>
        <p:spPr>
          <a:xfrm>
            <a:off x="4718304" y="1737360"/>
            <a:ext cx="6903720" cy="3749040"/>
          </a:xfrm>
          <a:prstGeom prst="roundRect">
            <a:avLst>
              <a:gd name="adj" fmla="val 1341"/>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17" name="Text 15"/>
          <p:cNvSpPr txBox="1"/>
          <p:nvPr/>
        </p:nvSpPr>
        <p:spPr>
          <a:xfrm>
            <a:off x="5029200" y="1956816"/>
            <a:ext cx="6217920" cy="274320"/>
          </a:xfrm>
          <a:prstGeom prst="rect">
            <a:avLst/>
          </a:prstGeom>
          <a:noFill/>
          <a:ln/>
        </p:spPr>
        <p:txBody>
          <a:bodyPr wrap="square" lIns="0" tIns="0" rIns="0" bIns="0" rtlCol="0" anchor="t"/>
          <a:lstStyle/>
          <a:p>
            <a:pPr indent="0" marL="0">
              <a:buNone/>
            </a:pPr>
            <a:r>
              <a:rPr lang="en-US" sz="1500" b="1" dirty="0">
                <a:solidFill>
                  <a:srgbClr val="07203C"/>
                </a:solidFill>
                <a:latin typeface="Malgun Gothic" pitchFamily="34" charset="0"/>
                <a:ea typeface="Malgun Gothic" pitchFamily="34" charset="-122"/>
                <a:cs typeface="Malgun Gothic" pitchFamily="34" charset="-120"/>
              </a:rPr>
              <a:t>설정한 가설</a:t>
            </a:r>
            <a:endParaRPr lang="en-US" sz="1500" dirty="0"/>
          </a:p>
        </p:txBody>
      </p:sp>
      <p:sp>
        <p:nvSpPr>
          <p:cNvPr id="18" name="Shape 16"/>
          <p:cNvSpPr/>
          <p:nvPr/>
        </p:nvSpPr>
        <p:spPr>
          <a:xfrm>
            <a:off x="5029200" y="2468880"/>
            <a:ext cx="475488" cy="384048"/>
          </a:xfrm>
          <a:prstGeom prst="roundRect">
            <a:avLst>
              <a:gd name="adj" fmla="val 28571"/>
            </a:avLst>
          </a:prstGeom>
          <a:solidFill>
            <a:srgbClr val="17B7A6"/>
          </a:solidFill>
          <a:ln w="12700">
            <a:solidFill>
              <a:srgbClr val="17B7A6"/>
            </a:solidFill>
            <a:prstDash val="solid"/>
          </a:ln>
        </p:spPr>
      </p:sp>
      <p:sp>
        <p:nvSpPr>
          <p:cNvPr id="19" name="Text 17"/>
          <p:cNvSpPr txBox="1"/>
          <p:nvPr/>
        </p:nvSpPr>
        <p:spPr>
          <a:xfrm>
            <a:off x="5029200" y="2468880"/>
            <a:ext cx="47548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H1</a:t>
            </a:r>
            <a:endParaRPr lang="en-US" sz="1250" dirty="0"/>
          </a:p>
        </p:txBody>
      </p:sp>
      <p:sp>
        <p:nvSpPr>
          <p:cNvPr id="20" name="Text 18"/>
          <p:cNvSpPr txBox="1"/>
          <p:nvPr/>
        </p:nvSpPr>
        <p:spPr>
          <a:xfrm>
            <a:off x="5650992" y="2450592"/>
            <a:ext cx="5742432" cy="713232"/>
          </a:xfrm>
          <a:prstGeom prst="rect">
            <a:avLst/>
          </a:prstGeom>
          <a:noFill/>
          <a:ln/>
        </p:spPr>
        <p:txBody>
          <a:bodyPr wrap="square" lIns="0" tIns="0" rIns="0" bIns="0" rtlCol="0" anchor="t"/>
          <a:lstStyle/>
          <a:p>
            <a:pPr indent="0" marL="0">
              <a:lnSpc>
                <a:spcPts val="2200"/>
              </a:lnSpc>
              <a:buNone/>
            </a:pPr>
            <a:r>
              <a:rPr lang="en-US" sz="1350" b="1" dirty="0">
                <a:solidFill>
                  <a:srgbClr val="15304C"/>
                </a:solidFill>
                <a:latin typeface="Malgun Gothic" pitchFamily="34" charset="0"/>
                <a:ea typeface="Malgun Gothic" pitchFamily="34" charset="-122"/>
                <a:cs typeface="Malgun Gothic" pitchFamily="34" charset="-120"/>
              </a:rPr>
              <a:t>수집과 중복 제거를 자동화하면, 사람이 확인할 대상은 40건에서 핵심 3건으로 줄어든다.</a:t>
            </a:r>
            <a:endParaRPr lang="en-US" sz="1350" dirty="0"/>
          </a:p>
        </p:txBody>
      </p:sp>
      <p:sp>
        <p:nvSpPr>
          <p:cNvPr id="21" name="Shape 19"/>
          <p:cNvSpPr/>
          <p:nvPr/>
        </p:nvSpPr>
        <p:spPr>
          <a:xfrm>
            <a:off x="5029200" y="3456432"/>
            <a:ext cx="475488" cy="384048"/>
          </a:xfrm>
          <a:prstGeom prst="roundRect">
            <a:avLst>
              <a:gd name="adj" fmla="val 28571"/>
            </a:avLst>
          </a:prstGeom>
          <a:solidFill>
            <a:srgbClr val="2C6FE3"/>
          </a:solidFill>
          <a:ln w="12700">
            <a:solidFill>
              <a:srgbClr val="2C6FE3"/>
            </a:solidFill>
            <a:prstDash val="solid"/>
          </a:ln>
        </p:spPr>
      </p:sp>
      <p:sp>
        <p:nvSpPr>
          <p:cNvPr id="22" name="Text 20"/>
          <p:cNvSpPr txBox="1"/>
          <p:nvPr/>
        </p:nvSpPr>
        <p:spPr>
          <a:xfrm>
            <a:off x="5029200" y="3456432"/>
            <a:ext cx="47548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H2</a:t>
            </a:r>
            <a:endParaRPr lang="en-US" sz="1250" dirty="0"/>
          </a:p>
        </p:txBody>
      </p:sp>
      <p:sp>
        <p:nvSpPr>
          <p:cNvPr id="23" name="Text 21"/>
          <p:cNvSpPr txBox="1"/>
          <p:nvPr/>
        </p:nvSpPr>
        <p:spPr>
          <a:xfrm>
            <a:off x="5650992" y="3438144"/>
            <a:ext cx="5742432" cy="713232"/>
          </a:xfrm>
          <a:prstGeom prst="rect">
            <a:avLst/>
          </a:prstGeom>
          <a:noFill/>
          <a:ln/>
        </p:spPr>
        <p:txBody>
          <a:bodyPr wrap="square" lIns="0" tIns="0" rIns="0" bIns="0" rtlCol="0" anchor="t"/>
          <a:lstStyle/>
          <a:p>
            <a:pPr indent="0" marL="0">
              <a:lnSpc>
                <a:spcPts val="2200"/>
              </a:lnSpc>
              <a:buNone/>
            </a:pPr>
            <a:r>
              <a:rPr lang="en-US" sz="1350" b="1" dirty="0">
                <a:solidFill>
                  <a:srgbClr val="15304C"/>
                </a:solidFill>
                <a:latin typeface="Malgun Gothic" pitchFamily="34" charset="0"/>
                <a:ea typeface="Malgun Gothic" pitchFamily="34" charset="-122"/>
                <a:cs typeface="Malgun Gothic" pitchFamily="34" charset="-120"/>
              </a:rPr>
              <a:t>LLM에 ‘요약’이 아니라 ‘자사 관점 시사점’을 강제 출력시키면, 재해석 단계 자체가 사라진다.</a:t>
            </a:r>
            <a:endParaRPr lang="en-US" sz="1350" dirty="0"/>
          </a:p>
        </p:txBody>
      </p:sp>
      <p:sp>
        <p:nvSpPr>
          <p:cNvPr id="24" name="Shape 22"/>
          <p:cNvSpPr/>
          <p:nvPr/>
        </p:nvSpPr>
        <p:spPr>
          <a:xfrm>
            <a:off x="5029200" y="4443984"/>
            <a:ext cx="475488" cy="384048"/>
          </a:xfrm>
          <a:prstGeom prst="roundRect">
            <a:avLst>
              <a:gd name="adj" fmla="val 28571"/>
            </a:avLst>
          </a:prstGeom>
          <a:solidFill>
            <a:srgbClr val="7A5AB5"/>
          </a:solidFill>
          <a:ln w="12700">
            <a:solidFill>
              <a:srgbClr val="7A5AB5"/>
            </a:solidFill>
            <a:prstDash val="solid"/>
          </a:ln>
        </p:spPr>
      </p:sp>
      <p:sp>
        <p:nvSpPr>
          <p:cNvPr id="25" name="Text 23"/>
          <p:cNvSpPr txBox="1"/>
          <p:nvPr/>
        </p:nvSpPr>
        <p:spPr>
          <a:xfrm>
            <a:off x="5029200" y="4443984"/>
            <a:ext cx="47548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H3</a:t>
            </a:r>
            <a:endParaRPr lang="en-US" sz="1250" dirty="0"/>
          </a:p>
        </p:txBody>
      </p:sp>
      <p:sp>
        <p:nvSpPr>
          <p:cNvPr id="26" name="Text 24"/>
          <p:cNvSpPr txBox="1"/>
          <p:nvPr/>
        </p:nvSpPr>
        <p:spPr>
          <a:xfrm>
            <a:off x="5650992" y="4425696"/>
            <a:ext cx="5742432" cy="713232"/>
          </a:xfrm>
          <a:prstGeom prst="rect">
            <a:avLst/>
          </a:prstGeom>
          <a:noFill/>
          <a:ln/>
        </p:spPr>
        <p:txBody>
          <a:bodyPr wrap="square" lIns="0" tIns="0" rIns="0" bIns="0" rtlCol="0" anchor="t"/>
          <a:lstStyle/>
          <a:p>
            <a:pPr indent="0" marL="0">
              <a:lnSpc>
                <a:spcPts val="2200"/>
              </a:lnSpc>
              <a:buNone/>
            </a:pPr>
            <a:r>
              <a:rPr lang="en-US" sz="1350" b="1" dirty="0">
                <a:solidFill>
                  <a:srgbClr val="15304C"/>
                </a:solidFill>
                <a:latin typeface="Malgun Gothic" pitchFamily="34" charset="0"/>
                <a:ea typeface="Malgun Gothic" pitchFamily="34" charset="-122"/>
                <a:cs typeface="Malgun Gothic" pitchFamily="34" charset="-120"/>
              </a:rPr>
              <a:t>중요 공시는 사람이 찾으러 가는 것이 아니라, 시스템이 채널로 밀어주는 것이 맞다.</a:t>
            </a:r>
            <a:endParaRPr lang="en-US" sz="1350" dirty="0"/>
          </a:p>
        </p:txBody>
      </p:sp>
      <p:sp>
        <p:nvSpPr>
          <p:cNvPr id="27" name="Shape 25"/>
          <p:cNvSpPr/>
          <p:nvPr/>
        </p:nvSpPr>
        <p:spPr>
          <a:xfrm>
            <a:off x="566928" y="5650992"/>
            <a:ext cx="11055096" cy="548640"/>
          </a:xfrm>
          <a:prstGeom prst="roundRect">
            <a:avLst>
              <a:gd name="adj" fmla="val 9167"/>
            </a:avLst>
          </a:prstGeom>
          <a:solidFill>
            <a:srgbClr val="E7EFF7"/>
          </a:solidFill>
          <a:ln w="9525">
            <a:solidFill>
              <a:srgbClr val="CBDCEB"/>
            </a:solidFill>
            <a:prstDash val="solid"/>
          </a:ln>
        </p:spPr>
      </p:sp>
      <p:sp>
        <p:nvSpPr>
          <p:cNvPr id="28" name="Text 26"/>
          <p:cNvSpPr txBox="1"/>
          <p:nvPr/>
        </p:nvSpPr>
        <p:spPr>
          <a:xfrm>
            <a:off x="841248" y="5779008"/>
            <a:ext cx="2103120" cy="274320"/>
          </a:xfrm>
          <a:prstGeom prst="rect">
            <a:avLst/>
          </a:prstGeom>
          <a:noFill/>
          <a:ln/>
        </p:spPr>
        <p:txBody>
          <a:bodyPr wrap="square" lIns="0" tIns="0" rIns="0" bIns="0" rtlCol="0" anchor="t"/>
          <a:lstStyle/>
          <a:p>
            <a:pPr indent="0" marL="0">
              <a:buNone/>
            </a:pPr>
            <a:r>
              <a:rPr lang="en-US" sz="1100" b="1" dirty="0">
                <a:solidFill>
                  <a:srgbClr val="0E8477"/>
                </a:solidFill>
                <a:latin typeface="Malgun Gothic" pitchFamily="34" charset="0"/>
                <a:ea typeface="Malgun Gothic" pitchFamily="34" charset="-122"/>
                <a:cs typeface="Malgun Gothic" pitchFamily="34" charset="-120"/>
              </a:rPr>
              <a:t>이 문제를 선택한 이유</a:t>
            </a:r>
            <a:endParaRPr lang="en-US" sz="1100" dirty="0"/>
          </a:p>
        </p:txBody>
      </p:sp>
      <p:sp>
        <p:nvSpPr>
          <p:cNvPr id="29" name="Text 27"/>
          <p:cNvSpPr txBox="1"/>
          <p:nvPr/>
        </p:nvSpPr>
        <p:spPr>
          <a:xfrm>
            <a:off x="3035808" y="5779008"/>
            <a:ext cx="8412480" cy="274320"/>
          </a:xfrm>
          <a:prstGeom prst="rect">
            <a:avLst/>
          </a:prstGeom>
          <a:noFill/>
          <a:ln/>
        </p:spPr>
        <p:txBody>
          <a:bodyPr wrap="square" lIns="0" tIns="0" rIns="0" bIns="0" rtlCol="0" anchor="t"/>
          <a:lstStyle/>
          <a:p>
            <a:pPr indent="0" marL="0">
              <a:buNone/>
            </a:pPr>
            <a:r>
              <a:rPr lang="en-US" sz="1250" b="1" dirty="0">
                <a:solidFill>
                  <a:srgbClr val="07203C"/>
                </a:solidFill>
                <a:latin typeface="Malgun Gothic" pitchFamily="34" charset="0"/>
                <a:ea typeface="Malgun Gothic" pitchFamily="34" charset="-122"/>
                <a:cs typeface="Malgun Gothic" pitchFamily="34" charset="-120"/>
              </a:rPr>
              <a:t>세 기준을 모두 충족하는 유일한 업무였고, 결과물이 실제 경영 판단에 바로 쓰이는 형태로 남기 때문입니다.</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6FA"/>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37744"/>
          </a:xfrm>
          <a:prstGeom prst="rect">
            <a:avLst/>
          </a:prstGeom>
          <a:noFill/>
          <a:ln/>
        </p:spPr>
        <p:txBody>
          <a:bodyPr wrap="square" lIns="0" tIns="0" rIns="0" bIns="0" rtlCol="0" anchor="t"/>
          <a:lstStyle/>
          <a:p>
            <a:pPr indent="0" marL="0">
              <a:buNone/>
            </a:pPr>
            <a:r>
              <a:rPr lang="en-US" sz="1100" b="1" spc="110" kern="0" dirty="0">
                <a:solidFill>
                  <a:srgbClr val="0E8477"/>
                </a:solidFill>
                <a:latin typeface="Malgun Gothic" pitchFamily="34" charset="0"/>
                <a:ea typeface="Malgun Gothic" pitchFamily="34" charset="-122"/>
                <a:cs typeface="Malgun Gothic" pitchFamily="34" charset="-120"/>
              </a:rPr>
              <a:t>02  BUILD  ·  서비스 개요</a:t>
            </a:r>
            <a:endParaRPr lang="en-US" sz="1100" dirty="0"/>
          </a:p>
        </p:txBody>
      </p:sp>
      <p:sp>
        <p:nvSpPr>
          <p:cNvPr id="3" name="Text 1"/>
          <p:cNvSpPr txBox="1"/>
          <p:nvPr/>
        </p:nvSpPr>
        <p:spPr>
          <a:xfrm>
            <a:off x="566928" y="713232"/>
            <a:ext cx="11057839" cy="566928"/>
          </a:xfrm>
          <a:prstGeom prst="rect">
            <a:avLst/>
          </a:prstGeom>
          <a:noFill/>
          <a:ln/>
        </p:spPr>
        <p:txBody>
          <a:bodyPr wrap="square" lIns="0" tIns="0" rIns="0" bIns="0" rtlCol="0" anchor="t"/>
          <a:lstStyle/>
          <a:p>
            <a:pPr indent="0" marL="0">
              <a:buNone/>
            </a:pPr>
            <a:r>
              <a:rPr lang="en-US" sz="2800" b="1" dirty="0">
                <a:solidFill>
                  <a:srgbClr val="07203C"/>
                </a:solidFill>
                <a:latin typeface="Malgun Gothic" pitchFamily="34" charset="0"/>
                <a:ea typeface="Malgun Gothic" pitchFamily="34" charset="-122"/>
                <a:cs typeface="Malgun Gothic" pitchFamily="34" charset="-120"/>
              </a:rPr>
              <a:t>하나의 화면에서 공시 · 뉴스 · 재무 · 주가 · 원자재까지 이어집니다</a:t>
            </a:r>
            <a:endParaRPr lang="en-US" sz="2800" dirty="0"/>
          </a:p>
        </p:txBody>
      </p:sp>
      <p:sp>
        <p:nvSpPr>
          <p:cNvPr id="4" name="Text 2"/>
          <p:cNvSpPr txBox="1"/>
          <p:nvPr/>
        </p:nvSpPr>
        <p:spPr>
          <a:xfrm>
            <a:off x="8332927" y="6437376"/>
            <a:ext cx="3291840" cy="219456"/>
          </a:xfrm>
          <a:prstGeom prst="rect">
            <a:avLst/>
          </a:prstGeom>
          <a:noFill/>
          <a:ln/>
        </p:spPr>
        <p:txBody>
          <a:bodyPr wrap="square" lIns="0" tIns="0" rIns="0" bIns="0" rtlCol="0" anchor="t"/>
          <a:lstStyle/>
          <a:p>
            <a:pPr algn="r" indent="0" marL="0">
              <a:buNone/>
            </a:pPr>
            <a:r>
              <a:rPr lang="en-US" sz="950" spc="60" kern="0" dirty="0">
                <a:solidFill>
                  <a:srgbClr val="8A9BAB"/>
                </a:solidFill>
                <a:latin typeface="Malgun Gothic" pitchFamily="34" charset="0"/>
                <a:ea typeface="Malgun Gothic" pitchFamily="34" charset="-122"/>
                <a:cs typeface="Malgun Gothic" pitchFamily="34" charset="-120"/>
              </a:rPr>
              <a:t>06 / 16     FUTURE:M RADAR</a:t>
            </a:r>
            <a:endParaRPr lang="en-US" sz="950" dirty="0"/>
          </a:p>
        </p:txBody>
      </p:sp>
      <p:sp>
        <p:nvSpPr>
          <p:cNvPr id="5" name="Shape 3"/>
          <p:cNvSpPr/>
          <p:nvPr/>
        </p:nvSpPr>
        <p:spPr>
          <a:xfrm>
            <a:off x="566928" y="1737360"/>
            <a:ext cx="3968496" cy="4462272"/>
          </a:xfrm>
          <a:prstGeom prst="roundRect">
            <a:avLst>
              <a:gd name="adj" fmla="val 1267"/>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6" name="Shape 4"/>
          <p:cNvSpPr/>
          <p:nvPr/>
        </p:nvSpPr>
        <p:spPr>
          <a:xfrm>
            <a:off x="841248" y="2011680"/>
            <a:ext cx="347472" cy="347472"/>
          </a:xfrm>
          <a:prstGeom prst="roundRect">
            <a:avLst>
              <a:gd name="adj" fmla="val 31579"/>
            </a:avLst>
          </a:prstGeom>
          <a:solidFill>
            <a:srgbClr val="17B7A6"/>
          </a:solidFill>
          <a:ln w="12700">
            <a:solidFill>
              <a:srgbClr val="17B7A6"/>
            </a:solidFill>
            <a:prstDash val="solid"/>
          </a:ln>
        </p:spPr>
      </p:sp>
      <p:sp>
        <p:nvSpPr>
          <p:cNvPr id="7" name="Text 5"/>
          <p:cNvSpPr txBox="1"/>
          <p:nvPr/>
        </p:nvSpPr>
        <p:spPr>
          <a:xfrm>
            <a:off x="841248" y="20116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01</a:t>
            </a:r>
            <a:endParaRPr lang="en-US" sz="1100" dirty="0"/>
          </a:p>
        </p:txBody>
      </p:sp>
      <p:sp>
        <p:nvSpPr>
          <p:cNvPr id="8" name="Text 6"/>
          <p:cNvSpPr txBox="1"/>
          <p:nvPr/>
        </p:nvSpPr>
        <p:spPr>
          <a:xfrm>
            <a:off x="1298448" y="2011680"/>
            <a:ext cx="3108960" cy="256032"/>
          </a:xfrm>
          <a:prstGeom prst="rect">
            <a:avLst/>
          </a:prstGeom>
          <a:noFill/>
          <a:ln/>
        </p:spPr>
        <p:txBody>
          <a:bodyPr wrap="square" lIns="0" tIns="0" rIns="0" bIns="0" rtlCol="0" anchor="t"/>
          <a:lstStyle/>
          <a:p>
            <a:pPr indent="0" marL="0">
              <a:buNone/>
            </a:pPr>
            <a:r>
              <a:rPr lang="en-US" sz="1350" b="1" dirty="0">
                <a:solidFill>
                  <a:srgbClr val="07203C"/>
                </a:solidFill>
                <a:latin typeface="Malgun Gothic" pitchFamily="34" charset="0"/>
                <a:ea typeface="Malgun Gothic" pitchFamily="34" charset="-122"/>
                <a:cs typeface="Malgun Gothic" pitchFamily="34" charset="-120"/>
              </a:rPr>
              <a:t>산업 인텔리전스</a:t>
            </a:r>
            <a:endParaRPr lang="en-US" sz="1350" dirty="0"/>
          </a:p>
        </p:txBody>
      </p:sp>
      <p:sp>
        <p:nvSpPr>
          <p:cNvPr id="9" name="Text 7"/>
          <p:cNvSpPr txBox="1"/>
          <p:nvPr/>
        </p:nvSpPr>
        <p:spPr>
          <a:xfrm>
            <a:off x="1298448" y="2322576"/>
            <a:ext cx="3108960" cy="365760"/>
          </a:xfrm>
          <a:prstGeom prst="rect">
            <a:avLst/>
          </a:prstGeom>
          <a:noFill/>
          <a:ln/>
        </p:spPr>
        <p:txBody>
          <a:bodyPr wrap="square" lIns="0" tIns="0" rIns="0" bIns="0" rtlCol="0" anchor="t"/>
          <a:lstStyle/>
          <a:p>
            <a:pPr indent="0" marL="0">
              <a:lnSpc>
                <a:spcPts val="1400"/>
              </a:lnSpc>
              <a:buNone/>
            </a:pPr>
            <a:r>
              <a:rPr lang="en-US" sz="1000" dirty="0">
                <a:solidFill>
                  <a:srgbClr val="6B7F92"/>
                </a:solidFill>
                <a:latin typeface="Malgun Gothic" pitchFamily="34" charset="0"/>
                <a:ea typeface="Malgun Gothic" pitchFamily="34" charset="-122"/>
                <a:cs typeface="Malgun Gothic" pitchFamily="34" charset="-120"/>
              </a:rPr>
              <a:t>9개사 공시·뉴스 통합 피드와 AI 데일리 브리핑</a:t>
            </a:r>
            <a:endParaRPr lang="en-US" sz="1000" dirty="0"/>
          </a:p>
        </p:txBody>
      </p:sp>
      <p:sp>
        <p:nvSpPr>
          <p:cNvPr id="10" name="Shape 8"/>
          <p:cNvSpPr/>
          <p:nvPr/>
        </p:nvSpPr>
        <p:spPr>
          <a:xfrm>
            <a:off x="841248" y="2834640"/>
            <a:ext cx="347472" cy="347472"/>
          </a:xfrm>
          <a:prstGeom prst="roundRect">
            <a:avLst>
              <a:gd name="adj" fmla="val 31579"/>
            </a:avLst>
          </a:prstGeom>
          <a:solidFill>
            <a:srgbClr val="07203C"/>
          </a:solidFill>
          <a:ln w="12700">
            <a:solidFill>
              <a:srgbClr val="07203C"/>
            </a:solidFill>
            <a:prstDash val="solid"/>
          </a:ln>
        </p:spPr>
      </p:sp>
      <p:sp>
        <p:nvSpPr>
          <p:cNvPr id="11" name="Text 9"/>
          <p:cNvSpPr txBox="1"/>
          <p:nvPr/>
        </p:nvSpPr>
        <p:spPr>
          <a:xfrm>
            <a:off x="841248" y="283464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02</a:t>
            </a:r>
            <a:endParaRPr lang="en-US" sz="1100" dirty="0"/>
          </a:p>
        </p:txBody>
      </p:sp>
      <p:sp>
        <p:nvSpPr>
          <p:cNvPr id="12" name="Text 10"/>
          <p:cNvSpPr txBox="1"/>
          <p:nvPr/>
        </p:nvSpPr>
        <p:spPr>
          <a:xfrm>
            <a:off x="1298448" y="2834640"/>
            <a:ext cx="3108960" cy="256032"/>
          </a:xfrm>
          <a:prstGeom prst="rect">
            <a:avLst/>
          </a:prstGeom>
          <a:noFill/>
          <a:ln/>
        </p:spPr>
        <p:txBody>
          <a:bodyPr wrap="square" lIns="0" tIns="0" rIns="0" bIns="0" rtlCol="0" anchor="t"/>
          <a:lstStyle/>
          <a:p>
            <a:pPr indent="0" marL="0">
              <a:buNone/>
            </a:pPr>
            <a:r>
              <a:rPr lang="en-US" sz="1350" b="1" dirty="0">
                <a:solidFill>
                  <a:srgbClr val="07203C"/>
                </a:solidFill>
                <a:latin typeface="Malgun Gothic" pitchFamily="34" charset="0"/>
                <a:ea typeface="Malgun Gothic" pitchFamily="34" charset="-122"/>
                <a:cs typeface="Malgun Gothic" pitchFamily="34" charset="-120"/>
              </a:rPr>
              <a:t>경쟁사 신호 히트맵</a:t>
            </a:r>
            <a:endParaRPr lang="en-US" sz="1350" dirty="0"/>
          </a:p>
        </p:txBody>
      </p:sp>
      <p:sp>
        <p:nvSpPr>
          <p:cNvPr id="13" name="Text 11"/>
          <p:cNvSpPr txBox="1"/>
          <p:nvPr/>
        </p:nvSpPr>
        <p:spPr>
          <a:xfrm>
            <a:off x="1298448" y="3145536"/>
            <a:ext cx="3108960" cy="365760"/>
          </a:xfrm>
          <a:prstGeom prst="rect">
            <a:avLst/>
          </a:prstGeom>
          <a:noFill/>
          <a:ln/>
        </p:spPr>
        <p:txBody>
          <a:bodyPr wrap="square" lIns="0" tIns="0" rIns="0" bIns="0" rtlCol="0" anchor="t"/>
          <a:lstStyle/>
          <a:p>
            <a:pPr indent="0" marL="0">
              <a:lnSpc>
                <a:spcPts val="1400"/>
              </a:lnSpc>
              <a:buNone/>
            </a:pPr>
            <a:r>
              <a:rPr lang="en-US" sz="1000" dirty="0">
                <a:solidFill>
                  <a:srgbClr val="6B7F92"/>
                </a:solidFill>
                <a:latin typeface="Malgun Gothic" pitchFamily="34" charset="0"/>
                <a:ea typeface="Malgun Gothic" pitchFamily="34" charset="-122"/>
                <a:cs typeface="Malgun Gothic" pitchFamily="34" charset="-120"/>
              </a:rPr>
              <a:t>4개 축으로 분류한 30일 이벤트 히트맵</a:t>
            </a:r>
            <a:endParaRPr lang="en-US" sz="1000" dirty="0"/>
          </a:p>
        </p:txBody>
      </p:sp>
      <p:sp>
        <p:nvSpPr>
          <p:cNvPr id="14" name="Shape 12"/>
          <p:cNvSpPr/>
          <p:nvPr/>
        </p:nvSpPr>
        <p:spPr>
          <a:xfrm>
            <a:off x="841248" y="3657600"/>
            <a:ext cx="347472" cy="347472"/>
          </a:xfrm>
          <a:prstGeom prst="roundRect">
            <a:avLst>
              <a:gd name="adj" fmla="val 31579"/>
            </a:avLst>
          </a:prstGeom>
          <a:solidFill>
            <a:srgbClr val="07203C"/>
          </a:solidFill>
          <a:ln w="12700">
            <a:solidFill>
              <a:srgbClr val="07203C"/>
            </a:solidFill>
            <a:prstDash val="solid"/>
          </a:ln>
        </p:spPr>
      </p:sp>
      <p:sp>
        <p:nvSpPr>
          <p:cNvPr id="15" name="Text 13"/>
          <p:cNvSpPr txBox="1"/>
          <p:nvPr/>
        </p:nvSpPr>
        <p:spPr>
          <a:xfrm>
            <a:off x="841248" y="365760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03</a:t>
            </a:r>
            <a:endParaRPr lang="en-US" sz="1100" dirty="0"/>
          </a:p>
        </p:txBody>
      </p:sp>
      <p:sp>
        <p:nvSpPr>
          <p:cNvPr id="16" name="Text 14"/>
          <p:cNvSpPr txBox="1"/>
          <p:nvPr/>
        </p:nvSpPr>
        <p:spPr>
          <a:xfrm>
            <a:off x="1298448" y="3657600"/>
            <a:ext cx="3108960" cy="256032"/>
          </a:xfrm>
          <a:prstGeom prst="rect">
            <a:avLst/>
          </a:prstGeom>
          <a:noFill/>
          <a:ln/>
        </p:spPr>
        <p:txBody>
          <a:bodyPr wrap="square" lIns="0" tIns="0" rIns="0" bIns="0" rtlCol="0" anchor="t"/>
          <a:lstStyle/>
          <a:p>
            <a:pPr indent="0" marL="0">
              <a:buNone/>
            </a:pPr>
            <a:r>
              <a:rPr lang="en-US" sz="1350" b="1" dirty="0">
                <a:solidFill>
                  <a:srgbClr val="07203C"/>
                </a:solidFill>
                <a:latin typeface="Malgun Gothic" pitchFamily="34" charset="0"/>
                <a:ea typeface="Malgun Gothic" pitchFamily="34" charset="-122"/>
                <a:cs typeface="Malgun Gothic" pitchFamily="34" charset="-120"/>
              </a:rPr>
              <a:t>기업 재무분석</a:t>
            </a:r>
            <a:endParaRPr lang="en-US" sz="1350" dirty="0"/>
          </a:p>
        </p:txBody>
      </p:sp>
      <p:sp>
        <p:nvSpPr>
          <p:cNvPr id="17" name="Text 15"/>
          <p:cNvSpPr txBox="1"/>
          <p:nvPr/>
        </p:nvSpPr>
        <p:spPr>
          <a:xfrm>
            <a:off x="1298448" y="3968496"/>
            <a:ext cx="3108960" cy="365760"/>
          </a:xfrm>
          <a:prstGeom prst="rect">
            <a:avLst/>
          </a:prstGeom>
          <a:noFill/>
          <a:ln/>
        </p:spPr>
        <p:txBody>
          <a:bodyPr wrap="square" lIns="0" tIns="0" rIns="0" bIns="0" rtlCol="0" anchor="t"/>
          <a:lstStyle/>
          <a:p>
            <a:pPr indent="0" marL="0">
              <a:lnSpc>
                <a:spcPts val="1400"/>
              </a:lnSpc>
              <a:buNone/>
            </a:pPr>
            <a:r>
              <a:rPr lang="en-US" sz="1000" dirty="0">
                <a:solidFill>
                  <a:srgbClr val="6B7F92"/>
                </a:solidFill>
                <a:latin typeface="Malgun Gothic" pitchFamily="34" charset="0"/>
                <a:ea typeface="Malgun Gothic" pitchFamily="34" charset="-122"/>
                <a:cs typeface="Malgun Gothic" pitchFamily="34" charset="-120"/>
              </a:rPr>
              <a:t>OpenDART 손익·재무상태·현금흐름 8분기</a:t>
            </a:r>
            <a:endParaRPr lang="en-US" sz="1000" dirty="0"/>
          </a:p>
        </p:txBody>
      </p:sp>
      <p:sp>
        <p:nvSpPr>
          <p:cNvPr id="18" name="Shape 16"/>
          <p:cNvSpPr/>
          <p:nvPr/>
        </p:nvSpPr>
        <p:spPr>
          <a:xfrm>
            <a:off x="841248" y="4480560"/>
            <a:ext cx="347472" cy="347472"/>
          </a:xfrm>
          <a:prstGeom prst="roundRect">
            <a:avLst>
              <a:gd name="adj" fmla="val 31579"/>
            </a:avLst>
          </a:prstGeom>
          <a:solidFill>
            <a:srgbClr val="07203C"/>
          </a:solidFill>
          <a:ln w="12700">
            <a:solidFill>
              <a:srgbClr val="07203C"/>
            </a:solidFill>
            <a:prstDash val="solid"/>
          </a:ln>
        </p:spPr>
      </p:sp>
      <p:sp>
        <p:nvSpPr>
          <p:cNvPr id="19" name="Text 17"/>
          <p:cNvSpPr txBox="1"/>
          <p:nvPr/>
        </p:nvSpPr>
        <p:spPr>
          <a:xfrm>
            <a:off x="841248" y="44805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04</a:t>
            </a:r>
            <a:endParaRPr lang="en-US" sz="1100" dirty="0"/>
          </a:p>
        </p:txBody>
      </p:sp>
      <p:sp>
        <p:nvSpPr>
          <p:cNvPr id="20" name="Text 18"/>
          <p:cNvSpPr txBox="1"/>
          <p:nvPr/>
        </p:nvSpPr>
        <p:spPr>
          <a:xfrm>
            <a:off x="1298448" y="4480560"/>
            <a:ext cx="3108960" cy="256032"/>
          </a:xfrm>
          <a:prstGeom prst="rect">
            <a:avLst/>
          </a:prstGeom>
          <a:noFill/>
          <a:ln/>
        </p:spPr>
        <p:txBody>
          <a:bodyPr wrap="square" lIns="0" tIns="0" rIns="0" bIns="0" rtlCol="0" anchor="t"/>
          <a:lstStyle/>
          <a:p>
            <a:pPr indent="0" marL="0">
              <a:buNone/>
            </a:pPr>
            <a:r>
              <a:rPr lang="en-US" sz="1350" b="1" dirty="0">
                <a:solidFill>
                  <a:srgbClr val="07203C"/>
                </a:solidFill>
                <a:latin typeface="Malgun Gothic" pitchFamily="34" charset="0"/>
                <a:ea typeface="Malgun Gothic" pitchFamily="34" charset="-122"/>
                <a:cs typeface="Malgun Gothic" pitchFamily="34" charset="-120"/>
              </a:rPr>
              <a:t>주가 분석</a:t>
            </a:r>
            <a:endParaRPr lang="en-US" sz="1350" dirty="0"/>
          </a:p>
        </p:txBody>
      </p:sp>
      <p:sp>
        <p:nvSpPr>
          <p:cNvPr id="21" name="Text 19"/>
          <p:cNvSpPr txBox="1"/>
          <p:nvPr/>
        </p:nvSpPr>
        <p:spPr>
          <a:xfrm>
            <a:off x="1298448" y="4791456"/>
            <a:ext cx="3108960" cy="365760"/>
          </a:xfrm>
          <a:prstGeom prst="rect">
            <a:avLst/>
          </a:prstGeom>
          <a:noFill/>
          <a:ln/>
        </p:spPr>
        <p:txBody>
          <a:bodyPr wrap="square" lIns="0" tIns="0" rIns="0" bIns="0" rtlCol="0" anchor="t"/>
          <a:lstStyle/>
          <a:p>
            <a:pPr indent="0" marL="0">
              <a:lnSpc>
                <a:spcPts val="1400"/>
              </a:lnSpc>
              <a:buNone/>
            </a:pPr>
            <a:r>
              <a:rPr lang="en-US" sz="1000" dirty="0">
                <a:solidFill>
                  <a:srgbClr val="6B7F92"/>
                </a:solidFill>
                <a:latin typeface="Malgun Gothic" pitchFamily="34" charset="0"/>
                <a:ea typeface="Malgun Gothic" pitchFamily="34" charset="-122"/>
                <a:cs typeface="Malgun Gothic" pitchFamily="34" charset="-120"/>
              </a:rPr>
              <a:t>이동평균·RSI·변동성, 경쟁사 상대수익률</a:t>
            </a:r>
            <a:endParaRPr lang="en-US" sz="1000" dirty="0"/>
          </a:p>
        </p:txBody>
      </p:sp>
      <p:sp>
        <p:nvSpPr>
          <p:cNvPr id="22" name="Shape 20"/>
          <p:cNvSpPr/>
          <p:nvPr/>
        </p:nvSpPr>
        <p:spPr>
          <a:xfrm>
            <a:off x="841248" y="5303520"/>
            <a:ext cx="347472" cy="347472"/>
          </a:xfrm>
          <a:prstGeom prst="roundRect">
            <a:avLst>
              <a:gd name="adj" fmla="val 31579"/>
            </a:avLst>
          </a:prstGeom>
          <a:solidFill>
            <a:srgbClr val="07203C"/>
          </a:solidFill>
          <a:ln w="12700">
            <a:solidFill>
              <a:srgbClr val="07203C"/>
            </a:solidFill>
            <a:prstDash val="solid"/>
          </a:ln>
        </p:spPr>
      </p:sp>
      <p:sp>
        <p:nvSpPr>
          <p:cNvPr id="23" name="Text 21"/>
          <p:cNvSpPr txBox="1"/>
          <p:nvPr/>
        </p:nvSpPr>
        <p:spPr>
          <a:xfrm>
            <a:off x="841248" y="53035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05</a:t>
            </a:r>
            <a:endParaRPr lang="en-US" sz="1100" dirty="0"/>
          </a:p>
        </p:txBody>
      </p:sp>
      <p:sp>
        <p:nvSpPr>
          <p:cNvPr id="24" name="Text 22"/>
          <p:cNvSpPr txBox="1"/>
          <p:nvPr/>
        </p:nvSpPr>
        <p:spPr>
          <a:xfrm>
            <a:off x="1298448" y="5303520"/>
            <a:ext cx="3108960" cy="256032"/>
          </a:xfrm>
          <a:prstGeom prst="rect">
            <a:avLst/>
          </a:prstGeom>
          <a:noFill/>
          <a:ln/>
        </p:spPr>
        <p:txBody>
          <a:bodyPr wrap="square" lIns="0" tIns="0" rIns="0" bIns="0" rtlCol="0" anchor="t"/>
          <a:lstStyle/>
          <a:p>
            <a:pPr indent="0" marL="0">
              <a:buNone/>
            </a:pPr>
            <a:r>
              <a:rPr lang="en-US" sz="1350" b="1" dirty="0">
                <a:solidFill>
                  <a:srgbClr val="07203C"/>
                </a:solidFill>
                <a:latin typeface="Malgun Gothic" pitchFamily="34" charset="0"/>
                <a:ea typeface="Malgun Gothic" pitchFamily="34" charset="-122"/>
                <a:cs typeface="Malgun Gothic" pitchFamily="34" charset="-120"/>
              </a:rPr>
              <a:t>원자재 가격</a:t>
            </a:r>
            <a:endParaRPr lang="en-US" sz="1350" dirty="0"/>
          </a:p>
        </p:txBody>
      </p:sp>
      <p:sp>
        <p:nvSpPr>
          <p:cNvPr id="25" name="Text 23"/>
          <p:cNvSpPr txBox="1"/>
          <p:nvPr/>
        </p:nvSpPr>
        <p:spPr>
          <a:xfrm>
            <a:off x="1298448" y="5614416"/>
            <a:ext cx="3108960" cy="365760"/>
          </a:xfrm>
          <a:prstGeom prst="rect">
            <a:avLst/>
          </a:prstGeom>
          <a:noFill/>
          <a:ln/>
        </p:spPr>
        <p:txBody>
          <a:bodyPr wrap="square" lIns="0" tIns="0" rIns="0" bIns="0" rtlCol="0" anchor="t"/>
          <a:lstStyle/>
          <a:p>
            <a:pPr indent="0" marL="0">
              <a:lnSpc>
                <a:spcPts val="1400"/>
              </a:lnSpc>
              <a:buNone/>
            </a:pPr>
            <a:r>
              <a:rPr lang="en-US" sz="1000" dirty="0">
                <a:solidFill>
                  <a:srgbClr val="6B7F92"/>
                </a:solidFill>
                <a:latin typeface="Malgun Gothic" pitchFamily="34" charset="0"/>
                <a:ea typeface="Malgun Gothic" pitchFamily="34" charset="-122"/>
                <a:cs typeface="Malgun Gothic" pitchFamily="34" charset="-120"/>
              </a:rPr>
              <a:t>KOMIS 리튬·니켈·코발트·망간 시세 수집</a:t>
            </a:r>
            <a:endParaRPr lang="en-US" sz="1000" dirty="0"/>
          </a:p>
        </p:txBody>
      </p:sp>
      <p:sp>
        <p:nvSpPr>
          <p:cNvPr id="26" name="Shape 24"/>
          <p:cNvSpPr/>
          <p:nvPr/>
        </p:nvSpPr>
        <p:spPr>
          <a:xfrm>
            <a:off x="4754880" y="1737360"/>
            <a:ext cx="6867144" cy="4462272"/>
          </a:xfrm>
          <a:prstGeom prst="roundRect">
            <a:avLst>
              <a:gd name="adj" fmla="val 1127"/>
            </a:avLst>
          </a:prstGeom>
          <a:solidFill>
            <a:srgbClr val="FFFFFF"/>
          </a:solidFill>
          <a:ln w="9525">
            <a:solidFill>
              <a:srgbClr val="FFFFFF"/>
            </a:solidFill>
            <a:prstDash val="solid"/>
          </a:ln>
          <a:effectLst>
            <a:outerShdw sx="100000" sy="100000" kx="0" ky="0" algn="bl" rotWithShape="0" blurRad="114300" dist="25400" dir="5400000">
              <a:srgbClr val="9FB3C6">
                <a:alpha val="28000"/>
              </a:srgbClr>
            </a:outerShdw>
          </a:effectLst>
        </p:spPr>
      </p:sp>
      <p:sp>
        <p:nvSpPr>
          <p:cNvPr id="27" name="Text 25"/>
          <p:cNvSpPr txBox="1"/>
          <p:nvPr/>
        </p:nvSpPr>
        <p:spPr>
          <a:xfrm>
            <a:off x="5047488" y="1883664"/>
            <a:ext cx="4572000" cy="219456"/>
          </a:xfrm>
          <a:prstGeom prst="rect">
            <a:avLst/>
          </a:prstGeom>
          <a:noFill/>
          <a:ln/>
        </p:spPr>
        <p:txBody>
          <a:bodyPr wrap="square" lIns="0" tIns="0" rIns="0" bIns="0" rtlCol="0" anchor="t"/>
          <a:lstStyle/>
          <a:p>
            <a:pPr indent="0" marL="0">
              <a:buNone/>
            </a:pPr>
            <a:r>
              <a:rPr lang="en-US" sz="1050" b="1" spc="60" kern="0" dirty="0">
                <a:solidFill>
                  <a:srgbClr val="0E8477"/>
                </a:solidFill>
                <a:latin typeface="Malgun Gothic" pitchFamily="34" charset="0"/>
                <a:ea typeface="Malgun Gothic" pitchFamily="34" charset="-122"/>
                <a:cs typeface="Malgun Gothic" pitchFamily="34" charset="-120"/>
              </a:rPr>
              <a:t>실제 구현 화면 · 산업 인텔리전스</a:t>
            </a:r>
            <a:endParaRPr lang="en-US" sz="1050" dirty="0"/>
          </a:p>
        </p:txBody>
      </p:sp>
      <p:sp>
        <p:nvSpPr>
          <p:cNvPr id="28" name="Shape 26"/>
          <p:cNvSpPr/>
          <p:nvPr/>
        </p:nvSpPr>
        <p:spPr>
          <a:xfrm>
            <a:off x="5047488" y="2157984"/>
            <a:ext cx="6281928" cy="3072384"/>
          </a:xfrm>
          <a:prstGeom prst="rect">
            <a:avLst/>
          </a:prstGeom>
          <a:solidFill>
            <a:srgbClr val="F1F6FA"/>
          </a:solidFill>
          <a:ln w="9525">
            <a:solidFill>
              <a:srgbClr val="DCE7F1"/>
            </a:solidFill>
            <a:prstDash val="solid"/>
          </a:ln>
        </p:spPr>
      </p:sp>
      <p:pic>
        <p:nvPicPr>
          <p:cNvPr id="29" name="Image 0" descr="C:\Users\POSCOFUTUREM\AppData\Local\Temp\claude\C--Users-POSCOFUTUREM-Desktop-FUTURE-M-RADAR\03eb9f10-e059-4022-9426-4bcf8a16f4d4\scratchpad\assets\main-dashboard.png">    </p:cNvPr>
          <p:cNvPicPr>
            <a:picLocks noChangeAspect="1"/>
          </p:cNvPicPr>
          <p:nvPr/>
        </p:nvPicPr>
        <p:blipFill>
          <a:blip r:embed="rId1"/>
          <a:stretch>
            <a:fillRect/>
          </a:stretch>
        </p:blipFill>
        <p:spPr>
          <a:xfrm>
            <a:off x="5047488" y="2157984"/>
            <a:ext cx="6281928" cy="3072384"/>
          </a:xfrm>
          <a:prstGeom prst="rect">
            <a:avLst/>
          </a:prstGeom>
        </p:spPr>
      </p:pic>
      <p:sp>
        <p:nvSpPr>
          <p:cNvPr id="30" name="Text 27"/>
          <p:cNvSpPr txBox="1"/>
          <p:nvPr/>
        </p:nvSpPr>
        <p:spPr>
          <a:xfrm>
            <a:off x="5047488" y="5413248"/>
            <a:ext cx="6309360" cy="585216"/>
          </a:xfrm>
          <a:prstGeom prst="rect">
            <a:avLst/>
          </a:prstGeom>
          <a:noFill/>
          <a:ln/>
        </p:spPr>
        <p:txBody>
          <a:bodyPr wrap="square" lIns="0" tIns="0" rIns="0" bIns="0" rtlCol="0" anchor="t"/>
          <a:lstStyle/>
          <a:p>
            <a:pPr indent="0" marL="0">
              <a:lnSpc>
                <a:spcPts val="1700"/>
              </a:lnSpc>
              <a:buNone/>
            </a:pPr>
            <a:r>
              <a:rPr lang="en-US" sz="1100" dirty="0">
                <a:solidFill>
                  <a:srgbClr val="6B7F92"/>
                </a:solidFill>
                <a:latin typeface="Malgun Gothic" pitchFamily="34" charset="0"/>
                <a:ea typeface="Malgun Gothic" pitchFamily="34" charset="-122"/>
                <a:cs typeface="Malgun Gothic" pitchFamily="34" charset="-120"/>
              </a:rPr>
              <a:t>좌측 사이드바에서 모니터링 기업을 관리하고, 상단 AI 데일리 브리핑이 그날 확인해야 할 3건을 자동 선별합니다.</a:t>
            </a:r>
            <a:endParaRPr lang="en-US" sz="1100" dirty="0"/>
          </a:p>
          <a:p>
            <a:pPr indent="0" marL="0">
              <a:lnSpc>
                <a:spcPts val="1700"/>
              </a:lnSpc>
              <a:buNone/>
            </a:pPr>
            <a:r>
              <a:rPr lang="en-US" sz="1100" dirty="0">
                <a:solidFill>
                  <a:srgbClr val="6B7F92"/>
                </a:solidFill>
                <a:latin typeface="Malgun Gothic" pitchFamily="34" charset="0"/>
                <a:ea typeface="Malgun Gothic" pitchFamily="34" charset="-122"/>
                <a:cs typeface="Malgun Gothic" pitchFamily="34" charset="-120"/>
              </a:rPr>
              <a:t>하단은 실시간 DART 공시와 뉴스 피드입니다.</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6FA"/>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37744"/>
          </a:xfrm>
          <a:prstGeom prst="rect">
            <a:avLst/>
          </a:prstGeom>
          <a:noFill/>
          <a:ln/>
        </p:spPr>
        <p:txBody>
          <a:bodyPr wrap="square" lIns="0" tIns="0" rIns="0" bIns="0" rtlCol="0" anchor="t"/>
          <a:lstStyle/>
          <a:p>
            <a:pPr indent="0" marL="0">
              <a:buNone/>
            </a:pPr>
            <a:r>
              <a:rPr lang="en-US" sz="1100" b="1" spc="110" kern="0" dirty="0">
                <a:solidFill>
                  <a:srgbClr val="0E8477"/>
                </a:solidFill>
                <a:latin typeface="Malgun Gothic" pitchFamily="34" charset="0"/>
                <a:ea typeface="Malgun Gothic" pitchFamily="34" charset="-122"/>
                <a:cs typeface="Malgun Gothic" pitchFamily="34" charset="-120"/>
              </a:rPr>
              <a:t>02  BUILD  ·  아키텍처</a:t>
            </a:r>
            <a:endParaRPr lang="en-US" sz="1100" dirty="0"/>
          </a:p>
        </p:txBody>
      </p:sp>
      <p:sp>
        <p:nvSpPr>
          <p:cNvPr id="3" name="Text 1"/>
          <p:cNvSpPr txBox="1"/>
          <p:nvPr/>
        </p:nvSpPr>
        <p:spPr>
          <a:xfrm>
            <a:off x="566928" y="713232"/>
            <a:ext cx="11057839" cy="566928"/>
          </a:xfrm>
          <a:prstGeom prst="rect">
            <a:avLst/>
          </a:prstGeom>
          <a:noFill/>
          <a:ln/>
        </p:spPr>
        <p:txBody>
          <a:bodyPr wrap="square" lIns="0" tIns="0" rIns="0" bIns="0" rtlCol="0" anchor="t"/>
          <a:lstStyle/>
          <a:p>
            <a:pPr indent="0" marL="0">
              <a:buNone/>
            </a:pPr>
            <a:r>
              <a:rPr lang="en-US" sz="3000" b="1" dirty="0">
                <a:solidFill>
                  <a:srgbClr val="07203C"/>
                </a:solidFill>
                <a:latin typeface="Malgun Gothic" pitchFamily="34" charset="0"/>
                <a:ea typeface="Malgun Gothic" pitchFamily="34" charset="-122"/>
                <a:cs typeface="Malgun Gothic" pitchFamily="34" charset="-120"/>
              </a:rPr>
              <a:t>수집 · 처리 · 분석 · 표현을 분리한 4계층 구조</a:t>
            </a:r>
            <a:endParaRPr lang="en-US" sz="3000" dirty="0"/>
          </a:p>
        </p:txBody>
      </p:sp>
      <p:sp>
        <p:nvSpPr>
          <p:cNvPr id="4" name="Text 2"/>
          <p:cNvSpPr txBox="1"/>
          <p:nvPr/>
        </p:nvSpPr>
        <p:spPr>
          <a:xfrm>
            <a:off x="8332927" y="6437376"/>
            <a:ext cx="3291840" cy="219456"/>
          </a:xfrm>
          <a:prstGeom prst="rect">
            <a:avLst/>
          </a:prstGeom>
          <a:noFill/>
          <a:ln/>
        </p:spPr>
        <p:txBody>
          <a:bodyPr wrap="square" lIns="0" tIns="0" rIns="0" bIns="0" rtlCol="0" anchor="t"/>
          <a:lstStyle/>
          <a:p>
            <a:pPr algn="r" indent="0" marL="0">
              <a:buNone/>
            </a:pPr>
            <a:r>
              <a:rPr lang="en-US" sz="950" spc="60" kern="0" dirty="0">
                <a:solidFill>
                  <a:srgbClr val="8A9BAB"/>
                </a:solidFill>
                <a:latin typeface="Malgun Gothic" pitchFamily="34" charset="0"/>
                <a:ea typeface="Malgun Gothic" pitchFamily="34" charset="-122"/>
                <a:cs typeface="Malgun Gothic" pitchFamily="34" charset="-120"/>
              </a:rPr>
              <a:t>07 / 16     FUTURE:M RADAR</a:t>
            </a:r>
            <a:endParaRPr lang="en-US" sz="950" dirty="0"/>
          </a:p>
        </p:txBody>
      </p:sp>
      <p:sp>
        <p:nvSpPr>
          <p:cNvPr id="5" name="Shape 3"/>
          <p:cNvSpPr/>
          <p:nvPr/>
        </p:nvSpPr>
        <p:spPr>
          <a:xfrm>
            <a:off x="566928" y="1810512"/>
            <a:ext cx="2551176" cy="2798064"/>
          </a:xfrm>
          <a:prstGeom prst="roundRect">
            <a:avLst>
              <a:gd name="adj" fmla="val 1971"/>
            </a:avLst>
          </a:prstGeom>
          <a:solidFill>
            <a:srgbClr val="10375D"/>
          </a:solidFill>
          <a:ln w="9525">
            <a:solidFill>
              <a:srgbClr val="10375D"/>
            </a:solidFill>
            <a:prstDash val="solid"/>
          </a:ln>
        </p:spPr>
      </p:sp>
      <p:sp>
        <p:nvSpPr>
          <p:cNvPr id="6" name="Text 4"/>
          <p:cNvSpPr txBox="1"/>
          <p:nvPr/>
        </p:nvSpPr>
        <p:spPr>
          <a:xfrm>
            <a:off x="804672" y="2048256"/>
            <a:ext cx="2075688" cy="237744"/>
          </a:xfrm>
          <a:prstGeom prst="rect">
            <a:avLst/>
          </a:prstGeom>
          <a:noFill/>
          <a:ln/>
        </p:spPr>
        <p:txBody>
          <a:bodyPr wrap="square" lIns="0" tIns="0" rIns="0" bIns="0" rtlCol="0" anchor="t"/>
          <a:lstStyle/>
          <a:p>
            <a:pPr indent="0" marL="0">
              <a:buNone/>
            </a:pPr>
            <a:r>
              <a:rPr lang="en-US" sz="1050" b="1" spc="100" kern="0" dirty="0">
                <a:solidFill>
                  <a:srgbClr val="6FE0D2"/>
                </a:solidFill>
                <a:latin typeface="Malgun Gothic" pitchFamily="34" charset="0"/>
                <a:ea typeface="Malgun Gothic" pitchFamily="34" charset="-122"/>
                <a:cs typeface="Malgun Gothic" pitchFamily="34" charset="-120"/>
              </a:rPr>
              <a:t>DATA SOURCES</a:t>
            </a:r>
            <a:endParaRPr lang="en-US" sz="1050" dirty="0"/>
          </a:p>
        </p:txBody>
      </p:sp>
      <p:sp>
        <p:nvSpPr>
          <p:cNvPr id="7" name="Text 5"/>
          <p:cNvSpPr txBox="1"/>
          <p:nvPr/>
        </p:nvSpPr>
        <p:spPr>
          <a:xfrm>
            <a:off x="804672" y="2340864"/>
            <a:ext cx="2075688" cy="274320"/>
          </a:xfrm>
          <a:prstGeom prst="rect">
            <a:avLst/>
          </a:prstGeom>
          <a:noFill/>
          <a:ln/>
        </p:spPr>
        <p:txBody>
          <a:bodyPr wrap="square" lIns="0" tIns="0" rIns="0" bIns="0" rtlCol="0" anchor="t"/>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외부 데이터 수집</a:t>
            </a:r>
            <a:endParaRPr lang="en-US" sz="1500" dirty="0"/>
          </a:p>
        </p:txBody>
      </p:sp>
      <p:sp>
        <p:nvSpPr>
          <p:cNvPr id="8" name="Text 6"/>
          <p:cNvSpPr txBox="1"/>
          <p:nvPr/>
        </p:nvSpPr>
        <p:spPr>
          <a:xfrm>
            <a:off x="804672" y="2779776"/>
            <a:ext cx="2093976" cy="1645920"/>
          </a:xfrm>
          <a:prstGeom prst="rect">
            <a:avLst/>
          </a:prstGeom>
          <a:noFill/>
          <a:ln/>
        </p:spPr>
        <p:txBody>
          <a:bodyPr wrap="square" lIns="0" tIns="0" rIns="0" bIns="0" rtlCol="0" anchor="t"/>
          <a:lstStyle/>
          <a:p>
            <a:pPr marL="342900" indent="-342900">
              <a:lnSpc>
                <a:spcPts val="1800"/>
              </a:lnSpc>
              <a:spcAft>
                <a:spcPts val="800"/>
              </a:spcAft>
              <a:buSzPct val="100000"/>
              <a:buChar char="•"/>
            </a:pPr>
            <a:r>
              <a:rPr lang="en-US" sz="1150" dirty="0">
                <a:solidFill>
                  <a:srgbClr val="A9C2D6"/>
                </a:solidFill>
                <a:latin typeface="Malgun Gothic" pitchFamily="34" charset="0"/>
                <a:ea typeface="Malgun Gothic" pitchFamily="34" charset="-122"/>
                <a:cs typeface="Malgun Gothic" pitchFamily="34" charset="-120"/>
              </a:rPr>
              <a:t>OpenDART 전자공시</a:t>
            </a:r>
            <a:endParaRPr lang="en-US" sz="1150" dirty="0"/>
          </a:p>
          <a:p>
            <a:pPr marL="342900" indent="-342900">
              <a:lnSpc>
                <a:spcPts val="1800"/>
              </a:lnSpc>
              <a:spcAft>
                <a:spcPts val="800"/>
              </a:spcAft>
              <a:buSzPct val="100000"/>
              <a:buChar char="•"/>
            </a:pPr>
            <a:r>
              <a:rPr lang="en-US" sz="1150" dirty="0">
                <a:solidFill>
                  <a:srgbClr val="A9C2D6"/>
                </a:solidFill>
                <a:latin typeface="Malgun Gothic" pitchFamily="34" charset="0"/>
                <a:ea typeface="Malgun Gothic" pitchFamily="34" charset="-122"/>
                <a:cs typeface="Malgun Gothic" pitchFamily="34" charset="-120"/>
              </a:rPr>
              <a:t>Google News RSS</a:t>
            </a:r>
            <a:endParaRPr lang="en-US" sz="1150" dirty="0"/>
          </a:p>
          <a:p>
            <a:pPr marL="342900" indent="-342900">
              <a:lnSpc>
                <a:spcPts val="1800"/>
              </a:lnSpc>
              <a:spcAft>
                <a:spcPts val="800"/>
              </a:spcAft>
              <a:buSzPct val="100000"/>
              <a:buChar char="•"/>
            </a:pPr>
            <a:r>
              <a:rPr lang="en-US" sz="1150" dirty="0">
                <a:solidFill>
                  <a:srgbClr val="A9C2D6"/>
                </a:solidFill>
                <a:latin typeface="Malgun Gothic" pitchFamily="34" charset="0"/>
                <a:ea typeface="Malgun Gothic" pitchFamily="34" charset="-122"/>
                <a:cs typeface="Malgun Gothic" pitchFamily="34" charset="-120"/>
              </a:rPr>
              <a:t>네이버 금융 시세</a:t>
            </a:r>
            <a:endParaRPr lang="en-US" sz="1150" dirty="0"/>
          </a:p>
          <a:p>
            <a:pPr marL="342900" indent="-342900">
              <a:lnSpc>
                <a:spcPts val="1800"/>
              </a:lnSpc>
              <a:spcAft>
                <a:spcPts val="800"/>
              </a:spcAft>
              <a:buSzPct val="100000"/>
              <a:buChar char="•"/>
            </a:pPr>
            <a:r>
              <a:rPr lang="en-US" sz="1150" dirty="0">
                <a:solidFill>
                  <a:srgbClr val="A9C2D6"/>
                </a:solidFill>
                <a:latin typeface="Malgun Gothic" pitchFamily="34" charset="0"/>
                <a:ea typeface="Malgun Gothic" pitchFamily="34" charset="-122"/>
                <a:cs typeface="Malgun Gothic" pitchFamily="34" charset="-120"/>
              </a:rPr>
              <a:t>KOMIS 광물가격</a:t>
            </a:r>
            <a:endParaRPr lang="en-US" sz="1150" dirty="0"/>
          </a:p>
        </p:txBody>
      </p:sp>
      <p:sp>
        <p:nvSpPr>
          <p:cNvPr id="9" name="Text 7"/>
          <p:cNvSpPr txBox="1"/>
          <p:nvPr/>
        </p:nvSpPr>
        <p:spPr>
          <a:xfrm>
            <a:off x="3145536" y="3026664"/>
            <a:ext cx="237744" cy="365760"/>
          </a:xfrm>
          <a:prstGeom prst="rect">
            <a:avLst/>
          </a:prstGeom>
          <a:noFill/>
          <a:ln/>
        </p:spPr>
        <p:txBody>
          <a:bodyPr wrap="square" lIns="0" tIns="0" rIns="0" bIns="0" rtlCol="0" anchor="ctr"/>
          <a:lstStyle/>
          <a:p>
            <a:pPr algn="ctr" indent="0" marL="0">
              <a:buNone/>
            </a:pPr>
            <a:r>
              <a:rPr lang="en-US" sz="2600" b="1" dirty="0">
                <a:solidFill>
                  <a:srgbClr val="17B7A6"/>
                </a:solidFill>
                <a:latin typeface="Malgun Gothic" pitchFamily="34" charset="0"/>
                <a:ea typeface="Malgun Gothic" pitchFamily="34" charset="-122"/>
                <a:cs typeface="Malgun Gothic" pitchFamily="34" charset="-120"/>
              </a:rPr>
              <a:t>›</a:t>
            </a:r>
            <a:endParaRPr lang="en-US" sz="2600" dirty="0"/>
          </a:p>
        </p:txBody>
      </p:sp>
      <p:sp>
        <p:nvSpPr>
          <p:cNvPr id="10" name="Shape 8"/>
          <p:cNvSpPr/>
          <p:nvPr/>
        </p:nvSpPr>
        <p:spPr>
          <a:xfrm>
            <a:off x="3410712" y="1810512"/>
            <a:ext cx="2551176" cy="2798064"/>
          </a:xfrm>
          <a:prstGeom prst="roundRect">
            <a:avLst>
              <a:gd name="adj" fmla="val 1971"/>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11" name="Text 9"/>
          <p:cNvSpPr txBox="1"/>
          <p:nvPr/>
        </p:nvSpPr>
        <p:spPr>
          <a:xfrm>
            <a:off x="3648456" y="2048256"/>
            <a:ext cx="2075688" cy="237744"/>
          </a:xfrm>
          <a:prstGeom prst="rect">
            <a:avLst/>
          </a:prstGeom>
          <a:noFill/>
          <a:ln/>
        </p:spPr>
        <p:txBody>
          <a:bodyPr wrap="square" lIns="0" tIns="0" rIns="0" bIns="0" rtlCol="0" anchor="t"/>
          <a:lstStyle/>
          <a:p>
            <a:pPr indent="0" marL="0">
              <a:buNone/>
            </a:pPr>
            <a:r>
              <a:rPr lang="en-US" sz="1050" b="1" spc="100" kern="0" dirty="0">
                <a:solidFill>
                  <a:srgbClr val="07203C"/>
                </a:solidFill>
                <a:latin typeface="Malgun Gothic" pitchFamily="34" charset="0"/>
                <a:ea typeface="Malgun Gothic" pitchFamily="34" charset="-122"/>
                <a:cs typeface="Malgun Gothic" pitchFamily="34" charset="-120"/>
              </a:rPr>
              <a:t>BACKEND</a:t>
            </a:r>
            <a:endParaRPr lang="en-US" sz="1050" dirty="0"/>
          </a:p>
        </p:txBody>
      </p:sp>
      <p:sp>
        <p:nvSpPr>
          <p:cNvPr id="12" name="Text 10"/>
          <p:cNvSpPr txBox="1"/>
          <p:nvPr/>
        </p:nvSpPr>
        <p:spPr>
          <a:xfrm>
            <a:off x="3648456" y="2340864"/>
            <a:ext cx="2075688" cy="274320"/>
          </a:xfrm>
          <a:prstGeom prst="rect">
            <a:avLst/>
          </a:prstGeom>
          <a:noFill/>
          <a:ln/>
        </p:spPr>
        <p:txBody>
          <a:bodyPr wrap="square" lIns="0" tIns="0" rIns="0" bIns="0" rtlCol="0" anchor="t"/>
          <a:lstStyle/>
          <a:p>
            <a:pPr indent="0" marL="0">
              <a:buNone/>
            </a:pPr>
            <a:r>
              <a:rPr lang="en-US" sz="1500" b="1" dirty="0">
                <a:solidFill>
                  <a:srgbClr val="07203C"/>
                </a:solidFill>
                <a:latin typeface="Malgun Gothic" pitchFamily="34" charset="0"/>
                <a:ea typeface="Malgun Gothic" pitchFamily="34" charset="-122"/>
                <a:cs typeface="Malgun Gothic" pitchFamily="34" charset="-120"/>
              </a:rPr>
              <a:t>FastAPI 처리 계층</a:t>
            </a:r>
            <a:endParaRPr lang="en-US" sz="1500" dirty="0"/>
          </a:p>
        </p:txBody>
      </p:sp>
      <p:sp>
        <p:nvSpPr>
          <p:cNvPr id="13" name="Text 11"/>
          <p:cNvSpPr txBox="1"/>
          <p:nvPr/>
        </p:nvSpPr>
        <p:spPr>
          <a:xfrm>
            <a:off x="3648456" y="2779776"/>
            <a:ext cx="2093976" cy="1645920"/>
          </a:xfrm>
          <a:prstGeom prst="rect">
            <a:avLst/>
          </a:prstGeom>
          <a:noFill/>
          <a:ln/>
        </p:spPr>
        <p:txBody>
          <a:bodyPr wrap="square" lIns="0" tIns="0" rIns="0" bIns="0" rtlCol="0" anchor="t"/>
          <a:lstStyle/>
          <a:p>
            <a:pPr marL="342900" indent="-342900">
              <a:lnSpc>
                <a:spcPts val="1800"/>
              </a:lnSpc>
              <a:spcAft>
                <a:spcPts val="800"/>
              </a:spcAft>
              <a:buSzPct val="100000"/>
              <a:buChar char="•"/>
            </a:pPr>
            <a:r>
              <a:rPr lang="en-US" sz="1150" dirty="0">
                <a:solidFill>
                  <a:srgbClr val="6B7F92"/>
                </a:solidFill>
                <a:latin typeface="Malgun Gothic" pitchFamily="34" charset="0"/>
                <a:ea typeface="Malgun Gothic" pitchFamily="34" charset="-122"/>
                <a:cs typeface="Malgun Gothic" pitchFamily="34" charset="-120"/>
              </a:rPr>
              <a:t>기업명 검증·별칭 매칭</a:t>
            </a:r>
            <a:endParaRPr lang="en-US" sz="1150" dirty="0"/>
          </a:p>
          <a:p>
            <a:pPr marL="342900" indent="-342900">
              <a:lnSpc>
                <a:spcPts val="1800"/>
              </a:lnSpc>
              <a:spcAft>
                <a:spcPts val="800"/>
              </a:spcAft>
              <a:buSzPct val="100000"/>
              <a:buChar char="•"/>
            </a:pPr>
            <a:r>
              <a:rPr lang="en-US" sz="1150" dirty="0">
                <a:solidFill>
                  <a:srgbClr val="6B7F92"/>
                </a:solidFill>
                <a:latin typeface="Malgun Gothic" pitchFamily="34" charset="0"/>
                <a:ea typeface="Malgun Gothic" pitchFamily="34" charset="-122"/>
                <a:cs typeface="Malgun Gothic" pitchFamily="34" charset="-120"/>
              </a:rPr>
              <a:t>9개사 병렬 수집</a:t>
            </a:r>
            <a:endParaRPr lang="en-US" sz="1150" dirty="0"/>
          </a:p>
          <a:p>
            <a:pPr marL="342900" indent="-342900">
              <a:lnSpc>
                <a:spcPts val="1800"/>
              </a:lnSpc>
              <a:spcAft>
                <a:spcPts val="800"/>
              </a:spcAft>
              <a:buSzPct val="100000"/>
              <a:buChar char="•"/>
            </a:pPr>
            <a:r>
              <a:rPr lang="en-US" sz="1150" dirty="0">
                <a:solidFill>
                  <a:srgbClr val="6B7F92"/>
                </a:solidFill>
                <a:latin typeface="Malgun Gothic" pitchFamily="34" charset="0"/>
                <a:ea typeface="Malgun Gothic" pitchFamily="34" charset="-122"/>
                <a:cs typeface="Malgun Gothic" pitchFamily="34" charset="-120"/>
              </a:rPr>
              <a:t>뉴스 중복 제거</a:t>
            </a:r>
            <a:endParaRPr lang="en-US" sz="1150" dirty="0"/>
          </a:p>
          <a:p>
            <a:pPr marL="342900" indent="-342900">
              <a:lnSpc>
                <a:spcPts val="1800"/>
              </a:lnSpc>
              <a:spcAft>
                <a:spcPts val="800"/>
              </a:spcAft>
              <a:buSzPct val="100000"/>
              <a:buChar char="•"/>
            </a:pPr>
            <a:r>
              <a:rPr lang="en-US" sz="1150" dirty="0">
                <a:solidFill>
                  <a:srgbClr val="6B7F92"/>
                </a:solidFill>
                <a:latin typeface="Malgun Gothic" pitchFamily="34" charset="0"/>
                <a:ea typeface="Malgun Gothic" pitchFamily="34" charset="-122"/>
                <a:cs typeface="Malgun Gothic" pitchFamily="34" charset="-120"/>
              </a:rPr>
              <a:t>주요 공시 12유형 판별</a:t>
            </a:r>
            <a:endParaRPr lang="en-US" sz="1150" dirty="0"/>
          </a:p>
        </p:txBody>
      </p:sp>
      <p:sp>
        <p:nvSpPr>
          <p:cNvPr id="14" name="Text 12"/>
          <p:cNvSpPr txBox="1"/>
          <p:nvPr/>
        </p:nvSpPr>
        <p:spPr>
          <a:xfrm>
            <a:off x="5989320" y="3026664"/>
            <a:ext cx="237744" cy="365760"/>
          </a:xfrm>
          <a:prstGeom prst="rect">
            <a:avLst/>
          </a:prstGeom>
          <a:noFill/>
          <a:ln/>
        </p:spPr>
        <p:txBody>
          <a:bodyPr wrap="square" lIns="0" tIns="0" rIns="0" bIns="0" rtlCol="0" anchor="ctr"/>
          <a:lstStyle/>
          <a:p>
            <a:pPr algn="ctr" indent="0" marL="0">
              <a:buNone/>
            </a:pPr>
            <a:r>
              <a:rPr lang="en-US" sz="2600" b="1" dirty="0">
                <a:solidFill>
                  <a:srgbClr val="17B7A6"/>
                </a:solidFill>
                <a:latin typeface="Malgun Gothic" pitchFamily="34" charset="0"/>
                <a:ea typeface="Malgun Gothic" pitchFamily="34" charset="-122"/>
                <a:cs typeface="Malgun Gothic" pitchFamily="34" charset="-120"/>
              </a:rPr>
              <a:t>›</a:t>
            </a:r>
            <a:endParaRPr lang="en-US" sz="2600" dirty="0"/>
          </a:p>
        </p:txBody>
      </p:sp>
      <p:sp>
        <p:nvSpPr>
          <p:cNvPr id="15" name="Shape 13"/>
          <p:cNvSpPr/>
          <p:nvPr/>
        </p:nvSpPr>
        <p:spPr>
          <a:xfrm>
            <a:off x="6254496" y="1810512"/>
            <a:ext cx="2551176" cy="2798064"/>
          </a:xfrm>
          <a:prstGeom prst="roundRect">
            <a:avLst>
              <a:gd name="adj" fmla="val 1971"/>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16" name="Text 14"/>
          <p:cNvSpPr txBox="1"/>
          <p:nvPr/>
        </p:nvSpPr>
        <p:spPr>
          <a:xfrm>
            <a:off x="6492240" y="2048256"/>
            <a:ext cx="2075688" cy="237744"/>
          </a:xfrm>
          <a:prstGeom prst="rect">
            <a:avLst/>
          </a:prstGeom>
          <a:noFill/>
          <a:ln/>
        </p:spPr>
        <p:txBody>
          <a:bodyPr wrap="square" lIns="0" tIns="0" rIns="0" bIns="0" rtlCol="0" anchor="t"/>
          <a:lstStyle/>
          <a:p>
            <a:pPr indent="0" marL="0">
              <a:buNone/>
            </a:pPr>
            <a:r>
              <a:rPr lang="en-US" sz="1050" b="1" spc="100" kern="0" dirty="0">
                <a:solidFill>
                  <a:srgbClr val="07203C"/>
                </a:solidFill>
                <a:latin typeface="Malgun Gothic" pitchFamily="34" charset="0"/>
                <a:ea typeface="Malgun Gothic" pitchFamily="34" charset="-122"/>
                <a:cs typeface="Malgun Gothic" pitchFamily="34" charset="-120"/>
              </a:rPr>
              <a:t>INTELLIGENCE</a:t>
            </a:r>
            <a:endParaRPr lang="en-US" sz="1050" dirty="0"/>
          </a:p>
        </p:txBody>
      </p:sp>
      <p:sp>
        <p:nvSpPr>
          <p:cNvPr id="17" name="Text 15"/>
          <p:cNvSpPr txBox="1"/>
          <p:nvPr/>
        </p:nvSpPr>
        <p:spPr>
          <a:xfrm>
            <a:off x="6492240" y="2340864"/>
            <a:ext cx="2075688" cy="274320"/>
          </a:xfrm>
          <a:prstGeom prst="rect">
            <a:avLst/>
          </a:prstGeom>
          <a:noFill/>
          <a:ln/>
        </p:spPr>
        <p:txBody>
          <a:bodyPr wrap="square" lIns="0" tIns="0" rIns="0" bIns="0" rtlCol="0" anchor="t"/>
          <a:lstStyle/>
          <a:p>
            <a:pPr indent="0" marL="0">
              <a:buNone/>
            </a:pPr>
            <a:r>
              <a:rPr lang="en-US" sz="1500" b="1" dirty="0">
                <a:solidFill>
                  <a:srgbClr val="07203C"/>
                </a:solidFill>
                <a:latin typeface="Malgun Gothic" pitchFamily="34" charset="0"/>
                <a:ea typeface="Malgun Gothic" pitchFamily="34" charset="-122"/>
                <a:cs typeface="Malgun Gothic" pitchFamily="34" charset="-120"/>
              </a:rPr>
              <a:t>AI 분석 계층</a:t>
            </a:r>
            <a:endParaRPr lang="en-US" sz="1500" dirty="0"/>
          </a:p>
        </p:txBody>
      </p:sp>
      <p:sp>
        <p:nvSpPr>
          <p:cNvPr id="18" name="Text 16"/>
          <p:cNvSpPr txBox="1"/>
          <p:nvPr/>
        </p:nvSpPr>
        <p:spPr>
          <a:xfrm>
            <a:off x="6492240" y="2779776"/>
            <a:ext cx="2093976" cy="1645920"/>
          </a:xfrm>
          <a:prstGeom prst="rect">
            <a:avLst/>
          </a:prstGeom>
          <a:noFill/>
          <a:ln/>
        </p:spPr>
        <p:txBody>
          <a:bodyPr wrap="square" lIns="0" tIns="0" rIns="0" bIns="0" rtlCol="0" anchor="t"/>
          <a:lstStyle/>
          <a:p>
            <a:pPr marL="342900" indent="-342900">
              <a:lnSpc>
                <a:spcPts val="1800"/>
              </a:lnSpc>
              <a:spcAft>
                <a:spcPts val="800"/>
              </a:spcAft>
              <a:buSzPct val="100000"/>
              <a:buChar char="•"/>
            </a:pPr>
            <a:r>
              <a:rPr lang="en-US" sz="1150" dirty="0">
                <a:solidFill>
                  <a:srgbClr val="6B7F92"/>
                </a:solidFill>
                <a:latin typeface="Malgun Gothic" pitchFamily="34" charset="0"/>
                <a:ea typeface="Malgun Gothic" pitchFamily="34" charset="-122"/>
                <a:cs typeface="Malgun Gothic" pitchFamily="34" charset="-120"/>
              </a:rPr>
              <a:t>Gemini flash-lite (1차)</a:t>
            </a:r>
            <a:endParaRPr lang="en-US" sz="1150" dirty="0"/>
          </a:p>
          <a:p>
            <a:pPr marL="342900" indent="-342900">
              <a:lnSpc>
                <a:spcPts val="1800"/>
              </a:lnSpc>
              <a:spcAft>
                <a:spcPts val="800"/>
              </a:spcAft>
              <a:buSzPct val="100000"/>
              <a:buChar char="•"/>
            </a:pPr>
            <a:r>
              <a:rPr lang="en-US" sz="1150" dirty="0">
                <a:solidFill>
                  <a:srgbClr val="6B7F92"/>
                </a:solidFill>
                <a:latin typeface="Malgun Gothic" pitchFamily="34" charset="0"/>
                <a:ea typeface="Malgun Gothic" pitchFamily="34" charset="-122"/>
                <a:cs typeface="Malgun Gothic" pitchFamily="34" charset="-120"/>
              </a:rPr>
              <a:t>OpenAI GPT-4o (폴백)</a:t>
            </a:r>
            <a:endParaRPr lang="en-US" sz="1150" dirty="0"/>
          </a:p>
          <a:p>
            <a:pPr marL="342900" indent="-342900">
              <a:lnSpc>
                <a:spcPts val="1800"/>
              </a:lnSpc>
              <a:spcAft>
                <a:spcPts val="800"/>
              </a:spcAft>
              <a:buSzPct val="100000"/>
              <a:buChar char="•"/>
            </a:pPr>
            <a:r>
              <a:rPr lang="en-US" sz="1150" dirty="0">
                <a:solidFill>
                  <a:srgbClr val="6B7F92"/>
                </a:solidFill>
                <a:latin typeface="Malgun Gothic" pitchFamily="34" charset="0"/>
                <a:ea typeface="Malgun Gothic" pitchFamily="34" charset="-122"/>
                <a:cs typeface="Malgun Gothic" pitchFamily="34" charset="-120"/>
              </a:rPr>
              <a:t>JSON 스키마 강제 검증</a:t>
            </a:r>
            <a:endParaRPr lang="en-US" sz="1150" dirty="0"/>
          </a:p>
          <a:p>
            <a:pPr marL="342900" indent="-342900">
              <a:lnSpc>
                <a:spcPts val="1800"/>
              </a:lnSpc>
              <a:spcAft>
                <a:spcPts val="800"/>
              </a:spcAft>
              <a:buSzPct val="100000"/>
              <a:buChar char="•"/>
            </a:pPr>
            <a:r>
              <a:rPr lang="en-US" sz="1150" dirty="0">
                <a:solidFill>
                  <a:srgbClr val="6B7F92"/>
                </a:solidFill>
                <a:latin typeface="Malgun Gothic" pitchFamily="34" charset="0"/>
                <a:ea typeface="Malgun Gothic" pitchFamily="34" charset="-122"/>
                <a:cs typeface="Malgun Gothic" pitchFamily="34" charset="-120"/>
              </a:rPr>
              <a:t>LangSmith 실행 추적</a:t>
            </a:r>
            <a:endParaRPr lang="en-US" sz="1150" dirty="0"/>
          </a:p>
        </p:txBody>
      </p:sp>
      <p:sp>
        <p:nvSpPr>
          <p:cNvPr id="19" name="Text 17"/>
          <p:cNvSpPr txBox="1"/>
          <p:nvPr/>
        </p:nvSpPr>
        <p:spPr>
          <a:xfrm>
            <a:off x="8833104" y="3026664"/>
            <a:ext cx="237744" cy="365760"/>
          </a:xfrm>
          <a:prstGeom prst="rect">
            <a:avLst/>
          </a:prstGeom>
          <a:noFill/>
          <a:ln/>
        </p:spPr>
        <p:txBody>
          <a:bodyPr wrap="square" lIns="0" tIns="0" rIns="0" bIns="0" rtlCol="0" anchor="ctr"/>
          <a:lstStyle/>
          <a:p>
            <a:pPr algn="ctr" indent="0" marL="0">
              <a:buNone/>
            </a:pPr>
            <a:r>
              <a:rPr lang="en-US" sz="2600" b="1" dirty="0">
                <a:solidFill>
                  <a:srgbClr val="17B7A6"/>
                </a:solidFill>
                <a:latin typeface="Malgun Gothic" pitchFamily="34" charset="0"/>
                <a:ea typeface="Malgun Gothic" pitchFamily="34" charset="-122"/>
                <a:cs typeface="Malgun Gothic" pitchFamily="34" charset="-120"/>
              </a:rPr>
              <a:t>›</a:t>
            </a:r>
            <a:endParaRPr lang="en-US" sz="2600" dirty="0"/>
          </a:p>
        </p:txBody>
      </p:sp>
      <p:sp>
        <p:nvSpPr>
          <p:cNvPr id="20" name="Shape 18"/>
          <p:cNvSpPr/>
          <p:nvPr/>
        </p:nvSpPr>
        <p:spPr>
          <a:xfrm>
            <a:off x="9098280" y="1810512"/>
            <a:ext cx="2551176" cy="2798064"/>
          </a:xfrm>
          <a:prstGeom prst="roundRect">
            <a:avLst>
              <a:gd name="adj" fmla="val 1971"/>
            </a:avLst>
          </a:prstGeom>
          <a:solidFill>
            <a:srgbClr val="07203C"/>
          </a:solidFill>
          <a:ln w="9525">
            <a:solidFill>
              <a:srgbClr val="07203C"/>
            </a:solidFill>
            <a:prstDash val="solid"/>
          </a:ln>
        </p:spPr>
      </p:sp>
      <p:sp>
        <p:nvSpPr>
          <p:cNvPr id="21" name="Text 19"/>
          <p:cNvSpPr txBox="1"/>
          <p:nvPr/>
        </p:nvSpPr>
        <p:spPr>
          <a:xfrm>
            <a:off x="9336024" y="2048256"/>
            <a:ext cx="2075688" cy="237744"/>
          </a:xfrm>
          <a:prstGeom prst="rect">
            <a:avLst/>
          </a:prstGeom>
          <a:noFill/>
          <a:ln/>
        </p:spPr>
        <p:txBody>
          <a:bodyPr wrap="square" lIns="0" tIns="0" rIns="0" bIns="0" rtlCol="0" anchor="t"/>
          <a:lstStyle/>
          <a:p>
            <a:pPr indent="0" marL="0">
              <a:buNone/>
            </a:pPr>
            <a:r>
              <a:rPr lang="en-US" sz="1050" b="1" spc="100" kern="0" dirty="0">
                <a:solidFill>
                  <a:srgbClr val="6FE0D2"/>
                </a:solidFill>
                <a:latin typeface="Malgun Gothic" pitchFamily="34" charset="0"/>
                <a:ea typeface="Malgun Gothic" pitchFamily="34" charset="-122"/>
                <a:cs typeface="Malgun Gothic" pitchFamily="34" charset="-120"/>
              </a:rPr>
              <a:t>OUTPUT</a:t>
            </a:r>
            <a:endParaRPr lang="en-US" sz="1050" dirty="0"/>
          </a:p>
        </p:txBody>
      </p:sp>
      <p:sp>
        <p:nvSpPr>
          <p:cNvPr id="22" name="Text 20"/>
          <p:cNvSpPr txBox="1"/>
          <p:nvPr/>
        </p:nvSpPr>
        <p:spPr>
          <a:xfrm>
            <a:off x="9336024" y="2340864"/>
            <a:ext cx="2075688" cy="274320"/>
          </a:xfrm>
          <a:prstGeom prst="rect">
            <a:avLst/>
          </a:prstGeom>
          <a:noFill/>
          <a:ln/>
        </p:spPr>
        <p:txBody>
          <a:bodyPr wrap="square" lIns="0" tIns="0" rIns="0" bIns="0" rtlCol="0" anchor="t"/>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표현 · 전달 계층</a:t>
            </a:r>
            <a:endParaRPr lang="en-US" sz="1500" dirty="0"/>
          </a:p>
        </p:txBody>
      </p:sp>
      <p:sp>
        <p:nvSpPr>
          <p:cNvPr id="23" name="Text 21"/>
          <p:cNvSpPr txBox="1"/>
          <p:nvPr/>
        </p:nvSpPr>
        <p:spPr>
          <a:xfrm>
            <a:off x="9336024" y="2779776"/>
            <a:ext cx="2093976" cy="1645920"/>
          </a:xfrm>
          <a:prstGeom prst="rect">
            <a:avLst/>
          </a:prstGeom>
          <a:noFill/>
          <a:ln/>
        </p:spPr>
        <p:txBody>
          <a:bodyPr wrap="square" lIns="0" tIns="0" rIns="0" bIns="0" rtlCol="0" anchor="t"/>
          <a:lstStyle/>
          <a:p>
            <a:pPr marL="342900" indent="-342900">
              <a:lnSpc>
                <a:spcPts val="1800"/>
              </a:lnSpc>
              <a:spcAft>
                <a:spcPts val="800"/>
              </a:spcAft>
              <a:buSzPct val="100000"/>
              <a:buChar char="•"/>
            </a:pPr>
            <a:r>
              <a:rPr lang="en-US" sz="1150" dirty="0">
                <a:solidFill>
                  <a:srgbClr val="A9C2D6"/>
                </a:solidFill>
                <a:latin typeface="Malgun Gothic" pitchFamily="34" charset="0"/>
                <a:ea typeface="Malgun Gothic" pitchFamily="34" charset="-122"/>
                <a:cs typeface="Malgun Gothic" pitchFamily="34" charset="-120"/>
              </a:rPr>
              <a:t>React 대시보드</a:t>
            </a:r>
            <a:endParaRPr lang="en-US" sz="1150" dirty="0"/>
          </a:p>
          <a:p>
            <a:pPr marL="342900" indent="-342900">
              <a:lnSpc>
                <a:spcPts val="1800"/>
              </a:lnSpc>
              <a:spcAft>
                <a:spcPts val="800"/>
              </a:spcAft>
              <a:buSzPct val="100000"/>
              <a:buChar char="•"/>
            </a:pPr>
            <a:r>
              <a:rPr lang="en-US" sz="1150" dirty="0">
                <a:solidFill>
                  <a:srgbClr val="A9C2D6"/>
                </a:solidFill>
                <a:latin typeface="Malgun Gothic" pitchFamily="34" charset="0"/>
                <a:ea typeface="Malgun Gothic" pitchFamily="34" charset="-122"/>
                <a:cs typeface="Malgun Gothic" pitchFamily="34" charset="-120"/>
              </a:rPr>
              <a:t>Telegram 자동 알림</a:t>
            </a:r>
            <a:endParaRPr lang="en-US" sz="1150" dirty="0"/>
          </a:p>
          <a:p>
            <a:pPr marL="342900" indent="-342900">
              <a:lnSpc>
                <a:spcPts val="1800"/>
              </a:lnSpc>
              <a:spcAft>
                <a:spcPts val="800"/>
              </a:spcAft>
              <a:buSzPct val="100000"/>
              <a:buChar char="•"/>
            </a:pPr>
            <a:r>
              <a:rPr lang="en-US" sz="1150" dirty="0">
                <a:solidFill>
                  <a:srgbClr val="A9C2D6"/>
                </a:solidFill>
                <a:latin typeface="Malgun Gothic" pitchFamily="34" charset="0"/>
                <a:ea typeface="Malgun Gothic" pitchFamily="34" charset="-122"/>
                <a:cs typeface="Malgun Gothic" pitchFamily="34" charset="-120"/>
              </a:rPr>
              <a:t>이메일(SMTP) 발송</a:t>
            </a:r>
            <a:endParaRPr lang="en-US" sz="1150" dirty="0"/>
          </a:p>
          <a:p>
            <a:pPr marL="342900" indent="-342900">
              <a:lnSpc>
                <a:spcPts val="1800"/>
              </a:lnSpc>
              <a:spcAft>
                <a:spcPts val="800"/>
              </a:spcAft>
              <a:buSzPct val="100000"/>
              <a:buChar char="•"/>
            </a:pPr>
            <a:r>
              <a:rPr lang="en-US" sz="1150" dirty="0">
                <a:solidFill>
                  <a:srgbClr val="A9C2D6"/>
                </a:solidFill>
                <a:latin typeface="Malgun Gothic" pitchFamily="34" charset="0"/>
                <a:ea typeface="Malgun Gothic" pitchFamily="34" charset="-122"/>
                <a:cs typeface="Malgun Gothic" pitchFamily="34" charset="-120"/>
              </a:rPr>
              <a:t>발송 이력 SQLite 기록</a:t>
            </a:r>
            <a:endParaRPr lang="en-US" sz="1150" dirty="0"/>
          </a:p>
        </p:txBody>
      </p:sp>
      <p:sp>
        <p:nvSpPr>
          <p:cNvPr id="24" name="Shape 22"/>
          <p:cNvSpPr/>
          <p:nvPr/>
        </p:nvSpPr>
        <p:spPr>
          <a:xfrm>
            <a:off x="566928" y="4846320"/>
            <a:ext cx="5431536" cy="1243584"/>
          </a:xfrm>
          <a:prstGeom prst="roundRect">
            <a:avLst>
              <a:gd name="adj" fmla="val 4044"/>
            </a:avLst>
          </a:prstGeom>
          <a:solidFill>
            <a:srgbClr val="E7EFF7"/>
          </a:solidFill>
          <a:ln w="9525">
            <a:solidFill>
              <a:srgbClr val="CBDCEB"/>
            </a:solidFill>
            <a:prstDash val="solid"/>
          </a:ln>
        </p:spPr>
      </p:sp>
      <p:sp>
        <p:nvSpPr>
          <p:cNvPr id="25" name="Text 23"/>
          <p:cNvSpPr txBox="1"/>
          <p:nvPr/>
        </p:nvSpPr>
        <p:spPr>
          <a:xfrm>
            <a:off x="841248" y="5065776"/>
            <a:ext cx="4846320" cy="256032"/>
          </a:xfrm>
          <a:prstGeom prst="rect">
            <a:avLst/>
          </a:prstGeom>
          <a:noFill/>
          <a:ln/>
        </p:spPr>
        <p:txBody>
          <a:bodyPr wrap="square" lIns="0" tIns="0" rIns="0" bIns="0" rtlCol="0" anchor="t"/>
          <a:lstStyle/>
          <a:p>
            <a:pPr indent="0" marL="0">
              <a:buNone/>
            </a:pPr>
            <a:r>
              <a:rPr lang="en-US" sz="1250" b="1" dirty="0">
                <a:solidFill>
                  <a:srgbClr val="07203C"/>
                </a:solidFill>
                <a:latin typeface="Malgun Gothic" pitchFamily="34" charset="0"/>
                <a:ea typeface="Malgun Gothic" pitchFamily="34" charset="-122"/>
                <a:cs typeface="Malgun Gothic" pitchFamily="34" charset="-120"/>
              </a:rPr>
              <a:t>상시 실행 백그라운드 워커 2개</a:t>
            </a:r>
            <a:endParaRPr lang="en-US" sz="1250" dirty="0"/>
          </a:p>
        </p:txBody>
      </p:sp>
      <p:sp>
        <p:nvSpPr>
          <p:cNvPr id="26" name="Text 24"/>
          <p:cNvSpPr txBox="1"/>
          <p:nvPr/>
        </p:nvSpPr>
        <p:spPr>
          <a:xfrm>
            <a:off x="841248" y="5376672"/>
            <a:ext cx="4937760" cy="512064"/>
          </a:xfrm>
          <a:prstGeom prst="rect">
            <a:avLst/>
          </a:prstGeom>
          <a:noFill/>
          <a:ln/>
        </p:spPr>
        <p:txBody>
          <a:bodyPr wrap="square" lIns="0" tIns="0" rIns="0" bIns="0" rtlCol="0" anchor="t"/>
          <a:lstStyle/>
          <a:p>
            <a:pPr indent="0" marL="0">
              <a:lnSpc>
                <a:spcPts val="1600"/>
              </a:lnSpc>
              <a:buNone/>
            </a:pPr>
            <a:r>
              <a:rPr lang="en-US" sz="1100" dirty="0">
                <a:solidFill>
                  <a:srgbClr val="6B7F92"/>
                </a:solidFill>
                <a:latin typeface="Malgun Gothic" pitchFamily="34" charset="0"/>
                <a:ea typeface="Malgun Gothic" pitchFamily="34" charset="-122"/>
                <a:cs typeface="Malgun Gothic" pitchFamily="34" charset="-120"/>
              </a:rPr>
              <a:t>중요 공시 스캔 5분 주기  ·  KOMIS 원자재 수집 1시간 주기</a:t>
            </a:r>
            <a:endParaRPr lang="en-US" sz="1100" dirty="0"/>
          </a:p>
          <a:p>
            <a:pPr indent="0" marL="0">
              <a:lnSpc>
                <a:spcPts val="1600"/>
              </a:lnSpc>
              <a:buNone/>
            </a:pPr>
            <a:r>
              <a:rPr lang="en-US" sz="1100" dirty="0">
                <a:solidFill>
                  <a:srgbClr val="6B7F92"/>
                </a:solidFill>
                <a:latin typeface="Malgun Gothic" pitchFamily="34" charset="0"/>
                <a:ea typeface="Malgun Gothic" pitchFamily="34" charset="-122"/>
                <a:cs typeface="Malgun Gothic" pitchFamily="34" charset="-120"/>
              </a:rPr>
              <a:t>FastAPI lifespan에서 asyncio 태스크로 기동·정리합니다.</a:t>
            </a:r>
            <a:endParaRPr lang="en-US" sz="1100" dirty="0"/>
          </a:p>
        </p:txBody>
      </p:sp>
      <p:sp>
        <p:nvSpPr>
          <p:cNvPr id="27" name="Shape 25"/>
          <p:cNvSpPr/>
          <p:nvPr/>
        </p:nvSpPr>
        <p:spPr>
          <a:xfrm>
            <a:off x="6190488" y="4846320"/>
            <a:ext cx="5431536" cy="1243584"/>
          </a:xfrm>
          <a:prstGeom prst="roundRect">
            <a:avLst>
              <a:gd name="adj" fmla="val 4044"/>
            </a:avLst>
          </a:prstGeom>
          <a:solidFill>
            <a:srgbClr val="E7EFF7"/>
          </a:solidFill>
          <a:ln w="9525">
            <a:solidFill>
              <a:srgbClr val="CBDCEB"/>
            </a:solidFill>
            <a:prstDash val="solid"/>
          </a:ln>
        </p:spPr>
      </p:sp>
      <p:sp>
        <p:nvSpPr>
          <p:cNvPr id="28" name="Text 26"/>
          <p:cNvSpPr txBox="1"/>
          <p:nvPr/>
        </p:nvSpPr>
        <p:spPr>
          <a:xfrm>
            <a:off x="6464808" y="5065776"/>
            <a:ext cx="4846320" cy="256032"/>
          </a:xfrm>
          <a:prstGeom prst="rect">
            <a:avLst/>
          </a:prstGeom>
          <a:noFill/>
          <a:ln/>
        </p:spPr>
        <p:txBody>
          <a:bodyPr wrap="square" lIns="0" tIns="0" rIns="0" bIns="0" rtlCol="0" anchor="t"/>
          <a:lstStyle/>
          <a:p>
            <a:pPr indent="0" marL="0">
              <a:buNone/>
            </a:pPr>
            <a:r>
              <a:rPr lang="en-US" sz="1250" b="1" dirty="0">
                <a:solidFill>
                  <a:srgbClr val="07203C"/>
                </a:solidFill>
                <a:latin typeface="Malgun Gothic" pitchFamily="34" charset="0"/>
                <a:ea typeface="Malgun Gothic" pitchFamily="34" charset="-122"/>
                <a:cs typeface="Malgun Gothic" pitchFamily="34" charset="-120"/>
              </a:rPr>
              <a:t>이렇게 나눈 이유</a:t>
            </a:r>
            <a:endParaRPr lang="en-US" sz="1250" dirty="0"/>
          </a:p>
        </p:txBody>
      </p:sp>
      <p:sp>
        <p:nvSpPr>
          <p:cNvPr id="29" name="Text 27"/>
          <p:cNvSpPr txBox="1"/>
          <p:nvPr/>
        </p:nvSpPr>
        <p:spPr>
          <a:xfrm>
            <a:off x="6464808" y="5376672"/>
            <a:ext cx="4937760" cy="512064"/>
          </a:xfrm>
          <a:prstGeom prst="rect">
            <a:avLst/>
          </a:prstGeom>
          <a:noFill/>
          <a:ln/>
        </p:spPr>
        <p:txBody>
          <a:bodyPr wrap="square" lIns="0" tIns="0" rIns="0" bIns="0" rtlCol="0" anchor="t"/>
          <a:lstStyle/>
          <a:p>
            <a:pPr indent="0" marL="0">
              <a:lnSpc>
                <a:spcPts val="1600"/>
              </a:lnSpc>
              <a:buNone/>
            </a:pPr>
            <a:r>
              <a:rPr lang="en-US" sz="1100" dirty="0">
                <a:solidFill>
                  <a:srgbClr val="6B7F92"/>
                </a:solidFill>
                <a:latin typeface="Malgun Gothic" pitchFamily="34" charset="0"/>
                <a:ea typeface="Malgun Gothic" pitchFamily="34" charset="-122"/>
                <a:cs typeface="Malgun Gothic" pitchFamily="34" charset="-120"/>
              </a:rPr>
              <a:t>데이터 소스가 바뀌어도 분석·표현 계층은 그대로 둘 수 있습니다.</a:t>
            </a:r>
            <a:endParaRPr lang="en-US" sz="1100" dirty="0"/>
          </a:p>
          <a:p>
            <a:pPr indent="0" marL="0">
              <a:lnSpc>
                <a:spcPts val="1600"/>
              </a:lnSpc>
              <a:buNone/>
            </a:pPr>
            <a:r>
              <a:rPr lang="en-US" sz="1100" dirty="0">
                <a:solidFill>
                  <a:srgbClr val="6B7F92"/>
                </a:solidFill>
                <a:latin typeface="Malgun Gothic" pitchFamily="34" charset="0"/>
                <a:ea typeface="Malgun Gothic" pitchFamily="34" charset="-122"/>
                <a:cs typeface="Malgun Gothic" pitchFamily="34" charset="-120"/>
              </a:rPr>
              <a:t>실제로 원자재 소스를 SMM에서 KOMIS로 교체할 때 수집 모듈만 바꿨습니다.</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6FA"/>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37744"/>
          </a:xfrm>
          <a:prstGeom prst="rect">
            <a:avLst/>
          </a:prstGeom>
          <a:noFill/>
          <a:ln/>
        </p:spPr>
        <p:txBody>
          <a:bodyPr wrap="square" lIns="0" tIns="0" rIns="0" bIns="0" rtlCol="0" anchor="t"/>
          <a:lstStyle/>
          <a:p>
            <a:pPr indent="0" marL="0">
              <a:buNone/>
            </a:pPr>
            <a:r>
              <a:rPr lang="en-US" sz="1100" b="1" spc="110" kern="0" dirty="0">
                <a:solidFill>
                  <a:srgbClr val="0E8477"/>
                </a:solidFill>
                <a:latin typeface="Malgun Gothic" pitchFamily="34" charset="0"/>
                <a:ea typeface="Malgun Gothic" pitchFamily="34" charset="-122"/>
                <a:cs typeface="Malgun Gothic" pitchFamily="34" charset="-120"/>
              </a:rPr>
              <a:t>02  BUILD  ·  기술 스택</a:t>
            </a:r>
            <a:endParaRPr lang="en-US" sz="1100" dirty="0"/>
          </a:p>
        </p:txBody>
      </p:sp>
      <p:sp>
        <p:nvSpPr>
          <p:cNvPr id="3" name="Text 1"/>
          <p:cNvSpPr txBox="1"/>
          <p:nvPr/>
        </p:nvSpPr>
        <p:spPr>
          <a:xfrm>
            <a:off x="566928" y="713232"/>
            <a:ext cx="11057839" cy="566928"/>
          </a:xfrm>
          <a:prstGeom prst="rect">
            <a:avLst/>
          </a:prstGeom>
          <a:noFill/>
          <a:ln/>
        </p:spPr>
        <p:txBody>
          <a:bodyPr wrap="square" lIns="0" tIns="0" rIns="0" bIns="0" rtlCol="0" anchor="t"/>
          <a:lstStyle/>
          <a:p>
            <a:pPr indent="0" marL="0">
              <a:buNone/>
            </a:pPr>
            <a:r>
              <a:rPr lang="en-US" sz="2800" b="1" dirty="0">
                <a:solidFill>
                  <a:srgbClr val="07203C"/>
                </a:solidFill>
                <a:latin typeface="Malgun Gothic" pitchFamily="34" charset="0"/>
                <a:ea typeface="Malgun Gothic" pitchFamily="34" charset="-122"/>
                <a:cs typeface="Malgun Gothic" pitchFamily="34" charset="-120"/>
              </a:rPr>
              <a:t>교육에서 배운 기술을 예제가 아니라 운영 구조에 적용했습니다</a:t>
            </a:r>
            <a:endParaRPr lang="en-US" sz="2800" dirty="0"/>
          </a:p>
        </p:txBody>
      </p:sp>
      <p:sp>
        <p:nvSpPr>
          <p:cNvPr id="4" name="Text 2"/>
          <p:cNvSpPr txBox="1"/>
          <p:nvPr/>
        </p:nvSpPr>
        <p:spPr>
          <a:xfrm>
            <a:off x="8332927" y="6437376"/>
            <a:ext cx="3291840" cy="219456"/>
          </a:xfrm>
          <a:prstGeom prst="rect">
            <a:avLst/>
          </a:prstGeom>
          <a:noFill/>
          <a:ln/>
        </p:spPr>
        <p:txBody>
          <a:bodyPr wrap="square" lIns="0" tIns="0" rIns="0" bIns="0" rtlCol="0" anchor="t"/>
          <a:lstStyle/>
          <a:p>
            <a:pPr algn="r" indent="0" marL="0">
              <a:buNone/>
            </a:pPr>
            <a:r>
              <a:rPr lang="en-US" sz="950" spc="60" kern="0" dirty="0">
                <a:solidFill>
                  <a:srgbClr val="8A9BAB"/>
                </a:solidFill>
                <a:latin typeface="Malgun Gothic" pitchFamily="34" charset="0"/>
                <a:ea typeface="Malgun Gothic" pitchFamily="34" charset="-122"/>
                <a:cs typeface="Malgun Gothic" pitchFamily="34" charset="-120"/>
              </a:rPr>
              <a:t>08 / 16     FUTURE:M RADAR</a:t>
            </a:r>
            <a:endParaRPr lang="en-US" sz="950" dirty="0"/>
          </a:p>
        </p:txBody>
      </p:sp>
      <p:sp>
        <p:nvSpPr>
          <p:cNvPr id="5" name="Shape 3"/>
          <p:cNvSpPr/>
          <p:nvPr/>
        </p:nvSpPr>
        <p:spPr>
          <a:xfrm>
            <a:off x="566928" y="1737360"/>
            <a:ext cx="3529584" cy="1682496"/>
          </a:xfrm>
          <a:prstGeom prst="roundRect">
            <a:avLst>
              <a:gd name="adj" fmla="val 2989"/>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6" name="Shape 4"/>
          <p:cNvSpPr/>
          <p:nvPr/>
        </p:nvSpPr>
        <p:spPr>
          <a:xfrm>
            <a:off x="841248" y="1975104"/>
            <a:ext cx="310896" cy="310896"/>
          </a:xfrm>
          <a:prstGeom prst="ellipse">
            <a:avLst/>
          </a:prstGeom>
          <a:solidFill>
            <a:srgbClr val="2C6FE3"/>
          </a:solidFill>
          <a:ln w="12700">
            <a:solidFill>
              <a:srgbClr val="2C6FE3"/>
            </a:solidFill>
            <a:prstDash val="solid"/>
          </a:ln>
        </p:spPr>
      </p:sp>
      <p:sp>
        <p:nvSpPr>
          <p:cNvPr id="7" name="Text 5"/>
          <p:cNvSpPr txBox="1"/>
          <p:nvPr/>
        </p:nvSpPr>
        <p:spPr>
          <a:xfrm>
            <a:off x="1261872" y="1993392"/>
            <a:ext cx="2615184" cy="274320"/>
          </a:xfrm>
          <a:prstGeom prst="rect">
            <a:avLst/>
          </a:prstGeom>
          <a:noFill/>
          <a:ln/>
        </p:spPr>
        <p:txBody>
          <a:bodyPr wrap="square" lIns="0" tIns="0" rIns="0" bIns="0" rtlCol="0" anchor="t"/>
          <a:lstStyle/>
          <a:p>
            <a:pPr indent="0" marL="0">
              <a:buNone/>
            </a:pPr>
            <a:r>
              <a:rPr lang="en-US" sz="1450" b="1" dirty="0">
                <a:solidFill>
                  <a:srgbClr val="07203C"/>
                </a:solidFill>
                <a:latin typeface="Malgun Gothic" pitchFamily="34" charset="0"/>
                <a:ea typeface="Malgun Gothic" pitchFamily="34" charset="-122"/>
                <a:cs typeface="Malgun Gothic" pitchFamily="34" charset="-120"/>
              </a:rPr>
              <a:t>Frontend</a:t>
            </a:r>
            <a:endParaRPr lang="en-US" sz="1450" dirty="0"/>
          </a:p>
        </p:txBody>
      </p:sp>
      <p:sp>
        <p:nvSpPr>
          <p:cNvPr id="8" name="Text 6"/>
          <p:cNvSpPr txBox="1"/>
          <p:nvPr/>
        </p:nvSpPr>
        <p:spPr>
          <a:xfrm>
            <a:off x="841248" y="2414016"/>
            <a:ext cx="2980944" cy="896112"/>
          </a:xfrm>
          <a:prstGeom prst="rect">
            <a:avLst/>
          </a:prstGeom>
          <a:noFill/>
          <a:ln/>
        </p:spPr>
        <p:txBody>
          <a:bodyPr wrap="square" lIns="0" tIns="0" rIns="0" bIns="0" rtlCol="0" anchor="t"/>
          <a:lstStyle/>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React 19 + Vite</a:t>
            </a:r>
            <a:endParaRPr lang="en-US" sz="1100" dirty="0"/>
          </a:p>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Recharts 차트</a:t>
            </a:r>
            <a:endParaRPr lang="en-US" sz="1100" dirty="0"/>
          </a:p>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Lucide 아이콘</a:t>
            </a:r>
            <a:endParaRPr lang="en-US" sz="1100" dirty="0"/>
          </a:p>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단일 페이지 · 5개 뷰</a:t>
            </a:r>
            <a:endParaRPr lang="en-US" sz="1100" dirty="0"/>
          </a:p>
        </p:txBody>
      </p:sp>
      <p:sp>
        <p:nvSpPr>
          <p:cNvPr id="9" name="Shape 7"/>
          <p:cNvSpPr/>
          <p:nvPr/>
        </p:nvSpPr>
        <p:spPr>
          <a:xfrm>
            <a:off x="4361688" y="1737360"/>
            <a:ext cx="3529584" cy="1682496"/>
          </a:xfrm>
          <a:prstGeom prst="roundRect">
            <a:avLst>
              <a:gd name="adj" fmla="val 2989"/>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10" name="Shape 8"/>
          <p:cNvSpPr/>
          <p:nvPr/>
        </p:nvSpPr>
        <p:spPr>
          <a:xfrm>
            <a:off x="4636008" y="1975104"/>
            <a:ext cx="310896" cy="310896"/>
          </a:xfrm>
          <a:prstGeom prst="ellipse">
            <a:avLst/>
          </a:prstGeom>
          <a:solidFill>
            <a:srgbClr val="0E8477"/>
          </a:solidFill>
          <a:ln w="12700">
            <a:solidFill>
              <a:srgbClr val="0E8477"/>
            </a:solidFill>
            <a:prstDash val="solid"/>
          </a:ln>
        </p:spPr>
      </p:sp>
      <p:sp>
        <p:nvSpPr>
          <p:cNvPr id="11" name="Text 9"/>
          <p:cNvSpPr txBox="1"/>
          <p:nvPr/>
        </p:nvSpPr>
        <p:spPr>
          <a:xfrm>
            <a:off x="5056632" y="1993392"/>
            <a:ext cx="2615184" cy="274320"/>
          </a:xfrm>
          <a:prstGeom prst="rect">
            <a:avLst/>
          </a:prstGeom>
          <a:noFill/>
          <a:ln/>
        </p:spPr>
        <p:txBody>
          <a:bodyPr wrap="square" lIns="0" tIns="0" rIns="0" bIns="0" rtlCol="0" anchor="t"/>
          <a:lstStyle/>
          <a:p>
            <a:pPr indent="0" marL="0">
              <a:buNone/>
            </a:pPr>
            <a:r>
              <a:rPr lang="en-US" sz="1450" b="1" dirty="0">
                <a:solidFill>
                  <a:srgbClr val="07203C"/>
                </a:solidFill>
                <a:latin typeface="Malgun Gothic" pitchFamily="34" charset="0"/>
                <a:ea typeface="Malgun Gothic" pitchFamily="34" charset="-122"/>
                <a:cs typeface="Malgun Gothic" pitchFamily="34" charset="-120"/>
              </a:rPr>
              <a:t>Backend</a:t>
            </a:r>
            <a:endParaRPr lang="en-US" sz="1450" dirty="0"/>
          </a:p>
        </p:txBody>
      </p:sp>
      <p:sp>
        <p:nvSpPr>
          <p:cNvPr id="12" name="Text 10"/>
          <p:cNvSpPr txBox="1"/>
          <p:nvPr/>
        </p:nvSpPr>
        <p:spPr>
          <a:xfrm>
            <a:off x="4636008" y="2414016"/>
            <a:ext cx="2980944" cy="896112"/>
          </a:xfrm>
          <a:prstGeom prst="rect">
            <a:avLst/>
          </a:prstGeom>
          <a:noFill/>
          <a:ln/>
        </p:spPr>
        <p:txBody>
          <a:bodyPr wrap="square" lIns="0" tIns="0" rIns="0" bIns="0" rtlCol="0" anchor="t"/>
          <a:lstStyle/>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FastAPI + Uvicorn</a:t>
            </a:r>
            <a:endParaRPr lang="en-US" sz="1100" dirty="0"/>
          </a:p>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REST API 16종</a:t>
            </a:r>
            <a:endParaRPr lang="en-US" sz="1100" dirty="0"/>
          </a:p>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ThreadPoolExecutor 병렬화</a:t>
            </a:r>
            <a:endParaRPr lang="en-US" sz="1100" dirty="0"/>
          </a:p>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Pydantic 스키마 검증</a:t>
            </a:r>
            <a:endParaRPr lang="en-US" sz="1100" dirty="0"/>
          </a:p>
        </p:txBody>
      </p:sp>
      <p:sp>
        <p:nvSpPr>
          <p:cNvPr id="13" name="Shape 11"/>
          <p:cNvSpPr/>
          <p:nvPr/>
        </p:nvSpPr>
        <p:spPr>
          <a:xfrm>
            <a:off x="8156448" y="1737360"/>
            <a:ext cx="3529584" cy="1682496"/>
          </a:xfrm>
          <a:prstGeom prst="roundRect">
            <a:avLst>
              <a:gd name="adj" fmla="val 2989"/>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14" name="Shape 12"/>
          <p:cNvSpPr/>
          <p:nvPr/>
        </p:nvSpPr>
        <p:spPr>
          <a:xfrm>
            <a:off x="8430768" y="1975104"/>
            <a:ext cx="310896" cy="310896"/>
          </a:xfrm>
          <a:prstGeom prst="ellipse">
            <a:avLst/>
          </a:prstGeom>
          <a:solidFill>
            <a:srgbClr val="7A5AB5"/>
          </a:solidFill>
          <a:ln w="12700">
            <a:solidFill>
              <a:srgbClr val="7A5AB5"/>
            </a:solidFill>
            <a:prstDash val="solid"/>
          </a:ln>
        </p:spPr>
      </p:sp>
      <p:sp>
        <p:nvSpPr>
          <p:cNvPr id="15" name="Text 13"/>
          <p:cNvSpPr txBox="1"/>
          <p:nvPr/>
        </p:nvSpPr>
        <p:spPr>
          <a:xfrm>
            <a:off x="8851392" y="1993392"/>
            <a:ext cx="2615184" cy="274320"/>
          </a:xfrm>
          <a:prstGeom prst="rect">
            <a:avLst/>
          </a:prstGeom>
          <a:noFill/>
          <a:ln/>
        </p:spPr>
        <p:txBody>
          <a:bodyPr wrap="square" lIns="0" tIns="0" rIns="0" bIns="0" rtlCol="0" anchor="t"/>
          <a:lstStyle/>
          <a:p>
            <a:pPr indent="0" marL="0">
              <a:buNone/>
            </a:pPr>
            <a:r>
              <a:rPr lang="en-US" sz="1450" b="1" dirty="0">
                <a:solidFill>
                  <a:srgbClr val="07203C"/>
                </a:solidFill>
                <a:latin typeface="Malgun Gothic" pitchFamily="34" charset="0"/>
                <a:ea typeface="Malgun Gothic" pitchFamily="34" charset="-122"/>
                <a:cs typeface="Malgun Gothic" pitchFamily="34" charset="-120"/>
              </a:rPr>
              <a:t>AI · LLM</a:t>
            </a:r>
            <a:endParaRPr lang="en-US" sz="1450" dirty="0"/>
          </a:p>
        </p:txBody>
      </p:sp>
      <p:sp>
        <p:nvSpPr>
          <p:cNvPr id="16" name="Text 14"/>
          <p:cNvSpPr txBox="1"/>
          <p:nvPr/>
        </p:nvSpPr>
        <p:spPr>
          <a:xfrm>
            <a:off x="8430768" y="2414016"/>
            <a:ext cx="2980944" cy="896112"/>
          </a:xfrm>
          <a:prstGeom prst="rect">
            <a:avLst/>
          </a:prstGeom>
          <a:noFill/>
          <a:ln/>
        </p:spPr>
        <p:txBody>
          <a:bodyPr wrap="square" lIns="0" tIns="0" rIns="0" bIns="0" rtlCol="0" anchor="t"/>
          <a:lstStyle/>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Gemini flash-lite</a:t>
            </a:r>
            <a:endParaRPr lang="en-US" sz="1100" dirty="0"/>
          </a:p>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OpenAI GPT-4o 폴백</a:t>
            </a:r>
            <a:endParaRPr lang="en-US" sz="1100" dirty="0"/>
          </a:p>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JSON 응답 강제 + 재검증</a:t>
            </a:r>
            <a:endParaRPr lang="en-US" sz="1100" dirty="0"/>
          </a:p>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역할 지정 프롬프트</a:t>
            </a:r>
            <a:endParaRPr lang="en-US" sz="1100" dirty="0"/>
          </a:p>
        </p:txBody>
      </p:sp>
      <p:sp>
        <p:nvSpPr>
          <p:cNvPr id="17" name="Shape 15"/>
          <p:cNvSpPr/>
          <p:nvPr/>
        </p:nvSpPr>
        <p:spPr>
          <a:xfrm>
            <a:off x="566928" y="3621024"/>
            <a:ext cx="3529584" cy="1682496"/>
          </a:xfrm>
          <a:prstGeom prst="roundRect">
            <a:avLst>
              <a:gd name="adj" fmla="val 2989"/>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18" name="Shape 16"/>
          <p:cNvSpPr/>
          <p:nvPr/>
        </p:nvSpPr>
        <p:spPr>
          <a:xfrm>
            <a:off x="841248" y="3858768"/>
            <a:ext cx="310896" cy="310896"/>
          </a:xfrm>
          <a:prstGeom prst="ellipse">
            <a:avLst/>
          </a:prstGeom>
          <a:solidFill>
            <a:srgbClr val="1F7FA8"/>
          </a:solidFill>
          <a:ln w="12700">
            <a:solidFill>
              <a:srgbClr val="1F7FA8"/>
            </a:solidFill>
            <a:prstDash val="solid"/>
          </a:ln>
        </p:spPr>
      </p:sp>
      <p:sp>
        <p:nvSpPr>
          <p:cNvPr id="19" name="Text 17"/>
          <p:cNvSpPr txBox="1"/>
          <p:nvPr/>
        </p:nvSpPr>
        <p:spPr>
          <a:xfrm>
            <a:off x="1261872" y="3877056"/>
            <a:ext cx="2615184" cy="274320"/>
          </a:xfrm>
          <a:prstGeom prst="rect">
            <a:avLst/>
          </a:prstGeom>
          <a:noFill/>
          <a:ln/>
        </p:spPr>
        <p:txBody>
          <a:bodyPr wrap="square" lIns="0" tIns="0" rIns="0" bIns="0" rtlCol="0" anchor="t"/>
          <a:lstStyle/>
          <a:p>
            <a:pPr indent="0" marL="0">
              <a:buNone/>
            </a:pPr>
            <a:r>
              <a:rPr lang="en-US" sz="1450" b="1" dirty="0">
                <a:solidFill>
                  <a:srgbClr val="07203C"/>
                </a:solidFill>
                <a:latin typeface="Malgun Gothic" pitchFamily="34" charset="0"/>
                <a:ea typeface="Malgun Gothic" pitchFamily="34" charset="-122"/>
                <a:cs typeface="Malgun Gothic" pitchFamily="34" charset="-120"/>
              </a:rPr>
              <a:t>Data</a:t>
            </a:r>
            <a:endParaRPr lang="en-US" sz="1450" dirty="0"/>
          </a:p>
        </p:txBody>
      </p:sp>
      <p:sp>
        <p:nvSpPr>
          <p:cNvPr id="20" name="Text 18"/>
          <p:cNvSpPr txBox="1"/>
          <p:nvPr/>
        </p:nvSpPr>
        <p:spPr>
          <a:xfrm>
            <a:off x="841248" y="4297680"/>
            <a:ext cx="2980944" cy="896112"/>
          </a:xfrm>
          <a:prstGeom prst="rect">
            <a:avLst/>
          </a:prstGeom>
          <a:noFill/>
          <a:ln/>
        </p:spPr>
        <p:txBody>
          <a:bodyPr wrap="square" lIns="0" tIns="0" rIns="0" bIns="0" rtlCol="0" anchor="t"/>
          <a:lstStyle/>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OpenDartReader</a:t>
            </a:r>
            <a:endParaRPr lang="en-US" sz="1100" dirty="0"/>
          </a:p>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feedparser (RSS)</a:t>
            </a:r>
            <a:endParaRPr lang="en-US" sz="1100" dirty="0"/>
          </a:p>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pandas 정규화</a:t>
            </a:r>
            <a:endParaRPr lang="en-US" sz="1100" dirty="0"/>
          </a:p>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SQLite 2종 (알림·시세)</a:t>
            </a:r>
            <a:endParaRPr lang="en-US" sz="1100" dirty="0"/>
          </a:p>
        </p:txBody>
      </p:sp>
      <p:sp>
        <p:nvSpPr>
          <p:cNvPr id="21" name="Shape 19"/>
          <p:cNvSpPr/>
          <p:nvPr/>
        </p:nvSpPr>
        <p:spPr>
          <a:xfrm>
            <a:off x="4361688" y="3621024"/>
            <a:ext cx="3529584" cy="1682496"/>
          </a:xfrm>
          <a:prstGeom prst="roundRect">
            <a:avLst>
              <a:gd name="adj" fmla="val 2989"/>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22" name="Shape 20"/>
          <p:cNvSpPr/>
          <p:nvPr/>
        </p:nvSpPr>
        <p:spPr>
          <a:xfrm>
            <a:off x="4636008" y="3858768"/>
            <a:ext cx="310896" cy="310896"/>
          </a:xfrm>
          <a:prstGeom prst="ellipse">
            <a:avLst/>
          </a:prstGeom>
          <a:solidFill>
            <a:srgbClr val="C98A2B"/>
          </a:solidFill>
          <a:ln w="12700">
            <a:solidFill>
              <a:srgbClr val="C98A2B"/>
            </a:solidFill>
            <a:prstDash val="solid"/>
          </a:ln>
        </p:spPr>
      </p:sp>
      <p:sp>
        <p:nvSpPr>
          <p:cNvPr id="23" name="Text 21"/>
          <p:cNvSpPr txBox="1"/>
          <p:nvPr/>
        </p:nvSpPr>
        <p:spPr>
          <a:xfrm>
            <a:off x="5056632" y="3877056"/>
            <a:ext cx="2615184" cy="274320"/>
          </a:xfrm>
          <a:prstGeom prst="rect">
            <a:avLst/>
          </a:prstGeom>
          <a:noFill/>
          <a:ln/>
        </p:spPr>
        <p:txBody>
          <a:bodyPr wrap="square" lIns="0" tIns="0" rIns="0" bIns="0" rtlCol="0" anchor="t"/>
          <a:lstStyle/>
          <a:p>
            <a:pPr indent="0" marL="0">
              <a:buNone/>
            </a:pPr>
            <a:r>
              <a:rPr lang="en-US" sz="1450" b="1" dirty="0">
                <a:solidFill>
                  <a:srgbClr val="07203C"/>
                </a:solidFill>
                <a:latin typeface="Malgun Gothic" pitchFamily="34" charset="0"/>
                <a:ea typeface="Malgun Gothic" pitchFamily="34" charset="-122"/>
                <a:cs typeface="Malgun Gothic" pitchFamily="34" charset="-120"/>
              </a:rPr>
              <a:t>알림</a:t>
            </a:r>
            <a:endParaRPr lang="en-US" sz="1450" dirty="0"/>
          </a:p>
        </p:txBody>
      </p:sp>
      <p:sp>
        <p:nvSpPr>
          <p:cNvPr id="24" name="Text 22"/>
          <p:cNvSpPr txBox="1"/>
          <p:nvPr/>
        </p:nvSpPr>
        <p:spPr>
          <a:xfrm>
            <a:off x="4636008" y="4297680"/>
            <a:ext cx="2980944" cy="896112"/>
          </a:xfrm>
          <a:prstGeom prst="rect">
            <a:avLst/>
          </a:prstGeom>
          <a:noFill/>
          <a:ln/>
        </p:spPr>
        <p:txBody>
          <a:bodyPr wrap="square" lIns="0" tIns="0" rIns="0" bIns="0" rtlCol="0" anchor="t"/>
          <a:lstStyle/>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Telegram Bot API</a:t>
            </a:r>
            <a:endParaRPr lang="en-US" sz="1100" dirty="0"/>
          </a:p>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SMTP · STARTTLS</a:t>
            </a:r>
            <a:endParaRPr lang="en-US" sz="1100" dirty="0"/>
          </a:p>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HTML + 텍스트 동시 발송</a:t>
            </a:r>
            <a:endParaRPr lang="en-US" sz="1100" dirty="0"/>
          </a:p>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수신자별 채널 on/off</a:t>
            </a:r>
            <a:endParaRPr lang="en-US" sz="1100" dirty="0"/>
          </a:p>
        </p:txBody>
      </p:sp>
      <p:sp>
        <p:nvSpPr>
          <p:cNvPr id="25" name="Shape 23"/>
          <p:cNvSpPr/>
          <p:nvPr/>
        </p:nvSpPr>
        <p:spPr>
          <a:xfrm>
            <a:off x="8156448" y="3621024"/>
            <a:ext cx="3529584" cy="1682496"/>
          </a:xfrm>
          <a:prstGeom prst="roundRect">
            <a:avLst>
              <a:gd name="adj" fmla="val 2989"/>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26" name="Shape 24"/>
          <p:cNvSpPr/>
          <p:nvPr/>
        </p:nvSpPr>
        <p:spPr>
          <a:xfrm>
            <a:off x="8430768" y="3858768"/>
            <a:ext cx="310896" cy="310896"/>
          </a:xfrm>
          <a:prstGeom prst="ellipse">
            <a:avLst/>
          </a:prstGeom>
          <a:solidFill>
            <a:srgbClr val="C2504F"/>
          </a:solidFill>
          <a:ln w="12700">
            <a:solidFill>
              <a:srgbClr val="C2504F"/>
            </a:solidFill>
            <a:prstDash val="solid"/>
          </a:ln>
        </p:spPr>
      </p:sp>
      <p:sp>
        <p:nvSpPr>
          <p:cNvPr id="27" name="Text 25"/>
          <p:cNvSpPr txBox="1"/>
          <p:nvPr/>
        </p:nvSpPr>
        <p:spPr>
          <a:xfrm>
            <a:off x="8851392" y="3877056"/>
            <a:ext cx="2615184" cy="274320"/>
          </a:xfrm>
          <a:prstGeom prst="rect">
            <a:avLst/>
          </a:prstGeom>
          <a:noFill/>
          <a:ln/>
        </p:spPr>
        <p:txBody>
          <a:bodyPr wrap="square" lIns="0" tIns="0" rIns="0" bIns="0" rtlCol="0" anchor="t"/>
          <a:lstStyle/>
          <a:p>
            <a:pPr indent="0" marL="0">
              <a:buNone/>
            </a:pPr>
            <a:r>
              <a:rPr lang="en-US" sz="1450" b="1" dirty="0">
                <a:solidFill>
                  <a:srgbClr val="07203C"/>
                </a:solidFill>
                <a:latin typeface="Malgun Gothic" pitchFamily="34" charset="0"/>
                <a:ea typeface="Malgun Gothic" pitchFamily="34" charset="-122"/>
                <a:cs typeface="Malgun Gothic" pitchFamily="34" charset="-120"/>
              </a:rPr>
              <a:t>운영 · 관측</a:t>
            </a:r>
            <a:endParaRPr lang="en-US" sz="1450" dirty="0"/>
          </a:p>
        </p:txBody>
      </p:sp>
      <p:sp>
        <p:nvSpPr>
          <p:cNvPr id="28" name="Text 26"/>
          <p:cNvSpPr txBox="1"/>
          <p:nvPr/>
        </p:nvSpPr>
        <p:spPr>
          <a:xfrm>
            <a:off x="8430768" y="4297680"/>
            <a:ext cx="2980944" cy="896112"/>
          </a:xfrm>
          <a:prstGeom prst="rect">
            <a:avLst/>
          </a:prstGeom>
          <a:noFill/>
          <a:ln/>
        </p:spPr>
        <p:txBody>
          <a:bodyPr wrap="square" lIns="0" tIns="0" rIns="0" bIns="0" rtlCol="0" anchor="t"/>
          <a:lstStyle/>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LangSmith @traceable</a:t>
            </a:r>
            <a:endParaRPr lang="en-US" sz="1100" dirty="0"/>
          </a:p>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관리자 인증 (헤더)</a:t>
            </a:r>
            <a:endParaRPr lang="en-US" sz="1100" dirty="0"/>
          </a:p>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.env 시크릿 분리</a:t>
            </a:r>
            <a:endParaRPr lang="en-US" sz="1100" dirty="0"/>
          </a:p>
          <a:p>
            <a:pPr marL="342900" indent="-342900">
              <a:lnSpc>
                <a:spcPts val="1600"/>
              </a:lnSpc>
              <a:spcAft>
                <a:spcPts val="300"/>
              </a:spcAft>
              <a:buSzPct val="100000"/>
              <a:buChar char="•"/>
            </a:pPr>
            <a:r>
              <a:rPr lang="en-US" sz="1100" dirty="0">
                <a:solidFill>
                  <a:srgbClr val="6B7F92"/>
                </a:solidFill>
                <a:latin typeface="Malgun Gothic" pitchFamily="34" charset="0"/>
                <a:ea typeface="Malgun Gothic" pitchFamily="34" charset="-122"/>
                <a:cs typeface="Malgun Gothic" pitchFamily="34" charset="-120"/>
              </a:rPr>
              <a:t>발송 이력 멱등 처리</a:t>
            </a:r>
            <a:endParaRPr lang="en-US" sz="1100" dirty="0"/>
          </a:p>
        </p:txBody>
      </p:sp>
      <p:sp>
        <p:nvSpPr>
          <p:cNvPr id="29" name="Shape 27"/>
          <p:cNvSpPr/>
          <p:nvPr/>
        </p:nvSpPr>
        <p:spPr>
          <a:xfrm>
            <a:off x="566928" y="5541264"/>
            <a:ext cx="11055096" cy="658368"/>
          </a:xfrm>
          <a:prstGeom prst="roundRect">
            <a:avLst>
              <a:gd name="adj" fmla="val 7639"/>
            </a:avLst>
          </a:prstGeom>
          <a:solidFill>
            <a:srgbClr val="07203C"/>
          </a:solidFill>
          <a:ln w="9525">
            <a:solidFill>
              <a:srgbClr val="07203C"/>
            </a:solidFill>
            <a:prstDash val="solid"/>
          </a:ln>
        </p:spPr>
      </p:sp>
      <p:sp>
        <p:nvSpPr>
          <p:cNvPr id="30" name="Text 28"/>
          <p:cNvSpPr txBox="1"/>
          <p:nvPr/>
        </p:nvSpPr>
        <p:spPr>
          <a:xfrm>
            <a:off x="932688" y="5669280"/>
            <a:ext cx="786384" cy="310896"/>
          </a:xfrm>
          <a:prstGeom prst="rect">
            <a:avLst/>
          </a:prstGeom>
          <a:noFill/>
          <a:ln/>
        </p:spPr>
        <p:txBody>
          <a:bodyPr wrap="square" lIns="0" tIns="0" rIns="0" bIns="0" rtlCol="0" anchor="t"/>
          <a:lstStyle/>
          <a:p>
            <a:pPr indent="0" marL="0">
              <a:buNone/>
            </a:pPr>
            <a:r>
              <a:rPr lang="en-US" sz="1700" b="1" dirty="0">
                <a:solidFill>
                  <a:srgbClr val="6FE0D2"/>
                </a:solidFill>
                <a:latin typeface="Malgun Gothic" pitchFamily="34" charset="0"/>
                <a:ea typeface="Malgun Gothic" pitchFamily="34" charset="-122"/>
                <a:cs typeface="Malgun Gothic" pitchFamily="34" charset="-120"/>
              </a:rPr>
              <a:t>11</a:t>
            </a:r>
            <a:endParaRPr lang="en-US" sz="1700" dirty="0"/>
          </a:p>
        </p:txBody>
      </p:sp>
      <p:sp>
        <p:nvSpPr>
          <p:cNvPr id="31" name="Text 29"/>
          <p:cNvSpPr txBox="1"/>
          <p:nvPr/>
        </p:nvSpPr>
        <p:spPr>
          <a:xfrm>
            <a:off x="1755648" y="5742432"/>
            <a:ext cx="1115568" cy="274320"/>
          </a:xfrm>
          <a:prstGeom prst="rect">
            <a:avLst/>
          </a:prstGeom>
          <a:noFill/>
          <a:ln/>
        </p:spPr>
        <p:txBody>
          <a:bodyPr wrap="square" lIns="0" tIns="0" rIns="0" bIns="0" rtlCol="0" anchor="t"/>
          <a:lstStyle/>
          <a:p>
            <a:pPr indent="0" marL="0">
              <a:buNone/>
            </a:pPr>
            <a:r>
              <a:rPr lang="en-US" sz="950" dirty="0">
                <a:solidFill>
                  <a:srgbClr val="9EB8CD"/>
                </a:solidFill>
                <a:latin typeface="Malgun Gothic" pitchFamily="34" charset="0"/>
                <a:ea typeface="Malgun Gothic" pitchFamily="34" charset="-122"/>
                <a:cs typeface="Malgun Gothic" pitchFamily="34" charset="-120"/>
              </a:rPr>
              <a:t>백엔드 서비스 모듈</a:t>
            </a:r>
            <a:endParaRPr lang="en-US" sz="950" dirty="0"/>
          </a:p>
        </p:txBody>
      </p:sp>
      <p:sp>
        <p:nvSpPr>
          <p:cNvPr id="32" name="Text 30"/>
          <p:cNvSpPr txBox="1"/>
          <p:nvPr/>
        </p:nvSpPr>
        <p:spPr>
          <a:xfrm>
            <a:off x="3081528" y="5669280"/>
            <a:ext cx="786384" cy="310896"/>
          </a:xfrm>
          <a:prstGeom prst="rect">
            <a:avLst/>
          </a:prstGeom>
          <a:noFill/>
          <a:ln/>
        </p:spPr>
        <p:txBody>
          <a:bodyPr wrap="square" lIns="0" tIns="0" rIns="0" bIns="0" rtlCol="0" anchor="t"/>
          <a:lstStyle/>
          <a:p>
            <a:pPr indent="0" marL="0">
              <a:buNone/>
            </a:pPr>
            <a:r>
              <a:rPr lang="en-US" sz="1700" b="1" dirty="0">
                <a:solidFill>
                  <a:srgbClr val="6FE0D2"/>
                </a:solidFill>
                <a:latin typeface="Malgun Gothic" pitchFamily="34" charset="0"/>
                <a:ea typeface="Malgun Gothic" pitchFamily="34" charset="-122"/>
                <a:cs typeface="Malgun Gothic" pitchFamily="34" charset="-120"/>
              </a:rPr>
              <a:t>16</a:t>
            </a:r>
            <a:endParaRPr lang="en-US" sz="1700" dirty="0"/>
          </a:p>
        </p:txBody>
      </p:sp>
      <p:sp>
        <p:nvSpPr>
          <p:cNvPr id="33" name="Text 31"/>
          <p:cNvSpPr txBox="1"/>
          <p:nvPr/>
        </p:nvSpPr>
        <p:spPr>
          <a:xfrm>
            <a:off x="3904488" y="5742432"/>
            <a:ext cx="1115568" cy="274320"/>
          </a:xfrm>
          <a:prstGeom prst="rect">
            <a:avLst/>
          </a:prstGeom>
          <a:noFill/>
          <a:ln/>
        </p:spPr>
        <p:txBody>
          <a:bodyPr wrap="square" lIns="0" tIns="0" rIns="0" bIns="0" rtlCol="0" anchor="t"/>
          <a:lstStyle/>
          <a:p>
            <a:pPr indent="0" marL="0">
              <a:buNone/>
            </a:pPr>
            <a:r>
              <a:rPr lang="en-US" sz="950" dirty="0">
                <a:solidFill>
                  <a:srgbClr val="9EB8CD"/>
                </a:solidFill>
                <a:latin typeface="Malgun Gothic" pitchFamily="34" charset="0"/>
                <a:ea typeface="Malgun Gothic" pitchFamily="34" charset="-122"/>
                <a:cs typeface="Malgun Gothic" pitchFamily="34" charset="-120"/>
              </a:rPr>
              <a:t>REST API</a:t>
            </a:r>
            <a:endParaRPr lang="en-US" sz="950" dirty="0"/>
          </a:p>
        </p:txBody>
      </p:sp>
      <p:sp>
        <p:nvSpPr>
          <p:cNvPr id="34" name="Text 32"/>
          <p:cNvSpPr txBox="1"/>
          <p:nvPr/>
        </p:nvSpPr>
        <p:spPr>
          <a:xfrm>
            <a:off x="5230368" y="5669280"/>
            <a:ext cx="786384" cy="310896"/>
          </a:xfrm>
          <a:prstGeom prst="rect">
            <a:avLst/>
          </a:prstGeom>
          <a:noFill/>
          <a:ln/>
        </p:spPr>
        <p:txBody>
          <a:bodyPr wrap="square" lIns="0" tIns="0" rIns="0" bIns="0" rtlCol="0" anchor="t"/>
          <a:lstStyle/>
          <a:p>
            <a:pPr indent="0" marL="0">
              <a:buNone/>
            </a:pPr>
            <a:r>
              <a:rPr lang="en-US" sz="1700" b="1" dirty="0">
                <a:solidFill>
                  <a:srgbClr val="6FE0D2"/>
                </a:solidFill>
                <a:latin typeface="Malgun Gothic" pitchFamily="34" charset="0"/>
                <a:ea typeface="Malgun Gothic" pitchFamily="34" charset="-122"/>
                <a:cs typeface="Malgun Gothic" pitchFamily="34" charset="-120"/>
              </a:rPr>
              <a:t>1,621</a:t>
            </a:r>
            <a:endParaRPr lang="en-US" sz="1700" dirty="0"/>
          </a:p>
        </p:txBody>
      </p:sp>
      <p:sp>
        <p:nvSpPr>
          <p:cNvPr id="35" name="Text 33"/>
          <p:cNvSpPr txBox="1"/>
          <p:nvPr/>
        </p:nvSpPr>
        <p:spPr>
          <a:xfrm>
            <a:off x="6053328" y="5742432"/>
            <a:ext cx="1115568" cy="274320"/>
          </a:xfrm>
          <a:prstGeom prst="rect">
            <a:avLst/>
          </a:prstGeom>
          <a:noFill/>
          <a:ln/>
        </p:spPr>
        <p:txBody>
          <a:bodyPr wrap="square" lIns="0" tIns="0" rIns="0" bIns="0" rtlCol="0" anchor="t"/>
          <a:lstStyle/>
          <a:p>
            <a:pPr indent="0" marL="0">
              <a:buNone/>
            </a:pPr>
            <a:r>
              <a:rPr lang="en-US" sz="950" dirty="0">
                <a:solidFill>
                  <a:srgbClr val="9EB8CD"/>
                </a:solidFill>
                <a:latin typeface="Malgun Gothic" pitchFamily="34" charset="0"/>
                <a:ea typeface="Malgun Gothic" pitchFamily="34" charset="-122"/>
                <a:cs typeface="Malgun Gothic" pitchFamily="34" charset="-120"/>
              </a:rPr>
              <a:t>App.jsx 라인</a:t>
            </a:r>
            <a:endParaRPr lang="en-US" sz="950" dirty="0"/>
          </a:p>
        </p:txBody>
      </p:sp>
      <p:sp>
        <p:nvSpPr>
          <p:cNvPr id="36" name="Text 34"/>
          <p:cNvSpPr txBox="1"/>
          <p:nvPr/>
        </p:nvSpPr>
        <p:spPr>
          <a:xfrm>
            <a:off x="7379208" y="5669280"/>
            <a:ext cx="786384" cy="310896"/>
          </a:xfrm>
          <a:prstGeom prst="rect">
            <a:avLst/>
          </a:prstGeom>
          <a:noFill/>
          <a:ln/>
        </p:spPr>
        <p:txBody>
          <a:bodyPr wrap="square" lIns="0" tIns="0" rIns="0" bIns="0" rtlCol="0" anchor="t"/>
          <a:lstStyle/>
          <a:p>
            <a:pPr indent="0" marL="0">
              <a:buNone/>
            </a:pPr>
            <a:r>
              <a:rPr lang="en-US" sz="1700" b="1" dirty="0">
                <a:solidFill>
                  <a:srgbClr val="6FE0D2"/>
                </a:solidFill>
                <a:latin typeface="Malgun Gothic" pitchFamily="34" charset="0"/>
                <a:ea typeface="Malgun Gothic" pitchFamily="34" charset="-122"/>
                <a:cs typeface="Malgun Gothic" pitchFamily="34" charset="-120"/>
              </a:rPr>
              <a:t>3,300+</a:t>
            </a:r>
            <a:endParaRPr lang="en-US" sz="1700" dirty="0"/>
          </a:p>
        </p:txBody>
      </p:sp>
      <p:sp>
        <p:nvSpPr>
          <p:cNvPr id="37" name="Text 35"/>
          <p:cNvSpPr txBox="1"/>
          <p:nvPr/>
        </p:nvSpPr>
        <p:spPr>
          <a:xfrm>
            <a:off x="8202168" y="5742432"/>
            <a:ext cx="1115568" cy="274320"/>
          </a:xfrm>
          <a:prstGeom prst="rect">
            <a:avLst/>
          </a:prstGeom>
          <a:noFill/>
          <a:ln/>
        </p:spPr>
        <p:txBody>
          <a:bodyPr wrap="square" lIns="0" tIns="0" rIns="0" bIns="0" rtlCol="0" anchor="t"/>
          <a:lstStyle/>
          <a:p>
            <a:pPr indent="0" marL="0">
              <a:buNone/>
            </a:pPr>
            <a:r>
              <a:rPr lang="en-US" sz="950" dirty="0">
                <a:solidFill>
                  <a:srgbClr val="9EB8CD"/>
                </a:solidFill>
                <a:latin typeface="Malgun Gothic" pitchFamily="34" charset="0"/>
                <a:ea typeface="Malgun Gothic" pitchFamily="34" charset="-122"/>
                <a:cs typeface="Malgun Gothic" pitchFamily="34" charset="-120"/>
              </a:rPr>
              <a:t>전체 코드 라인</a:t>
            </a:r>
            <a:endParaRPr lang="en-US" sz="950" dirty="0"/>
          </a:p>
        </p:txBody>
      </p:sp>
      <p:sp>
        <p:nvSpPr>
          <p:cNvPr id="38" name="Text 36"/>
          <p:cNvSpPr txBox="1"/>
          <p:nvPr/>
        </p:nvSpPr>
        <p:spPr>
          <a:xfrm>
            <a:off x="9528048" y="5669280"/>
            <a:ext cx="786384" cy="310896"/>
          </a:xfrm>
          <a:prstGeom prst="rect">
            <a:avLst/>
          </a:prstGeom>
          <a:noFill/>
          <a:ln/>
        </p:spPr>
        <p:txBody>
          <a:bodyPr wrap="square" lIns="0" tIns="0" rIns="0" bIns="0" rtlCol="0" anchor="t"/>
          <a:lstStyle/>
          <a:p>
            <a:pPr indent="0" marL="0">
              <a:buNone/>
            </a:pPr>
            <a:r>
              <a:rPr lang="en-US" sz="1700" b="1" dirty="0">
                <a:solidFill>
                  <a:srgbClr val="6FE0D2"/>
                </a:solidFill>
                <a:latin typeface="Malgun Gothic" pitchFamily="34" charset="0"/>
                <a:ea typeface="Malgun Gothic" pitchFamily="34" charset="-122"/>
                <a:cs typeface="Malgun Gothic" pitchFamily="34" charset="-120"/>
              </a:rPr>
              <a:t>2</a:t>
            </a:r>
            <a:endParaRPr lang="en-US" sz="1700" dirty="0"/>
          </a:p>
        </p:txBody>
      </p:sp>
      <p:sp>
        <p:nvSpPr>
          <p:cNvPr id="39" name="Text 37"/>
          <p:cNvSpPr txBox="1"/>
          <p:nvPr/>
        </p:nvSpPr>
        <p:spPr>
          <a:xfrm>
            <a:off x="10351008" y="5742432"/>
            <a:ext cx="1115568" cy="274320"/>
          </a:xfrm>
          <a:prstGeom prst="rect">
            <a:avLst/>
          </a:prstGeom>
          <a:noFill/>
          <a:ln/>
        </p:spPr>
        <p:txBody>
          <a:bodyPr wrap="square" lIns="0" tIns="0" rIns="0" bIns="0" rtlCol="0" anchor="t"/>
          <a:lstStyle/>
          <a:p>
            <a:pPr indent="0" marL="0">
              <a:buNone/>
            </a:pPr>
            <a:r>
              <a:rPr lang="en-US" sz="950" dirty="0">
                <a:solidFill>
                  <a:srgbClr val="9EB8CD"/>
                </a:solidFill>
                <a:latin typeface="Malgun Gothic" pitchFamily="34" charset="0"/>
                <a:ea typeface="Malgun Gothic" pitchFamily="34" charset="-122"/>
                <a:cs typeface="Malgun Gothic" pitchFamily="34" charset="-120"/>
              </a:rPr>
              <a:t>백그라운드 워커</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6FA"/>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37744"/>
          </a:xfrm>
          <a:prstGeom prst="rect">
            <a:avLst/>
          </a:prstGeom>
          <a:noFill/>
          <a:ln/>
        </p:spPr>
        <p:txBody>
          <a:bodyPr wrap="square" lIns="0" tIns="0" rIns="0" bIns="0" rtlCol="0" anchor="t"/>
          <a:lstStyle/>
          <a:p>
            <a:pPr indent="0" marL="0">
              <a:buNone/>
            </a:pPr>
            <a:r>
              <a:rPr lang="en-US" sz="1100" b="1" spc="110" kern="0" dirty="0">
                <a:solidFill>
                  <a:srgbClr val="0E8477"/>
                </a:solidFill>
                <a:latin typeface="Malgun Gothic" pitchFamily="34" charset="0"/>
                <a:ea typeface="Malgun Gothic" pitchFamily="34" charset="-122"/>
                <a:cs typeface="Malgun Gothic" pitchFamily="34" charset="-120"/>
              </a:rPr>
              <a:t>02  BUILD  ·  핵심 로직</a:t>
            </a:r>
            <a:endParaRPr lang="en-US" sz="1100" dirty="0"/>
          </a:p>
        </p:txBody>
      </p:sp>
      <p:sp>
        <p:nvSpPr>
          <p:cNvPr id="3" name="Text 1"/>
          <p:cNvSpPr txBox="1"/>
          <p:nvPr/>
        </p:nvSpPr>
        <p:spPr>
          <a:xfrm>
            <a:off x="566928" y="713232"/>
            <a:ext cx="11057839" cy="566928"/>
          </a:xfrm>
          <a:prstGeom prst="rect">
            <a:avLst/>
          </a:prstGeom>
          <a:noFill/>
          <a:ln/>
        </p:spPr>
        <p:txBody>
          <a:bodyPr wrap="square" lIns="0" tIns="0" rIns="0" bIns="0" rtlCol="0" anchor="t"/>
          <a:lstStyle/>
          <a:p>
            <a:pPr indent="0" marL="0">
              <a:buNone/>
            </a:pPr>
            <a:r>
              <a:rPr lang="en-US" sz="2800" b="1" dirty="0">
                <a:solidFill>
                  <a:srgbClr val="07203C"/>
                </a:solidFill>
                <a:latin typeface="Malgun Gothic" pitchFamily="34" charset="0"/>
                <a:ea typeface="Malgun Gothic" pitchFamily="34" charset="-122"/>
                <a:cs typeface="Malgun Gothic" pitchFamily="34" charset="-120"/>
              </a:rPr>
              <a:t>정확도를 만든 것은 모델이 아니라 세 개의 전처리 규칙이었습니다</a:t>
            </a:r>
            <a:endParaRPr lang="en-US" sz="2800" dirty="0"/>
          </a:p>
        </p:txBody>
      </p:sp>
      <p:sp>
        <p:nvSpPr>
          <p:cNvPr id="4" name="Text 2"/>
          <p:cNvSpPr txBox="1"/>
          <p:nvPr/>
        </p:nvSpPr>
        <p:spPr>
          <a:xfrm>
            <a:off x="8332927" y="6437376"/>
            <a:ext cx="3291840" cy="219456"/>
          </a:xfrm>
          <a:prstGeom prst="rect">
            <a:avLst/>
          </a:prstGeom>
          <a:noFill/>
          <a:ln/>
        </p:spPr>
        <p:txBody>
          <a:bodyPr wrap="square" lIns="0" tIns="0" rIns="0" bIns="0" rtlCol="0" anchor="t"/>
          <a:lstStyle/>
          <a:p>
            <a:pPr algn="r" indent="0" marL="0">
              <a:buNone/>
            </a:pPr>
            <a:r>
              <a:rPr lang="en-US" sz="950" spc="60" kern="0" dirty="0">
                <a:solidFill>
                  <a:srgbClr val="8A9BAB"/>
                </a:solidFill>
                <a:latin typeface="Malgun Gothic" pitchFamily="34" charset="0"/>
                <a:ea typeface="Malgun Gothic" pitchFamily="34" charset="-122"/>
                <a:cs typeface="Malgun Gothic" pitchFamily="34" charset="-120"/>
              </a:rPr>
              <a:t>09 / 16     FUTURE:M RADAR</a:t>
            </a:r>
            <a:endParaRPr lang="en-US" sz="950" dirty="0"/>
          </a:p>
        </p:txBody>
      </p:sp>
      <p:sp>
        <p:nvSpPr>
          <p:cNvPr id="5" name="Shape 3"/>
          <p:cNvSpPr/>
          <p:nvPr/>
        </p:nvSpPr>
        <p:spPr>
          <a:xfrm>
            <a:off x="566928" y="1737360"/>
            <a:ext cx="3593592" cy="3913632"/>
          </a:xfrm>
          <a:prstGeom prst="roundRect">
            <a:avLst>
              <a:gd name="adj" fmla="val 1399"/>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6" name="Shape 4"/>
          <p:cNvSpPr/>
          <p:nvPr/>
        </p:nvSpPr>
        <p:spPr>
          <a:xfrm>
            <a:off x="859536" y="1975104"/>
            <a:ext cx="402336" cy="365760"/>
          </a:xfrm>
          <a:prstGeom prst="roundRect">
            <a:avLst>
              <a:gd name="adj" fmla="val 30000"/>
            </a:avLst>
          </a:prstGeom>
          <a:solidFill>
            <a:srgbClr val="17B7A6"/>
          </a:solidFill>
          <a:ln w="12700">
            <a:solidFill>
              <a:srgbClr val="17B7A6"/>
            </a:solidFill>
            <a:prstDash val="solid"/>
          </a:ln>
        </p:spPr>
      </p:sp>
      <p:sp>
        <p:nvSpPr>
          <p:cNvPr id="7" name="Text 5"/>
          <p:cNvSpPr txBox="1"/>
          <p:nvPr/>
        </p:nvSpPr>
        <p:spPr>
          <a:xfrm>
            <a:off x="859536" y="1975104"/>
            <a:ext cx="402336"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01</a:t>
            </a:r>
            <a:endParaRPr lang="en-US" sz="1200" dirty="0"/>
          </a:p>
        </p:txBody>
      </p:sp>
      <p:sp>
        <p:nvSpPr>
          <p:cNvPr id="8" name="Text 6"/>
          <p:cNvSpPr txBox="1"/>
          <p:nvPr/>
        </p:nvSpPr>
        <p:spPr>
          <a:xfrm>
            <a:off x="1371600" y="1993392"/>
            <a:ext cx="2651760" cy="310896"/>
          </a:xfrm>
          <a:prstGeom prst="rect">
            <a:avLst/>
          </a:prstGeom>
          <a:noFill/>
          <a:ln/>
        </p:spPr>
        <p:txBody>
          <a:bodyPr wrap="square" lIns="0" tIns="0" rIns="0" bIns="0" rtlCol="0" anchor="t"/>
          <a:lstStyle/>
          <a:p>
            <a:pPr indent="0" marL="0">
              <a:buNone/>
            </a:pPr>
            <a:r>
              <a:rPr lang="en-US" sz="1450" b="1" dirty="0">
                <a:solidFill>
                  <a:srgbClr val="07203C"/>
                </a:solidFill>
                <a:latin typeface="Malgun Gothic" pitchFamily="34" charset="0"/>
                <a:ea typeface="Malgun Gothic" pitchFamily="34" charset="-122"/>
                <a:cs typeface="Malgun Gothic" pitchFamily="34" charset="-120"/>
              </a:rPr>
              <a:t>뉴스 중복 제거</a:t>
            </a:r>
            <a:endParaRPr lang="en-US" sz="1450" dirty="0"/>
          </a:p>
        </p:txBody>
      </p:sp>
      <p:sp>
        <p:nvSpPr>
          <p:cNvPr id="9" name="Text 7"/>
          <p:cNvSpPr txBox="1"/>
          <p:nvPr/>
        </p:nvSpPr>
        <p:spPr>
          <a:xfrm>
            <a:off x="859536" y="2560320"/>
            <a:ext cx="3017520" cy="2286000"/>
          </a:xfrm>
          <a:prstGeom prst="rect">
            <a:avLst/>
          </a:prstGeom>
          <a:noFill/>
          <a:ln/>
        </p:spPr>
        <p:txBody>
          <a:bodyPr wrap="square" lIns="0" tIns="0" rIns="0" bIns="0" rtlCol="0" anchor="t"/>
          <a:lstStyle/>
          <a:p>
            <a:pPr marL="342900" indent="-342900">
              <a:lnSpc>
                <a:spcPts val="1800"/>
              </a:lnSpc>
              <a:spcAft>
                <a:spcPts val="900"/>
              </a:spcAft>
              <a:buSzPct val="100000"/>
              <a:buChar char="•"/>
            </a:pPr>
            <a:r>
              <a:rPr lang="en-US" sz="1150" dirty="0">
                <a:solidFill>
                  <a:srgbClr val="6B7F92"/>
                </a:solidFill>
                <a:latin typeface="Malgun Gothic" pitchFamily="34" charset="0"/>
                <a:ea typeface="Malgun Gothic" pitchFamily="34" charset="-122"/>
                <a:cs typeface="Malgun Gothic" pitchFamily="34" charset="-120"/>
              </a:rPr>
              <a:t>제목을 토픽 키워드 집합으로 변환하고 조사·불용어·회사명을 제거합니다.</a:t>
            </a:r>
            <a:endParaRPr lang="en-US" sz="1150" dirty="0"/>
          </a:p>
          <a:p>
            <a:pPr marL="342900" indent="-342900">
              <a:lnSpc>
                <a:spcPts val="1800"/>
              </a:lnSpc>
              <a:spcAft>
                <a:spcPts val="900"/>
              </a:spcAft>
              <a:buSzPct val="100000"/>
              <a:buChar char="•"/>
            </a:pPr>
            <a:r>
              <a:rPr lang="en-US" sz="1150" dirty="0">
                <a:solidFill>
                  <a:srgbClr val="6B7F92"/>
                </a:solidFill>
                <a:latin typeface="Malgun Gothic" pitchFamily="34" charset="0"/>
                <a:ea typeface="Malgun Gothic" pitchFamily="34" charset="-122"/>
                <a:cs typeface="Malgun Gothic" pitchFamily="34" charset="-120"/>
              </a:rPr>
              <a:t>두 기사의 키워드 자카드 유사도가 0.38 이상이거나 공통 키워드가 3개 이상이면 같은 이슈로 판정합니다.</a:t>
            </a:r>
            <a:endParaRPr lang="en-US" sz="1150" dirty="0"/>
          </a:p>
          <a:p>
            <a:pPr marL="342900" indent="-342900">
              <a:lnSpc>
                <a:spcPts val="1800"/>
              </a:lnSpc>
              <a:spcAft>
                <a:spcPts val="900"/>
              </a:spcAft>
              <a:buSzPct val="100000"/>
              <a:buChar char="•"/>
            </a:pPr>
            <a:r>
              <a:rPr lang="en-US" sz="1150" dirty="0">
                <a:solidFill>
                  <a:srgbClr val="6B7F92"/>
                </a:solidFill>
                <a:latin typeface="Malgun Gothic" pitchFamily="34" charset="0"/>
                <a:ea typeface="Malgun Gothic" pitchFamily="34" charset="-122"/>
                <a:cs typeface="Malgun Gothic" pitchFamily="34" charset="-120"/>
              </a:rPr>
              <a:t>‘전고체·하이니켈’ 같은 테마 키워드가 2개 이상 겹쳐도 동일 이슈로 묶습니다.</a:t>
            </a:r>
            <a:endParaRPr lang="en-US" sz="1150" dirty="0"/>
          </a:p>
        </p:txBody>
      </p:sp>
      <p:sp>
        <p:nvSpPr>
          <p:cNvPr id="10" name="Shape 8"/>
          <p:cNvSpPr/>
          <p:nvPr/>
        </p:nvSpPr>
        <p:spPr>
          <a:xfrm>
            <a:off x="859536" y="4919472"/>
            <a:ext cx="3017520" cy="566928"/>
          </a:xfrm>
          <a:prstGeom prst="roundRect">
            <a:avLst>
              <a:gd name="adj" fmla="val 8871"/>
            </a:avLst>
          </a:prstGeom>
          <a:solidFill>
            <a:srgbClr val="EAF5F3"/>
          </a:solidFill>
          <a:ln w="9525">
            <a:solidFill>
              <a:srgbClr val="C7E5E0"/>
            </a:solidFill>
            <a:prstDash val="solid"/>
          </a:ln>
        </p:spPr>
      </p:sp>
      <p:sp>
        <p:nvSpPr>
          <p:cNvPr id="11" name="Text 9"/>
          <p:cNvSpPr txBox="1"/>
          <p:nvPr/>
        </p:nvSpPr>
        <p:spPr>
          <a:xfrm>
            <a:off x="1005840" y="5020056"/>
            <a:ext cx="2743200" cy="384048"/>
          </a:xfrm>
          <a:prstGeom prst="rect">
            <a:avLst/>
          </a:prstGeom>
          <a:noFill/>
          <a:ln/>
        </p:spPr>
        <p:txBody>
          <a:bodyPr wrap="square" lIns="0" tIns="0" rIns="0" bIns="0" rtlCol="0" anchor="t"/>
          <a:lstStyle/>
          <a:p>
            <a:pPr indent="0" marL="0">
              <a:lnSpc>
                <a:spcPts val="1500"/>
              </a:lnSpc>
              <a:buNone/>
            </a:pPr>
            <a:r>
              <a:rPr lang="en-US" sz="1050" b="1" dirty="0">
                <a:solidFill>
                  <a:srgbClr val="0E8477"/>
                </a:solidFill>
                <a:latin typeface="Malgun Gothic" pitchFamily="34" charset="0"/>
                <a:ea typeface="Malgun Gothic" pitchFamily="34" charset="-122"/>
                <a:cs typeface="Malgun Gothic" pitchFamily="34" charset="-120"/>
              </a:rPr>
              <a:t>결과 · 매체 재생산 기사를 1건의 대표 기사로 축약</a:t>
            </a:r>
            <a:endParaRPr lang="en-US" sz="1050" dirty="0"/>
          </a:p>
        </p:txBody>
      </p:sp>
      <p:sp>
        <p:nvSpPr>
          <p:cNvPr id="12" name="Shape 10"/>
          <p:cNvSpPr/>
          <p:nvPr/>
        </p:nvSpPr>
        <p:spPr>
          <a:xfrm>
            <a:off x="4334256" y="1737360"/>
            <a:ext cx="3593592" cy="3913632"/>
          </a:xfrm>
          <a:prstGeom prst="roundRect">
            <a:avLst>
              <a:gd name="adj" fmla="val 1399"/>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13" name="Shape 11"/>
          <p:cNvSpPr/>
          <p:nvPr/>
        </p:nvSpPr>
        <p:spPr>
          <a:xfrm>
            <a:off x="4626864" y="1975104"/>
            <a:ext cx="402336" cy="365760"/>
          </a:xfrm>
          <a:prstGeom prst="roundRect">
            <a:avLst>
              <a:gd name="adj" fmla="val 30000"/>
            </a:avLst>
          </a:prstGeom>
          <a:solidFill>
            <a:srgbClr val="2C6FE3"/>
          </a:solidFill>
          <a:ln w="12700">
            <a:solidFill>
              <a:srgbClr val="2C6FE3"/>
            </a:solidFill>
            <a:prstDash val="solid"/>
          </a:ln>
        </p:spPr>
      </p:sp>
      <p:sp>
        <p:nvSpPr>
          <p:cNvPr id="14" name="Text 12"/>
          <p:cNvSpPr txBox="1"/>
          <p:nvPr/>
        </p:nvSpPr>
        <p:spPr>
          <a:xfrm>
            <a:off x="4626864" y="1975104"/>
            <a:ext cx="402336"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02</a:t>
            </a:r>
            <a:endParaRPr lang="en-US" sz="1200" dirty="0"/>
          </a:p>
        </p:txBody>
      </p:sp>
      <p:sp>
        <p:nvSpPr>
          <p:cNvPr id="15" name="Text 13"/>
          <p:cNvSpPr txBox="1"/>
          <p:nvPr/>
        </p:nvSpPr>
        <p:spPr>
          <a:xfrm>
            <a:off x="5138928" y="1993392"/>
            <a:ext cx="2651760" cy="310896"/>
          </a:xfrm>
          <a:prstGeom prst="rect">
            <a:avLst/>
          </a:prstGeom>
          <a:noFill/>
          <a:ln/>
        </p:spPr>
        <p:txBody>
          <a:bodyPr wrap="square" lIns="0" tIns="0" rIns="0" bIns="0" rtlCol="0" anchor="t"/>
          <a:lstStyle/>
          <a:p>
            <a:pPr indent="0" marL="0">
              <a:buNone/>
            </a:pPr>
            <a:r>
              <a:rPr lang="en-US" sz="1450" b="1" dirty="0">
                <a:solidFill>
                  <a:srgbClr val="07203C"/>
                </a:solidFill>
                <a:latin typeface="Malgun Gothic" pitchFamily="34" charset="0"/>
                <a:ea typeface="Malgun Gothic" pitchFamily="34" charset="-122"/>
                <a:cs typeface="Malgun Gothic" pitchFamily="34" charset="-120"/>
              </a:rPr>
              <a:t>4축 신호 분류와 가중치</a:t>
            </a:r>
            <a:endParaRPr lang="en-US" sz="1450" dirty="0"/>
          </a:p>
        </p:txBody>
      </p:sp>
      <p:sp>
        <p:nvSpPr>
          <p:cNvPr id="16" name="Text 14"/>
          <p:cNvSpPr txBox="1"/>
          <p:nvPr/>
        </p:nvSpPr>
        <p:spPr>
          <a:xfrm>
            <a:off x="4626864" y="2560320"/>
            <a:ext cx="3017520" cy="2286000"/>
          </a:xfrm>
          <a:prstGeom prst="rect">
            <a:avLst/>
          </a:prstGeom>
          <a:noFill/>
          <a:ln/>
        </p:spPr>
        <p:txBody>
          <a:bodyPr wrap="square" lIns="0" tIns="0" rIns="0" bIns="0" rtlCol="0" anchor="t"/>
          <a:lstStyle/>
          <a:p>
            <a:pPr marL="342900" indent="-342900">
              <a:lnSpc>
                <a:spcPts val="1800"/>
              </a:lnSpc>
              <a:spcAft>
                <a:spcPts val="900"/>
              </a:spcAft>
              <a:buSzPct val="100000"/>
              <a:buChar char="•"/>
            </a:pPr>
            <a:r>
              <a:rPr lang="en-US" sz="1150" dirty="0">
                <a:solidFill>
                  <a:srgbClr val="6B7F92"/>
                </a:solidFill>
                <a:latin typeface="Malgun Gothic" pitchFamily="34" charset="0"/>
                <a:ea typeface="Malgun Gothic" pitchFamily="34" charset="-122"/>
                <a:cs typeface="Malgun Gothic" pitchFamily="34" charset="-120"/>
              </a:rPr>
              <a:t>수주·공급 / 투자·CAPEX / 기술·포트폴리오 / 리스크 네 축을 정규식으로 분류합니다.</a:t>
            </a:r>
            <a:endParaRPr lang="en-US" sz="1150" dirty="0"/>
          </a:p>
          <a:p>
            <a:pPr marL="342900" indent="-342900">
              <a:lnSpc>
                <a:spcPts val="1800"/>
              </a:lnSpc>
              <a:spcAft>
                <a:spcPts val="900"/>
              </a:spcAft>
              <a:buSzPct val="100000"/>
              <a:buChar char="•"/>
            </a:pPr>
            <a:r>
              <a:rPr lang="en-US" sz="1150" dirty="0">
                <a:solidFill>
                  <a:srgbClr val="6B7F92"/>
                </a:solidFill>
                <a:latin typeface="Malgun Gothic" pitchFamily="34" charset="0"/>
                <a:ea typeface="Malgun Gothic" pitchFamily="34" charset="-122"/>
                <a:cs typeface="Malgun Gothic" pitchFamily="34" charset="-120"/>
              </a:rPr>
              <a:t>가중 합산 0.2 · 0.2 · 0.15 · 0.45 — 리스크에 가장 큰 가중치를 둡니다.</a:t>
            </a:r>
            <a:endParaRPr lang="en-US" sz="1150" dirty="0"/>
          </a:p>
          <a:p>
            <a:pPr marL="342900" indent="-342900">
              <a:lnSpc>
                <a:spcPts val="1800"/>
              </a:lnSpc>
              <a:spcAft>
                <a:spcPts val="900"/>
              </a:spcAft>
              <a:buSzPct val="100000"/>
              <a:buChar char="•"/>
            </a:pPr>
            <a:r>
              <a:rPr lang="en-US" sz="1150" dirty="0">
                <a:solidFill>
                  <a:srgbClr val="6B7F92"/>
                </a:solidFill>
                <a:latin typeface="Malgun Gothic" pitchFamily="34" charset="0"/>
                <a:ea typeface="Malgun Gothic" pitchFamily="34" charset="-122"/>
                <a:cs typeface="Malgun Gothic" pitchFamily="34" charset="-120"/>
              </a:rPr>
              <a:t>고위험 신호가 있거나 이슈가 5건 이상이면 ‘확인 필요’로 승격합니다.</a:t>
            </a:r>
            <a:endParaRPr lang="en-US" sz="1150" dirty="0"/>
          </a:p>
        </p:txBody>
      </p:sp>
      <p:sp>
        <p:nvSpPr>
          <p:cNvPr id="17" name="Shape 15"/>
          <p:cNvSpPr/>
          <p:nvPr/>
        </p:nvSpPr>
        <p:spPr>
          <a:xfrm>
            <a:off x="4626864" y="4919472"/>
            <a:ext cx="3017520" cy="566928"/>
          </a:xfrm>
          <a:prstGeom prst="roundRect">
            <a:avLst>
              <a:gd name="adj" fmla="val 8871"/>
            </a:avLst>
          </a:prstGeom>
          <a:solidFill>
            <a:srgbClr val="EAF5F3"/>
          </a:solidFill>
          <a:ln w="9525">
            <a:solidFill>
              <a:srgbClr val="C7E5E0"/>
            </a:solidFill>
            <a:prstDash val="solid"/>
          </a:ln>
        </p:spPr>
      </p:sp>
      <p:sp>
        <p:nvSpPr>
          <p:cNvPr id="18" name="Text 16"/>
          <p:cNvSpPr txBox="1"/>
          <p:nvPr/>
        </p:nvSpPr>
        <p:spPr>
          <a:xfrm>
            <a:off x="4773168" y="5020056"/>
            <a:ext cx="2743200" cy="384048"/>
          </a:xfrm>
          <a:prstGeom prst="rect">
            <a:avLst/>
          </a:prstGeom>
          <a:noFill/>
          <a:ln/>
        </p:spPr>
        <p:txBody>
          <a:bodyPr wrap="square" lIns="0" tIns="0" rIns="0" bIns="0" rtlCol="0" anchor="t"/>
          <a:lstStyle/>
          <a:p>
            <a:pPr indent="0" marL="0">
              <a:lnSpc>
                <a:spcPts val="1500"/>
              </a:lnSpc>
              <a:buNone/>
            </a:pPr>
            <a:r>
              <a:rPr lang="en-US" sz="1050" b="1" dirty="0">
                <a:solidFill>
                  <a:srgbClr val="0E8477"/>
                </a:solidFill>
                <a:latin typeface="Malgun Gothic" pitchFamily="34" charset="0"/>
                <a:ea typeface="Malgun Gothic" pitchFamily="34" charset="-122"/>
                <a:cs typeface="Malgun Gothic" pitchFamily="34" charset="-120"/>
              </a:rPr>
              <a:t>결과 · 9개사를 확인필요 / 관찰강화 / 일반 4단계로 자동 등급화</a:t>
            </a:r>
            <a:endParaRPr lang="en-US" sz="1050" dirty="0"/>
          </a:p>
        </p:txBody>
      </p:sp>
      <p:sp>
        <p:nvSpPr>
          <p:cNvPr id="19" name="Shape 17"/>
          <p:cNvSpPr/>
          <p:nvPr/>
        </p:nvSpPr>
        <p:spPr>
          <a:xfrm>
            <a:off x="8101584" y="1737360"/>
            <a:ext cx="3593592" cy="3913632"/>
          </a:xfrm>
          <a:prstGeom prst="roundRect">
            <a:avLst>
              <a:gd name="adj" fmla="val 1399"/>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20" name="Shape 18"/>
          <p:cNvSpPr/>
          <p:nvPr/>
        </p:nvSpPr>
        <p:spPr>
          <a:xfrm>
            <a:off x="8394192" y="1975104"/>
            <a:ext cx="402336" cy="365760"/>
          </a:xfrm>
          <a:prstGeom prst="roundRect">
            <a:avLst>
              <a:gd name="adj" fmla="val 30000"/>
            </a:avLst>
          </a:prstGeom>
          <a:solidFill>
            <a:srgbClr val="7A5AB5"/>
          </a:solidFill>
          <a:ln w="12700">
            <a:solidFill>
              <a:srgbClr val="7A5AB5"/>
            </a:solidFill>
            <a:prstDash val="solid"/>
          </a:ln>
        </p:spPr>
      </p:sp>
      <p:sp>
        <p:nvSpPr>
          <p:cNvPr id="21" name="Text 19"/>
          <p:cNvSpPr txBox="1"/>
          <p:nvPr/>
        </p:nvSpPr>
        <p:spPr>
          <a:xfrm>
            <a:off x="8394192" y="1975104"/>
            <a:ext cx="402336"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03</a:t>
            </a:r>
            <a:endParaRPr lang="en-US" sz="1200" dirty="0"/>
          </a:p>
        </p:txBody>
      </p:sp>
      <p:sp>
        <p:nvSpPr>
          <p:cNvPr id="22" name="Text 20"/>
          <p:cNvSpPr txBox="1"/>
          <p:nvPr/>
        </p:nvSpPr>
        <p:spPr>
          <a:xfrm>
            <a:off x="8906256" y="1993392"/>
            <a:ext cx="2651760" cy="310896"/>
          </a:xfrm>
          <a:prstGeom prst="rect">
            <a:avLst/>
          </a:prstGeom>
          <a:noFill/>
          <a:ln/>
        </p:spPr>
        <p:txBody>
          <a:bodyPr wrap="square" lIns="0" tIns="0" rIns="0" bIns="0" rtlCol="0" anchor="t"/>
          <a:lstStyle/>
          <a:p>
            <a:pPr indent="0" marL="0">
              <a:buNone/>
            </a:pPr>
            <a:r>
              <a:rPr lang="en-US" sz="1450" b="1" dirty="0">
                <a:solidFill>
                  <a:srgbClr val="07203C"/>
                </a:solidFill>
                <a:latin typeface="Malgun Gothic" pitchFamily="34" charset="0"/>
                <a:ea typeface="Malgun Gothic" pitchFamily="34" charset="-122"/>
                <a:cs typeface="Malgun Gothic" pitchFamily="34" charset="-120"/>
              </a:rPr>
              <a:t>AI 출력 검증과 3단 폴백</a:t>
            </a:r>
            <a:endParaRPr lang="en-US" sz="1450" dirty="0"/>
          </a:p>
        </p:txBody>
      </p:sp>
      <p:sp>
        <p:nvSpPr>
          <p:cNvPr id="23" name="Text 21"/>
          <p:cNvSpPr txBox="1"/>
          <p:nvPr/>
        </p:nvSpPr>
        <p:spPr>
          <a:xfrm>
            <a:off x="8394192" y="2560320"/>
            <a:ext cx="3017520" cy="2286000"/>
          </a:xfrm>
          <a:prstGeom prst="rect">
            <a:avLst/>
          </a:prstGeom>
          <a:noFill/>
          <a:ln/>
        </p:spPr>
        <p:txBody>
          <a:bodyPr wrap="square" lIns="0" tIns="0" rIns="0" bIns="0" rtlCol="0" anchor="t"/>
          <a:lstStyle/>
          <a:p>
            <a:pPr marL="342900" indent="-342900">
              <a:lnSpc>
                <a:spcPts val="1800"/>
              </a:lnSpc>
              <a:spcAft>
                <a:spcPts val="900"/>
              </a:spcAft>
              <a:buSzPct val="100000"/>
              <a:buChar char="•"/>
            </a:pPr>
            <a:r>
              <a:rPr lang="en-US" sz="1150" dirty="0">
                <a:solidFill>
                  <a:srgbClr val="6B7F92"/>
                </a:solidFill>
                <a:latin typeface="Malgun Gothic" pitchFamily="34" charset="0"/>
                <a:ea typeface="Malgun Gothic" pitchFamily="34" charset="-122"/>
                <a:cs typeface="Malgun Gothic" pitchFamily="34" charset="-120"/>
              </a:rPr>
              <a:t>프롬프트에서 3개 문장의 역할을 각각 지정합니다 — 사실·밸류체인·자사 대응.</a:t>
            </a:r>
            <a:endParaRPr lang="en-US" sz="1150" dirty="0"/>
          </a:p>
          <a:p>
            <a:pPr marL="342900" indent="-342900">
              <a:lnSpc>
                <a:spcPts val="1800"/>
              </a:lnSpc>
              <a:spcAft>
                <a:spcPts val="900"/>
              </a:spcAft>
              <a:buSzPct val="100000"/>
              <a:buChar char="•"/>
            </a:pPr>
            <a:r>
              <a:rPr lang="en-US" sz="1150" dirty="0">
                <a:solidFill>
                  <a:srgbClr val="6B7F92"/>
                </a:solidFill>
                <a:latin typeface="Malgun Gothic" pitchFamily="34" charset="0"/>
                <a:ea typeface="Malgun Gothic" pitchFamily="34" charset="-122"/>
                <a:cs typeface="Malgun Gothic" pitchFamily="34" charset="-120"/>
              </a:rPr>
              <a:t>응답은 JSON으로 강제하고, 감정·우선순위를 화이트리스트로 재검증합니다.</a:t>
            </a:r>
            <a:endParaRPr lang="en-US" sz="1150" dirty="0"/>
          </a:p>
          <a:p>
            <a:pPr marL="342900" indent="-342900">
              <a:lnSpc>
                <a:spcPts val="1800"/>
              </a:lnSpc>
              <a:spcAft>
                <a:spcPts val="900"/>
              </a:spcAft>
              <a:buSzPct val="100000"/>
              <a:buChar char="•"/>
            </a:pPr>
            <a:r>
              <a:rPr lang="en-US" sz="1150" dirty="0">
                <a:solidFill>
                  <a:srgbClr val="6B7F92"/>
                </a:solidFill>
                <a:latin typeface="Malgun Gothic" pitchFamily="34" charset="0"/>
                <a:ea typeface="Malgun Gothic" pitchFamily="34" charset="-122"/>
                <a:cs typeface="Malgun Gothic" pitchFamily="34" charset="-120"/>
              </a:rPr>
              <a:t>Gemini 실패 → GPT-4o → 기본 결과 순으로 내려가 화면이 비지 않게 했습니다.</a:t>
            </a:r>
            <a:endParaRPr lang="en-US" sz="1150" dirty="0"/>
          </a:p>
        </p:txBody>
      </p:sp>
      <p:sp>
        <p:nvSpPr>
          <p:cNvPr id="24" name="Shape 22"/>
          <p:cNvSpPr/>
          <p:nvPr/>
        </p:nvSpPr>
        <p:spPr>
          <a:xfrm>
            <a:off x="8394192" y="4919472"/>
            <a:ext cx="3017520" cy="566928"/>
          </a:xfrm>
          <a:prstGeom prst="roundRect">
            <a:avLst>
              <a:gd name="adj" fmla="val 8871"/>
            </a:avLst>
          </a:prstGeom>
          <a:solidFill>
            <a:srgbClr val="EAF5F3"/>
          </a:solidFill>
          <a:ln w="9525">
            <a:solidFill>
              <a:srgbClr val="C7E5E0"/>
            </a:solidFill>
            <a:prstDash val="solid"/>
          </a:ln>
        </p:spPr>
      </p:sp>
      <p:sp>
        <p:nvSpPr>
          <p:cNvPr id="25" name="Text 23"/>
          <p:cNvSpPr txBox="1"/>
          <p:nvPr/>
        </p:nvSpPr>
        <p:spPr>
          <a:xfrm>
            <a:off x="8540496" y="5020056"/>
            <a:ext cx="2743200" cy="384048"/>
          </a:xfrm>
          <a:prstGeom prst="rect">
            <a:avLst/>
          </a:prstGeom>
          <a:noFill/>
          <a:ln/>
        </p:spPr>
        <p:txBody>
          <a:bodyPr wrap="square" lIns="0" tIns="0" rIns="0" bIns="0" rtlCol="0" anchor="t"/>
          <a:lstStyle/>
          <a:p>
            <a:pPr indent="0" marL="0">
              <a:lnSpc>
                <a:spcPts val="1500"/>
              </a:lnSpc>
              <a:buNone/>
            </a:pPr>
            <a:r>
              <a:rPr lang="en-US" sz="1050" b="1" dirty="0">
                <a:solidFill>
                  <a:srgbClr val="0E8477"/>
                </a:solidFill>
                <a:latin typeface="Malgun Gothic" pitchFamily="34" charset="0"/>
                <a:ea typeface="Malgun Gothic" pitchFamily="34" charset="-122"/>
                <a:cs typeface="Malgun Gothic" pitchFamily="34" charset="-120"/>
              </a:rPr>
              <a:t>결과 · LLM 장애 상황에서도 화면과 알림이 중단되지 않음</a:t>
            </a:r>
            <a:endParaRPr lang="en-US" sz="1050" dirty="0"/>
          </a:p>
        </p:txBody>
      </p:sp>
      <p:sp>
        <p:nvSpPr>
          <p:cNvPr id="26" name="Shape 24"/>
          <p:cNvSpPr/>
          <p:nvPr/>
        </p:nvSpPr>
        <p:spPr>
          <a:xfrm>
            <a:off x="566928" y="5852160"/>
            <a:ext cx="11055096" cy="457200"/>
          </a:xfrm>
          <a:prstGeom prst="roundRect">
            <a:avLst>
              <a:gd name="adj" fmla="val 11000"/>
            </a:avLst>
          </a:prstGeom>
          <a:solidFill>
            <a:srgbClr val="E7EFF7"/>
          </a:solidFill>
          <a:ln w="9525">
            <a:solidFill>
              <a:srgbClr val="CBDCEB"/>
            </a:solidFill>
            <a:prstDash val="solid"/>
          </a:ln>
        </p:spPr>
      </p:sp>
      <p:sp>
        <p:nvSpPr>
          <p:cNvPr id="27" name="Text 25"/>
          <p:cNvSpPr txBox="1"/>
          <p:nvPr/>
        </p:nvSpPr>
        <p:spPr>
          <a:xfrm>
            <a:off x="841248" y="5952744"/>
            <a:ext cx="10515600" cy="274320"/>
          </a:xfrm>
          <a:prstGeom prst="rect">
            <a:avLst/>
          </a:prstGeom>
          <a:noFill/>
          <a:ln/>
        </p:spPr>
        <p:txBody>
          <a:bodyPr wrap="square" lIns="0" tIns="0" rIns="0" bIns="0" rtlCol="0" anchor="t"/>
          <a:lstStyle/>
          <a:p>
            <a:pPr indent="0" marL="0">
              <a:buNone/>
            </a:pPr>
            <a:r>
              <a:rPr lang="en-US" sz="1200" b="1" dirty="0">
                <a:solidFill>
                  <a:srgbClr val="07203C"/>
                </a:solidFill>
                <a:latin typeface="Malgun Gothic" pitchFamily="34" charset="0"/>
                <a:ea typeface="Malgun Gothic" pitchFamily="34" charset="-122"/>
                <a:cs typeface="Malgun Gothic" pitchFamily="34" charset="-120"/>
              </a:rPr>
              <a:t>같은 모델을 쓰더라도 입력 데이터를 정리하고 출력 형식을 강제했을 때 결과 품질이 가장 크게 달라졌습니다.</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6FA"/>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37744"/>
          </a:xfrm>
          <a:prstGeom prst="rect">
            <a:avLst/>
          </a:prstGeom>
          <a:noFill/>
          <a:ln/>
        </p:spPr>
        <p:txBody>
          <a:bodyPr wrap="square" lIns="0" tIns="0" rIns="0" bIns="0" rtlCol="0" anchor="t"/>
          <a:lstStyle/>
          <a:p>
            <a:pPr indent="0" marL="0">
              <a:buNone/>
            </a:pPr>
            <a:r>
              <a:rPr lang="en-US" sz="1100" b="1" spc="110" kern="0" dirty="0">
                <a:solidFill>
                  <a:srgbClr val="0E8477"/>
                </a:solidFill>
                <a:latin typeface="Malgun Gothic" pitchFamily="34" charset="0"/>
                <a:ea typeface="Malgun Gothic" pitchFamily="34" charset="-122"/>
                <a:cs typeface="Malgun Gothic" pitchFamily="34" charset="-120"/>
              </a:rPr>
              <a:t>02  BUILD  ·  자동 알림</a:t>
            </a:r>
            <a:endParaRPr lang="en-US" sz="1100" dirty="0"/>
          </a:p>
        </p:txBody>
      </p:sp>
      <p:sp>
        <p:nvSpPr>
          <p:cNvPr id="3" name="Text 1"/>
          <p:cNvSpPr txBox="1"/>
          <p:nvPr/>
        </p:nvSpPr>
        <p:spPr>
          <a:xfrm>
            <a:off x="566928" y="713232"/>
            <a:ext cx="11057839" cy="566928"/>
          </a:xfrm>
          <a:prstGeom prst="rect">
            <a:avLst/>
          </a:prstGeom>
          <a:noFill/>
          <a:ln/>
        </p:spPr>
        <p:txBody>
          <a:bodyPr wrap="square" lIns="0" tIns="0" rIns="0" bIns="0" rtlCol="0" anchor="t"/>
          <a:lstStyle/>
          <a:p>
            <a:pPr indent="0" marL="0">
              <a:buNone/>
            </a:pPr>
            <a:r>
              <a:rPr lang="en-US" sz="3000" b="1" dirty="0">
                <a:solidFill>
                  <a:srgbClr val="07203C"/>
                </a:solidFill>
                <a:latin typeface="Malgun Gothic" pitchFamily="34" charset="0"/>
                <a:ea typeface="Malgun Gothic" pitchFamily="34" charset="-122"/>
                <a:cs typeface="Malgun Gothic" pitchFamily="34" charset="-120"/>
              </a:rPr>
              <a:t>중요 공시는 찾으러 가는 것이 아니라 도착합니다</a:t>
            </a:r>
            <a:endParaRPr lang="en-US" sz="3000" dirty="0"/>
          </a:p>
        </p:txBody>
      </p:sp>
      <p:sp>
        <p:nvSpPr>
          <p:cNvPr id="4" name="Text 2"/>
          <p:cNvSpPr txBox="1"/>
          <p:nvPr/>
        </p:nvSpPr>
        <p:spPr>
          <a:xfrm>
            <a:off x="8332927" y="6437376"/>
            <a:ext cx="3291840" cy="219456"/>
          </a:xfrm>
          <a:prstGeom prst="rect">
            <a:avLst/>
          </a:prstGeom>
          <a:noFill/>
          <a:ln/>
        </p:spPr>
        <p:txBody>
          <a:bodyPr wrap="square" lIns="0" tIns="0" rIns="0" bIns="0" rtlCol="0" anchor="t"/>
          <a:lstStyle/>
          <a:p>
            <a:pPr algn="r" indent="0" marL="0">
              <a:buNone/>
            </a:pPr>
            <a:r>
              <a:rPr lang="en-US" sz="950" spc="60" kern="0" dirty="0">
                <a:solidFill>
                  <a:srgbClr val="8A9BAB"/>
                </a:solidFill>
                <a:latin typeface="Malgun Gothic" pitchFamily="34" charset="0"/>
                <a:ea typeface="Malgun Gothic" pitchFamily="34" charset="-122"/>
                <a:cs typeface="Malgun Gothic" pitchFamily="34" charset="-120"/>
              </a:rPr>
              <a:t>10 / 16     FUTURE:M RADAR</a:t>
            </a:r>
            <a:endParaRPr lang="en-US" sz="950" dirty="0"/>
          </a:p>
        </p:txBody>
      </p:sp>
      <p:sp>
        <p:nvSpPr>
          <p:cNvPr id="5" name="Shape 3"/>
          <p:cNvSpPr/>
          <p:nvPr/>
        </p:nvSpPr>
        <p:spPr>
          <a:xfrm>
            <a:off x="566928" y="1847088"/>
            <a:ext cx="1709928" cy="1920240"/>
          </a:xfrm>
          <a:prstGeom prst="roundRect">
            <a:avLst>
              <a:gd name="adj" fmla="val 2941"/>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6" name="Shape 4"/>
          <p:cNvSpPr/>
          <p:nvPr/>
        </p:nvSpPr>
        <p:spPr>
          <a:xfrm>
            <a:off x="786384" y="2066544"/>
            <a:ext cx="347472" cy="329184"/>
          </a:xfrm>
          <a:prstGeom prst="roundRect">
            <a:avLst>
              <a:gd name="adj" fmla="val 33333"/>
            </a:avLst>
          </a:prstGeom>
          <a:solidFill>
            <a:srgbClr val="07203C"/>
          </a:solidFill>
          <a:ln w="12700">
            <a:solidFill>
              <a:srgbClr val="07203C"/>
            </a:solidFill>
            <a:prstDash val="solid"/>
          </a:ln>
        </p:spPr>
      </p:sp>
      <p:sp>
        <p:nvSpPr>
          <p:cNvPr id="7" name="Text 5"/>
          <p:cNvSpPr txBox="1"/>
          <p:nvPr/>
        </p:nvSpPr>
        <p:spPr>
          <a:xfrm>
            <a:off x="786384" y="2066544"/>
            <a:ext cx="347472"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01</a:t>
            </a:r>
            <a:endParaRPr lang="en-US" sz="1050" dirty="0"/>
          </a:p>
        </p:txBody>
      </p:sp>
      <p:sp>
        <p:nvSpPr>
          <p:cNvPr id="8" name="Text 6"/>
          <p:cNvSpPr txBox="1"/>
          <p:nvPr/>
        </p:nvSpPr>
        <p:spPr>
          <a:xfrm>
            <a:off x="749808" y="2523744"/>
            <a:ext cx="1344168" cy="457200"/>
          </a:xfrm>
          <a:prstGeom prst="rect">
            <a:avLst/>
          </a:prstGeom>
          <a:noFill/>
          <a:ln/>
        </p:spPr>
        <p:txBody>
          <a:bodyPr wrap="square" lIns="0" tIns="0" rIns="0" bIns="0" rtlCol="0" anchor="t"/>
          <a:lstStyle/>
          <a:p>
            <a:pPr indent="0" marL="0">
              <a:lnSpc>
                <a:spcPts val="1700"/>
              </a:lnSpc>
              <a:buNone/>
            </a:pPr>
            <a:r>
              <a:rPr lang="en-US" sz="1250" b="1" dirty="0">
                <a:solidFill>
                  <a:srgbClr val="07203C"/>
                </a:solidFill>
                <a:latin typeface="Malgun Gothic" pitchFamily="34" charset="0"/>
                <a:ea typeface="Malgun Gothic" pitchFamily="34" charset="-122"/>
                <a:cs typeface="Malgun Gothic" pitchFamily="34" charset="-120"/>
              </a:rPr>
              <a:t>5분 주기 스캔</a:t>
            </a:r>
            <a:endParaRPr lang="en-US" sz="1250" dirty="0"/>
          </a:p>
        </p:txBody>
      </p:sp>
      <p:sp>
        <p:nvSpPr>
          <p:cNvPr id="9" name="Text 7"/>
          <p:cNvSpPr txBox="1"/>
          <p:nvPr/>
        </p:nvSpPr>
        <p:spPr>
          <a:xfrm>
            <a:off x="749808" y="3017520"/>
            <a:ext cx="1344168" cy="548640"/>
          </a:xfrm>
          <a:prstGeom prst="rect">
            <a:avLst/>
          </a:prstGeom>
          <a:noFill/>
          <a:ln/>
        </p:spPr>
        <p:txBody>
          <a:bodyPr wrap="square" lIns="0" tIns="0" rIns="0" bIns="0" rtlCol="0" anchor="t"/>
          <a:lstStyle/>
          <a:p>
            <a:pPr indent="0" marL="0">
              <a:lnSpc>
                <a:spcPts val="1400"/>
              </a:lnSpc>
              <a:buNone/>
            </a:pPr>
            <a:r>
              <a:rPr lang="en-US" sz="1000" dirty="0">
                <a:solidFill>
                  <a:srgbClr val="6B7F92"/>
                </a:solidFill>
                <a:latin typeface="Malgun Gothic" pitchFamily="34" charset="0"/>
                <a:ea typeface="Malgun Gothic" pitchFamily="34" charset="-122"/>
                <a:cs typeface="Malgun Gothic" pitchFamily="34" charset="-120"/>
              </a:rPr>
              <a:t>9개사 최근 2일 공시 조회</a:t>
            </a:r>
            <a:endParaRPr lang="en-US" sz="1000" dirty="0"/>
          </a:p>
        </p:txBody>
      </p:sp>
      <p:sp>
        <p:nvSpPr>
          <p:cNvPr id="10" name="Text 8"/>
          <p:cNvSpPr txBox="1"/>
          <p:nvPr/>
        </p:nvSpPr>
        <p:spPr>
          <a:xfrm>
            <a:off x="2258568" y="2606040"/>
            <a:ext cx="182880" cy="365760"/>
          </a:xfrm>
          <a:prstGeom prst="rect">
            <a:avLst/>
          </a:prstGeom>
          <a:noFill/>
          <a:ln/>
        </p:spPr>
        <p:txBody>
          <a:bodyPr wrap="square" lIns="0" tIns="0" rIns="0" bIns="0" rtlCol="0" anchor="ctr"/>
          <a:lstStyle/>
          <a:p>
            <a:pPr algn="ctr" indent="0" marL="0">
              <a:buNone/>
            </a:pPr>
            <a:r>
              <a:rPr lang="en-US" sz="2000" b="1" dirty="0">
                <a:solidFill>
                  <a:srgbClr val="17B7A6"/>
                </a:solidFill>
                <a:latin typeface="Malgun Gothic" pitchFamily="34" charset="0"/>
                <a:ea typeface="Malgun Gothic" pitchFamily="34" charset="-122"/>
                <a:cs typeface="Malgun Gothic" pitchFamily="34" charset="-120"/>
              </a:rPr>
              <a:t>›</a:t>
            </a:r>
            <a:endParaRPr lang="en-US" sz="2000" dirty="0"/>
          </a:p>
        </p:txBody>
      </p:sp>
      <p:sp>
        <p:nvSpPr>
          <p:cNvPr id="11" name="Shape 9"/>
          <p:cNvSpPr/>
          <p:nvPr/>
        </p:nvSpPr>
        <p:spPr>
          <a:xfrm>
            <a:off x="2423160" y="1847088"/>
            <a:ext cx="1709928" cy="1920240"/>
          </a:xfrm>
          <a:prstGeom prst="roundRect">
            <a:avLst>
              <a:gd name="adj" fmla="val 2941"/>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12" name="Shape 10"/>
          <p:cNvSpPr/>
          <p:nvPr/>
        </p:nvSpPr>
        <p:spPr>
          <a:xfrm>
            <a:off x="2642616" y="2066544"/>
            <a:ext cx="347472" cy="329184"/>
          </a:xfrm>
          <a:prstGeom prst="roundRect">
            <a:avLst>
              <a:gd name="adj" fmla="val 33333"/>
            </a:avLst>
          </a:prstGeom>
          <a:solidFill>
            <a:srgbClr val="07203C"/>
          </a:solidFill>
          <a:ln w="12700">
            <a:solidFill>
              <a:srgbClr val="07203C"/>
            </a:solidFill>
            <a:prstDash val="solid"/>
          </a:ln>
        </p:spPr>
      </p:sp>
      <p:sp>
        <p:nvSpPr>
          <p:cNvPr id="13" name="Text 11"/>
          <p:cNvSpPr txBox="1"/>
          <p:nvPr/>
        </p:nvSpPr>
        <p:spPr>
          <a:xfrm>
            <a:off x="2642616" y="2066544"/>
            <a:ext cx="347472"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02</a:t>
            </a:r>
            <a:endParaRPr lang="en-US" sz="1050" dirty="0"/>
          </a:p>
        </p:txBody>
      </p:sp>
      <p:sp>
        <p:nvSpPr>
          <p:cNvPr id="14" name="Text 12"/>
          <p:cNvSpPr txBox="1"/>
          <p:nvPr/>
        </p:nvSpPr>
        <p:spPr>
          <a:xfrm>
            <a:off x="2606040" y="2523744"/>
            <a:ext cx="1344168" cy="457200"/>
          </a:xfrm>
          <a:prstGeom prst="rect">
            <a:avLst/>
          </a:prstGeom>
          <a:noFill/>
          <a:ln/>
        </p:spPr>
        <p:txBody>
          <a:bodyPr wrap="square" lIns="0" tIns="0" rIns="0" bIns="0" rtlCol="0" anchor="t"/>
          <a:lstStyle/>
          <a:p>
            <a:pPr indent="0" marL="0">
              <a:lnSpc>
                <a:spcPts val="1700"/>
              </a:lnSpc>
              <a:buNone/>
            </a:pPr>
            <a:r>
              <a:rPr lang="en-US" sz="1250" b="1" dirty="0">
                <a:solidFill>
                  <a:srgbClr val="07203C"/>
                </a:solidFill>
                <a:latin typeface="Malgun Gothic" pitchFamily="34" charset="0"/>
                <a:ea typeface="Malgun Gothic" pitchFamily="34" charset="-122"/>
                <a:cs typeface="Malgun Gothic" pitchFamily="34" charset="-120"/>
              </a:rPr>
              <a:t>주요 공시 판별</a:t>
            </a:r>
            <a:endParaRPr lang="en-US" sz="1250" dirty="0"/>
          </a:p>
        </p:txBody>
      </p:sp>
      <p:sp>
        <p:nvSpPr>
          <p:cNvPr id="15" name="Text 13"/>
          <p:cNvSpPr txBox="1"/>
          <p:nvPr/>
        </p:nvSpPr>
        <p:spPr>
          <a:xfrm>
            <a:off x="2606040" y="3017520"/>
            <a:ext cx="1344168" cy="548640"/>
          </a:xfrm>
          <a:prstGeom prst="rect">
            <a:avLst/>
          </a:prstGeom>
          <a:noFill/>
          <a:ln/>
        </p:spPr>
        <p:txBody>
          <a:bodyPr wrap="square" lIns="0" tIns="0" rIns="0" bIns="0" rtlCol="0" anchor="t"/>
          <a:lstStyle/>
          <a:p>
            <a:pPr indent="0" marL="0">
              <a:lnSpc>
                <a:spcPts val="1400"/>
              </a:lnSpc>
              <a:buNone/>
            </a:pPr>
            <a:r>
              <a:rPr lang="en-US" sz="1000" dirty="0">
                <a:solidFill>
                  <a:srgbClr val="6B7F92"/>
                </a:solidFill>
                <a:latin typeface="Malgun Gothic" pitchFamily="34" charset="0"/>
                <a:ea typeface="Malgun Gothic" pitchFamily="34" charset="-122"/>
                <a:cs typeface="Malgun Gothic" pitchFamily="34" charset="-120"/>
              </a:rPr>
              <a:t>공급계약·시설투자 등 12유형</a:t>
            </a:r>
            <a:endParaRPr lang="en-US" sz="1000" dirty="0"/>
          </a:p>
        </p:txBody>
      </p:sp>
      <p:sp>
        <p:nvSpPr>
          <p:cNvPr id="16" name="Text 14"/>
          <p:cNvSpPr txBox="1"/>
          <p:nvPr/>
        </p:nvSpPr>
        <p:spPr>
          <a:xfrm>
            <a:off x="4114800" y="2606040"/>
            <a:ext cx="182880" cy="365760"/>
          </a:xfrm>
          <a:prstGeom prst="rect">
            <a:avLst/>
          </a:prstGeom>
          <a:noFill/>
          <a:ln/>
        </p:spPr>
        <p:txBody>
          <a:bodyPr wrap="square" lIns="0" tIns="0" rIns="0" bIns="0" rtlCol="0" anchor="ctr"/>
          <a:lstStyle/>
          <a:p>
            <a:pPr algn="ctr" indent="0" marL="0">
              <a:buNone/>
            </a:pPr>
            <a:r>
              <a:rPr lang="en-US" sz="2000" b="1" dirty="0">
                <a:solidFill>
                  <a:srgbClr val="17B7A6"/>
                </a:solidFill>
                <a:latin typeface="Malgun Gothic" pitchFamily="34" charset="0"/>
                <a:ea typeface="Malgun Gothic" pitchFamily="34" charset="-122"/>
                <a:cs typeface="Malgun Gothic" pitchFamily="34" charset="-120"/>
              </a:rPr>
              <a:t>›</a:t>
            </a:r>
            <a:endParaRPr lang="en-US" sz="2000" dirty="0"/>
          </a:p>
        </p:txBody>
      </p:sp>
      <p:sp>
        <p:nvSpPr>
          <p:cNvPr id="17" name="Shape 15"/>
          <p:cNvSpPr/>
          <p:nvPr/>
        </p:nvSpPr>
        <p:spPr>
          <a:xfrm>
            <a:off x="4279392" y="1847088"/>
            <a:ext cx="1709928" cy="1920240"/>
          </a:xfrm>
          <a:prstGeom prst="roundRect">
            <a:avLst>
              <a:gd name="adj" fmla="val 2941"/>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18" name="Shape 16"/>
          <p:cNvSpPr/>
          <p:nvPr/>
        </p:nvSpPr>
        <p:spPr>
          <a:xfrm>
            <a:off x="4498848" y="2066544"/>
            <a:ext cx="347472" cy="329184"/>
          </a:xfrm>
          <a:prstGeom prst="roundRect">
            <a:avLst>
              <a:gd name="adj" fmla="val 33333"/>
            </a:avLst>
          </a:prstGeom>
          <a:solidFill>
            <a:srgbClr val="07203C"/>
          </a:solidFill>
          <a:ln w="12700">
            <a:solidFill>
              <a:srgbClr val="07203C"/>
            </a:solidFill>
            <a:prstDash val="solid"/>
          </a:ln>
        </p:spPr>
      </p:sp>
      <p:sp>
        <p:nvSpPr>
          <p:cNvPr id="19" name="Text 17"/>
          <p:cNvSpPr txBox="1"/>
          <p:nvPr/>
        </p:nvSpPr>
        <p:spPr>
          <a:xfrm>
            <a:off x="4498848" y="2066544"/>
            <a:ext cx="347472"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03</a:t>
            </a:r>
            <a:endParaRPr lang="en-US" sz="1050" dirty="0"/>
          </a:p>
        </p:txBody>
      </p:sp>
      <p:sp>
        <p:nvSpPr>
          <p:cNvPr id="20" name="Text 18"/>
          <p:cNvSpPr txBox="1"/>
          <p:nvPr/>
        </p:nvSpPr>
        <p:spPr>
          <a:xfrm>
            <a:off x="4462272" y="2523744"/>
            <a:ext cx="1344168" cy="457200"/>
          </a:xfrm>
          <a:prstGeom prst="rect">
            <a:avLst/>
          </a:prstGeom>
          <a:noFill/>
          <a:ln/>
        </p:spPr>
        <p:txBody>
          <a:bodyPr wrap="square" lIns="0" tIns="0" rIns="0" bIns="0" rtlCol="0" anchor="t"/>
          <a:lstStyle/>
          <a:p>
            <a:pPr indent="0" marL="0">
              <a:lnSpc>
                <a:spcPts val="1700"/>
              </a:lnSpc>
              <a:buNone/>
            </a:pPr>
            <a:r>
              <a:rPr lang="en-US" sz="1250" b="1" dirty="0">
                <a:solidFill>
                  <a:srgbClr val="07203C"/>
                </a:solidFill>
                <a:latin typeface="Malgun Gothic" pitchFamily="34" charset="0"/>
                <a:ea typeface="Malgun Gothic" pitchFamily="34" charset="-122"/>
                <a:cs typeface="Malgun Gothic" pitchFamily="34" charset="-120"/>
              </a:rPr>
              <a:t>원문 본문 수집</a:t>
            </a:r>
            <a:endParaRPr lang="en-US" sz="1250" dirty="0"/>
          </a:p>
        </p:txBody>
      </p:sp>
      <p:sp>
        <p:nvSpPr>
          <p:cNvPr id="21" name="Text 19"/>
          <p:cNvSpPr txBox="1"/>
          <p:nvPr/>
        </p:nvSpPr>
        <p:spPr>
          <a:xfrm>
            <a:off x="4462272" y="3017520"/>
            <a:ext cx="1344168" cy="548640"/>
          </a:xfrm>
          <a:prstGeom prst="rect">
            <a:avLst/>
          </a:prstGeom>
          <a:noFill/>
          <a:ln/>
        </p:spPr>
        <p:txBody>
          <a:bodyPr wrap="square" lIns="0" tIns="0" rIns="0" bIns="0" rtlCol="0" anchor="t"/>
          <a:lstStyle/>
          <a:p>
            <a:pPr indent="0" marL="0">
              <a:lnSpc>
                <a:spcPts val="1400"/>
              </a:lnSpc>
              <a:buNone/>
            </a:pPr>
            <a:r>
              <a:rPr lang="en-US" sz="1000" dirty="0">
                <a:solidFill>
                  <a:srgbClr val="6B7F92"/>
                </a:solidFill>
                <a:latin typeface="Malgun Gothic" pitchFamily="34" charset="0"/>
                <a:ea typeface="Malgun Gothic" pitchFamily="34" charset="-122"/>
                <a:cs typeface="Malgun Gothic" pitchFamily="34" charset="-120"/>
              </a:rPr>
              <a:t>DART 뷰어 HTML 파싱</a:t>
            </a:r>
            <a:endParaRPr lang="en-US" sz="1000" dirty="0"/>
          </a:p>
        </p:txBody>
      </p:sp>
      <p:sp>
        <p:nvSpPr>
          <p:cNvPr id="22" name="Text 20"/>
          <p:cNvSpPr txBox="1"/>
          <p:nvPr/>
        </p:nvSpPr>
        <p:spPr>
          <a:xfrm>
            <a:off x="5971032" y="2606040"/>
            <a:ext cx="182880" cy="365760"/>
          </a:xfrm>
          <a:prstGeom prst="rect">
            <a:avLst/>
          </a:prstGeom>
          <a:noFill/>
          <a:ln/>
        </p:spPr>
        <p:txBody>
          <a:bodyPr wrap="square" lIns="0" tIns="0" rIns="0" bIns="0" rtlCol="0" anchor="ctr"/>
          <a:lstStyle/>
          <a:p>
            <a:pPr algn="ctr" indent="0" marL="0">
              <a:buNone/>
            </a:pPr>
            <a:r>
              <a:rPr lang="en-US" sz="2000" b="1" dirty="0">
                <a:solidFill>
                  <a:srgbClr val="17B7A6"/>
                </a:solidFill>
                <a:latin typeface="Malgun Gothic" pitchFamily="34" charset="0"/>
                <a:ea typeface="Malgun Gothic" pitchFamily="34" charset="-122"/>
                <a:cs typeface="Malgun Gothic" pitchFamily="34" charset="-120"/>
              </a:rPr>
              <a:t>›</a:t>
            </a:r>
            <a:endParaRPr lang="en-US" sz="2000" dirty="0"/>
          </a:p>
        </p:txBody>
      </p:sp>
      <p:sp>
        <p:nvSpPr>
          <p:cNvPr id="23" name="Shape 21"/>
          <p:cNvSpPr/>
          <p:nvPr/>
        </p:nvSpPr>
        <p:spPr>
          <a:xfrm>
            <a:off x="6135624" y="1847088"/>
            <a:ext cx="1709928" cy="1920240"/>
          </a:xfrm>
          <a:prstGeom prst="roundRect">
            <a:avLst>
              <a:gd name="adj" fmla="val 2941"/>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24" name="Shape 22"/>
          <p:cNvSpPr/>
          <p:nvPr/>
        </p:nvSpPr>
        <p:spPr>
          <a:xfrm>
            <a:off x="6355080" y="2066544"/>
            <a:ext cx="347472" cy="329184"/>
          </a:xfrm>
          <a:prstGeom prst="roundRect">
            <a:avLst>
              <a:gd name="adj" fmla="val 33333"/>
            </a:avLst>
          </a:prstGeom>
          <a:solidFill>
            <a:srgbClr val="7A5AB5"/>
          </a:solidFill>
          <a:ln w="12700">
            <a:solidFill>
              <a:srgbClr val="7A5AB5"/>
            </a:solidFill>
            <a:prstDash val="solid"/>
          </a:ln>
        </p:spPr>
      </p:sp>
      <p:sp>
        <p:nvSpPr>
          <p:cNvPr id="25" name="Text 23"/>
          <p:cNvSpPr txBox="1"/>
          <p:nvPr/>
        </p:nvSpPr>
        <p:spPr>
          <a:xfrm>
            <a:off x="6355080" y="2066544"/>
            <a:ext cx="347472"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04</a:t>
            </a:r>
            <a:endParaRPr lang="en-US" sz="1050" dirty="0"/>
          </a:p>
        </p:txBody>
      </p:sp>
      <p:sp>
        <p:nvSpPr>
          <p:cNvPr id="26" name="Text 24"/>
          <p:cNvSpPr txBox="1"/>
          <p:nvPr/>
        </p:nvSpPr>
        <p:spPr>
          <a:xfrm>
            <a:off x="6318504" y="2523744"/>
            <a:ext cx="1344168" cy="457200"/>
          </a:xfrm>
          <a:prstGeom prst="rect">
            <a:avLst/>
          </a:prstGeom>
          <a:noFill/>
          <a:ln/>
        </p:spPr>
        <p:txBody>
          <a:bodyPr wrap="square" lIns="0" tIns="0" rIns="0" bIns="0" rtlCol="0" anchor="t"/>
          <a:lstStyle/>
          <a:p>
            <a:pPr indent="0" marL="0">
              <a:lnSpc>
                <a:spcPts val="1700"/>
              </a:lnSpc>
              <a:buNone/>
            </a:pPr>
            <a:r>
              <a:rPr lang="en-US" sz="1250" b="1" dirty="0">
                <a:solidFill>
                  <a:srgbClr val="07203C"/>
                </a:solidFill>
                <a:latin typeface="Malgun Gothic" pitchFamily="34" charset="0"/>
                <a:ea typeface="Malgun Gothic" pitchFamily="34" charset="-122"/>
                <a:cs typeface="Malgun Gothic" pitchFamily="34" charset="-120"/>
              </a:rPr>
              <a:t>AI 분석</a:t>
            </a:r>
            <a:endParaRPr lang="en-US" sz="1250" dirty="0"/>
          </a:p>
        </p:txBody>
      </p:sp>
      <p:sp>
        <p:nvSpPr>
          <p:cNvPr id="27" name="Text 25"/>
          <p:cNvSpPr txBox="1"/>
          <p:nvPr/>
        </p:nvSpPr>
        <p:spPr>
          <a:xfrm>
            <a:off x="6318504" y="3017520"/>
            <a:ext cx="1344168" cy="548640"/>
          </a:xfrm>
          <a:prstGeom prst="rect">
            <a:avLst/>
          </a:prstGeom>
          <a:noFill/>
          <a:ln/>
        </p:spPr>
        <p:txBody>
          <a:bodyPr wrap="square" lIns="0" tIns="0" rIns="0" bIns="0" rtlCol="0" anchor="t"/>
          <a:lstStyle/>
          <a:p>
            <a:pPr indent="0" marL="0">
              <a:lnSpc>
                <a:spcPts val="1400"/>
              </a:lnSpc>
              <a:buNone/>
            </a:pPr>
            <a:r>
              <a:rPr lang="en-US" sz="1000" dirty="0">
                <a:solidFill>
                  <a:srgbClr val="6B7F92"/>
                </a:solidFill>
                <a:latin typeface="Malgun Gothic" pitchFamily="34" charset="0"/>
                <a:ea typeface="Malgun Gothic" pitchFamily="34" charset="-122"/>
                <a:cs typeface="Malgun Gothic" pitchFamily="34" charset="-120"/>
              </a:rPr>
              <a:t>요약 3문장 + 핵심 수치 추출</a:t>
            </a:r>
            <a:endParaRPr lang="en-US" sz="1000" dirty="0"/>
          </a:p>
        </p:txBody>
      </p:sp>
      <p:sp>
        <p:nvSpPr>
          <p:cNvPr id="28" name="Text 26"/>
          <p:cNvSpPr txBox="1"/>
          <p:nvPr/>
        </p:nvSpPr>
        <p:spPr>
          <a:xfrm>
            <a:off x="7827264" y="2606040"/>
            <a:ext cx="182880" cy="365760"/>
          </a:xfrm>
          <a:prstGeom prst="rect">
            <a:avLst/>
          </a:prstGeom>
          <a:noFill/>
          <a:ln/>
        </p:spPr>
        <p:txBody>
          <a:bodyPr wrap="square" lIns="0" tIns="0" rIns="0" bIns="0" rtlCol="0" anchor="ctr"/>
          <a:lstStyle/>
          <a:p>
            <a:pPr algn="ctr" indent="0" marL="0">
              <a:buNone/>
            </a:pPr>
            <a:r>
              <a:rPr lang="en-US" sz="2000" b="1" dirty="0">
                <a:solidFill>
                  <a:srgbClr val="17B7A6"/>
                </a:solidFill>
                <a:latin typeface="Malgun Gothic" pitchFamily="34" charset="0"/>
                <a:ea typeface="Malgun Gothic" pitchFamily="34" charset="-122"/>
                <a:cs typeface="Malgun Gothic" pitchFamily="34" charset="-120"/>
              </a:rPr>
              <a:t>›</a:t>
            </a:r>
            <a:endParaRPr lang="en-US" sz="2000" dirty="0"/>
          </a:p>
        </p:txBody>
      </p:sp>
      <p:sp>
        <p:nvSpPr>
          <p:cNvPr id="29" name="Shape 27"/>
          <p:cNvSpPr/>
          <p:nvPr/>
        </p:nvSpPr>
        <p:spPr>
          <a:xfrm>
            <a:off x="7991856" y="1847088"/>
            <a:ext cx="1709928" cy="1920240"/>
          </a:xfrm>
          <a:prstGeom prst="roundRect">
            <a:avLst>
              <a:gd name="adj" fmla="val 2941"/>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30" name="Shape 28"/>
          <p:cNvSpPr/>
          <p:nvPr/>
        </p:nvSpPr>
        <p:spPr>
          <a:xfrm>
            <a:off x="8211312" y="2066544"/>
            <a:ext cx="347472" cy="329184"/>
          </a:xfrm>
          <a:prstGeom prst="roundRect">
            <a:avLst>
              <a:gd name="adj" fmla="val 33333"/>
            </a:avLst>
          </a:prstGeom>
          <a:solidFill>
            <a:srgbClr val="07203C"/>
          </a:solidFill>
          <a:ln w="12700">
            <a:solidFill>
              <a:srgbClr val="07203C"/>
            </a:solidFill>
            <a:prstDash val="solid"/>
          </a:ln>
        </p:spPr>
      </p:sp>
      <p:sp>
        <p:nvSpPr>
          <p:cNvPr id="31" name="Text 29"/>
          <p:cNvSpPr txBox="1"/>
          <p:nvPr/>
        </p:nvSpPr>
        <p:spPr>
          <a:xfrm>
            <a:off x="8211312" y="2066544"/>
            <a:ext cx="347472"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05</a:t>
            </a:r>
            <a:endParaRPr lang="en-US" sz="1050" dirty="0"/>
          </a:p>
        </p:txBody>
      </p:sp>
      <p:sp>
        <p:nvSpPr>
          <p:cNvPr id="32" name="Text 30"/>
          <p:cNvSpPr txBox="1"/>
          <p:nvPr/>
        </p:nvSpPr>
        <p:spPr>
          <a:xfrm>
            <a:off x="8174736" y="2523744"/>
            <a:ext cx="1344168" cy="457200"/>
          </a:xfrm>
          <a:prstGeom prst="rect">
            <a:avLst/>
          </a:prstGeom>
          <a:noFill/>
          <a:ln/>
        </p:spPr>
        <p:txBody>
          <a:bodyPr wrap="square" lIns="0" tIns="0" rIns="0" bIns="0" rtlCol="0" anchor="t"/>
          <a:lstStyle/>
          <a:p>
            <a:pPr indent="0" marL="0">
              <a:lnSpc>
                <a:spcPts val="1700"/>
              </a:lnSpc>
              <a:buNone/>
            </a:pPr>
            <a:r>
              <a:rPr lang="en-US" sz="1250" b="1" dirty="0">
                <a:solidFill>
                  <a:srgbClr val="07203C"/>
                </a:solidFill>
                <a:latin typeface="Malgun Gothic" pitchFamily="34" charset="0"/>
                <a:ea typeface="Malgun Gothic" pitchFamily="34" charset="-122"/>
                <a:cs typeface="Malgun Gothic" pitchFamily="34" charset="-120"/>
              </a:rPr>
              <a:t>채널 발송</a:t>
            </a:r>
            <a:endParaRPr lang="en-US" sz="1250" dirty="0"/>
          </a:p>
        </p:txBody>
      </p:sp>
      <p:sp>
        <p:nvSpPr>
          <p:cNvPr id="33" name="Text 31"/>
          <p:cNvSpPr txBox="1"/>
          <p:nvPr/>
        </p:nvSpPr>
        <p:spPr>
          <a:xfrm>
            <a:off x="8174736" y="3017520"/>
            <a:ext cx="1344168" cy="548640"/>
          </a:xfrm>
          <a:prstGeom prst="rect">
            <a:avLst/>
          </a:prstGeom>
          <a:noFill/>
          <a:ln/>
        </p:spPr>
        <p:txBody>
          <a:bodyPr wrap="square" lIns="0" tIns="0" rIns="0" bIns="0" rtlCol="0" anchor="t"/>
          <a:lstStyle/>
          <a:p>
            <a:pPr indent="0" marL="0">
              <a:lnSpc>
                <a:spcPts val="1400"/>
              </a:lnSpc>
              <a:buNone/>
            </a:pPr>
            <a:r>
              <a:rPr lang="en-US" sz="1000" dirty="0">
                <a:solidFill>
                  <a:srgbClr val="6B7F92"/>
                </a:solidFill>
                <a:latin typeface="Malgun Gothic" pitchFamily="34" charset="0"/>
                <a:ea typeface="Malgun Gothic" pitchFamily="34" charset="-122"/>
                <a:cs typeface="Malgun Gothic" pitchFamily="34" charset="-120"/>
              </a:rPr>
              <a:t>Telegram · 이메일 동시</a:t>
            </a:r>
            <a:endParaRPr lang="en-US" sz="1000" dirty="0"/>
          </a:p>
        </p:txBody>
      </p:sp>
      <p:sp>
        <p:nvSpPr>
          <p:cNvPr id="34" name="Text 32"/>
          <p:cNvSpPr txBox="1"/>
          <p:nvPr/>
        </p:nvSpPr>
        <p:spPr>
          <a:xfrm>
            <a:off x="9683496" y="2606040"/>
            <a:ext cx="182880" cy="365760"/>
          </a:xfrm>
          <a:prstGeom prst="rect">
            <a:avLst/>
          </a:prstGeom>
          <a:noFill/>
          <a:ln/>
        </p:spPr>
        <p:txBody>
          <a:bodyPr wrap="square" lIns="0" tIns="0" rIns="0" bIns="0" rtlCol="0" anchor="ctr"/>
          <a:lstStyle/>
          <a:p>
            <a:pPr algn="ctr" indent="0" marL="0">
              <a:buNone/>
            </a:pPr>
            <a:r>
              <a:rPr lang="en-US" sz="2000" b="1" dirty="0">
                <a:solidFill>
                  <a:srgbClr val="17B7A6"/>
                </a:solidFill>
                <a:latin typeface="Malgun Gothic" pitchFamily="34" charset="0"/>
                <a:ea typeface="Malgun Gothic" pitchFamily="34" charset="-122"/>
                <a:cs typeface="Malgun Gothic" pitchFamily="34" charset="-120"/>
              </a:rPr>
              <a:t>›</a:t>
            </a:r>
            <a:endParaRPr lang="en-US" sz="2000" dirty="0"/>
          </a:p>
        </p:txBody>
      </p:sp>
      <p:sp>
        <p:nvSpPr>
          <p:cNvPr id="35" name="Shape 33"/>
          <p:cNvSpPr/>
          <p:nvPr/>
        </p:nvSpPr>
        <p:spPr>
          <a:xfrm>
            <a:off x="9848088" y="1847088"/>
            <a:ext cx="1709928" cy="1920240"/>
          </a:xfrm>
          <a:prstGeom prst="roundRect">
            <a:avLst>
              <a:gd name="adj" fmla="val 2941"/>
            </a:avLst>
          </a:prstGeom>
          <a:solidFill>
            <a:srgbClr val="07203C"/>
          </a:solidFill>
          <a:ln w="9525">
            <a:solidFill>
              <a:srgbClr val="07203C"/>
            </a:solidFill>
            <a:prstDash val="solid"/>
          </a:ln>
        </p:spPr>
      </p:sp>
      <p:sp>
        <p:nvSpPr>
          <p:cNvPr id="36" name="Shape 34"/>
          <p:cNvSpPr/>
          <p:nvPr/>
        </p:nvSpPr>
        <p:spPr>
          <a:xfrm>
            <a:off x="10067544" y="2066544"/>
            <a:ext cx="347472" cy="329184"/>
          </a:xfrm>
          <a:prstGeom prst="roundRect">
            <a:avLst>
              <a:gd name="adj" fmla="val 33333"/>
            </a:avLst>
          </a:prstGeom>
          <a:solidFill>
            <a:srgbClr val="17B7A6"/>
          </a:solidFill>
          <a:ln w="12700">
            <a:solidFill>
              <a:srgbClr val="17B7A6"/>
            </a:solidFill>
            <a:prstDash val="solid"/>
          </a:ln>
        </p:spPr>
      </p:sp>
      <p:sp>
        <p:nvSpPr>
          <p:cNvPr id="37" name="Text 35"/>
          <p:cNvSpPr txBox="1"/>
          <p:nvPr/>
        </p:nvSpPr>
        <p:spPr>
          <a:xfrm>
            <a:off x="10067544" y="2066544"/>
            <a:ext cx="347472"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06</a:t>
            </a:r>
            <a:endParaRPr lang="en-US" sz="1050" dirty="0"/>
          </a:p>
        </p:txBody>
      </p:sp>
      <p:sp>
        <p:nvSpPr>
          <p:cNvPr id="38" name="Text 36"/>
          <p:cNvSpPr txBox="1"/>
          <p:nvPr/>
        </p:nvSpPr>
        <p:spPr>
          <a:xfrm>
            <a:off x="10030968" y="2523744"/>
            <a:ext cx="1344168" cy="457200"/>
          </a:xfrm>
          <a:prstGeom prst="rect">
            <a:avLst/>
          </a:prstGeom>
          <a:noFill/>
          <a:ln/>
        </p:spPr>
        <p:txBody>
          <a:bodyPr wrap="square" lIns="0" tIns="0" rIns="0" bIns="0" rtlCol="0" anchor="t"/>
          <a:lstStyle/>
          <a:p>
            <a:pPr indent="0" marL="0">
              <a:lnSpc>
                <a:spcPts val="1700"/>
              </a:lnSpc>
              <a:buNone/>
            </a:pPr>
            <a:r>
              <a:rPr lang="en-US" sz="1250" b="1" dirty="0">
                <a:solidFill>
                  <a:srgbClr val="FFFFFF"/>
                </a:solidFill>
                <a:latin typeface="Malgun Gothic" pitchFamily="34" charset="0"/>
                <a:ea typeface="Malgun Gothic" pitchFamily="34" charset="-122"/>
                <a:cs typeface="Malgun Gothic" pitchFamily="34" charset="-120"/>
              </a:rPr>
              <a:t>발송 이력 기록</a:t>
            </a:r>
            <a:endParaRPr lang="en-US" sz="1250" dirty="0"/>
          </a:p>
        </p:txBody>
      </p:sp>
      <p:sp>
        <p:nvSpPr>
          <p:cNvPr id="39" name="Text 37"/>
          <p:cNvSpPr txBox="1"/>
          <p:nvPr/>
        </p:nvSpPr>
        <p:spPr>
          <a:xfrm>
            <a:off x="10030968" y="3017520"/>
            <a:ext cx="1344168" cy="548640"/>
          </a:xfrm>
          <a:prstGeom prst="rect">
            <a:avLst/>
          </a:prstGeom>
          <a:noFill/>
          <a:ln/>
        </p:spPr>
        <p:txBody>
          <a:bodyPr wrap="square" lIns="0" tIns="0" rIns="0" bIns="0" rtlCol="0" anchor="t"/>
          <a:lstStyle/>
          <a:p>
            <a:pPr indent="0" marL="0">
              <a:lnSpc>
                <a:spcPts val="1400"/>
              </a:lnSpc>
              <a:buNone/>
            </a:pPr>
            <a:r>
              <a:rPr lang="en-US" sz="1000" dirty="0">
                <a:solidFill>
                  <a:srgbClr val="9EB8CD"/>
                </a:solidFill>
                <a:latin typeface="Malgun Gothic" pitchFamily="34" charset="0"/>
                <a:ea typeface="Malgun Gothic" pitchFamily="34" charset="-122"/>
                <a:cs typeface="Malgun Gothic" pitchFamily="34" charset="-120"/>
              </a:rPr>
              <a:t>중복 발송 원천 차단</a:t>
            </a:r>
            <a:endParaRPr lang="en-US" sz="1000" dirty="0"/>
          </a:p>
        </p:txBody>
      </p:sp>
      <p:sp>
        <p:nvSpPr>
          <p:cNvPr id="40" name="Shape 38"/>
          <p:cNvSpPr/>
          <p:nvPr/>
        </p:nvSpPr>
        <p:spPr>
          <a:xfrm>
            <a:off x="566928" y="4041648"/>
            <a:ext cx="3593592" cy="2103120"/>
          </a:xfrm>
          <a:prstGeom prst="roundRect">
            <a:avLst>
              <a:gd name="adj" fmla="val 2391"/>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41" name="Text 39"/>
          <p:cNvSpPr txBox="1"/>
          <p:nvPr/>
        </p:nvSpPr>
        <p:spPr>
          <a:xfrm>
            <a:off x="859536" y="4279392"/>
            <a:ext cx="3017520" cy="512064"/>
          </a:xfrm>
          <a:prstGeom prst="rect">
            <a:avLst/>
          </a:prstGeom>
          <a:noFill/>
          <a:ln/>
        </p:spPr>
        <p:txBody>
          <a:bodyPr wrap="square" lIns="0" tIns="0" rIns="0" bIns="0" rtlCol="0" anchor="t"/>
          <a:lstStyle/>
          <a:p>
            <a:pPr indent="0" marL="0">
              <a:lnSpc>
                <a:spcPts val="1900"/>
              </a:lnSpc>
              <a:buNone/>
            </a:pPr>
            <a:r>
              <a:rPr lang="en-US" sz="1300" b="1" dirty="0">
                <a:solidFill>
                  <a:srgbClr val="07203C"/>
                </a:solidFill>
                <a:latin typeface="Malgun Gothic" pitchFamily="34" charset="0"/>
                <a:ea typeface="Malgun Gothic" pitchFamily="34" charset="-122"/>
                <a:cs typeface="Malgun Gothic" pitchFamily="34" charset="-120"/>
              </a:rPr>
              <a:t>같은 공시를 두 번 보내지 않는 구조</a:t>
            </a:r>
            <a:endParaRPr lang="en-US" sz="1300" dirty="0"/>
          </a:p>
        </p:txBody>
      </p:sp>
      <p:sp>
        <p:nvSpPr>
          <p:cNvPr id="42" name="Text 40"/>
          <p:cNvSpPr txBox="1"/>
          <p:nvPr/>
        </p:nvSpPr>
        <p:spPr>
          <a:xfrm>
            <a:off x="859536" y="4882896"/>
            <a:ext cx="3035808" cy="1097280"/>
          </a:xfrm>
          <a:prstGeom prst="rect">
            <a:avLst/>
          </a:prstGeom>
          <a:noFill/>
          <a:ln/>
        </p:spPr>
        <p:txBody>
          <a:bodyPr wrap="square" lIns="0" tIns="0" rIns="0" bIns="0" rtlCol="0" anchor="t"/>
          <a:lstStyle/>
          <a:p>
            <a:pPr indent="0" marL="0">
              <a:lnSpc>
                <a:spcPts val="1700"/>
              </a:lnSpc>
              <a:buNone/>
            </a:pPr>
            <a:r>
              <a:rPr lang="en-US" sz="1100" dirty="0">
                <a:solidFill>
                  <a:srgbClr val="6B7F92"/>
                </a:solidFill>
                <a:latin typeface="Malgun Gothic" pitchFamily="34" charset="0"/>
                <a:ea typeface="Malgun Gothic" pitchFamily="34" charset="-122"/>
                <a:cs typeface="Malgun Gothic" pitchFamily="34" charset="-120"/>
              </a:rPr>
              <a:t>수신자 ID · 접수번호 · 채널을 복합 기본키로 둔 발송 이력 테이블에 기록합니다. 스캔이 5분마다 반복되어도 이미 보낸 건은 조회 단계에서 걸러지므로, 재시작이나 중복 실행에도 안전합니다.</a:t>
            </a:r>
            <a:endParaRPr lang="en-US" sz="1100" dirty="0"/>
          </a:p>
        </p:txBody>
      </p:sp>
      <p:sp>
        <p:nvSpPr>
          <p:cNvPr id="43" name="Shape 41"/>
          <p:cNvSpPr/>
          <p:nvPr/>
        </p:nvSpPr>
        <p:spPr>
          <a:xfrm>
            <a:off x="4334256" y="4041648"/>
            <a:ext cx="3593592" cy="2103120"/>
          </a:xfrm>
          <a:prstGeom prst="roundRect">
            <a:avLst>
              <a:gd name="adj" fmla="val 2391"/>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44" name="Text 42"/>
          <p:cNvSpPr txBox="1"/>
          <p:nvPr/>
        </p:nvSpPr>
        <p:spPr>
          <a:xfrm>
            <a:off x="4626864" y="4279392"/>
            <a:ext cx="3017520" cy="512064"/>
          </a:xfrm>
          <a:prstGeom prst="rect">
            <a:avLst/>
          </a:prstGeom>
          <a:noFill/>
          <a:ln/>
        </p:spPr>
        <p:txBody>
          <a:bodyPr wrap="square" lIns="0" tIns="0" rIns="0" bIns="0" rtlCol="0" anchor="t"/>
          <a:lstStyle/>
          <a:p>
            <a:pPr indent="0" marL="0">
              <a:lnSpc>
                <a:spcPts val="1900"/>
              </a:lnSpc>
              <a:buNone/>
            </a:pPr>
            <a:r>
              <a:rPr lang="en-US" sz="1300" b="1" dirty="0">
                <a:solidFill>
                  <a:srgbClr val="07203C"/>
                </a:solidFill>
                <a:latin typeface="Malgun Gothic" pitchFamily="34" charset="0"/>
                <a:ea typeface="Malgun Gothic" pitchFamily="34" charset="-122"/>
                <a:cs typeface="Malgun Gothic" pitchFamily="34" charset="-120"/>
              </a:rPr>
              <a:t>수신자와 채널을 운영자가 직접 관리</a:t>
            </a:r>
            <a:endParaRPr lang="en-US" sz="1300" dirty="0"/>
          </a:p>
        </p:txBody>
      </p:sp>
      <p:sp>
        <p:nvSpPr>
          <p:cNvPr id="45" name="Text 43"/>
          <p:cNvSpPr txBox="1"/>
          <p:nvPr/>
        </p:nvSpPr>
        <p:spPr>
          <a:xfrm>
            <a:off x="4626864" y="4882896"/>
            <a:ext cx="3035808" cy="1097280"/>
          </a:xfrm>
          <a:prstGeom prst="rect">
            <a:avLst/>
          </a:prstGeom>
          <a:noFill/>
          <a:ln/>
        </p:spPr>
        <p:txBody>
          <a:bodyPr wrap="square" lIns="0" tIns="0" rIns="0" bIns="0" rtlCol="0" anchor="t"/>
          <a:lstStyle/>
          <a:p>
            <a:pPr indent="0" marL="0">
              <a:lnSpc>
                <a:spcPts val="1700"/>
              </a:lnSpc>
              <a:buNone/>
            </a:pPr>
            <a:r>
              <a:rPr lang="en-US" sz="1100" dirty="0">
                <a:solidFill>
                  <a:srgbClr val="6B7F92"/>
                </a:solidFill>
                <a:latin typeface="Malgun Gothic" pitchFamily="34" charset="0"/>
                <a:ea typeface="Malgun Gothic" pitchFamily="34" charset="-122"/>
                <a:cs typeface="Malgun Gothic" pitchFamily="34" charset="-120"/>
              </a:rPr>
              <a:t>관리자 페이지에서 이름·Telegram Chat ID·이메일을 등록하고 채널별로 켜고 끌 수 있습니다. 테스트 발송 버튼으로 연결 상태를 즉시 확인합니다. 비밀번호는 API 응답에 포함하지 않습니다.</a:t>
            </a:r>
            <a:endParaRPr lang="en-US" sz="1100" dirty="0"/>
          </a:p>
        </p:txBody>
      </p:sp>
      <p:sp>
        <p:nvSpPr>
          <p:cNvPr id="46" name="Shape 44"/>
          <p:cNvSpPr/>
          <p:nvPr/>
        </p:nvSpPr>
        <p:spPr>
          <a:xfrm>
            <a:off x="8101584" y="4041648"/>
            <a:ext cx="3593592" cy="2103120"/>
          </a:xfrm>
          <a:prstGeom prst="roundRect">
            <a:avLst>
              <a:gd name="adj" fmla="val 2391"/>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47" name="Text 45"/>
          <p:cNvSpPr txBox="1"/>
          <p:nvPr/>
        </p:nvSpPr>
        <p:spPr>
          <a:xfrm>
            <a:off x="8394192" y="4279392"/>
            <a:ext cx="3017520" cy="512064"/>
          </a:xfrm>
          <a:prstGeom prst="rect">
            <a:avLst/>
          </a:prstGeom>
          <a:noFill/>
          <a:ln/>
        </p:spPr>
        <p:txBody>
          <a:bodyPr wrap="square" lIns="0" tIns="0" rIns="0" bIns="0" rtlCol="0" anchor="t"/>
          <a:lstStyle/>
          <a:p>
            <a:pPr indent="0" marL="0">
              <a:lnSpc>
                <a:spcPts val="1900"/>
              </a:lnSpc>
              <a:buNone/>
            </a:pPr>
            <a:r>
              <a:rPr lang="en-US" sz="1300" b="1" dirty="0">
                <a:solidFill>
                  <a:srgbClr val="07203C"/>
                </a:solidFill>
                <a:latin typeface="Malgun Gothic" pitchFamily="34" charset="0"/>
                <a:ea typeface="Malgun Gothic" pitchFamily="34" charset="-122"/>
                <a:cs typeface="Malgun Gothic" pitchFamily="34" charset="-120"/>
              </a:rPr>
              <a:t>알림 내용도 대시보드와 동일한 기준</a:t>
            </a:r>
            <a:endParaRPr lang="en-US" sz="1300" dirty="0"/>
          </a:p>
        </p:txBody>
      </p:sp>
      <p:sp>
        <p:nvSpPr>
          <p:cNvPr id="48" name="Text 46"/>
          <p:cNvSpPr txBox="1"/>
          <p:nvPr/>
        </p:nvSpPr>
        <p:spPr>
          <a:xfrm>
            <a:off x="8394192" y="4882896"/>
            <a:ext cx="3035808" cy="1097280"/>
          </a:xfrm>
          <a:prstGeom prst="rect">
            <a:avLst/>
          </a:prstGeom>
          <a:noFill/>
          <a:ln/>
        </p:spPr>
        <p:txBody>
          <a:bodyPr wrap="square" lIns="0" tIns="0" rIns="0" bIns="0" rtlCol="0" anchor="t"/>
          <a:lstStyle/>
          <a:p>
            <a:pPr indent="0" marL="0">
              <a:lnSpc>
                <a:spcPts val="1700"/>
              </a:lnSpc>
              <a:buNone/>
            </a:pPr>
            <a:r>
              <a:rPr lang="en-US" sz="1100" dirty="0">
                <a:solidFill>
                  <a:srgbClr val="6B7F92"/>
                </a:solidFill>
                <a:latin typeface="Malgun Gothic" pitchFamily="34" charset="0"/>
                <a:ea typeface="Malgun Gothic" pitchFamily="34" charset="-122"/>
                <a:cs typeface="Malgun Gothic" pitchFamily="34" charset="-120"/>
              </a:rPr>
              <a:t>같은 AI 분석 결과를 화면·Telegram·이메일이 공유합니다. 이메일은 HTML과 텍스트를 함께 보내고, 본문 하단에 DART 원문 링크를 넣어 근거를 항상 되짚을 수 있게 했습니다.</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6FA"/>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37744"/>
          </a:xfrm>
          <a:prstGeom prst="rect">
            <a:avLst/>
          </a:prstGeom>
          <a:noFill/>
          <a:ln/>
        </p:spPr>
        <p:txBody>
          <a:bodyPr wrap="square" lIns="0" tIns="0" rIns="0" bIns="0" rtlCol="0" anchor="t"/>
          <a:lstStyle/>
          <a:p>
            <a:pPr indent="0" marL="0">
              <a:buNone/>
            </a:pPr>
            <a:r>
              <a:rPr lang="en-US" sz="1100" b="1" spc="110" kern="0" dirty="0">
                <a:solidFill>
                  <a:srgbClr val="0E8477"/>
                </a:solidFill>
                <a:latin typeface="Malgun Gothic" pitchFamily="34" charset="0"/>
                <a:ea typeface="Malgun Gothic" pitchFamily="34" charset="-122"/>
                <a:cs typeface="Malgun Gothic" pitchFamily="34" charset="-120"/>
              </a:rPr>
              <a:t>02  BUILD  ·  교육 연계</a:t>
            </a:r>
            <a:endParaRPr lang="en-US" sz="1100" dirty="0"/>
          </a:p>
        </p:txBody>
      </p:sp>
      <p:sp>
        <p:nvSpPr>
          <p:cNvPr id="3" name="Text 1"/>
          <p:cNvSpPr txBox="1"/>
          <p:nvPr/>
        </p:nvSpPr>
        <p:spPr>
          <a:xfrm>
            <a:off x="566928" y="713232"/>
            <a:ext cx="11057839" cy="566928"/>
          </a:xfrm>
          <a:prstGeom prst="rect">
            <a:avLst/>
          </a:prstGeom>
          <a:noFill/>
          <a:ln/>
        </p:spPr>
        <p:txBody>
          <a:bodyPr wrap="square" lIns="0" tIns="0" rIns="0" bIns="0" rtlCol="0" anchor="t"/>
          <a:lstStyle/>
          <a:p>
            <a:pPr indent="0" marL="0">
              <a:buNone/>
            </a:pPr>
            <a:r>
              <a:rPr lang="en-US" sz="3200" b="1" dirty="0">
                <a:solidFill>
                  <a:srgbClr val="07203C"/>
                </a:solidFill>
                <a:latin typeface="Malgun Gothic" pitchFamily="34" charset="0"/>
                <a:ea typeface="Malgun Gothic" pitchFamily="34" charset="-122"/>
                <a:cs typeface="Malgun Gothic" pitchFamily="34" charset="-120"/>
              </a:rPr>
              <a:t>교육 내용과 구현의 연결</a:t>
            </a:r>
            <a:endParaRPr lang="en-US" sz="3200" dirty="0"/>
          </a:p>
        </p:txBody>
      </p:sp>
      <p:sp>
        <p:nvSpPr>
          <p:cNvPr id="4" name="Text 2"/>
          <p:cNvSpPr txBox="1"/>
          <p:nvPr/>
        </p:nvSpPr>
        <p:spPr>
          <a:xfrm>
            <a:off x="566928" y="1353312"/>
            <a:ext cx="11057839" cy="274320"/>
          </a:xfrm>
          <a:prstGeom prst="rect">
            <a:avLst/>
          </a:prstGeom>
          <a:noFill/>
          <a:ln/>
        </p:spPr>
        <p:txBody>
          <a:bodyPr wrap="square" lIns="0" tIns="0" rIns="0" bIns="0" rtlCol="0" anchor="t"/>
          <a:lstStyle/>
          <a:p>
            <a:pPr indent="0" marL="0">
              <a:buNone/>
            </a:pPr>
            <a:r>
              <a:rPr lang="en-US" sz="1300" dirty="0">
                <a:solidFill>
                  <a:srgbClr val="6B7F92"/>
                </a:solidFill>
                <a:latin typeface="Malgun Gothic" pitchFamily="34" charset="0"/>
                <a:ea typeface="Malgun Gothic" pitchFamily="34" charset="-122"/>
                <a:cs typeface="Malgun Gothic" pitchFamily="34" charset="-120"/>
              </a:rPr>
              <a:t>왼쪽 두 칸은 발표자가 직접 채우는 영역입니다. 오른쪽은 실제 코드에 적용된 결과입니다.</a:t>
            </a:r>
            <a:endParaRPr lang="en-US" sz="1300" dirty="0"/>
          </a:p>
        </p:txBody>
      </p:sp>
      <p:sp>
        <p:nvSpPr>
          <p:cNvPr id="5" name="Text 3"/>
          <p:cNvSpPr txBox="1"/>
          <p:nvPr/>
        </p:nvSpPr>
        <p:spPr>
          <a:xfrm>
            <a:off x="8332927" y="6437376"/>
            <a:ext cx="3291840" cy="219456"/>
          </a:xfrm>
          <a:prstGeom prst="rect">
            <a:avLst/>
          </a:prstGeom>
          <a:noFill/>
          <a:ln/>
        </p:spPr>
        <p:txBody>
          <a:bodyPr wrap="square" lIns="0" tIns="0" rIns="0" bIns="0" rtlCol="0" anchor="t"/>
          <a:lstStyle/>
          <a:p>
            <a:pPr algn="r" indent="0" marL="0">
              <a:buNone/>
            </a:pPr>
            <a:r>
              <a:rPr lang="en-US" sz="950" spc="60" kern="0" dirty="0">
                <a:solidFill>
                  <a:srgbClr val="8A9BAB"/>
                </a:solidFill>
                <a:latin typeface="Malgun Gothic" pitchFamily="34" charset="0"/>
                <a:ea typeface="Malgun Gothic" pitchFamily="34" charset="-122"/>
                <a:cs typeface="Malgun Gothic" pitchFamily="34" charset="-120"/>
              </a:rPr>
              <a:t>11 / 16     FUTURE:M RADAR</a:t>
            </a:r>
            <a:endParaRPr lang="en-US" sz="950" dirty="0"/>
          </a:p>
        </p:txBody>
      </p:sp>
      <p:sp>
        <p:nvSpPr>
          <p:cNvPr id="6" name="Text 4"/>
          <p:cNvSpPr txBox="1"/>
          <p:nvPr/>
        </p:nvSpPr>
        <p:spPr>
          <a:xfrm>
            <a:off x="768096" y="1847088"/>
            <a:ext cx="2560320" cy="237744"/>
          </a:xfrm>
          <a:prstGeom prst="rect">
            <a:avLst/>
          </a:prstGeom>
          <a:noFill/>
          <a:ln/>
        </p:spPr>
        <p:txBody>
          <a:bodyPr wrap="square" lIns="0" tIns="0" rIns="0" bIns="0" rtlCol="0" anchor="t"/>
          <a:lstStyle/>
          <a:p>
            <a:pPr indent="0" marL="0">
              <a:buNone/>
            </a:pPr>
            <a:r>
              <a:rPr lang="en-US" sz="1050" b="1" spc="80" kern="0" dirty="0">
                <a:solidFill>
                  <a:srgbClr val="8A9BAB"/>
                </a:solidFill>
                <a:latin typeface="Malgun Gothic" pitchFamily="34" charset="0"/>
                <a:ea typeface="Malgun Gothic" pitchFamily="34" charset="-122"/>
                <a:cs typeface="Malgun Gothic" pitchFamily="34" charset="-120"/>
              </a:rPr>
              <a:t>주차</a:t>
            </a:r>
            <a:endParaRPr lang="en-US" sz="1050" dirty="0"/>
          </a:p>
        </p:txBody>
      </p:sp>
      <p:sp>
        <p:nvSpPr>
          <p:cNvPr id="7" name="Text 5"/>
          <p:cNvSpPr txBox="1"/>
          <p:nvPr/>
        </p:nvSpPr>
        <p:spPr>
          <a:xfrm>
            <a:off x="1938528" y="1847088"/>
            <a:ext cx="2560320" cy="237744"/>
          </a:xfrm>
          <a:prstGeom prst="rect">
            <a:avLst/>
          </a:prstGeom>
          <a:noFill/>
          <a:ln/>
        </p:spPr>
        <p:txBody>
          <a:bodyPr wrap="square" lIns="0" tIns="0" rIns="0" bIns="0" rtlCol="0" anchor="t"/>
          <a:lstStyle/>
          <a:p>
            <a:pPr indent="0" marL="0">
              <a:buNone/>
            </a:pPr>
            <a:r>
              <a:rPr lang="en-US" sz="1050" b="1" spc="80" kern="0" dirty="0">
                <a:solidFill>
                  <a:srgbClr val="8A9BAB"/>
                </a:solidFill>
                <a:latin typeface="Malgun Gothic" pitchFamily="34" charset="0"/>
                <a:ea typeface="Malgun Gothic" pitchFamily="34" charset="-122"/>
                <a:cs typeface="Malgun Gothic" pitchFamily="34" charset="-120"/>
              </a:rPr>
              <a:t>학습한 개념 · 기술</a:t>
            </a:r>
            <a:endParaRPr lang="en-US" sz="1050" dirty="0"/>
          </a:p>
        </p:txBody>
      </p:sp>
      <p:sp>
        <p:nvSpPr>
          <p:cNvPr id="8" name="Text 6"/>
          <p:cNvSpPr txBox="1"/>
          <p:nvPr/>
        </p:nvSpPr>
        <p:spPr>
          <a:xfrm>
            <a:off x="4590288" y="1847088"/>
            <a:ext cx="6949440" cy="237744"/>
          </a:xfrm>
          <a:prstGeom prst="rect">
            <a:avLst/>
          </a:prstGeom>
          <a:noFill/>
          <a:ln/>
        </p:spPr>
        <p:txBody>
          <a:bodyPr wrap="square" lIns="0" tIns="0" rIns="0" bIns="0" rtlCol="0" anchor="t"/>
          <a:lstStyle/>
          <a:p>
            <a:pPr indent="0" marL="0">
              <a:buNone/>
            </a:pPr>
            <a:r>
              <a:rPr lang="en-US" sz="1050" b="1" spc="80" kern="0" dirty="0">
                <a:solidFill>
                  <a:srgbClr val="8A9BAB"/>
                </a:solidFill>
                <a:latin typeface="Malgun Gothic" pitchFamily="34" charset="0"/>
                <a:ea typeface="Malgun Gothic" pitchFamily="34" charset="-122"/>
                <a:cs typeface="Malgun Gothic" pitchFamily="34" charset="-120"/>
              </a:rPr>
              <a:t>프로젝트에 적용된 결과 (코드 기준)</a:t>
            </a:r>
            <a:endParaRPr lang="en-US" sz="1050" dirty="0"/>
          </a:p>
        </p:txBody>
      </p:sp>
      <p:sp>
        <p:nvSpPr>
          <p:cNvPr id="9" name="Shape 7"/>
          <p:cNvSpPr/>
          <p:nvPr/>
        </p:nvSpPr>
        <p:spPr>
          <a:xfrm>
            <a:off x="566928" y="2157984"/>
            <a:ext cx="11055096" cy="731520"/>
          </a:xfrm>
          <a:prstGeom prst="roundRect">
            <a:avLst>
              <a:gd name="adj" fmla="val 6875"/>
            </a:avLst>
          </a:prstGeom>
          <a:solidFill>
            <a:srgbClr val="FFFFFF"/>
          </a:solidFill>
          <a:ln w="9525">
            <a:solidFill>
              <a:srgbClr val="DCE7F1"/>
            </a:solidFill>
            <a:prstDash val="solid"/>
          </a:ln>
          <a:effectLst>
            <a:outerShdw sx="100000" sy="100000" kx="0" ky="0" algn="bl" rotWithShape="0" blurRad="76200" dist="25400" dir="5400000">
              <a:srgbClr val="9FB3C6">
                <a:alpha val="20000"/>
              </a:srgbClr>
            </a:outerShdw>
          </a:effectLst>
        </p:spPr>
      </p:sp>
      <p:sp>
        <p:nvSpPr>
          <p:cNvPr id="10" name="Shape 8"/>
          <p:cNvSpPr/>
          <p:nvPr/>
        </p:nvSpPr>
        <p:spPr>
          <a:xfrm>
            <a:off x="768096" y="2331720"/>
            <a:ext cx="566928" cy="384048"/>
          </a:xfrm>
          <a:prstGeom prst="roundRect">
            <a:avLst>
              <a:gd name="adj" fmla="val 28571"/>
            </a:avLst>
          </a:prstGeom>
          <a:solidFill>
            <a:srgbClr val="FBF1DE"/>
          </a:solidFill>
          <a:ln w="9525">
            <a:solidFill>
              <a:srgbClr val="EAD7B2"/>
            </a:solidFill>
            <a:prstDash val="solid"/>
          </a:ln>
        </p:spPr>
      </p:sp>
      <p:sp>
        <p:nvSpPr>
          <p:cNvPr id="11" name="Text 9"/>
          <p:cNvSpPr txBox="1"/>
          <p:nvPr/>
        </p:nvSpPr>
        <p:spPr>
          <a:xfrm>
            <a:off x="768096" y="2331720"/>
            <a:ext cx="566928" cy="384048"/>
          </a:xfrm>
          <a:prstGeom prst="rect">
            <a:avLst/>
          </a:prstGeom>
          <a:noFill/>
          <a:ln/>
        </p:spPr>
        <p:txBody>
          <a:bodyPr wrap="square" lIns="0" tIns="0" rIns="0" bIns="0" rtlCol="0" anchor="ctr"/>
          <a:lstStyle/>
          <a:p>
            <a:pPr algn="ctr" indent="0" marL="0">
              <a:buNone/>
            </a:pPr>
            <a:r>
              <a:rPr lang="en-US" sz="1150" b="1" dirty="0">
                <a:solidFill>
                  <a:srgbClr val="C97F16"/>
                </a:solidFill>
                <a:latin typeface="Malgun Gothic" pitchFamily="34" charset="0"/>
                <a:ea typeface="Malgun Gothic" pitchFamily="34" charset="-122"/>
                <a:cs typeface="Malgun Gothic" pitchFamily="34" charset="-120"/>
              </a:rPr>
              <a:t>W1</a:t>
            </a:r>
            <a:endParaRPr lang="en-US" sz="1150" dirty="0"/>
          </a:p>
        </p:txBody>
      </p:sp>
      <p:sp>
        <p:nvSpPr>
          <p:cNvPr id="12" name="Text 10"/>
          <p:cNvSpPr txBox="1"/>
          <p:nvPr/>
        </p:nvSpPr>
        <p:spPr>
          <a:xfrm>
            <a:off x="1938528" y="2404872"/>
            <a:ext cx="2468880" cy="256032"/>
          </a:xfrm>
          <a:prstGeom prst="rect">
            <a:avLst/>
          </a:prstGeom>
          <a:noFill/>
          <a:ln/>
        </p:spPr>
        <p:txBody>
          <a:bodyPr wrap="square" lIns="0" tIns="0" rIns="0" bIns="0" rtlCol="0" anchor="t"/>
          <a:lstStyle/>
          <a:p>
            <a:pPr indent="0" marL="0">
              <a:buNone/>
            </a:pPr>
            <a:r>
              <a:rPr lang="en-US" sz="1200" b="1" dirty="0">
                <a:solidFill>
                  <a:srgbClr val="C97F16"/>
                </a:solidFill>
                <a:latin typeface="Malgun Gothic" pitchFamily="34" charset="0"/>
                <a:ea typeface="Malgun Gothic" pitchFamily="34" charset="-122"/>
                <a:cs typeface="Malgun Gothic" pitchFamily="34" charset="-120"/>
              </a:rPr>
              <a:t>[입력 필요]</a:t>
            </a:r>
            <a:endParaRPr lang="en-US" sz="1200" dirty="0"/>
          </a:p>
        </p:txBody>
      </p:sp>
      <p:sp>
        <p:nvSpPr>
          <p:cNvPr id="13" name="Text 11"/>
          <p:cNvSpPr txBox="1"/>
          <p:nvPr/>
        </p:nvSpPr>
        <p:spPr>
          <a:xfrm>
            <a:off x="4590288" y="2286000"/>
            <a:ext cx="6858000" cy="512064"/>
          </a:xfrm>
          <a:prstGeom prst="rect">
            <a:avLst/>
          </a:prstGeom>
          <a:noFill/>
          <a:ln/>
        </p:spPr>
        <p:txBody>
          <a:bodyPr wrap="square" lIns="0" tIns="0" rIns="0" bIns="0" rtlCol="0" anchor="t"/>
          <a:lstStyle/>
          <a:p>
            <a:pPr indent="0" marL="0">
              <a:lnSpc>
                <a:spcPts val="1700"/>
              </a:lnSpc>
              <a:buNone/>
            </a:pPr>
            <a:r>
              <a:rPr lang="en-US" sz="1150" dirty="0">
                <a:solidFill>
                  <a:srgbClr val="15304C"/>
                </a:solidFill>
                <a:latin typeface="Malgun Gothic" pitchFamily="34" charset="0"/>
                <a:ea typeface="Malgun Gothic" pitchFamily="34" charset="-122"/>
                <a:cs typeface="Malgun Gothic" pitchFamily="34" charset="-120"/>
              </a:rPr>
              <a:t>ai_service.py · 시스템 프롬프트에 ‘배터리·소재 산업 수석 애널리스트’ 역할을 부여하고, 3개 요약 문장의 역할을 각각 지정했습니다.</a:t>
            </a:r>
            <a:endParaRPr lang="en-US" sz="1150" dirty="0"/>
          </a:p>
        </p:txBody>
      </p:sp>
      <p:sp>
        <p:nvSpPr>
          <p:cNvPr id="14" name="Shape 12"/>
          <p:cNvSpPr/>
          <p:nvPr/>
        </p:nvSpPr>
        <p:spPr>
          <a:xfrm>
            <a:off x="566928" y="2980944"/>
            <a:ext cx="11055096" cy="731520"/>
          </a:xfrm>
          <a:prstGeom prst="roundRect">
            <a:avLst>
              <a:gd name="adj" fmla="val 6875"/>
            </a:avLst>
          </a:prstGeom>
          <a:solidFill>
            <a:srgbClr val="FFFFFF"/>
          </a:solidFill>
          <a:ln w="9525">
            <a:solidFill>
              <a:srgbClr val="DCE7F1"/>
            </a:solidFill>
            <a:prstDash val="solid"/>
          </a:ln>
          <a:effectLst>
            <a:outerShdw sx="100000" sy="100000" kx="0" ky="0" algn="bl" rotWithShape="0" blurRad="76200" dist="25400" dir="5400000">
              <a:srgbClr val="9FB3C6">
                <a:alpha val="20000"/>
              </a:srgbClr>
            </a:outerShdw>
          </a:effectLst>
        </p:spPr>
      </p:sp>
      <p:sp>
        <p:nvSpPr>
          <p:cNvPr id="15" name="Shape 13"/>
          <p:cNvSpPr/>
          <p:nvPr/>
        </p:nvSpPr>
        <p:spPr>
          <a:xfrm>
            <a:off x="768096" y="3154680"/>
            <a:ext cx="566928" cy="384048"/>
          </a:xfrm>
          <a:prstGeom prst="roundRect">
            <a:avLst>
              <a:gd name="adj" fmla="val 28571"/>
            </a:avLst>
          </a:prstGeom>
          <a:solidFill>
            <a:srgbClr val="FBF1DE"/>
          </a:solidFill>
          <a:ln w="9525">
            <a:solidFill>
              <a:srgbClr val="EAD7B2"/>
            </a:solidFill>
            <a:prstDash val="solid"/>
          </a:ln>
        </p:spPr>
      </p:sp>
      <p:sp>
        <p:nvSpPr>
          <p:cNvPr id="16" name="Text 14"/>
          <p:cNvSpPr txBox="1"/>
          <p:nvPr/>
        </p:nvSpPr>
        <p:spPr>
          <a:xfrm>
            <a:off x="768096" y="3154680"/>
            <a:ext cx="566928" cy="384048"/>
          </a:xfrm>
          <a:prstGeom prst="rect">
            <a:avLst/>
          </a:prstGeom>
          <a:noFill/>
          <a:ln/>
        </p:spPr>
        <p:txBody>
          <a:bodyPr wrap="square" lIns="0" tIns="0" rIns="0" bIns="0" rtlCol="0" anchor="ctr"/>
          <a:lstStyle/>
          <a:p>
            <a:pPr algn="ctr" indent="0" marL="0">
              <a:buNone/>
            </a:pPr>
            <a:r>
              <a:rPr lang="en-US" sz="1150" b="1" dirty="0">
                <a:solidFill>
                  <a:srgbClr val="C97F16"/>
                </a:solidFill>
                <a:latin typeface="Malgun Gothic" pitchFamily="34" charset="0"/>
                <a:ea typeface="Malgun Gothic" pitchFamily="34" charset="-122"/>
                <a:cs typeface="Malgun Gothic" pitchFamily="34" charset="-120"/>
              </a:rPr>
              <a:t>W2</a:t>
            </a:r>
            <a:endParaRPr lang="en-US" sz="1150" dirty="0"/>
          </a:p>
        </p:txBody>
      </p:sp>
      <p:sp>
        <p:nvSpPr>
          <p:cNvPr id="17" name="Text 15"/>
          <p:cNvSpPr txBox="1"/>
          <p:nvPr/>
        </p:nvSpPr>
        <p:spPr>
          <a:xfrm>
            <a:off x="1938528" y="3227832"/>
            <a:ext cx="2468880" cy="256032"/>
          </a:xfrm>
          <a:prstGeom prst="rect">
            <a:avLst/>
          </a:prstGeom>
          <a:noFill/>
          <a:ln/>
        </p:spPr>
        <p:txBody>
          <a:bodyPr wrap="square" lIns="0" tIns="0" rIns="0" bIns="0" rtlCol="0" anchor="t"/>
          <a:lstStyle/>
          <a:p>
            <a:pPr indent="0" marL="0">
              <a:buNone/>
            </a:pPr>
            <a:r>
              <a:rPr lang="en-US" sz="1200" b="1" dirty="0">
                <a:solidFill>
                  <a:srgbClr val="C97F16"/>
                </a:solidFill>
                <a:latin typeface="Malgun Gothic" pitchFamily="34" charset="0"/>
                <a:ea typeface="Malgun Gothic" pitchFamily="34" charset="-122"/>
                <a:cs typeface="Malgun Gothic" pitchFamily="34" charset="-120"/>
              </a:rPr>
              <a:t>[입력 필요]</a:t>
            </a:r>
            <a:endParaRPr lang="en-US" sz="1200" dirty="0"/>
          </a:p>
        </p:txBody>
      </p:sp>
      <p:sp>
        <p:nvSpPr>
          <p:cNvPr id="18" name="Text 16"/>
          <p:cNvSpPr txBox="1"/>
          <p:nvPr/>
        </p:nvSpPr>
        <p:spPr>
          <a:xfrm>
            <a:off x="4590288" y="3108960"/>
            <a:ext cx="6858000" cy="512064"/>
          </a:xfrm>
          <a:prstGeom prst="rect">
            <a:avLst/>
          </a:prstGeom>
          <a:noFill/>
          <a:ln/>
        </p:spPr>
        <p:txBody>
          <a:bodyPr wrap="square" lIns="0" tIns="0" rIns="0" bIns="0" rtlCol="0" anchor="t"/>
          <a:lstStyle/>
          <a:p>
            <a:pPr indent="0" marL="0">
              <a:lnSpc>
                <a:spcPts val="1700"/>
              </a:lnSpc>
              <a:buNone/>
            </a:pPr>
            <a:r>
              <a:rPr lang="en-US" sz="1150" dirty="0">
                <a:solidFill>
                  <a:srgbClr val="15304C"/>
                </a:solidFill>
                <a:latin typeface="Malgun Gothic" pitchFamily="34" charset="0"/>
                <a:ea typeface="Malgun Gothic" pitchFamily="34" charset="-122"/>
                <a:cs typeface="Malgun Gothic" pitchFamily="34" charset="-120"/>
              </a:rPr>
              <a:t>validate_result() · LLM 응답을 JSON으로 강제하고 감정·우선순위 값을 화이트리스트로 재검증한 뒤 화면에 넘깁니다.</a:t>
            </a:r>
            <a:endParaRPr lang="en-US" sz="1150" dirty="0"/>
          </a:p>
        </p:txBody>
      </p:sp>
      <p:sp>
        <p:nvSpPr>
          <p:cNvPr id="19" name="Shape 17"/>
          <p:cNvSpPr/>
          <p:nvPr/>
        </p:nvSpPr>
        <p:spPr>
          <a:xfrm>
            <a:off x="566928" y="3803904"/>
            <a:ext cx="11055096" cy="731520"/>
          </a:xfrm>
          <a:prstGeom prst="roundRect">
            <a:avLst>
              <a:gd name="adj" fmla="val 6875"/>
            </a:avLst>
          </a:prstGeom>
          <a:solidFill>
            <a:srgbClr val="FFFFFF"/>
          </a:solidFill>
          <a:ln w="9525">
            <a:solidFill>
              <a:srgbClr val="DCE7F1"/>
            </a:solidFill>
            <a:prstDash val="solid"/>
          </a:ln>
          <a:effectLst>
            <a:outerShdw sx="100000" sy="100000" kx="0" ky="0" algn="bl" rotWithShape="0" blurRad="76200" dist="25400" dir="5400000">
              <a:srgbClr val="9FB3C6">
                <a:alpha val="20000"/>
              </a:srgbClr>
            </a:outerShdw>
          </a:effectLst>
        </p:spPr>
      </p:sp>
      <p:sp>
        <p:nvSpPr>
          <p:cNvPr id="20" name="Shape 18"/>
          <p:cNvSpPr/>
          <p:nvPr/>
        </p:nvSpPr>
        <p:spPr>
          <a:xfrm>
            <a:off x="768096" y="3977640"/>
            <a:ext cx="566928" cy="384048"/>
          </a:xfrm>
          <a:prstGeom prst="roundRect">
            <a:avLst>
              <a:gd name="adj" fmla="val 28571"/>
            </a:avLst>
          </a:prstGeom>
          <a:solidFill>
            <a:srgbClr val="FBF1DE"/>
          </a:solidFill>
          <a:ln w="9525">
            <a:solidFill>
              <a:srgbClr val="EAD7B2"/>
            </a:solidFill>
            <a:prstDash val="solid"/>
          </a:ln>
        </p:spPr>
      </p:sp>
      <p:sp>
        <p:nvSpPr>
          <p:cNvPr id="21" name="Text 19"/>
          <p:cNvSpPr txBox="1"/>
          <p:nvPr/>
        </p:nvSpPr>
        <p:spPr>
          <a:xfrm>
            <a:off x="768096" y="3977640"/>
            <a:ext cx="566928" cy="384048"/>
          </a:xfrm>
          <a:prstGeom prst="rect">
            <a:avLst/>
          </a:prstGeom>
          <a:noFill/>
          <a:ln/>
        </p:spPr>
        <p:txBody>
          <a:bodyPr wrap="square" lIns="0" tIns="0" rIns="0" bIns="0" rtlCol="0" anchor="ctr"/>
          <a:lstStyle/>
          <a:p>
            <a:pPr algn="ctr" indent="0" marL="0">
              <a:buNone/>
            </a:pPr>
            <a:r>
              <a:rPr lang="en-US" sz="1150" b="1" dirty="0">
                <a:solidFill>
                  <a:srgbClr val="C97F16"/>
                </a:solidFill>
                <a:latin typeface="Malgun Gothic" pitchFamily="34" charset="0"/>
                <a:ea typeface="Malgun Gothic" pitchFamily="34" charset="-122"/>
                <a:cs typeface="Malgun Gothic" pitchFamily="34" charset="-120"/>
              </a:rPr>
              <a:t>W3</a:t>
            </a:r>
            <a:endParaRPr lang="en-US" sz="1150" dirty="0"/>
          </a:p>
        </p:txBody>
      </p:sp>
      <p:sp>
        <p:nvSpPr>
          <p:cNvPr id="22" name="Text 20"/>
          <p:cNvSpPr txBox="1"/>
          <p:nvPr/>
        </p:nvSpPr>
        <p:spPr>
          <a:xfrm>
            <a:off x="1938528" y="4050792"/>
            <a:ext cx="2468880" cy="256032"/>
          </a:xfrm>
          <a:prstGeom prst="rect">
            <a:avLst/>
          </a:prstGeom>
          <a:noFill/>
          <a:ln/>
        </p:spPr>
        <p:txBody>
          <a:bodyPr wrap="square" lIns="0" tIns="0" rIns="0" bIns="0" rtlCol="0" anchor="t"/>
          <a:lstStyle/>
          <a:p>
            <a:pPr indent="0" marL="0">
              <a:buNone/>
            </a:pPr>
            <a:r>
              <a:rPr lang="en-US" sz="1200" b="1" dirty="0">
                <a:solidFill>
                  <a:srgbClr val="C97F16"/>
                </a:solidFill>
                <a:latin typeface="Malgun Gothic" pitchFamily="34" charset="0"/>
                <a:ea typeface="Malgun Gothic" pitchFamily="34" charset="-122"/>
                <a:cs typeface="Malgun Gothic" pitchFamily="34" charset="-120"/>
              </a:rPr>
              <a:t>[입력 필요]</a:t>
            </a:r>
            <a:endParaRPr lang="en-US" sz="1200" dirty="0"/>
          </a:p>
        </p:txBody>
      </p:sp>
      <p:sp>
        <p:nvSpPr>
          <p:cNvPr id="23" name="Text 21"/>
          <p:cNvSpPr txBox="1"/>
          <p:nvPr/>
        </p:nvSpPr>
        <p:spPr>
          <a:xfrm>
            <a:off x="4590288" y="3931920"/>
            <a:ext cx="6858000" cy="512064"/>
          </a:xfrm>
          <a:prstGeom prst="rect">
            <a:avLst/>
          </a:prstGeom>
          <a:noFill/>
          <a:ln/>
        </p:spPr>
        <p:txBody>
          <a:bodyPr wrap="square" lIns="0" tIns="0" rIns="0" bIns="0" rtlCol="0" anchor="t"/>
          <a:lstStyle/>
          <a:p>
            <a:pPr indent="0" marL="0">
              <a:lnSpc>
                <a:spcPts val="1700"/>
              </a:lnSpc>
              <a:buNone/>
            </a:pPr>
            <a:r>
              <a:rPr lang="en-US" sz="1150" dirty="0">
                <a:solidFill>
                  <a:srgbClr val="15304C"/>
                </a:solidFill>
                <a:latin typeface="Malgun Gothic" pitchFamily="34" charset="0"/>
                <a:ea typeface="Malgun Gothic" pitchFamily="34" charset="-122"/>
                <a:cs typeface="Malgun Gothic" pitchFamily="34" charset="-120"/>
              </a:rPr>
              <a:t>Gemini → GPT-4o → 기본 결과 3단 폴백과 LangSmith @traceable 적용으로 실행 시간·오류를 추적합니다.</a:t>
            </a:r>
            <a:endParaRPr lang="en-US" sz="1150" dirty="0"/>
          </a:p>
        </p:txBody>
      </p:sp>
      <p:sp>
        <p:nvSpPr>
          <p:cNvPr id="24" name="Shape 22"/>
          <p:cNvSpPr/>
          <p:nvPr/>
        </p:nvSpPr>
        <p:spPr>
          <a:xfrm>
            <a:off x="566928" y="4626864"/>
            <a:ext cx="11055096" cy="731520"/>
          </a:xfrm>
          <a:prstGeom prst="roundRect">
            <a:avLst>
              <a:gd name="adj" fmla="val 6875"/>
            </a:avLst>
          </a:prstGeom>
          <a:solidFill>
            <a:srgbClr val="FFFFFF"/>
          </a:solidFill>
          <a:ln w="9525">
            <a:solidFill>
              <a:srgbClr val="DCE7F1"/>
            </a:solidFill>
            <a:prstDash val="solid"/>
          </a:ln>
          <a:effectLst>
            <a:outerShdw sx="100000" sy="100000" kx="0" ky="0" algn="bl" rotWithShape="0" blurRad="76200" dist="25400" dir="5400000">
              <a:srgbClr val="9FB3C6">
                <a:alpha val="20000"/>
              </a:srgbClr>
            </a:outerShdw>
          </a:effectLst>
        </p:spPr>
      </p:sp>
      <p:sp>
        <p:nvSpPr>
          <p:cNvPr id="25" name="Shape 23"/>
          <p:cNvSpPr/>
          <p:nvPr/>
        </p:nvSpPr>
        <p:spPr>
          <a:xfrm>
            <a:off x="768096" y="4800600"/>
            <a:ext cx="566928" cy="384048"/>
          </a:xfrm>
          <a:prstGeom prst="roundRect">
            <a:avLst>
              <a:gd name="adj" fmla="val 28571"/>
            </a:avLst>
          </a:prstGeom>
          <a:solidFill>
            <a:srgbClr val="FBF1DE"/>
          </a:solidFill>
          <a:ln w="9525">
            <a:solidFill>
              <a:srgbClr val="EAD7B2"/>
            </a:solidFill>
            <a:prstDash val="solid"/>
          </a:ln>
        </p:spPr>
      </p:sp>
      <p:sp>
        <p:nvSpPr>
          <p:cNvPr id="26" name="Text 24"/>
          <p:cNvSpPr txBox="1"/>
          <p:nvPr/>
        </p:nvSpPr>
        <p:spPr>
          <a:xfrm>
            <a:off x="768096" y="4800600"/>
            <a:ext cx="566928" cy="384048"/>
          </a:xfrm>
          <a:prstGeom prst="rect">
            <a:avLst/>
          </a:prstGeom>
          <a:noFill/>
          <a:ln/>
        </p:spPr>
        <p:txBody>
          <a:bodyPr wrap="square" lIns="0" tIns="0" rIns="0" bIns="0" rtlCol="0" anchor="ctr"/>
          <a:lstStyle/>
          <a:p>
            <a:pPr algn="ctr" indent="0" marL="0">
              <a:buNone/>
            </a:pPr>
            <a:r>
              <a:rPr lang="en-US" sz="1150" b="1" dirty="0">
                <a:solidFill>
                  <a:srgbClr val="C97F16"/>
                </a:solidFill>
                <a:latin typeface="Malgun Gothic" pitchFamily="34" charset="0"/>
                <a:ea typeface="Malgun Gothic" pitchFamily="34" charset="-122"/>
                <a:cs typeface="Malgun Gothic" pitchFamily="34" charset="-120"/>
              </a:rPr>
              <a:t>W4</a:t>
            </a:r>
            <a:endParaRPr lang="en-US" sz="1150" dirty="0"/>
          </a:p>
        </p:txBody>
      </p:sp>
      <p:sp>
        <p:nvSpPr>
          <p:cNvPr id="27" name="Text 25"/>
          <p:cNvSpPr txBox="1"/>
          <p:nvPr/>
        </p:nvSpPr>
        <p:spPr>
          <a:xfrm>
            <a:off x="1938528" y="4873752"/>
            <a:ext cx="2468880" cy="256032"/>
          </a:xfrm>
          <a:prstGeom prst="rect">
            <a:avLst/>
          </a:prstGeom>
          <a:noFill/>
          <a:ln/>
        </p:spPr>
        <p:txBody>
          <a:bodyPr wrap="square" lIns="0" tIns="0" rIns="0" bIns="0" rtlCol="0" anchor="t"/>
          <a:lstStyle/>
          <a:p>
            <a:pPr indent="0" marL="0">
              <a:buNone/>
            </a:pPr>
            <a:r>
              <a:rPr lang="en-US" sz="1200" b="1" dirty="0">
                <a:solidFill>
                  <a:srgbClr val="C97F16"/>
                </a:solidFill>
                <a:latin typeface="Malgun Gothic" pitchFamily="34" charset="0"/>
                <a:ea typeface="Malgun Gothic" pitchFamily="34" charset="-122"/>
                <a:cs typeface="Malgun Gothic" pitchFamily="34" charset="-120"/>
              </a:rPr>
              <a:t>[입력 필요]</a:t>
            </a:r>
            <a:endParaRPr lang="en-US" sz="1200" dirty="0"/>
          </a:p>
        </p:txBody>
      </p:sp>
      <p:sp>
        <p:nvSpPr>
          <p:cNvPr id="28" name="Text 26"/>
          <p:cNvSpPr txBox="1"/>
          <p:nvPr/>
        </p:nvSpPr>
        <p:spPr>
          <a:xfrm>
            <a:off x="4590288" y="4754880"/>
            <a:ext cx="6858000" cy="512064"/>
          </a:xfrm>
          <a:prstGeom prst="rect">
            <a:avLst/>
          </a:prstGeom>
          <a:noFill/>
          <a:ln/>
        </p:spPr>
        <p:txBody>
          <a:bodyPr wrap="square" lIns="0" tIns="0" rIns="0" bIns="0" rtlCol="0" anchor="t"/>
          <a:lstStyle/>
          <a:p>
            <a:pPr indent="0" marL="0">
              <a:lnSpc>
                <a:spcPts val="1700"/>
              </a:lnSpc>
              <a:buNone/>
            </a:pPr>
            <a:r>
              <a:rPr lang="en-US" sz="1150" dirty="0">
                <a:solidFill>
                  <a:srgbClr val="15304C"/>
                </a:solidFill>
                <a:latin typeface="Malgun Gothic" pitchFamily="34" charset="0"/>
                <a:ea typeface="Malgun Gothic" pitchFamily="34" charset="-122"/>
                <a:cs typeface="Malgun Gothic" pitchFamily="34" charset="-120"/>
              </a:rPr>
              <a:t>FastAPI 백엔드와 React 프론트를 분리하고, 16종 REST API와 Pydantic 스키마로 계약을 고정했습니다.</a:t>
            </a:r>
            <a:endParaRPr lang="en-US" sz="1150" dirty="0"/>
          </a:p>
        </p:txBody>
      </p:sp>
      <p:sp>
        <p:nvSpPr>
          <p:cNvPr id="29" name="Shape 27"/>
          <p:cNvSpPr/>
          <p:nvPr/>
        </p:nvSpPr>
        <p:spPr>
          <a:xfrm>
            <a:off x="566928" y="5522976"/>
            <a:ext cx="5431536" cy="713232"/>
          </a:xfrm>
          <a:prstGeom prst="roundRect">
            <a:avLst>
              <a:gd name="adj" fmla="val 7051"/>
            </a:avLst>
          </a:prstGeom>
          <a:solidFill>
            <a:srgbClr val="FBF1DE"/>
          </a:solidFill>
          <a:ln w="9525">
            <a:solidFill>
              <a:srgbClr val="EAD7B2"/>
            </a:solidFill>
            <a:prstDash val="solid"/>
          </a:ln>
        </p:spPr>
      </p:sp>
      <p:sp>
        <p:nvSpPr>
          <p:cNvPr id="30" name="Text 28"/>
          <p:cNvSpPr txBox="1"/>
          <p:nvPr/>
        </p:nvSpPr>
        <p:spPr>
          <a:xfrm>
            <a:off x="822960" y="5632704"/>
            <a:ext cx="4937760" cy="237744"/>
          </a:xfrm>
          <a:prstGeom prst="rect">
            <a:avLst/>
          </a:prstGeom>
          <a:noFill/>
          <a:ln/>
        </p:spPr>
        <p:txBody>
          <a:bodyPr wrap="square" lIns="0" tIns="0" rIns="0" bIns="0" rtlCol="0" anchor="t"/>
          <a:lstStyle/>
          <a:p>
            <a:pPr indent="0" marL="0">
              <a:buNone/>
            </a:pPr>
            <a:r>
              <a:rPr lang="en-US" sz="1100" b="1" dirty="0">
                <a:solidFill>
                  <a:srgbClr val="C97F16"/>
                </a:solidFill>
                <a:latin typeface="Malgun Gothic" pitchFamily="34" charset="0"/>
                <a:ea typeface="Malgun Gothic" pitchFamily="34" charset="-122"/>
                <a:cs typeface="Malgun Gothic" pitchFamily="34" charset="-120"/>
              </a:rPr>
              <a:t>기술 선택 이유 · 대안 검토</a:t>
            </a:r>
            <a:endParaRPr lang="en-US" sz="1100" dirty="0"/>
          </a:p>
        </p:txBody>
      </p:sp>
      <p:sp>
        <p:nvSpPr>
          <p:cNvPr id="31" name="Text 29"/>
          <p:cNvSpPr txBox="1"/>
          <p:nvPr/>
        </p:nvSpPr>
        <p:spPr>
          <a:xfrm>
            <a:off x="822960" y="5907024"/>
            <a:ext cx="5029200" cy="256032"/>
          </a:xfrm>
          <a:prstGeom prst="rect">
            <a:avLst/>
          </a:prstGeom>
          <a:noFill/>
          <a:ln/>
        </p:spPr>
        <p:txBody>
          <a:bodyPr wrap="square" lIns="0" tIns="0" rIns="0" bIns="0" rtlCol="0" anchor="t"/>
          <a:lstStyle/>
          <a:p>
            <a:pPr indent="0" marL="0">
              <a:buNone/>
            </a:pPr>
            <a:r>
              <a:rPr lang="en-US" sz="1050" dirty="0">
                <a:solidFill>
                  <a:srgbClr val="6B7F92"/>
                </a:solidFill>
                <a:latin typeface="Malgun Gothic" pitchFamily="34" charset="0"/>
                <a:ea typeface="Malgun Gothic" pitchFamily="34" charset="-122"/>
                <a:cs typeface="Malgun Gothic" pitchFamily="34" charset="-120"/>
              </a:rPr>
              <a:t>[입력 필요]  예: Gemini를 1차로 둔 이유, 검토했던 대안과 배제 근거</a:t>
            </a:r>
            <a:endParaRPr lang="en-US" sz="1050" dirty="0"/>
          </a:p>
        </p:txBody>
      </p:sp>
      <p:sp>
        <p:nvSpPr>
          <p:cNvPr id="32" name="Shape 30"/>
          <p:cNvSpPr/>
          <p:nvPr/>
        </p:nvSpPr>
        <p:spPr>
          <a:xfrm>
            <a:off x="6190488" y="5522976"/>
            <a:ext cx="5431536" cy="713232"/>
          </a:xfrm>
          <a:prstGeom prst="roundRect">
            <a:avLst>
              <a:gd name="adj" fmla="val 7051"/>
            </a:avLst>
          </a:prstGeom>
          <a:solidFill>
            <a:srgbClr val="FBF1DE"/>
          </a:solidFill>
          <a:ln w="9525">
            <a:solidFill>
              <a:srgbClr val="EAD7B2"/>
            </a:solidFill>
            <a:prstDash val="solid"/>
          </a:ln>
        </p:spPr>
      </p:sp>
      <p:sp>
        <p:nvSpPr>
          <p:cNvPr id="33" name="Text 31"/>
          <p:cNvSpPr txBox="1"/>
          <p:nvPr/>
        </p:nvSpPr>
        <p:spPr>
          <a:xfrm>
            <a:off x="6446520" y="5632704"/>
            <a:ext cx="4937760" cy="237744"/>
          </a:xfrm>
          <a:prstGeom prst="rect">
            <a:avLst/>
          </a:prstGeom>
          <a:noFill/>
          <a:ln/>
        </p:spPr>
        <p:txBody>
          <a:bodyPr wrap="square" lIns="0" tIns="0" rIns="0" bIns="0" rtlCol="0" anchor="t"/>
          <a:lstStyle/>
          <a:p>
            <a:pPr indent="0" marL="0">
              <a:buNone/>
            </a:pPr>
            <a:r>
              <a:rPr lang="en-US" sz="1100" b="1" dirty="0">
                <a:solidFill>
                  <a:srgbClr val="C97F16"/>
                </a:solidFill>
                <a:latin typeface="Malgun Gothic" pitchFamily="34" charset="0"/>
                <a:ea typeface="Malgun Gothic" pitchFamily="34" charset="-122"/>
                <a:cs typeface="Malgun Gothic" pitchFamily="34" charset="-120"/>
              </a:rPr>
              <a:t>시행착오에서 얻은 학습점</a:t>
            </a:r>
            <a:endParaRPr lang="en-US" sz="1100" dirty="0"/>
          </a:p>
        </p:txBody>
      </p:sp>
      <p:sp>
        <p:nvSpPr>
          <p:cNvPr id="34" name="Text 32"/>
          <p:cNvSpPr txBox="1"/>
          <p:nvPr/>
        </p:nvSpPr>
        <p:spPr>
          <a:xfrm>
            <a:off x="6446520" y="5907024"/>
            <a:ext cx="5029200" cy="256032"/>
          </a:xfrm>
          <a:prstGeom prst="rect">
            <a:avLst/>
          </a:prstGeom>
          <a:noFill/>
          <a:ln/>
        </p:spPr>
        <p:txBody>
          <a:bodyPr wrap="square" lIns="0" tIns="0" rIns="0" bIns="0" rtlCol="0" anchor="t"/>
          <a:lstStyle/>
          <a:p>
            <a:pPr indent="0" marL="0">
              <a:buNone/>
            </a:pPr>
            <a:r>
              <a:rPr lang="en-US" sz="1050" dirty="0">
                <a:solidFill>
                  <a:srgbClr val="6B7F92"/>
                </a:solidFill>
                <a:latin typeface="Malgun Gothic" pitchFamily="34" charset="0"/>
                <a:ea typeface="Malgun Gothic" pitchFamily="34" charset="-122"/>
                <a:cs typeface="Malgun Gothic" pitchFamily="34" charset="-120"/>
              </a:rPr>
              <a:t>[입력 필요]  ※ 실제 사례는 15페이지 회고 슬라이드에 정리되어 있습니다</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6FA"/>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37744"/>
          </a:xfrm>
          <a:prstGeom prst="rect">
            <a:avLst/>
          </a:prstGeom>
          <a:noFill/>
          <a:ln/>
        </p:spPr>
        <p:txBody>
          <a:bodyPr wrap="square" lIns="0" tIns="0" rIns="0" bIns="0" rtlCol="0" anchor="t"/>
          <a:lstStyle/>
          <a:p>
            <a:pPr indent="0" marL="0">
              <a:buNone/>
            </a:pPr>
            <a:r>
              <a:rPr lang="en-US" sz="1100" b="1" spc="110" kern="0" dirty="0">
                <a:solidFill>
                  <a:srgbClr val="0E8477"/>
                </a:solidFill>
                <a:latin typeface="Malgun Gothic" pitchFamily="34" charset="0"/>
                <a:ea typeface="Malgun Gothic" pitchFamily="34" charset="-122"/>
                <a:cs typeface="Malgun Gothic" pitchFamily="34" charset="-120"/>
              </a:rPr>
              <a:t>02  BUILD  ·  멘토링 반영</a:t>
            </a:r>
            <a:endParaRPr lang="en-US" sz="1100" dirty="0"/>
          </a:p>
        </p:txBody>
      </p:sp>
      <p:sp>
        <p:nvSpPr>
          <p:cNvPr id="3" name="Text 1"/>
          <p:cNvSpPr txBox="1"/>
          <p:nvPr/>
        </p:nvSpPr>
        <p:spPr>
          <a:xfrm>
            <a:off x="566928" y="713232"/>
            <a:ext cx="11057839" cy="566928"/>
          </a:xfrm>
          <a:prstGeom prst="rect">
            <a:avLst/>
          </a:prstGeom>
          <a:noFill/>
          <a:ln/>
        </p:spPr>
        <p:txBody>
          <a:bodyPr wrap="square" lIns="0" tIns="0" rIns="0" bIns="0" rtlCol="0" anchor="t"/>
          <a:lstStyle/>
          <a:p>
            <a:pPr indent="0" marL="0">
              <a:buNone/>
            </a:pPr>
            <a:r>
              <a:rPr lang="en-US" sz="3200" b="1" dirty="0">
                <a:solidFill>
                  <a:srgbClr val="07203C"/>
                </a:solidFill>
                <a:latin typeface="Malgun Gothic" pitchFamily="34" charset="0"/>
                <a:ea typeface="Malgun Gothic" pitchFamily="34" charset="-122"/>
                <a:cs typeface="Malgun Gothic" pitchFamily="34" charset="-120"/>
              </a:rPr>
              <a:t>멘토링 · 코칭 피드백 반영 과정</a:t>
            </a:r>
            <a:endParaRPr lang="en-US" sz="3200" dirty="0"/>
          </a:p>
        </p:txBody>
      </p:sp>
      <p:sp>
        <p:nvSpPr>
          <p:cNvPr id="4" name="Text 2"/>
          <p:cNvSpPr txBox="1"/>
          <p:nvPr/>
        </p:nvSpPr>
        <p:spPr>
          <a:xfrm>
            <a:off x="566928" y="1353312"/>
            <a:ext cx="11057839" cy="274320"/>
          </a:xfrm>
          <a:prstGeom prst="rect">
            <a:avLst/>
          </a:prstGeom>
          <a:noFill/>
          <a:ln/>
        </p:spPr>
        <p:txBody>
          <a:bodyPr wrap="square" lIns="0" tIns="0" rIns="0" bIns="0" rtlCol="0" anchor="t"/>
          <a:lstStyle/>
          <a:p>
            <a:pPr indent="0" marL="0">
              <a:buNone/>
            </a:pPr>
            <a:r>
              <a:rPr lang="en-US" sz="1300" dirty="0">
                <a:solidFill>
                  <a:srgbClr val="6B7F92"/>
                </a:solidFill>
                <a:latin typeface="Malgun Gothic" pitchFamily="34" charset="0"/>
                <a:ea typeface="Malgun Gothic" pitchFamily="34" charset="-122"/>
                <a:cs typeface="Malgun Gothic" pitchFamily="34" charset="-120"/>
              </a:rPr>
              <a:t>받은 피드백과 실제 반영 결과를 회차별로 채워 넣는 영역입니다.</a:t>
            </a:r>
            <a:endParaRPr lang="en-US" sz="1300" dirty="0"/>
          </a:p>
        </p:txBody>
      </p:sp>
      <p:sp>
        <p:nvSpPr>
          <p:cNvPr id="5" name="Text 3"/>
          <p:cNvSpPr txBox="1"/>
          <p:nvPr/>
        </p:nvSpPr>
        <p:spPr>
          <a:xfrm>
            <a:off x="8332927" y="6437376"/>
            <a:ext cx="3291840" cy="219456"/>
          </a:xfrm>
          <a:prstGeom prst="rect">
            <a:avLst/>
          </a:prstGeom>
          <a:noFill/>
          <a:ln/>
        </p:spPr>
        <p:txBody>
          <a:bodyPr wrap="square" lIns="0" tIns="0" rIns="0" bIns="0" rtlCol="0" anchor="t"/>
          <a:lstStyle/>
          <a:p>
            <a:pPr algn="r" indent="0" marL="0">
              <a:buNone/>
            </a:pPr>
            <a:r>
              <a:rPr lang="en-US" sz="950" spc="60" kern="0" dirty="0">
                <a:solidFill>
                  <a:srgbClr val="8A9BAB"/>
                </a:solidFill>
                <a:latin typeface="Malgun Gothic" pitchFamily="34" charset="0"/>
                <a:ea typeface="Malgun Gothic" pitchFamily="34" charset="-122"/>
                <a:cs typeface="Malgun Gothic" pitchFamily="34" charset="-120"/>
              </a:rPr>
              <a:t>12 / 16     FUTURE:M RADAR</a:t>
            </a:r>
            <a:endParaRPr lang="en-US" sz="950" dirty="0"/>
          </a:p>
        </p:txBody>
      </p:sp>
      <p:sp>
        <p:nvSpPr>
          <p:cNvPr id="6" name="Text 4"/>
          <p:cNvSpPr txBox="1"/>
          <p:nvPr/>
        </p:nvSpPr>
        <p:spPr>
          <a:xfrm>
            <a:off x="1527048" y="1847088"/>
            <a:ext cx="3035808" cy="237744"/>
          </a:xfrm>
          <a:prstGeom prst="rect">
            <a:avLst/>
          </a:prstGeom>
          <a:noFill/>
          <a:ln/>
        </p:spPr>
        <p:txBody>
          <a:bodyPr wrap="square" lIns="0" tIns="0" rIns="0" bIns="0" rtlCol="0" anchor="t"/>
          <a:lstStyle/>
          <a:p>
            <a:pPr indent="0" marL="0">
              <a:buNone/>
            </a:pPr>
            <a:r>
              <a:rPr lang="en-US" sz="1050" b="1" spc="80" kern="0" dirty="0">
                <a:solidFill>
                  <a:srgbClr val="8A9BAB"/>
                </a:solidFill>
                <a:latin typeface="Malgun Gothic" pitchFamily="34" charset="0"/>
                <a:ea typeface="Malgun Gothic" pitchFamily="34" charset="-122"/>
                <a:cs typeface="Malgun Gothic" pitchFamily="34" charset="-120"/>
              </a:rPr>
              <a:t>받은 피드백</a:t>
            </a:r>
            <a:endParaRPr lang="en-US" sz="1050" dirty="0"/>
          </a:p>
        </p:txBody>
      </p:sp>
      <p:sp>
        <p:nvSpPr>
          <p:cNvPr id="7" name="Text 5"/>
          <p:cNvSpPr txBox="1"/>
          <p:nvPr/>
        </p:nvSpPr>
        <p:spPr>
          <a:xfrm>
            <a:off x="4946904" y="1847088"/>
            <a:ext cx="3035808" cy="237744"/>
          </a:xfrm>
          <a:prstGeom prst="rect">
            <a:avLst/>
          </a:prstGeom>
          <a:noFill/>
          <a:ln/>
        </p:spPr>
        <p:txBody>
          <a:bodyPr wrap="square" lIns="0" tIns="0" rIns="0" bIns="0" rtlCol="0" anchor="t"/>
          <a:lstStyle/>
          <a:p>
            <a:pPr indent="0" marL="0">
              <a:buNone/>
            </a:pPr>
            <a:r>
              <a:rPr lang="en-US" sz="1050" b="1" spc="80" kern="0" dirty="0">
                <a:solidFill>
                  <a:srgbClr val="8A9BAB"/>
                </a:solidFill>
                <a:latin typeface="Malgun Gothic" pitchFamily="34" charset="0"/>
                <a:ea typeface="Malgun Gothic" pitchFamily="34" charset="-122"/>
                <a:cs typeface="Malgun Gothic" pitchFamily="34" charset="-120"/>
              </a:rPr>
              <a:t>반영한 내용</a:t>
            </a:r>
            <a:endParaRPr lang="en-US" sz="1050" dirty="0"/>
          </a:p>
        </p:txBody>
      </p:sp>
      <p:sp>
        <p:nvSpPr>
          <p:cNvPr id="8" name="Text 6"/>
          <p:cNvSpPr txBox="1"/>
          <p:nvPr/>
        </p:nvSpPr>
        <p:spPr>
          <a:xfrm>
            <a:off x="8366760" y="1847088"/>
            <a:ext cx="3035808" cy="237744"/>
          </a:xfrm>
          <a:prstGeom prst="rect">
            <a:avLst/>
          </a:prstGeom>
          <a:noFill/>
          <a:ln/>
        </p:spPr>
        <p:txBody>
          <a:bodyPr wrap="square" lIns="0" tIns="0" rIns="0" bIns="0" rtlCol="0" anchor="t"/>
          <a:lstStyle/>
          <a:p>
            <a:pPr indent="0" marL="0">
              <a:buNone/>
            </a:pPr>
            <a:r>
              <a:rPr lang="en-US" sz="1050" b="1" spc="80" kern="0" dirty="0">
                <a:solidFill>
                  <a:srgbClr val="8A9BAB"/>
                </a:solidFill>
                <a:latin typeface="Malgun Gothic" pitchFamily="34" charset="0"/>
                <a:ea typeface="Malgun Gothic" pitchFamily="34" charset="-122"/>
                <a:cs typeface="Malgun Gothic" pitchFamily="34" charset="-120"/>
              </a:rPr>
              <a:t>변화 · 결과</a:t>
            </a:r>
            <a:endParaRPr lang="en-US" sz="1050" dirty="0"/>
          </a:p>
        </p:txBody>
      </p:sp>
      <p:sp>
        <p:nvSpPr>
          <p:cNvPr id="9" name="Shape 7"/>
          <p:cNvSpPr/>
          <p:nvPr/>
        </p:nvSpPr>
        <p:spPr>
          <a:xfrm>
            <a:off x="566928" y="2157984"/>
            <a:ext cx="11055096" cy="1005840"/>
          </a:xfrm>
          <a:prstGeom prst="roundRect">
            <a:avLst>
              <a:gd name="adj" fmla="val 5000"/>
            </a:avLst>
          </a:prstGeom>
          <a:solidFill>
            <a:srgbClr val="FFFFFF"/>
          </a:solidFill>
          <a:ln w="9525">
            <a:solidFill>
              <a:srgbClr val="DCE7F1"/>
            </a:solidFill>
            <a:prstDash val="solid"/>
          </a:ln>
          <a:effectLst>
            <a:outerShdw sx="100000" sy="100000" kx="0" ky="0" algn="bl" rotWithShape="0" blurRad="76200" dist="25400" dir="5400000">
              <a:srgbClr val="9FB3C6">
                <a:alpha val="20000"/>
              </a:srgbClr>
            </a:outerShdw>
          </a:effectLst>
        </p:spPr>
      </p:sp>
      <p:sp>
        <p:nvSpPr>
          <p:cNvPr id="10" name="Shape 8"/>
          <p:cNvSpPr/>
          <p:nvPr/>
        </p:nvSpPr>
        <p:spPr>
          <a:xfrm>
            <a:off x="786384" y="2468880"/>
            <a:ext cx="621792" cy="384048"/>
          </a:xfrm>
          <a:prstGeom prst="roundRect">
            <a:avLst>
              <a:gd name="adj" fmla="val 28571"/>
            </a:avLst>
          </a:prstGeom>
          <a:solidFill>
            <a:srgbClr val="07203C"/>
          </a:solidFill>
          <a:ln w="12700">
            <a:solidFill>
              <a:srgbClr val="07203C"/>
            </a:solidFill>
            <a:prstDash val="solid"/>
          </a:ln>
        </p:spPr>
      </p:sp>
      <p:sp>
        <p:nvSpPr>
          <p:cNvPr id="11" name="Text 9"/>
          <p:cNvSpPr txBox="1"/>
          <p:nvPr/>
        </p:nvSpPr>
        <p:spPr>
          <a:xfrm>
            <a:off x="786384" y="2468880"/>
            <a:ext cx="621792"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1차</a:t>
            </a:r>
            <a:endParaRPr lang="en-US" sz="1150" dirty="0"/>
          </a:p>
        </p:txBody>
      </p:sp>
      <p:sp>
        <p:nvSpPr>
          <p:cNvPr id="12" name="Shape 10"/>
          <p:cNvSpPr/>
          <p:nvPr/>
        </p:nvSpPr>
        <p:spPr>
          <a:xfrm>
            <a:off x="1527048" y="2340864"/>
            <a:ext cx="3035808" cy="640080"/>
          </a:xfrm>
          <a:prstGeom prst="roundRect">
            <a:avLst>
              <a:gd name="adj" fmla="val 7857"/>
            </a:avLst>
          </a:prstGeom>
          <a:solidFill>
            <a:srgbClr val="FBF1DE"/>
          </a:solidFill>
          <a:ln w="9525">
            <a:solidFill>
              <a:srgbClr val="EAD7B2"/>
            </a:solidFill>
            <a:prstDash val="solid"/>
          </a:ln>
        </p:spPr>
      </p:sp>
      <p:sp>
        <p:nvSpPr>
          <p:cNvPr id="13" name="Text 11"/>
          <p:cNvSpPr txBox="1"/>
          <p:nvPr/>
        </p:nvSpPr>
        <p:spPr>
          <a:xfrm>
            <a:off x="1728216" y="2542032"/>
            <a:ext cx="2377440" cy="256032"/>
          </a:xfrm>
          <a:prstGeom prst="rect">
            <a:avLst/>
          </a:prstGeom>
          <a:noFill/>
          <a:ln/>
        </p:spPr>
        <p:txBody>
          <a:bodyPr wrap="square" lIns="0" tIns="0" rIns="0" bIns="0" rtlCol="0" anchor="t"/>
          <a:lstStyle/>
          <a:p>
            <a:pPr indent="0" marL="0">
              <a:buNone/>
            </a:pPr>
            <a:r>
              <a:rPr lang="en-US" sz="1200" b="1" dirty="0">
                <a:solidFill>
                  <a:srgbClr val="C97F16"/>
                </a:solidFill>
                <a:latin typeface="Malgun Gothic" pitchFamily="34" charset="0"/>
                <a:ea typeface="Malgun Gothic" pitchFamily="34" charset="-122"/>
                <a:cs typeface="Malgun Gothic" pitchFamily="34" charset="-120"/>
              </a:rPr>
              <a:t>[입력 필요]</a:t>
            </a:r>
            <a:endParaRPr lang="en-US" sz="1200" dirty="0"/>
          </a:p>
        </p:txBody>
      </p:sp>
      <p:sp>
        <p:nvSpPr>
          <p:cNvPr id="14" name="Text 12"/>
          <p:cNvSpPr txBox="1"/>
          <p:nvPr/>
        </p:nvSpPr>
        <p:spPr>
          <a:xfrm>
            <a:off x="4636008" y="2487168"/>
            <a:ext cx="237744" cy="365760"/>
          </a:xfrm>
          <a:prstGeom prst="rect">
            <a:avLst/>
          </a:prstGeom>
          <a:noFill/>
          <a:ln/>
        </p:spPr>
        <p:txBody>
          <a:bodyPr wrap="square" lIns="0" tIns="0" rIns="0" bIns="0" rtlCol="0" anchor="ctr"/>
          <a:lstStyle/>
          <a:p>
            <a:pPr algn="ctr" indent="0" marL="0">
              <a:buNone/>
            </a:pPr>
            <a:r>
              <a:rPr lang="en-US" sz="1800" b="1" dirty="0">
                <a:solidFill>
                  <a:srgbClr val="17B7A6"/>
                </a:solidFill>
                <a:latin typeface="Malgun Gothic" pitchFamily="34" charset="0"/>
                <a:ea typeface="Malgun Gothic" pitchFamily="34" charset="-122"/>
                <a:cs typeface="Malgun Gothic" pitchFamily="34" charset="-120"/>
              </a:rPr>
              <a:t>›</a:t>
            </a:r>
            <a:endParaRPr lang="en-US" sz="1800" dirty="0"/>
          </a:p>
        </p:txBody>
      </p:sp>
      <p:sp>
        <p:nvSpPr>
          <p:cNvPr id="15" name="Shape 13"/>
          <p:cNvSpPr/>
          <p:nvPr/>
        </p:nvSpPr>
        <p:spPr>
          <a:xfrm>
            <a:off x="4946904" y="2340864"/>
            <a:ext cx="3035808" cy="640080"/>
          </a:xfrm>
          <a:prstGeom prst="roundRect">
            <a:avLst>
              <a:gd name="adj" fmla="val 7857"/>
            </a:avLst>
          </a:prstGeom>
          <a:solidFill>
            <a:srgbClr val="FBF1DE"/>
          </a:solidFill>
          <a:ln w="9525">
            <a:solidFill>
              <a:srgbClr val="EAD7B2"/>
            </a:solidFill>
            <a:prstDash val="solid"/>
          </a:ln>
        </p:spPr>
      </p:sp>
      <p:sp>
        <p:nvSpPr>
          <p:cNvPr id="16" name="Text 14"/>
          <p:cNvSpPr txBox="1"/>
          <p:nvPr/>
        </p:nvSpPr>
        <p:spPr>
          <a:xfrm>
            <a:off x="5148072" y="2542032"/>
            <a:ext cx="2377440" cy="256032"/>
          </a:xfrm>
          <a:prstGeom prst="rect">
            <a:avLst/>
          </a:prstGeom>
          <a:noFill/>
          <a:ln/>
        </p:spPr>
        <p:txBody>
          <a:bodyPr wrap="square" lIns="0" tIns="0" rIns="0" bIns="0" rtlCol="0" anchor="t"/>
          <a:lstStyle/>
          <a:p>
            <a:pPr indent="0" marL="0">
              <a:buNone/>
            </a:pPr>
            <a:r>
              <a:rPr lang="en-US" sz="1200" b="1" dirty="0">
                <a:solidFill>
                  <a:srgbClr val="C97F16"/>
                </a:solidFill>
                <a:latin typeface="Malgun Gothic" pitchFamily="34" charset="0"/>
                <a:ea typeface="Malgun Gothic" pitchFamily="34" charset="-122"/>
                <a:cs typeface="Malgun Gothic" pitchFamily="34" charset="-120"/>
              </a:rPr>
              <a:t>[입력 필요]</a:t>
            </a:r>
            <a:endParaRPr lang="en-US" sz="1200" dirty="0"/>
          </a:p>
        </p:txBody>
      </p:sp>
      <p:sp>
        <p:nvSpPr>
          <p:cNvPr id="17" name="Text 15"/>
          <p:cNvSpPr txBox="1"/>
          <p:nvPr/>
        </p:nvSpPr>
        <p:spPr>
          <a:xfrm>
            <a:off x="8055864" y="2487168"/>
            <a:ext cx="237744" cy="365760"/>
          </a:xfrm>
          <a:prstGeom prst="rect">
            <a:avLst/>
          </a:prstGeom>
          <a:noFill/>
          <a:ln/>
        </p:spPr>
        <p:txBody>
          <a:bodyPr wrap="square" lIns="0" tIns="0" rIns="0" bIns="0" rtlCol="0" anchor="ctr"/>
          <a:lstStyle/>
          <a:p>
            <a:pPr algn="ctr" indent="0" marL="0">
              <a:buNone/>
            </a:pPr>
            <a:r>
              <a:rPr lang="en-US" sz="1800" b="1" dirty="0">
                <a:solidFill>
                  <a:srgbClr val="17B7A6"/>
                </a:solidFill>
                <a:latin typeface="Malgun Gothic" pitchFamily="34" charset="0"/>
                <a:ea typeface="Malgun Gothic" pitchFamily="34" charset="-122"/>
                <a:cs typeface="Malgun Gothic" pitchFamily="34" charset="-120"/>
              </a:rPr>
              <a:t>›</a:t>
            </a:r>
            <a:endParaRPr lang="en-US" sz="1800" dirty="0"/>
          </a:p>
        </p:txBody>
      </p:sp>
      <p:sp>
        <p:nvSpPr>
          <p:cNvPr id="18" name="Shape 16"/>
          <p:cNvSpPr/>
          <p:nvPr/>
        </p:nvSpPr>
        <p:spPr>
          <a:xfrm>
            <a:off x="8366760" y="2340864"/>
            <a:ext cx="3035808" cy="640080"/>
          </a:xfrm>
          <a:prstGeom prst="roundRect">
            <a:avLst>
              <a:gd name="adj" fmla="val 7857"/>
            </a:avLst>
          </a:prstGeom>
          <a:solidFill>
            <a:srgbClr val="FBF1DE"/>
          </a:solidFill>
          <a:ln w="9525">
            <a:solidFill>
              <a:srgbClr val="EAD7B2"/>
            </a:solidFill>
            <a:prstDash val="solid"/>
          </a:ln>
        </p:spPr>
      </p:sp>
      <p:sp>
        <p:nvSpPr>
          <p:cNvPr id="19" name="Text 17"/>
          <p:cNvSpPr txBox="1"/>
          <p:nvPr/>
        </p:nvSpPr>
        <p:spPr>
          <a:xfrm>
            <a:off x="8567928" y="2542032"/>
            <a:ext cx="2377440" cy="256032"/>
          </a:xfrm>
          <a:prstGeom prst="rect">
            <a:avLst/>
          </a:prstGeom>
          <a:noFill/>
          <a:ln/>
        </p:spPr>
        <p:txBody>
          <a:bodyPr wrap="square" lIns="0" tIns="0" rIns="0" bIns="0" rtlCol="0" anchor="t"/>
          <a:lstStyle/>
          <a:p>
            <a:pPr indent="0" marL="0">
              <a:buNone/>
            </a:pPr>
            <a:r>
              <a:rPr lang="en-US" sz="1200" b="1" dirty="0">
                <a:solidFill>
                  <a:srgbClr val="C97F16"/>
                </a:solidFill>
                <a:latin typeface="Malgun Gothic" pitchFamily="34" charset="0"/>
                <a:ea typeface="Malgun Gothic" pitchFamily="34" charset="-122"/>
                <a:cs typeface="Malgun Gothic" pitchFamily="34" charset="-120"/>
              </a:rPr>
              <a:t>[입력 필요]</a:t>
            </a:r>
            <a:endParaRPr lang="en-US" sz="1200" dirty="0"/>
          </a:p>
        </p:txBody>
      </p:sp>
      <p:sp>
        <p:nvSpPr>
          <p:cNvPr id="20" name="Shape 18"/>
          <p:cNvSpPr/>
          <p:nvPr/>
        </p:nvSpPr>
        <p:spPr>
          <a:xfrm>
            <a:off x="566928" y="3291840"/>
            <a:ext cx="11055096" cy="1005840"/>
          </a:xfrm>
          <a:prstGeom prst="roundRect">
            <a:avLst>
              <a:gd name="adj" fmla="val 5000"/>
            </a:avLst>
          </a:prstGeom>
          <a:solidFill>
            <a:srgbClr val="FFFFFF"/>
          </a:solidFill>
          <a:ln w="9525">
            <a:solidFill>
              <a:srgbClr val="DCE7F1"/>
            </a:solidFill>
            <a:prstDash val="solid"/>
          </a:ln>
          <a:effectLst>
            <a:outerShdw sx="100000" sy="100000" kx="0" ky="0" algn="bl" rotWithShape="0" blurRad="76200" dist="25400" dir="5400000">
              <a:srgbClr val="9FB3C6">
                <a:alpha val="20000"/>
              </a:srgbClr>
            </a:outerShdw>
          </a:effectLst>
        </p:spPr>
      </p:sp>
      <p:sp>
        <p:nvSpPr>
          <p:cNvPr id="21" name="Shape 19"/>
          <p:cNvSpPr/>
          <p:nvPr/>
        </p:nvSpPr>
        <p:spPr>
          <a:xfrm>
            <a:off x="786384" y="3602736"/>
            <a:ext cx="621792" cy="384048"/>
          </a:xfrm>
          <a:prstGeom prst="roundRect">
            <a:avLst>
              <a:gd name="adj" fmla="val 28571"/>
            </a:avLst>
          </a:prstGeom>
          <a:solidFill>
            <a:srgbClr val="07203C"/>
          </a:solidFill>
          <a:ln w="12700">
            <a:solidFill>
              <a:srgbClr val="07203C"/>
            </a:solidFill>
            <a:prstDash val="solid"/>
          </a:ln>
        </p:spPr>
      </p:sp>
      <p:sp>
        <p:nvSpPr>
          <p:cNvPr id="22" name="Text 20"/>
          <p:cNvSpPr txBox="1"/>
          <p:nvPr/>
        </p:nvSpPr>
        <p:spPr>
          <a:xfrm>
            <a:off x="786384" y="3602736"/>
            <a:ext cx="621792"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2차</a:t>
            </a:r>
            <a:endParaRPr lang="en-US" sz="1150" dirty="0"/>
          </a:p>
        </p:txBody>
      </p:sp>
      <p:sp>
        <p:nvSpPr>
          <p:cNvPr id="23" name="Shape 21"/>
          <p:cNvSpPr/>
          <p:nvPr/>
        </p:nvSpPr>
        <p:spPr>
          <a:xfrm>
            <a:off x="1527048" y="3474720"/>
            <a:ext cx="3035808" cy="640080"/>
          </a:xfrm>
          <a:prstGeom prst="roundRect">
            <a:avLst>
              <a:gd name="adj" fmla="val 7857"/>
            </a:avLst>
          </a:prstGeom>
          <a:solidFill>
            <a:srgbClr val="FBF1DE"/>
          </a:solidFill>
          <a:ln w="9525">
            <a:solidFill>
              <a:srgbClr val="EAD7B2"/>
            </a:solidFill>
            <a:prstDash val="solid"/>
          </a:ln>
        </p:spPr>
      </p:sp>
      <p:sp>
        <p:nvSpPr>
          <p:cNvPr id="24" name="Text 22"/>
          <p:cNvSpPr txBox="1"/>
          <p:nvPr/>
        </p:nvSpPr>
        <p:spPr>
          <a:xfrm>
            <a:off x="1728216" y="3675888"/>
            <a:ext cx="2377440" cy="256032"/>
          </a:xfrm>
          <a:prstGeom prst="rect">
            <a:avLst/>
          </a:prstGeom>
          <a:noFill/>
          <a:ln/>
        </p:spPr>
        <p:txBody>
          <a:bodyPr wrap="square" lIns="0" tIns="0" rIns="0" bIns="0" rtlCol="0" anchor="t"/>
          <a:lstStyle/>
          <a:p>
            <a:pPr indent="0" marL="0">
              <a:buNone/>
            </a:pPr>
            <a:r>
              <a:rPr lang="en-US" sz="1200" b="1" dirty="0">
                <a:solidFill>
                  <a:srgbClr val="C97F16"/>
                </a:solidFill>
                <a:latin typeface="Malgun Gothic" pitchFamily="34" charset="0"/>
                <a:ea typeface="Malgun Gothic" pitchFamily="34" charset="-122"/>
                <a:cs typeface="Malgun Gothic" pitchFamily="34" charset="-120"/>
              </a:rPr>
              <a:t>[입력 필요]</a:t>
            </a:r>
            <a:endParaRPr lang="en-US" sz="1200" dirty="0"/>
          </a:p>
        </p:txBody>
      </p:sp>
      <p:sp>
        <p:nvSpPr>
          <p:cNvPr id="25" name="Text 23"/>
          <p:cNvSpPr txBox="1"/>
          <p:nvPr/>
        </p:nvSpPr>
        <p:spPr>
          <a:xfrm>
            <a:off x="4636008" y="3621024"/>
            <a:ext cx="237744" cy="365760"/>
          </a:xfrm>
          <a:prstGeom prst="rect">
            <a:avLst/>
          </a:prstGeom>
          <a:noFill/>
          <a:ln/>
        </p:spPr>
        <p:txBody>
          <a:bodyPr wrap="square" lIns="0" tIns="0" rIns="0" bIns="0" rtlCol="0" anchor="ctr"/>
          <a:lstStyle/>
          <a:p>
            <a:pPr algn="ctr" indent="0" marL="0">
              <a:buNone/>
            </a:pPr>
            <a:r>
              <a:rPr lang="en-US" sz="1800" b="1" dirty="0">
                <a:solidFill>
                  <a:srgbClr val="17B7A6"/>
                </a:solidFill>
                <a:latin typeface="Malgun Gothic" pitchFamily="34" charset="0"/>
                <a:ea typeface="Malgun Gothic" pitchFamily="34" charset="-122"/>
                <a:cs typeface="Malgun Gothic" pitchFamily="34" charset="-120"/>
              </a:rPr>
              <a:t>›</a:t>
            </a:r>
            <a:endParaRPr lang="en-US" sz="1800" dirty="0"/>
          </a:p>
        </p:txBody>
      </p:sp>
      <p:sp>
        <p:nvSpPr>
          <p:cNvPr id="26" name="Shape 24"/>
          <p:cNvSpPr/>
          <p:nvPr/>
        </p:nvSpPr>
        <p:spPr>
          <a:xfrm>
            <a:off x="4946904" y="3474720"/>
            <a:ext cx="3035808" cy="640080"/>
          </a:xfrm>
          <a:prstGeom prst="roundRect">
            <a:avLst>
              <a:gd name="adj" fmla="val 7857"/>
            </a:avLst>
          </a:prstGeom>
          <a:solidFill>
            <a:srgbClr val="FBF1DE"/>
          </a:solidFill>
          <a:ln w="9525">
            <a:solidFill>
              <a:srgbClr val="EAD7B2"/>
            </a:solidFill>
            <a:prstDash val="solid"/>
          </a:ln>
        </p:spPr>
      </p:sp>
      <p:sp>
        <p:nvSpPr>
          <p:cNvPr id="27" name="Text 25"/>
          <p:cNvSpPr txBox="1"/>
          <p:nvPr/>
        </p:nvSpPr>
        <p:spPr>
          <a:xfrm>
            <a:off x="5148072" y="3675888"/>
            <a:ext cx="2377440" cy="256032"/>
          </a:xfrm>
          <a:prstGeom prst="rect">
            <a:avLst/>
          </a:prstGeom>
          <a:noFill/>
          <a:ln/>
        </p:spPr>
        <p:txBody>
          <a:bodyPr wrap="square" lIns="0" tIns="0" rIns="0" bIns="0" rtlCol="0" anchor="t"/>
          <a:lstStyle/>
          <a:p>
            <a:pPr indent="0" marL="0">
              <a:buNone/>
            </a:pPr>
            <a:r>
              <a:rPr lang="en-US" sz="1200" b="1" dirty="0">
                <a:solidFill>
                  <a:srgbClr val="C97F16"/>
                </a:solidFill>
                <a:latin typeface="Malgun Gothic" pitchFamily="34" charset="0"/>
                <a:ea typeface="Malgun Gothic" pitchFamily="34" charset="-122"/>
                <a:cs typeface="Malgun Gothic" pitchFamily="34" charset="-120"/>
              </a:rPr>
              <a:t>[입력 필요]</a:t>
            </a:r>
            <a:endParaRPr lang="en-US" sz="1200" dirty="0"/>
          </a:p>
        </p:txBody>
      </p:sp>
      <p:sp>
        <p:nvSpPr>
          <p:cNvPr id="28" name="Text 26"/>
          <p:cNvSpPr txBox="1"/>
          <p:nvPr/>
        </p:nvSpPr>
        <p:spPr>
          <a:xfrm>
            <a:off x="8055864" y="3621024"/>
            <a:ext cx="237744" cy="365760"/>
          </a:xfrm>
          <a:prstGeom prst="rect">
            <a:avLst/>
          </a:prstGeom>
          <a:noFill/>
          <a:ln/>
        </p:spPr>
        <p:txBody>
          <a:bodyPr wrap="square" lIns="0" tIns="0" rIns="0" bIns="0" rtlCol="0" anchor="ctr"/>
          <a:lstStyle/>
          <a:p>
            <a:pPr algn="ctr" indent="0" marL="0">
              <a:buNone/>
            </a:pPr>
            <a:r>
              <a:rPr lang="en-US" sz="1800" b="1" dirty="0">
                <a:solidFill>
                  <a:srgbClr val="17B7A6"/>
                </a:solidFill>
                <a:latin typeface="Malgun Gothic" pitchFamily="34" charset="0"/>
                <a:ea typeface="Malgun Gothic" pitchFamily="34" charset="-122"/>
                <a:cs typeface="Malgun Gothic" pitchFamily="34" charset="-120"/>
              </a:rPr>
              <a:t>›</a:t>
            </a:r>
            <a:endParaRPr lang="en-US" sz="1800" dirty="0"/>
          </a:p>
        </p:txBody>
      </p:sp>
      <p:sp>
        <p:nvSpPr>
          <p:cNvPr id="29" name="Shape 27"/>
          <p:cNvSpPr/>
          <p:nvPr/>
        </p:nvSpPr>
        <p:spPr>
          <a:xfrm>
            <a:off x="8366760" y="3474720"/>
            <a:ext cx="3035808" cy="640080"/>
          </a:xfrm>
          <a:prstGeom prst="roundRect">
            <a:avLst>
              <a:gd name="adj" fmla="val 7857"/>
            </a:avLst>
          </a:prstGeom>
          <a:solidFill>
            <a:srgbClr val="FBF1DE"/>
          </a:solidFill>
          <a:ln w="9525">
            <a:solidFill>
              <a:srgbClr val="EAD7B2"/>
            </a:solidFill>
            <a:prstDash val="solid"/>
          </a:ln>
        </p:spPr>
      </p:sp>
      <p:sp>
        <p:nvSpPr>
          <p:cNvPr id="30" name="Text 28"/>
          <p:cNvSpPr txBox="1"/>
          <p:nvPr/>
        </p:nvSpPr>
        <p:spPr>
          <a:xfrm>
            <a:off x="8567928" y="3675888"/>
            <a:ext cx="2377440" cy="256032"/>
          </a:xfrm>
          <a:prstGeom prst="rect">
            <a:avLst/>
          </a:prstGeom>
          <a:noFill/>
          <a:ln/>
        </p:spPr>
        <p:txBody>
          <a:bodyPr wrap="square" lIns="0" tIns="0" rIns="0" bIns="0" rtlCol="0" anchor="t"/>
          <a:lstStyle/>
          <a:p>
            <a:pPr indent="0" marL="0">
              <a:buNone/>
            </a:pPr>
            <a:r>
              <a:rPr lang="en-US" sz="1200" b="1" dirty="0">
                <a:solidFill>
                  <a:srgbClr val="C97F16"/>
                </a:solidFill>
                <a:latin typeface="Malgun Gothic" pitchFamily="34" charset="0"/>
                <a:ea typeface="Malgun Gothic" pitchFamily="34" charset="-122"/>
                <a:cs typeface="Malgun Gothic" pitchFamily="34" charset="-120"/>
              </a:rPr>
              <a:t>[입력 필요]</a:t>
            </a:r>
            <a:endParaRPr lang="en-US" sz="1200" dirty="0"/>
          </a:p>
        </p:txBody>
      </p:sp>
      <p:sp>
        <p:nvSpPr>
          <p:cNvPr id="31" name="Shape 29"/>
          <p:cNvSpPr/>
          <p:nvPr/>
        </p:nvSpPr>
        <p:spPr>
          <a:xfrm>
            <a:off x="566928" y="4425696"/>
            <a:ext cx="11055096" cy="1005840"/>
          </a:xfrm>
          <a:prstGeom prst="roundRect">
            <a:avLst>
              <a:gd name="adj" fmla="val 5000"/>
            </a:avLst>
          </a:prstGeom>
          <a:solidFill>
            <a:srgbClr val="FFFFFF"/>
          </a:solidFill>
          <a:ln w="9525">
            <a:solidFill>
              <a:srgbClr val="DCE7F1"/>
            </a:solidFill>
            <a:prstDash val="solid"/>
          </a:ln>
          <a:effectLst>
            <a:outerShdw sx="100000" sy="100000" kx="0" ky="0" algn="bl" rotWithShape="0" blurRad="76200" dist="25400" dir="5400000">
              <a:srgbClr val="9FB3C6">
                <a:alpha val="20000"/>
              </a:srgbClr>
            </a:outerShdw>
          </a:effectLst>
        </p:spPr>
      </p:sp>
      <p:sp>
        <p:nvSpPr>
          <p:cNvPr id="32" name="Shape 30"/>
          <p:cNvSpPr/>
          <p:nvPr/>
        </p:nvSpPr>
        <p:spPr>
          <a:xfrm>
            <a:off x="786384" y="4736592"/>
            <a:ext cx="621792" cy="384048"/>
          </a:xfrm>
          <a:prstGeom prst="roundRect">
            <a:avLst>
              <a:gd name="adj" fmla="val 28571"/>
            </a:avLst>
          </a:prstGeom>
          <a:solidFill>
            <a:srgbClr val="07203C"/>
          </a:solidFill>
          <a:ln w="12700">
            <a:solidFill>
              <a:srgbClr val="07203C"/>
            </a:solidFill>
            <a:prstDash val="solid"/>
          </a:ln>
        </p:spPr>
      </p:sp>
      <p:sp>
        <p:nvSpPr>
          <p:cNvPr id="33" name="Text 31"/>
          <p:cNvSpPr txBox="1"/>
          <p:nvPr/>
        </p:nvSpPr>
        <p:spPr>
          <a:xfrm>
            <a:off x="786384" y="4736592"/>
            <a:ext cx="621792"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3차</a:t>
            </a:r>
            <a:endParaRPr lang="en-US" sz="1150" dirty="0"/>
          </a:p>
        </p:txBody>
      </p:sp>
      <p:sp>
        <p:nvSpPr>
          <p:cNvPr id="34" name="Shape 32"/>
          <p:cNvSpPr/>
          <p:nvPr/>
        </p:nvSpPr>
        <p:spPr>
          <a:xfrm>
            <a:off x="1527048" y="4608576"/>
            <a:ext cx="3035808" cy="640080"/>
          </a:xfrm>
          <a:prstGeom prst="roundRect">
            <a:avLst>
              <a:gd name="adj" fmla="val 7857"/>
            </a:avLst>
          </a:prstGeom>
          <a:solidFill>
            <a:srgbClr val="FBF1DE"/>
          </a:solidFill>
          <a:ln w="9525">
            <a:solidFill>
              <a:srgbClr val="EAD7B2"/>
            </a:solidFill>
            <a:prstDash val="solid"/>
          </a:ln>
        </p:spPr>
      </p:sp>
      <p:sp>
        <p:nvSpPr>
          <p:cNvPr id="35" name="Text 33"/>
          <p:cNvSpPr txBox="1"/>
          <p:nvPr/>
        </p:nvSpPr>
        <p:spPr>
          <a:xfrm>
            <a:off x="1728216" y="4809744"/>
            <a:ext cx="2377440" cy="256032"/>
          </a:xfrm>
          <a:prstGeom prst="rect">
            <a:avLst/>
          </a:prstGeom>
          <a:noFill/>
          <a:ln/>
        </p:spPr>
        <p:txBody>
          <a:bodyPr wrap="square" lIns="0" tIns="0" rIns="0" bIns="0" rtlCol="0" anchor="t"/>
          <a:lstStyle/>
          <a:p>
            <a:pPr indent="0" marL="0">
              <a:buNone/>
            </a:pPr>
            <a:r>
              <a:rPr lang="en-US" sz="1200" b="1" dirty="0">
                <a:solidFill>
                  <a:srgbClr val="C97F16"/>
                </a:solidFill>
                <a:latin typeface="Malgun Gothic" pitchFamily="34" charset="0"/>
                <a:ea typeface="Malgun Gothic" pitchFamily="34" charset="-122"/>
                <a:cs typeface="Malgun Gothic" pitchFamily="34" charset="-120"/>
              </a:rPr>
              <a:t>[입력 필요]</a:t>
            </a:r>
            <a:endParaRPr lang="en-US" sz="1200" dirty="0"/>
          </a:p>
        </p:txBody>
      </p:sp>
      <p:sp>
        <p:nvSpPr>
          <p:cNvPr id="36" name="Text 34"/>
          <p:cNvSpPr txBox="1"/>
          <p:nvPr/>
        </p:nvSpPr>
        <p:spPr>
          <a:xfrm>
            <a:off x="4636008" y="4754880"/>
            <a:ext cx="237744" cy="365760"/>
          </a:xfrm>
          <a:prstGeom prst="rect">
            <a:avLst/>
          </a:prstGeom>
          <a:noFill/>
          <a:ln/>
        </p:spPr>
        <p:txBody>
          <a:bodyPr wrap="square" lIns="0" tIns="0" rIns="0" bIns="0" rtlCol="0" anchor="ctr"/>
          <a:lstStyle/>
          <a:p>
            <a:pPr algn="ctr" indent="0" marL="0">
              <a:buNone/>
            </a:pPr>
            <a:r>
              <a:rPr lang="en-US" sz="1800" b="1" dirty="0">
                <a:solidFill>
                  <a:srgbClr val="17B7A6"/>
                </a:solidFill>
                <a:latin typeface="Malgun Gothic" pitchFamily="34" charset="0"/>
                <a:ea typeface="Malgun Gothic" pitchFamily="34" charset="-122"/>
                <a:cs typeface="Malgun Gothic" pitchFamily="34" charset="-120"/>
              </a:rPr>
              <a:t>›</a:t>
            </a:r>
            <a:endParaRPr lang="en-US" sz="1800" dirty="0"/>
          </a:p>
        </p:txBody>
      </p:sp>
      <p:sp>
        <p:nvSpPr>
          <p:cNvPr id="37" name="Shape 35"/>
          <p:cNvSpPr/>
          <p:nvPr/>
        </p:nvSpPr>
        <p:spPr>
          <a:xfrm>
            <a:off x="4946904" y="4608576"/>
            <a:ext cx="3035808" cy="640080"/>
          </a:xfrm>
          <a:prstGeom prst="roundRect">
            <a:avLst>
              <a:gd name="adj" fmla="val 7857"/>
            </a:avLst>
          </a:prstGeom>
          <a:solidFill>
            <a:srgbClr val="FBF1DE"/>
          </a:solidFill>
          <a:ln w="9525">
            <a:solidFill>
              <a:srgbClr val="EAD7B2"/>
            </a:solidFill>
            <a:prstDash val="solid"/>
          </a:ln>
        </p:spPr>
      </p:sp>
      <p:sp>
        <p:nvSpPr>
          <p:cNvPr id="38" name="Text 36"/>
          <p:cNvSpPr txBox="1"/>
          <p:nvPr/>
        </p:nvSpPr>
        <p:spPr>
          <a:xfrm>
            <a:off x="5148072" y="4809744"/>
            <a:ext cx="2377440" cy="256032"/>
          </a:xfrm>
          <a:prstGeom prst="rect">
            <a:avLst/>
          </a:prstGeom>
          <a:noFill/>
          <a:ln/>
        </p:spPr>
        <p:txBody>
          <a:bodyPr wrap="square" lIns="0" tIns="0" rIns="0" bIns="0" rtlCol="0" anchor="t"/>
          <a:lstStyle/>
          <a:p>
            <a:pPr indent="0" marL="0">
              <a:buNone/>
            </a:pPr>
            <a:r>
              <a:rPr lang="en-US" sz="1200" b="1" dirty="0">
                <a:solidFill>
                  <a:srgbClr val="C97F16"/>
                </a:solidFill>
                <a:latin typeface="Malgun Gothic" pitchFamily="34" charset="0"/>
                <a:ea typeface="Malgun Gothic" pitchFamily="34" charset="-122"/>
                <a:cs typeface="Malgun Gothic" pitchFamily="34" charset="-120"/>
              </a:rPr>
              <a:t>[입력 필요]</a:t>
            </a:r>
            <a:endParaRPr lang="en-US" sz="1200" dirty="0"/>
          </a:p>
        </p:txBody>
      </p:sp>
      <p:sp>
        <p:nvSpPr>
          <p:cNvPr id="39" name="Text 37"/>
          <p:cNvSpPr txBox="1"/>
          <p:nvPr/>
        </p:nvSpPr>
        <p:spPr>
          <a:xfrm>
            <a:off x="8055864" y="4754880"/>
            <a:ext cx="237744" cy="365760"/>
          </a:xfrm>
          <a:prstGeom prst="rect">
            <a:avLst/>
          </a:prstGeom>
          <a:noFill/>
          <a:ln/>
        </p:spPr>
        <p:txBody>
          <a:bodyPr wrap="square" lIns="0" tIns="0" rIns="0" bIns="0" rtlCol="0" anchor="ctr"/>
          <a:lstStyle/>
          <a:p>
            <a:pPr algn="ctr" indent="0" marL="0">
              <a:buNone/>
            </a:pPr>
            <a:r>
              <a:rPr lang="en-US" sz="1800" b="1" dirty="0">
                <a:solidFill>
                  <a:srgbClr val="17B7A6"/>
                </a:solidFill>
                <a:latin typeface="Malgun Gothic" pitchFamily="34" charset="0"/>
                <a:ea typeface="Malgun Gothic" pitchFamily="34" charset="-122"/>
                <a:cs typeface="Malgun Gothic" pitchFamily="34" charset="-120"/>
              </a:rPr>
              <a:t>›</a:t>
            </a:r>
            <a:endParaRPr lang="en-US" sz="1800" dirty="0"/>
          </a:p>
        </p:txBody>
      </p:sp>
      <p:sp>
        <p:nvSpPr>
          <p:cNvPr id="40" name="Shape 38"/>
          <p:cNvSpPr/>
          <p:nvPr/>
        </p:nvSpPr>
        <p:spPr>
          <a:xfrm>
            <a:off x="8366760" y="4608576"/>
            <a:ext cx="3035808" cy="640080"/>
          </a:xfrm>
          <a:prstGeom prst="roundRect">
            <a:avLst>
              <a:gd name="adj" fmla="val 7857"/>
            </a:avLst>
          </a:prstGeom>
          <a:solidFill>
            <a:srgbClr val="FBF1DE"/>
          </a:solidFill>
          <a:ln w="9525">
            <a:solidFill>
              <a:srgbClr val="EAD7B2"/>
            </a:solidFill>
            <a:prstDash val="solid"/>
          </a:ln>
        </p:spPr>
      </p:sp>
      <p:sp>
        <p:nvSpPr>
          <p:cNvPr id="41" name="Text 39"/>
          <p:cNvSpPr txBox="1"/>
          <p:nvPr/>
        </p:nvSpPr>
        <p:spPr>
          <a:xfrm>
            <a:off x="8567928" y="4809744"/>
            <a:ext cx="2377440" cy="256032"/>
          </a:xfrm>
          <a:prstGeom prst="rect">
            <a:avLst/>
          </a:prstGeom>
          <a:noFill/>
          <a:ln/>
        </p:spPr>
        <p:txBody>
          <a:bodyPr wrap="square" lIns="0" tIns="0" rIns="0" bIns="0" rtlCol="0" anchor="t"/>
          <a:lstStyle/>
          <a:p>
            <a:pPr indent="0" marL="0">
              <a:buNone/>
            </a:pPr>
            <a:r>
              <a:rPr lang="en-US" sz="1200" b="1" dirty="0">
                <a:solidFill>
                  <a:srgbClr val="C97F16"/>
                </a:solidFill>
                <a:latin typeface="Malgun Gothic" pitchFamily="34" charset="0"/>
                <a:ea typeface="Malgun Gothic" pitchFamily="34" charset="-122"/>
                <a:cs typeface="Malgun Gothic" pitchFamily="34" charset="-120"/>
              </a:rPr>
              <a:t>[입력 필요]</a:t>
            </a:r>
            <a:endParaRPr lang="en-US" sz="1200" dirty="0"/>
          </a:p>
        </p:txBody>
      </p:sp>
      <p:sp>
        <p:nvSpPr>
          <p:cNvPr id="42" name="Shape 40"/>
          <p:cNvSpPr/>
          <p:nvPr/>
        </p:nvSpPr>
        <p:spPr>
          <a:xfrm>
            <a:off x="566928" y="5669280"/>
            <a:ext cx="11055096" cy="566928"/>
          </a:xfrm>
          <a:prstGeom prst="roundRect">
            <a:avLst>
              <a:gd name="adj" fmla="val 8871"/>
            </a:avLst>
          </a:prstGeom>
          <a:solidFill>
            <a:srgbClr val="E7EFF7"/>
          </a:solidFill>
          <a:ln w="9525">
            <a:solidFill>
              <a:srgbClr val="CBDCEB"/>
            </a:solidFill>
            <a:prstDash val="solid"/>
          </a:ln>
        </p:spPr>
      </p:sp>
      <p:sp>
        <p:nvSpPr>
          <p:cNvPr id="43" name="Text 41"/>
          <p:cNvSpPr txBox="1"/>
          <p:nvPr/>
        </p:nvSpPr>
        <p:spPr>
          <a:xfrm>
            <a:off x="841248" y="5815584"/>
            <a:ext cx="914400" cy="256032"/>
          </a:xfrm>
          <a:prstGeom prst="rect">
            <a:avLst/>
          </a:prstGeom>
          <a:noFill/>
          <a:ln/>
        </p:spPr>
        <p:txBody>
          <a:bodyPr wrap="square" lIns="0" tIns="0" rIns="0" bIns="0" rtlCol="0" anchor="t"/>
          <a:lstStyle/>
          <a:p>
            <a:pPr indent="0" marL="0">
              <a:buNone/>
            </a:pPr>
            <a:r>
              <a:rPr lang="en-US" sz="1100" b="1" dirty="0">
                <a:solidFill>
                  <a:srgbClr val="0E8477"/>
                </a:solidFill>
                <a:latin typeface="Malgun Gothic" pitchFamily="34" charset="0"/>
                <a:ea typeface="Malgun Gothic" pitchFamily="34" charset="-122"/>
                <a:cs typeface="Malgun Gothic" pitchFamily="34" charset="-120"/>
              </a:rPr>
              <a:t>작성 팁</a:t>
            </a:r>
            <a:endParaRPr lang="en-US" sz="1100" dirty="0"/>
          </a:p>
        </p:txBody>
      </p:sp>
      <p:sp>
        <p:nvSpPr>
          <p:cNvPr id="44" name="Text 42"/>
          <p:cNvSpPr txBox="1"/>
          <p:nvPr/>
        </p:nvSpPr>
        <p:spPr>
          <a:xfrm>
            <a:off x="1938528" y="5815584"/>
            <a:ext cx="9418320" cy="256032"/>
          </a:xfrm>
          <a:prstGeom prst="rect">
            <a:avLst/>
          </a:prstGeom>
          <a:noFill/>
          <a:ln/>
        </p:spPr>
        <p:txBody>
          <a:bodyPr wrap="square" lIns="0" tIns="0" rIns="0" bIns="0" rtlCol="0" anchor="t"/>
          <a:lstStyle/>
          <a:p>
            <a:pPr indent="0" marL="0">
              <a:buNone/>
            </a:pPr>
            <a:r>
              <a:rPr lang="en-US" sz="1200" dirty="0">
                <a:solidFill>
                  <a:srgbClr val="07203C"/>
                </a:solidFill>
                <a:latin typeface="Malgun Gothic" pitchFamily="34" charset="0"/>
                <a:ea typeface="Malgun Gothic" pitchFamily="34" charset="-122"/>
                <a:cs typeface="Malgun Gothic" pitchFamily="34" charset="-120"/>
              </a:rPr>
              <a:t>‘무엇을 지적받았는가’보다 ‘그래서 코드·화면의 무엇이 어떻게 바뀌었는가’를 한 줄로 쓰면 전달력이 가장 높습니다.</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6FA"/>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37744"/>
          </a:xfrm>
          <a:prstGeom prst="rect">
            <a:avLst/>
          </a:prstGeom>
          <a:noFill/>
          <a:ln/>
        </p:spPr>
        <p:txBody>
          <a:bodyPr wrap="square" lIns="0" tIns="0" rIns="0" bIns="0" rtlCol="0" anchor="t"/>
          <a:lstStyle/>
          <a:p>
            <a:pPr indent="0" marL="0">
              <a:buNone/>
            </a:pPr>
            <a:r>
              <a:rPr lang="en-US" sz="1100" b="1" spc="110" kern="0" dirty="0">
                <a:solidFill>
                  <a:srgbClr val="0E8477"/>
                </a:solidFill>
                <a:latin typeface="Malgun Gothic" pitchFamily="34" charset="0"/>
                <a:ea typeface="Malgun Gothic" pitchFamily="34" charset="-122"/>
                <a:cs typeface="Malgun Gothic" pitchFamily="34" charset="-120"/>
              </a:rPr>
              <a:t>03  RESULT  ·  구현 결과</a:t>
            </a:r>
            <a:endParaRPr lang="en-US" sz="1100" dirty="0"/>
          </a:p>
        </p:txBody>
      </p:sp>
      <p:sp>
        <p:nvSpPr>
          <p:cNvPr id="3" name="Text 1"/>
          <p:cNvSpPr txBox="1"/>
          <p:nvPr/>
        </p:nvSpPr>
        <p:spPr>
          <a:xfrm>
            <a:off x="566928" y="713232"/>
            <a:ext cx="11057839" cy="566928"/>
          </a:xfrm>
          <a:prstGeom prst="rect">
            <a:avLst/>
          </a:prstGeom>
          <a:noFill/>
          <a:ln/>
        </p:spPr>
        <p:txBody>
          <a:bodyPr wrap="square" lIns="0" tIns="0" rIns="0" bIns="0" rtlCol="0" anchor="t"/>
          <a:lstStyle/>
          <a:p>
            <a:pPr indent="0" marL="0">
              <a:buNone/>
            </a:pPr>
            <a:r>
              <a:rPr lang="en-US" sz="3200" b="1" dirty="0">
                <a:solidFill>
                  <a:srgbClr val="07203C"/>
                </a:solidFill>
                <a:latin typeface="Malgun Gothic" pitchFamily="34" charset="0"/>
                <a:ea typeface="Malgun Gothic" pitchFamily="34" charset="-122"/>
                <a:cs typeface="Malgun Gothic" pitchFamily="34" charset="-120"/>
              </a:rPr>
              <a:t>구현 결과 — 실제 동작 화면</a:t>
            </a:r>
            <a:endParaRPr lang="en-US" sz="3200" dirty="0"/>
          </a:p>
        </p:txBody>
      </p:sp>
      <p:sp>
        <p:nvSpPr>
          <p:cNvPr id="4" name="Text 2"/>
          <p:cNvSpPr txBox="1"/>
          <p:nvPr/>
        </p:nvSpPr>
        <p:spPr>
          <a:xfrm>
            <a:off x="566928" y="1371600"/>
            <a:ext cx="11057839" cy="274320"/>
          </a:xfrm>
          <a:prstGeom prst="rect">
            <a:avLst/>
          </a:prstGeom>
          <a:noFill/>
          <a:ln/>
        </p:spPr>
        <p:txBody>
          <a:bodyPr wrap="square" lIns="0" tIns="0" rIns="0" bIns="0" rtlCol="0" anchor="t"/>
          <a:lstStyle/>
          <a:p>
            <a:pPr indent="0" marL="0">
              <a:buNone/>
            </a:pPr>
            <a:r>
              <a:rPr lang="en-US" sz="1300" dirty="0">
                <a:solidFill>
                  <a:srgbClr val="6B7F92"/>
                </a:solidFill>
                <a:latin typeface="Malgun Gothic" pitchFamily="34" charset="0"/>
                <a:ea typeface="Malgun Gothic" pitchFamily="34" charset="-122"/>
                <a:cs typeface="Malgun Gothic" pitchFamily="34" charset="-120"/>
              </a:rPr>
              <a:t>모든 분석 결과에는 DART 원문 또는 기사 링크가 함께 표시되어, 화면의 결론을 항상 원문까지 되짚을 수 있습니다.</a:t>
            </a:r>
            <a:endParaRPr lang="en-US" sz="1300" dirty="0"/>
          </a:p>
        </p:txBody>
      </p:sp>
      <p:sp>
        <p:nvSpPr>
          <p:cNvPr id="5" name="Text 3"/>
          <p:cNvSpPr txBox="1"/>
          <p:nvPr/>
        </p:nvSpPr>
        <p:spPr>
          <a:xfrm>
            <a:off x="8332927" y="6437376"/>
            <a:ext cx="3291840" cy="219456"/>
          </a:xfrm>
          <a:prstGeom prst="rect">
            <a:avLst/>
          </a:prstGeom>
          <a:noFill/>
          <a:ln/>
        </p:spPr>
        <p:txBody>
          <a:bodyPr wrap="square" lIns="0" tIns="0" rIns="0" bIns="0" rtlCol="0" anchor="t"/>
          <a:lstStyle/>
          <a:p>
            <a:pPr algn="r" indent="0" marL="0">
              <a:buNone/>
            </a:pPr>
            <a:r>
              <a:rPr lang="en-US" sz="950" spc="60" kern="0" dirty="0">
                <a:solidFill>
                  <a:srgbClr val="8A9BAB"/>
                </a:solidFill>
                <a:latin typeface="Malgun Gothic" pitchFamily="34" charset="0"/>
                <a:ea typeface="Malgun Gothic" pitchFamily="34" charset="-122"/>
                <a:cs typeface="Malgun Gothic" pitchFamily="34" charset="-120"/>
              </a:rPr>
              <a:t>13 / 16     FUTURE:M RADAR</a:t>
            </a:r>
            <a:endParaRPr lang="en-US" sz="950" dirty="0"/>
          </a:p>
        </p:txBody>
      </p:sp>
      <p:sp>
        <p:nvSpPr>
          <p:cNvPr id="6" name="Shape 4"/>
          <p:cNvSpPr/>
          <p:nvPr/>
        </p:nvSpPr>
        <p:spPr>
          <a:xfrm>
            <a:off x="566928" y="1828800"/>
            <a:ext cx="5431536" cy="2084832"/>
          </a:xfrm>
          <a:prstGeom prst="roundRect">
            <a:avLst>
              <a:gd name="adj" fmla="val 2412"/>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7" name="Text 5"/>
          <p:cNvSpPr txBox="1"/>
          <p:nvPr/>
        </p:nvSpPr>
        <p:spPr>
          <a:xfrm>
            <a:off x="804672" y="1956816"/>
            <a:ext cx="3108960" cy="237744"/>
          </a:xfrm>
          <a:prstGeom prst="rect">
            <a:avLst/>
          </a:prstGeom>
          <a:noFill/>
          <a:ln/>
        </p:spPr>
        <p:txBody>
          <a:bodyPr wrap="square" lIns="0" tIns="0" rIns="0" bIns="0" rtlCol="0" anchor="t"/>
          <a:lstStyle/>
          <a:p>
            <a:pPr indent="0" marL="0">
              <a:buNone/>
            </a:pPr>
            <a:r>
              <a:rPr lang="en-US" sz="1250" b="1" dirty="0">
                <a:solidFill>
                  <a:srgbClr val="07203C"/>
                </a:solidFill>
                <a:latin typeface="Malgun Gothic" pitchFamily="34" charset="0"/>
                <a:ea typeface="Malgun Gothic" pitchFamily="34" charset="-122"/>
                <a:cs typeface="Malgun Gothic" pitchFamily="34" charset="-120"/>
              </a:rPr>
              <a:t>경쟁사 신호 히트맵</a:t>
            </a:r>
            <a:endParaRPr lang="en-US" sz="1250" dirty="0"/>
          </a:p>
        </p:txBody>
      </p:sp>
      <p:sp>
        <p:nvSpPr>
          <p:cNvPr id="8" name="Text 6"/>
          <p:cNvSpPr txBox="1"/>
          <p:nvPr/>
        </p:nvSpPr>
        <p:spPr>
          <a:xfrm>
            <a:off x="804672" y="2212848"/>
            <a:ext cx="4937760" cy="219456"/>
          </a:xfrm>
          <a:prstGeom prst="rect">
            <a:avLst/>
          </a:prstGeom>
          <a:noFill/>
          <a:ln/>
        </p:spPr>
        <p:txBody>
          <a:bodyPr wrap="square" lIns="0" tIns="0" rIns="0" bIns="0" rtlCol="0" anchor="t"/>
          <a:lstStyle/>
          <a:p>
            <a:pPr indent="0" marL="0">
              <a:buNone/>
            </a:pPr>
            <a:r>
              <a:rPr lang="en-US" sz="1000" dirty="0">
                <a:solidFill>
                  <a:srgbClr val="6B7F92"/>
                </a:solidFill>
                <a:latin typeface="Malgun Gothic" pitchFamily="34" charset="0"/>
                <a:ea typeface="Malgun Gothic" pitchFamily="34" charset="-122"/>
                <a:cs typeface="Malgun Gothic" pitchFamily="34" charset="-120"/>
              </a:rPr>
              <a:t>9개사 × 4개 축 이벤트를 자동 등급화</a:t>
            </a:r>
            <a:endParaRPr lang="en-US" sz="1000" dirty="0"/>
          </a:p>
        </p:txBody>
      </p:sp>
      <p:sp>
        <p:nvSpPr>
          <p:cNvPr id="9" name="Shape 7"/>
          <p:cNvSpPr/>
          <p:nvPr/>
        </p:nvSpPr>
        <p:spPr>
          <a:xfrm>
            <a:off x="2194597" y="2487168"/>
            <a:ext cx="2176199" cy="1298448"/>
          </a:xfrm>
          <a:prstGeom prst="rect">
            <a:avLst/>
          </a:prstGeom>
          <a:solidFill>
            <a:srgbClr val="F1F6FA"/>
          </a:solidFill>
          <a:ln w="9525">
            <a:solidFill>
              <a:srgbClr val="DCE7F1"/>
            </a:solidFill>
            <a:prstDash val="solid"/>
          </a:ln>
        </p:spPr>
      </p:sp>
      <p:pic>
        <p:nvPicPr>
          <p:cNvPr id="10" name="Image 0" descr="C:\Users\POSCOFUTUREM\AppData\Local\Temp\claude\C--Users-POSCOFUTUREM-Desktop-FUTURE-M-RADAR\03eb9f10-e059-4022-9426-4bcf8a16f4d4\scratchpad\assets\heatmap.png">    </p:cNvPr>
          <p:cNvPicPr>
            <a:picLocks noChangeAspect="1"/>
          </p:cNvPicPr>
          <p:nvPr/>
        </p:nvPicPr>
        <p:blipFill>
          <a:blip r:embed="rId1"/>
          <a:stretch>
            <a:fillRect/>
          </a:stretch>
        </p:blipFill>
        <p:spPr>
          <a:xfrm>
            <a:off x="2194597" y="2487168"/>
            <a:ext cx="2176199" cy="1298448"/>
          </a:xfrm>
          <a:prstGeom prst="rect">
            <a:avLst/>
          </a:prstGeom>
        </p:spPr>
      </p:pic>
      <p:sp>
        <p:nvSpPr>
          <p:cNvPr id="11" name="Shape 8"/>
          <p:cNvSpPr/>
          <p:nvPr/>
        </p:nvSpPr>
        <p:spPr>
          <a:xfrm>
            <a:off x="6190488" y="1828800"/>
            <a:ext cx="5431536" cy="2084832"/>
          </a:xfrm>
          <a:prstGeom prst="roundRect">
            <a:avLst>
              <a:gd name="adj" fmla="val 2412"/>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12" name="Text 9"/>
          <p:cNvSpPr txBox="1"/>
          <p:nvPr/>
        </p:nvSpPr>
        <p:spPr>
          <a:xfrm>
            <a:off x="6428232" y="1956816"/>
            <a:ext cx="3108960" cy="237744"/>
          </a:xfrm>
          <a:prstGeom prst="rect">
            <a:avLst/>
          </a:prstGeom>
          <a:noFill/>
          <a:ln/>
        </p:spPr>
        <p:txBody>
          <a:bodyPr wrap="square" lIns="0" tIns="0" rIns="0" bIns="0" rtlCol="0" anchor="t"/>
          <a:lstStyle/>
          <a:p>
            <a:pPr indent="0" marL="0">
              <a:buNone/>
            </a:pPr>
            <a:r>
              <a:rPr lang="en-US" sz="1250" b="1" dirty="0">
                <a:solidFill>
                  <a:srgbClr val="07203C"/>
                </a:solidFill>
                <a:latin typeface="Malgun Gothic" pitchFamily="34" charset="0"/>
                <a:ea typeface="Malgun Gothic" pitchFamily="34" charset="-122"/>
                <a:cs typeface="Malgun Gothic" pitchFamily="34" charset="-120"/>
              </a:rPr>
              <a:t>AI 공시 분석</a:t>
            </a:r>
            <a:endParaRPr lang="en-US" sz="1250" dirty="0"/>
          </a:p>
        </p:txBody>
      </p:sp>
      <p:sp>
        <p:nvSpPr>
          <p:cNvPr id="13" name="Text 10"/>
          <p:cNvSpPr txBox="1"/>
          <p:nvPr/>
        </p:nvSpPr>
        <p:spPr>
          <a:xfrm>
            <a:off x="6428232" y="2212848"/>
            <a:ext cx="4937760" cy="219456"/>
          </a:xfrm>
          <a:prstGeom prst="rect">
            <a:avLst/>
          </a:prstGeom>
          <a:noFill/>
          <a:ln/>
        </p:spPr>
        <p:txBody>
          <a:bodyPr wrap="square" lIns="0" tIns="0" rIns="0" bIns="0" rtlCol="0" anchor="t"/>
          <a:lstStyle/>
          <a:p>
            <a:pPr indent="0" marL="0">
              <a:buNone/>
            </a:pPr>
            <a:r>
              <a:rPr lang="en-US" sz="1000" dirty="0">
                <a:solidFill>
                  <a:srgbClr val="6B7F92"/>
                </a:solidFill>
                <a:latin typeface="Malgun Gothic" pitchFamily="34" charset="0"/>
                <a:ea typeface="Malgun Gothic" pitchFamily="34" charset="-122"/>
                <a:cs typeface="Malgun Gothic" pitchFamily="34" charset="-120"/>
              </a:rPr>
              <a:t>원문 기반 3문장 요약 + 전략 시사점</a:t>
            </a:r>
            <a:endParaRPr lang="en-US" sz="1000" dirty="0"/>
          </a:p>
        </p:txBody>
      </p:sp>
      <p:sp>
        <p:nvSpPr>
          <p:cNvPr id="14" name="Shape 11"/>
          <p:cNvSpPr/>
          <p:nvPr/>
        </p:nvSpPr>
        <p:spPr>
          <a:xfrm>
            <a:off x="7891519" y="2487168"/>
            <a:ext cx="2029474" cy="1298448"/>
          </a:xfrm>
          <a:prstGeom prst="rect">
            <a:avLst/>
          </a:prstGeom>
          <a:solidFill>
            <a:srgbClr val="F1F6FA"/>
          </a:solidFill>
          <a:ln w="9525">
            <a:solidFill>
              <a:srgbClr val="DCE7F1"/>
            </a:solidFill>
            <a:prstDash val="solid"/>
          </a:ln>
        </p:spPr>
      </p:sp>
      <p:pic>
        <p:nvPicPr>
          <p:cNvPr id="15" name="Image 1" descr="C:\Users\POSCOFUTUREM\AppData\Local\Temp\claude\C--Users-POSCOFUTUREM-Desktop-FUTURE-M-RADAR\03eb9f10-e059-4022-9426-4bcf8a16f4d4\scratchpad\assets\ai-modal.png">    </p:cNvPr>
          <p:cNvPicPr>
            <a:picLocks noChangeAspect="1"/>
          </p:cNvPicPr>
          <p:nvPr/>
        </p:nvPicPr>
        <p:blipFill>
          <a:blip r:embed="rId2"/>
          <a:stretch>
            <a:fillRect/>
          </a:stretch>
        </p:blipFill>
        <p:spPr>
          <a:xfrm>
            <a:off x="7891519" y="2487168"/>
            <a:ext cx="2029474" cy="1298448"/>
          </a:xfrm>
          <a:prstGeom prst="rect">
            <a:avLst/>
          </a:prstGeom>
        </p:spPr>
      </p:pic>
      <p:sp>
        <p:nvSpPr>
          <p:cNvPr id="16" name="Shape 12"/>
          <p:cNvSpPr/>
          <p:nvPr/>
        </p:nvSpPr>
        <p:spPr>
          <a:xfrm>
            <a:off x="566928" y="4078224"/>
            <a:ext cx="5431536" cy="2084832"/>
          </a:xfrm>
          <a:prstGeom prst="roundRect">
            <a:avLst>
              <a:gd name="adj" fmla="val 2412"/>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17" name="Text 13"/>
          <p:cNvSpPr txBox="1"/>
          <p:nvPr/>
        </p:nvSpPr>
        <p:spPr>
          <a:xfrm>
            <a:off x="804672" y="4206240"/>
            <a:ext cx="3108960" cy="237744"/>
          </a:xfrm>
          <a:prstGeom prst="rect">
            <a:avLst/>
          </a:prstGeom>
          <a:noFill/>
          <a:ln/>
        </p:spPr>
        <p:txBody>
          <a:bodyPr wrap="square" lIns="0" tIns="0" rIns="0" bIns="0" rtlCol="0" anchor="t"/>
          <a:lstStyle/>
          <a:p>
            <a:pPr indent="0" marL="0">
              <a:buNone/>
            </a:pPr>
            <a:r>
              <a:rPr lang="en-US" sz="1250" b="1" dirty="0">
                <a:solidFill>
                  <a:srgbClr val="07203C"/>
                </a:solidFill>
                <a:latin typeface="Malgun Gothic" pitchFamily="34" charset="0"/>
                <a:ea typeface="Malgun Gothic" pitchFamily="34" charset="-122"/>
                <a:cs typeface="Malgun Gothic" pitchFamily="34" charset="-120"/>
              </a:rPr>
              <a:t>기업 재무분석</a:t>
            </a:r>
            <a:endParaRPr lang="en-US" sz="1250" dirty="0"/>
          </a:p>
        </p:txBody>
      </p:sp>
      <p:sp>
        <p:nvSpPr>
          <p:cNvPr id="18" name="Text 14"/>
          <p:cNvSpPr txBox="1"/>
          <p:nvPr/>
        </p:nvSpPr>
        <p:spPr>
          <a:xfrm>
            <a:off x="804672" y="4462272"/>
            <a:ext cx="4937760" cy="219456"/>
          </a:xfrm>
          <a:prstGeom prst="rect">
            <a:avLst/>
          </a:prstGeom>
          <a:noFill/>
          <a:ln/>
        </p:spPr>
        <p:txBody>
          <a:bodyPr wrap="square" lIns="0" tIns="0" rIns="0" bIns="0" rtlCol="0" anchor="t"/>
          <a:lstStyle/>
          <a:p>
            <a:pPr indent="0" marL="0">
              <a:buNone/>
            </a:pPr>
            <a:r>
              <a:rPr lang="en-US" sz="1000" dirty="0">
                <a:solidFill>
                  <a:srgbClr val="6B7F92"/>
                </a:solidFill>
                <a:latin typeface="Malgun Gothic" pitchFamily="34" charset="0"/>
                <a:ea typeface="Malgun Gothic" pitchFamily="34" charset="-122"/>
                <a:cs typeface="Malgun Gothic" pitchFamily="34" charset="-120"/>
              </a:rPr>
              <a:t>OpenDART 8분기 손익·수익성 추이</a:t>
            </a:r>
            <a:endParaRPr lang="en-US" sz="1000" dirty="0"/>
          </a:p>
        </p:txBody>
      </p:sp>
      <p:sp>
        <p:nvSpPr>
          <p:cNvPr id="19" name="Shape 15"/>
          <p:cNvSpPr/>
          <p:nvPr/>
        </p:nvSpPr>
        <p:spPr>
          <a:xfrm>
            <a:off x="1625876" y="4736592"/>
            <a:ext cx="3313639" cy="1298448"/>
          </a:xfrm>
          <a:prstGeom prst="rect">
            <a:avLst/>
          </a:prstGeom>
          <a:solidFill>
            <a:srgbClr val="F1F6FA"/>
          </a:solidFill>
          <a:ln w="9525">
            <a:solidFill>
              <a:srgbClr val="DCE7F1"/>
            </a:solidFill>
            <a:prstDash val="solid"/>
          </a:ln>
        </p:spPr>
      </p:sp>
      <p:pic>
        <p:nvPicPr>
          <p:cNvPr id="20" name="Image 2" descr="C:\Users\POSCOFUTUREM\AppData\Local\Temp\claude\C--Users-POSCOFUTUREM-Desktop-FUTURE-M-RADAR\03eb9f10-e059-4022-9426-4bcf8a16f4d4\scratchpad\assets\finance.png">    </p:cNvPr>
          <p:cNvPicPr>
            <a:picLocks noChangeAspect="1"/>
          </p:cNvPicPr>
          <p:nvPr/>
        </p:nvPicPr>
        <p:blipFill>
          <a:blip r:embed="rId3"/>
          <a:stretch>
            <a:fillRect/>
          </a:stretch>
        </p:blipFill>
        <p:spPr>
          <a:xfrm>
            <a:off x="1625876" y="4736592"/>
            <a:ext cx="3313639" cy="1298448"/>
          </a:xfrm>
          <a:prstGeom prst="rect">
            <a:avLst/>
          </a:prstGeom>
        </p:spPr>
      </p:pic>
      <p:sp>
        <p:nvSpPr>
          <p:cNvPr id="21" name="Shape 16"/>
          <p:cNvSpPr/>
          <p:nvPr/>
        </p:nvSpPr>
        <p:spPr>
          <a:xfrm>
            <a:off x="6190488" y="4078224"/>
            <a:ext cx="5431536" cy="2084832"/>
          </a:xfrm>
          <a:prstGeom prst="roundRect">
            <a:avLst>
              <a:gd name="adj" fmla="val 2412"/>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22" name="Text 17"/>
          <p:cNvSpPr txBox="1"/>
          <p:nvPr/>
        </p:nvSpPr>
        <p:spPr>
          <a:xfrm>
            <a:off x="6428232" y="4206240"/>
            <a:ext cx="3108960" cy="237744"/>
          </a:xfrm>
          <a:prstGeom prst="rect">
            <a:avLst/>
          </a:prstGeom>
          <a:noFill/>
          <a:ln/>
        </p:spPr>
        <p:txBody>
          <a:bodyPr wrap="square" lIns="0" tIns="0" rIns="0" bIns="0" rtlCol="0" anchor="t"/>
          <a:lstStyle/>
          <a:p>
            <a:pPr indent="0" marL="0">
              <a:buNone/>
            </a:pPr>
            <a:r>
              <a:rPr lang="en-US" sz="1250" b="1" dirty="0">
                <a:solidFill>
                  <a:srgbClr val="07203C"/>
                </a:solidFill>
                <a:latin typeface="Malgun Gothic" pitchFamily="34" charset="0"/>
                <a:ea typeface="Malgun Gothic" pitchFamily="34" charset="-122"/>
                <a:cs typeface="Malgun Gothic" pitchFamily="34" charset="-120"/>
              </a:rPr>
              <a:t>경쟁사 주가 비교</a:t>
            </a:r>
            <a:endParaRPr lang="en-US" sz="1250" dirty="0"/>
          </a:p>
        </p:txBody>
      </p:sp>
      <p:sp>
        <p:nvSpPr>
          <p:cNvPr id="23" name="Text 18"/>
          <p:cNvSpPr txBox="1"/>
          <p:nvPr/>
        </p:nvSpPr>
        <p:spPr>
          <a:xfrm>
            <a:off x="6428232" y="4462272"/>
            <a:ext cx="4937760" cy="219456"/>
          </a:xfrm>
          <a:prstGeom prst="rect">
            <a:avLst/>
          </a:prstGeom>
          <a:noFill/>
          <a:ln/>
        </p:spPr>
        <p:txBody>
          <a:bodyPr wrap="square" lIns="0" tIns="0" rIns="0" bIns="0" rtlCol="0" anchor="t"/>
          <a:lstStyle/>
          <a:p>
            <a:pPr indent="0" marL="0">
              <a:buNone/>
            </a:pPr>
            <a:r>
              <a:rPr lang="en-US" sz="1000" dirty="0">
                <a:solidFill>
                  <a:srgbClr val="6B7F92"/>
                </a:solidFill>
                <a:latin typeface="Malgun Gothic" pitchFamily="34" charset="0"/>
                <a:ea typeface="Malgun Gothic" pitchFamily="34" charset="-122"/>
                <a:cs typeface="Malgun Gothic" pitchFamily="34" charset="-120"/>
              </a:rPr>
              <a:t>시작일 100 기준 상대수익률과 순위</a:t>
            </a:r>
            <a:endParaRPr lang="en-US" sz="1000" dirty="0"/>
          </a:p>
        </p:txBody>
      </p:sp>
      <p:sp>
        <p:nvSpPr>
          <p:cNvPr id="24" name="Shape 19"/>
          <p:cNvSpPr/>
          <p:nvPr/>
        </p:nvSpPr>
        <p:spPr>
          <a:xfrm>
            <a:off x="6596966" y="4736592"/>
            <a:ext cx="4618580" cy="1298448"/>
          </a:xfrm>
          <a:prstGeom prst="rect">
            <a:avLst/>
          </a:prstGeom>
          <a:solidFill>
            <a:srgbClr val="F1F6FA"/>
          </a:solidFill>
          <a:ln w="9525">
            <a:solidFill>
              <a:srgbClr val="DCE7F1"/>
            </a:solidFill>
            <a:prstDash val="solid"/>
          </a:ln>
        </p:spPr>
      </p:sp>
      <p:pic>
        <p:nvPicPr>
          <p:cNvPr id="25" name="Image 3" descr="C:\Users\POSCOFUTUREM\AppData\Local\Temp\claude\C--Users-POSCOFUTUREM-Desktop-FUTURE-M-RADAR\03eb9f10-e059-4022-9426-4bcf8a16f4d4\scratchpad\assets\stock.png">    </p:cNvPr>
          <p:cNvPicPr>
            <a:picLocks noChangeAspect="1"/>
          </p:cNvPicPr>
          <p:nvPr/>
        </p:nvPicPr>
        <p:blipFill>
          <a:blip r:embed="rId4"/>
          <a:stretch>
            <a:fillRect/>
          </a:stretch>
        </p:blipFill>
        <p:spPr>
          <a:xfrm>
            <a:off x="6596966" y="4736592"/>
            <a:ext cx="4618580" cy="129844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6FA"/>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37744"/>
          </a:xfrm>
          <a:prstGeom prst="rect">
            <a:avLst/>
          </a:prstGeom>
          <a:noFill/>
          <a:ln/>
        </p:spPr>
        <p:txBody>
          <a:bodyPr wrap="square" lIns="0" tIns="0" rIns="0" bIns="0" rtlCol="0" anchor="t"/>
          <a:lstStyle/>
          <a:p>
            <a:pPr indent="0" marL="0">
              <a:buNone/>
            </a:pPr>
            <a:r>
              <a:rPr lang="en-US" sz="1100" b="1" spc="110" kern="0" dirty="0">
                <a:solidFill>
                  <a:srgbClr val="0E8477"/>
                </a:solidFill>
                <a:latin typeface="Malgun Gothic" pitchFamily="34" charset="0"/>
                <a:ea typeface="Malgun Gothic" pitchFamily="34" charset="-122"/>
                <a:cs typeface="Malgun Gothic" pitchFamily="34" charset="-120"/>
              </a:rPr>
              <a:t>03  RESULT  ·  기대 효과</a:t>
            </a:r>
            <a:endParaRPr lang="en-US" sz="1100" dirty="0"/>
          </a:p>
        </p:txBody>
      </p:sp>
      <p:sp>
        <p:nvSpPr>
          <p:cNvPr id="3" name="Text 1"/>
          <p:cNvSpPr txBox="1"/>
          <p:nvPr/>
        </p:nvSpPr>
        <p:spPr>
          <a:xfrm>
            <a:off x="566928" y="713232"/>
            <a:ext cx="11057839" cy="566928"/>
          </a:xfrm>
          <a:prstGeom prst="rect">
            <a:avLst/>
          </a:prstGeom>
          <a:noFill/>
          <a:ln/>
        </p:spPr>
        <p:txBody>
          <a:bodyPr wrap="square" lIns="0" tIns="0" rIns="0" bIns="0" rtlCol="0" anchor="t"/>
          <a:lstStyle/>
          <a:p>
            <a:pPr indent="0" marL="0">
              <a:buNone/>
            </a:pPr>
            <a:r>
              <a:rPr lang="en-US" sz="3200" b="1" dirty="0">
                <a:solidFill>
                  <a:srgbClr val="07203C"/>
                </a:solidFill>
                <a:latin typeface="Malgun Gothic" pitchFamily="34" charset="0"/>
                <a:ea typeface="Malgun Gothic" pitchFamily="34" charset="-122"/>
                <a:cs typeface="Malgun Gothic" pitchFamily="34" charset="-120"/>
              </a:rPr>
              <a:t>기대 효과 — 정량과 정성</a:t>
            </a:r>
            <a:endParaRPr lang="en-US" sz="3200" dirty="0"/>
          </a:p>
        </p:txBody>
      </p:sp>
      <p:sp>
        <p:nvSpPr>
          <p:cNvPr id="4" name="Text 2"/>
          <p:cNvSpPr txBox="1"/>
          <p:nvPr/>
        </p:nvSpPr>
        <p:spPr>
          <a:xfrm>
            <a:off x="8332927" y="6437376"/>
            <a:ext cx="3291840" cy="219456"/>
          </a:xfrm>
          <a:prstGeom prst="rect">
            <a:avLst/>
          </a:prstGeom>
          <a:noFill/>
          <a:ln/>
        </p:spPr>
        <p:txBody>
          <a:bodyPr wrap="square" lIns="0" tIns="0" rIns="0" bIns="0" rtlCol="0" anchor="t"/>
          <a:lstStyle/>
          <a:p>
            <a:pPr algn="r" indent="0" marL="0">
              <a:buNone/>
            </a:pPr>
            <a:r>
              <a:rPr lang="en-US" sz="950" spc="60" kern="0" dirty="0">
                <a:solidFill>
                  <a:srgbClr val="8A9BAB"/>
                </a:solidFill>
                <a:latin typeface="Malgun Gothic" pitchFamily="34" charset="0"/>
                <a:ea typeface="Malgun Gothic" pitchFamily="34" charset="-122"/>
                <a:cs typeface="Malgun Gothic" pitchFamily="34" charset="-120"/>
              </a:rPr>
              <a:t>14 / 16     FUTURE:M RADAR</a:t>
            </a:r>
            <a:endParaRPr lang="en-US" sz="950" dirty="0"/>
          </a:p>
        </p:txBody>
      </p:sp>
      <p:sp>
        <p:nvSpPr>
          <p:cNvPr id="5" name="Shape 3"/>
          <p:cNvSpPr/>
          <p:nvPr/>
        </p:nvSpPr>
        <p:spPr>
          <a:xfrm>
            <a:off x="566928" y="1737360"/>
            <a:ext cx="5431536" cy="3986784"/>
          </a:xfrm>
          <a:prstGeom prst="roundRect">
            <a:avLst>
              <a:gd name="adj" fmla="val 1261"/>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6" name="Text 4"/>
          <p:cNvSpPr txBox="1"/>
          <p:nvPr/>
        </p:nvSpPr>
        <p:spPr>
          <a:xfrm>
            <a:off x="859536" y="1956816"/>
            <a:ext cx="2743200" cy="274320"/>
          </a:xfrm>
          <a:prstGeom prst="rect">
            <a:avLst/>
          </a:prstGeom>
          <a:noFill/>
          <a:ln/>
        </p:spPr>
        <p:txBody>
          <a:bodyPr wrap="square" lIns="0" tIns="0" rIns="0" bIns="0" rtlCol="0" anchor="t"/>
          <a:lstStyle/>
          <a:p>
            <a:pPr indent="0" marL="0">
              <a:buNone/>
            </a:pPr>
            <a:r>
              <a:rPr lang="en-US" sz="1500" b="1" dirty="0">
                <a:solidFill>
                  <a:srgbClr val="07203C"/>
                </a:solidFill>
                <a:latin typeface="Malgun Gothic" pitchFamily="34" charset="0"/>
                <a:ea typeface="Malgun Gothic" pitchFamily="34" charset="-122"/>
                <a:cs typeface="Malgun Gothic" pitchFamily="34" charset="-120"/>
              </a:rPr>
              <a:t>정량적 효과</a:t>
            </a:r>
            <a:endParaRPr lang="en-US" sz="1500" dirty="0"/>
          </a:p>
        </p:txBody>
      </p:sp>
      <p:sp>
        <p:nvSpPr>
          <p:cNvPr id="7" name="Shape 5"/>
          <p:cNvSpPr/>
          <p:nvPr/>
        </p:nvSpPr>
        <p:spPr>
          <a:xfrm>
            <a:off x="859536" y="2340864"/>
            <a:ext cx="4846320" cy="713232"/>
          </a:xfrm>
          <a:prstGeom prst="roundRect">
            <a:avLst>
              <a:gd name="adj" fmla="val 7051"/>
            </a:avLst>
          </a:prstGeom>
          <a:solidFill>
            <a:srgbClr val="F1F6FA"/>
          </a:solidFill>
          <a:ln w="9525">
            <a:solidFill>
              <a:srgbClr val="DCE7F1"/>
            </a:solidFill>
            <a:prstDash val="solid"/>
          </a:ln>
        </p:spPr>
      </p:sp>
      <p:sp>
        <p:nvSpPr>
          <p:cNvPr id="8" name="Text 6"/>
          <p:cNvSpPr txBox="1"/>
          <p:nvPr/>
        </p:nvSpPr>
        <p:spPr>
          <a:xfrm>
            <a:off x="1042416" y="2441448"/>
            <a:ext cx="1645920" cy="237744"/>
          </a:xfrm>
          <a:prstGeom prst="rect">
            <a:avLst/>
          </a:prstGeom>
          <a:noFill/>
          <a:ln/>
        </p:spPr>
        <p:txBody>
          <a:bodyPr wrap="square" lIns="0" tIns="0" rIns="0" bIns="0" rtlCol="0" anchor="t"/>
          <a:lstStyle/>
          <a:p>
            <a:pPr indent="0" marL="0">
              <a:buNone/>
            </a:pPr>
            <a:r>
              <a:rPr lang="en-US" sz="1100" b="1" dirty="0">
                <a:solidFill>
                  <a:srgbClr val="6B7F92"/>
                </a:solidFill>
                <a:latin typeface="Malgun Gothic" pitchFamily="34" charset="0"/>
                <a:ea typeface="Malgun Gothic" pitchFamily="34" charset="-122"/>
                <a:cs typeface="Malgun Gothic" pitchFamily="34" charset="-120"/>
              </a:rPr>
              <a:t>확인 대상 건수</a:t>
            </a:r>
            <a:endParaRPr lang="en-US" sz="1100" dirty="0"/>
          </a:p>
        </p:txBody>
      </p:sp>
      <p:sp>
        <p:nvSpPr>
          <p:cNvPr id="9" name="Text 7"/>
          <p:cNvSpPr txBox="1"/>
          <p:nvPr/>
        </p:nvSpPr>
        <p:spPr>
          <a:xfrm>
            <a:off x="2688336" y="2395728"/>
            <a:ext cx="859536" cy="310896"/>
          </a:xfrm>
          <a:prstGeom prst="rect">
            <a:avLst/>
          </a:prstGeom>
          <a:noFill/>
          <a:ln/>
        </p:spPr>
        <p:txBody>
          <a:bodyPr wrap="square" lIns="0" tIns="0" rIns="0" bIns="0" rtlCol="0" anchor="t"/>
          <a:lstStyle/>
          <a:p>
            <a:pPr algn="r" indent="0" marL="0">
              <a:buNone/>
            </a:pPr>
            <a:r>
              <a:rPr lang="en-US" sz="1500" b="1" dirty="0">
                <a:solidFill>
                  <a:srgbClr val="8A9BAB"/>
                </a:solidFill>
                <a:latin typeface="Malgun Gothic" pitchFamily="34" charset="0"/>
                <a:ea typeface="Malgun Gothic" pitchFamily="34" charset="-122"/>
                <a:cs typeface="Malgun Gothic" pitchFamily="34" charset="-120"/>
              </a:rPr>
              <a:t>40건</a:t>
            </a:r>
            <a:endParaRPr lang="en-US" sz="1500" dirty="0"/>
          </a:p>
        </p:txBody>
      </p:sp>
      <p:sp>
        <p:nvSpPr>
          <p:cNvPr id="10" name="Text 8"/>
          <p:cNvSpPr txBox="1"/>
          <p:nvPr/>
        </p:nvSpPr>
        <p:spPr>
          <a:xfrm>
            <a:off x="3584448" y="2432304"/>
            <a:ext cx="347472" cy="274320"/>
          </a:xfrm>
          <a:prstGeom prst="rect">
            <a:avLst/>
          </a:prstGeom>
          <a:noFill/>
          <a:ln/>
        </p:spPr>
        <p:txBody>
          <a:bodyPr wrap="square" lIns="0" tIns="0" rIns="0" bIns="0" rtlCol="0" anchor="t"/>
          <a:lstStyle/>
          <a:p>
            <a:pPr algn="ctr" indent="0" marL="0">
              <a:buNone/>
            </a:pPr>
            <a:r>
              <a:rPr lang="en-US" sz="1400" b="1" dirty="0">
                <a:solidFill>
                  <a:srgbClr val="17B7A6"/>
                </a:solidFill>
                <a:latin typeface="Malgun Gothic" pitchFamily="34" charset="0"/>
                <a:ea typeface="Malgun Gothic" pitchFamily="34" charset="-122"/>
                <a:cs typeface="Malgun Gothic" pitchFamily="34" charset="-120"/>
              </a:rPr>
              <a:t>→</a:t>
            </a:r>
            <a:endParaRPr lang="en-US" sz="1400" dirty="0"/>
          </a:p>
        </p:txBody>
      </p:sp>
      <p:sp>
        <p:nvSpPr>
          <p:cNvPr id="11" name="Text 9"/>
          <p:cNvSpPr txBox="1"/>
          <p:nvPr/>
        </p:nvSpPr>
        <p:spPr>
          <a:xfrm>
            <a:off x="3968496" y="2377440"/>
            <a:ext cx="1005840" cy="329184"/>
          </a:xfrm>
          <a:prstGeom prst="rect">
            <a:avLst/>
          </a:prstGeom>
          <a:noFill/>
          <a:ln/>
        </p:spPr>
        <p:txBody>
          <a:bodyPr wrap="square" lIns="0" tIns="0" rIns="0" bIns="0" rtlCol="0" anchor="t"/>
          <a:lstStyle/>
          <a:p>
            <a:pPr indent="0" marL="0">
              <a:buNone/>
            </a:pPr>
            <a:r>
              <a:rPr lang="en-US" sz="1700" b="1" dirty="0">
                <a:solidFill>
                  <a:srgbClr val="0E8477"/>
                </a:solidFill>
                <a:latin typeface="Malgun Gothic" pitchFamily="34" charset="0"/>
                <a:ea typeface="Malgun Gothic" pitchFamily="34" charset="-122"/>
                <a:cs typeface="Malgun Gothic" pitchFamily="34" charset="-120"/>
              </a:rPr>
              <a:t>3건</a:t>
            </a:r>
            <a:endParaRPr lang="en-US" sz="1700" dirty="0"/>
          </a:p>
        </p:txBody>
      </p:sp>
      <p:sp>
        <p:nvSpPr>
          <p:cNvPr id="12" name="Text 10"/>
          <p:cNvSpPr txBox="1"/>
          <p:nvPr/>
        </p:nvSpPr>
        <p:spPr>
          <a:xfrm>
            <a:off x="1042416" y="2752344"/>
            <a:ext cx="4535424" cy="256032"/>
          </a:xfrm>
          <a:prstGeom prst="rect">
            <a:avLst/>
          </a:prstGeom>
          <a:noFill/>
          <a:ln/>
        </p:spPr>
        <p:txBody>
          <a:bodyPr wrap="square" lIns="0" tIns="0" rIns="0" bIns="0" rtlCol="0" anchor="t"/>
          <a:lstStyle/>
          <a:p>
            <a:pPr indent="0" marL="0">
              <a:buNone/>
            </a:pPr>
            <a:r>
              <a:rPr lang="en-US" sz="950" dirty="0">
                <a:solidFill>
                  <a:srgbClr val="6B7F92"/>
                </a:solidFill>
                <a:latin typeface="Malgun Gothic" pitchFamily="34" charset="0"/>
                <a:ea typeface="Malgun Gothic" pitchFamily="34" charset="-122"/>
                <a:cs typeface="Malgun Gothic" pitchFamily="34" charset="-120"/>
              </a:rPr>
              <a:t>AI 데일리 브리핑이 기업 중복을 피해 상위 3건 자동 선별</a:t>
            </a:r>
            <a:endParaRPr lang="en-US" sz="950" dirty="0"/>
          </a:p>
        </p:txBody>
      </p:sp>
      <p:sp>
        <p:nvSpPr>
          <p:cNvPr id="13" name="Shape 11"/>
          <p:cNvSpPr/>
          <p:nvPr/>
        </p:nvSpPr>
        <p:spPr>
          <a:xfrm>
            <a:off x="859536" y="3163824"/>
            <a:ext cx="4846320" cy="713232"/>
          </a:xfrm>
          <a:prstGeom prst="roundRect">
            <a:avLst>
              <a:gd name="adj" fmla="val 7051"/>
            </a:avLst>
          </a:prstGeom>
          <a:solidFill>
            <a:srgbClr val="F1F6FA"/>
          </a:solidFill>
          <a:ln w="9525">
            <a:solidFill>
              <a:srgbClr val="DCE7F1"/>
            </a:solidFill>
            <a:prstDash val="solid"/>
          </a:ln>
        </p:spPr>
      </p:sp>
      <p:sp>
        <p:nvSpPr>
          <p:cNvPr id="14" name="Text 12"/>
          <p:cNvSpPr txBox="1"/>
          <p:nvPr/>
        </p:nvSpPr>
        <p:spPr>
          <a:xfrm>
            <a:off x="1042416" y="3264408"/>
            <a:ext cx="1645920" cy="237744"/>
          </a:xfrm>
          <a:prstGeom prst="rect">
            <a:avLst/>
          </a:prstGeom>
          <a:noFill/>
          <a:ln/>
        </p:spPr>
        <p:txBody>
          <a:bodyPr wrap="square" lIns="0" tIns="0" rIns="0" bIns="0" rtlCol="0" anchor="t"/>
          <a:lstStyle/>
          <a:p>
            <a:pPr indent="0" marL="0">
              <a:buNone/>
            </a:pPr>
            <a:r>
              <a:rPr lang="en-US" sz="1100" b="1" dirty="0">
                <a:solidFill>
                  <a:srgbClr val="6B7F92"/>
                </a:solidFill>
                <a:latin typeface="Malgun Gothic" pitchFamily="34" charset="0"/>
                <a:ea typeface="Malgun Gothic" pitchFamily="34" charset="-122"/>
                <a:cs typeface="Malgun Gothic" pitchFamily="34" charset="-120"/>
              </a:rPr>
              <a:t>중요 공시 인지</a:t>
            </a:r>
            <a:endParaRPr lang="en-US" sz="1100" dirty="0"/>
          </a:p>
        </p:txBody>
      </p:sp>
      <p:sp>
        <p:nvSpPr>
          <p:cNvPr id="15" name="Text 13"/>
          <p:cNvSpPr txBox="1"/>
          <p:nvPr/>
        </p:nvSpPr>
        <p:spPr>
          <a:xfrm>
            <a:off x="2688336" y="3218688"/>
            <a:ext cx="859536" cy="310896"/>
          </a:xfrm>
          <a:prstGeom prst="rect">
            <a:avLst/>
          </a:prstGeom>
          <a:noFill/>
          <a:ln/>
        </p:spPr>
        <p:txBody>
          <a:bodyPr wrap="square" lIns="0" tIns="0" rIns="0" bIns="0" rtlCol="0" anchor="t"/>
          <a:lstStyle/>
          <a:p>
            <a:pPr algn="r" indent="0" marL="0">
              <a:buNone/>
            </a:pPr>
            <a:r>
              <a:rPr lang="en-US" sz="1500" b="1" dirty="0">
                <a:solidFill>
                  <a:srgbClr val="8A9BAB"/>
                </a:solidFill>
                <a:latin typeface="Malgun Gothic" pitchFamily="34" charset="0"/>
                <a:ea typeface="Malgun Gothic" pitchFamily="34" charset="-122"/>
                <a:cs typeface="Malgun Gothic" pitchFamily="34" charset="-120"/>
              </a:rPr>
              <a:t>1일</a:t>
            </a:r>
            <a:endParaRPr lang="en-US" sz="1500" dirty="0"/>
          </a:p>
        </p:txBody>
      </p:sp>
      <p:sp>
        <p:nvSpPr>
          <p:cNvPr id="16" name="Text 14"/>
          <p:cNvSpPr txBox="1"/>
          <p:nvPr/>
        </p:nvSpPr>
        <p:spPr>
          <a:xfrm>
            <a:off x="3584448" y="3255264"/>
            <a:ext cx="347472" cy="274320"/>
          </a:xfrm>
          <a:prstGeom prst="rect">
            <a:avLst/>
          </a:prstGeom>
          <a:noFill/>
          <a:ln/>
        </p:spPr>
        <p:txBody>
          <a:bodyPr wrap="square" lIns="0" tIns="0" rIns="0" bIns="0" rtlCol="0" anchor="t"/>
          <a:lstStyle/>
          <a:p>
            <a:pPr algn="ctr" indent="0" marL="0">
              <a:buNone/>
            </a:pPr>
            <a:r>
              <a:rPr lang="en-US" sz="1400" b="1" dirty="0">
                <a:solidFill>
                  <a:srgbClr val="17B7A6"/>
                </a:solidFill>
                <a:latin typeface="Malgun Gothic" pitchFamily="34" charset="0"/>
                <a:ea typeface="Malgun Gothic" pitchFamily="34" charset="-122"/>
                <a:cs typeface="Malgun Gothic" pitchFamily="34" charset="-120"/>
              </a:rPr>
              <a:t>→</a:t>
            </a:r>
            <a:endParaRPr lang="en-US" sz="1400" dirty="0"/>
          </a:p>
        </p:txBody>
      </p:sp>
      <p:sp>
        <p:nvSpPr>
          <p:cNvPr id="17" name="Text 15"/>
          <p:cNvSpPr txBox="1"/>
          <p:nvPr/>
        </p:nvSpPr>
        <p:spPr>
          <a:xfrm>
            <a:off x="3968496" y="3200400"/>
            <a:ext cx="1005840" cy="329184"/>
          </a:xfrm>
          <a:prstGeom prst="rect">
            <a:avLst/>
          </a:prstGeom>
          <a:noFill/>
          <a:ln/>
        </p:spPr>
        <p:txBody>
          <a:bodyPr wrap="square" lIns="0" tIns="0" rIns="0" bIns="0" rtlCol="0" anchor="t"/>
          <a:lstStyle/>
          <a:p>
            <a:pPr indent="0" marL="0">
              <a:buNone/>
            </a:pPr>
            <a:r>
              <a:rPr lang="en-US" sz="1700" b="1" dirty="0">
                <a:solidFill>
                  <a:srgbClr val="0E8477"/>
                </a:solidFill>
                <a:latin typeface="Malgun Gothic" pitchFamily="34" charset="0"/>
                <a:ea typeface="Malgun Gothic" pitchFamily="34" charset="-122"/>
                <a:cs typeface="Malgun Gothic" pitchFamily="34" charset="-120"/>
              </a:rPr>
              <a:t>5분</a:t>
            </a:r>
            <a:endParaRPr lang="en-US" sz="1700" dirty="0"/>
          </a:p>
        </p:txBody>
      </p:sp>
      <p:sp>
        <p:nvSpPr>
          <p:cNvPr id="18" name="Text 16"/>
          <p:cNvSpPr txBox="1"/>
          <p:nvPr/>
        </p:nvSpPr>
        <p:spPr>
          <a:xfrm>
            <a:off x="1042416" y="3575304"/>
            <a:ext cx="4535424" cy="256032"/>
          </a:xfrm>
          <a:prstGeom prst="rect">
            <a:avLst/>
          </a:prstGeom>
          <a:noFill/>
          <a:ln/>
        </p:spPr>
        <p:txBody>
          <a:bodyPr wrap="square" lIns="0" tIns="0" rIns="0" bIns="0" rtlCol="0" anchor="t"/>
          <a:lstStyle/>
          <a:p>
            <a:pPr indent="0" marL="0">
              <a:buNone/>
            </a:pPr>
            <a:r>
              <a:rPr lang="en-US" sz="950" dirty="0">
                <a:solidFill>
                  <a:srgbClr val="6B7F92"/>
                </a:solidFill>
                <a:latin typeface="Malgun Gothic" pitchFamily="34" charset="0"/>
                <a:ea typeface="Malgun Gothic" pitchFamily="34" charset="-122"/>
                <a:cs typeface="Malgun Gothic" pitchFamily="34" charset="-120"/>
              </a:rPr>
              <a:t>백그라운드 스캔 주기 기준</a:t>
            </a:r>
            <a:endParaRPr lang="en-US" sz="950" dirty="0"/>
          </a:p>
        </p:txBody>
      </p:sp>
      <p:sp>
        <p:nvSpPr>
          <p:cNvPr id="19" name="Shape 17"/>
          <p:cNvSpPr/>
          <p:nvPr/>
        </p:nvSpPr>
        <p:spPr>
          <a:xfrm>
            <a:off x="859536" y="3986784"/>
            <a:ext cx="4846320" cy="713232"/>
          </a:xfrm>
          <a:prstGeom prst="roundRect">
            <a:avLst>
              <a:gd name="adj" fmla="val 7051"/>
            </a:avLst>
          </a:prstGeom>
          <a:solidFill>
            <a:srgbClr val="F1F6FA"/>
          </a:solidFill>
          <a:ln w="9525">
            <a:solidFill>
              <a:srgbClr val="DCE7F1"/>
            </a:solidFill>
            <a:prstDash val="solid"/>
          </a:ln>
        </p:spPr>
      </p:sp>
      <p:sp>
        <p:nvSpPr>
          <p:cNvPr id="20" name="Text 18"/>
          <p:cNvSpPr txBox="1"/>
          <p:nvPr/>
        </p:nvSpPr>
        <p:spPr>
          <a:xfrm>
            <a:off x="1042416" y="4087368"/>
            <a:ext cx="1645920" cy="237744"/>
          </a:xfrm>
          <a:prstGeom prst="rect">
            <a:avLst/>
          </a:prstGeom>
          <a:noFill/>
          <a:ln/>
        </p:spPr>
        <p:txBody>
          <a:bodyPr wrap="square" lIns="0" tIns="0" rIns="0" bIns="0" rtlCol="0" anchor="t"/>
          <a:lstStyle/>
          <a:p>
            <a:pPr indent="0" marL="0">
              <a:buNone/>
            </a:pPr>
            <a:r>
              <a:rPr lang="en-US" sz="1100" b="1" dirty="0">
                <a:solidFill>
                  <a:srgbClr val="6B7F92"/>
                </a:solidFill>
                <a:latin typeface="Malgun Gothic" pitchFamily="34" charset="0"/>
                <a:ea typeface="Malgun Gothic" pitchFamily="34" charset="-122"/>
                <a:cs typeface="Malgun Gothic" pitchFamily="34" charset="-120"/>
              </a:rPr>
              <a:t>9개사 수집 방식</a:t>
            </a:r>
            <a:endParaRPr lang="en-US" sz="1100" dirty="0"/>
          </a:p>
        </p:txBody>
      </p:sp>
      <p:sp>
        <p:nvSpPr>
          <p:cNvPr id="21" name="Text 19"/>
          <p:cNvSpPr txBox="1"/>
          <p:nvPr/>
        </p:nvSpPr>
        <p:spPr>
          <a:xfrm>
            <a:off x="2688336" y="4041648"/>
            <a:ext cx="859536" cy="310896"/>
          </a:xfrm>
          <a:prstGeom prst="rect">
            <a:avLst/>
          </a:prstGeom>
          <a:noFill/>
          <a:ln/>
        </p:spPr>
        <p:txBody>
          <a:bodyPr wrap="square" lIns="0" tIns="0" rIns="0" bIns="0" rtlCol="0" anchor="t"/>
          <a:lstStyle/>
          <a:p>
            <a:pPr algn="r" indent="0" marL="0">
              <a:buNone/>
            </a:pPr>
            <a:r>
              <a:rPr lang="en-US" sz="1500" b="1" dirty="0">
                <a:solidFill>
                  <a:srgbClr val="8A9BAB"/>
                </a:solidFill>
                <a:latin typeface="Malgun Gothic" pitchFamily="34" charset="0"/>
                <a:ea typeface="Malgun Gothic" pitchFamily="34" charset="-122"/>
                <a:cs typeface="Malgun Gothic" pitchFamily="34" charset="-120"/>
              </a:rPr>
              <a:t>순차</a:t>
            </a:r>
            <a:endParaRPr lang="en-US" sz="1500" dirty="0"/>
          </a:p>
        </p:txBody>
      </p:sp>
      <p:sp>
        <p:nvSpPr>
          <p:cNvPr id="22" name="Text 20"/>
          <p:cNvSpPr txBox="1"/>
          <p:nvPr/>
        </p:nvSpPr>
        <p:spPr>
          <a:xfrm>
            <a:off x="3584448" y="4078224"/>
            <a:ext cx="347472" cy="274320"/>
          </a:xfrm>
          <a:prstGeom prst="rect">
            <a:avLst/>
          </a:prstGeom>
          <a:noFill/>
          <a:ln/>
        </p:spPr>
        <p:txBody>
          <a:bodyPr wrap="square" lIns="0" tIns="0" rIns="0" bIns="0" rtlCol="0" anchor="t"/>
          <a:lstStyle/>
          <a:p>
            <a:pPr algn="ctr" indent="0" marL="0">
              <a:buNone/>
            </a:pPr>
            <a:r>
              <a:rPr lang="en-US" sz="1400" b="1" dirty="0">
                <a:solidFill>
                  <a:srgbClr val="17B7A6"/>
                </a:solidFill>
                <a:latin typeface="Malgun Gothic" pitchFamily="34" charset="0"/>
                <a:ea typeface="Malgun Gothic" pitchFamily="34" charset="-122"/>
                <a:cs typeface="Malgun Gothic" pitchFamily="34" charset="-120"/>
              </a:rPr>
              <a:t>→</a:t>
            </a:r>
            <a:endParaRPr lang="en-US" sz="1400" dirty="0"/>
          </a:p>
        </p:txBody>
      </p:sp>
      <p:sp>
        <p:nvSpPr>
          <p:cNvPr id="23" name="Text 21"/>
          <p:cNvSpPr txBox="1"/>
          <p:nvPr/>
        </p:nvSpPr>
        <p:spPr>
          <a:xfrm>
            <a:off x="3968496" y="4023360"/>
            <a:ext cx="1005840" cy="329184"/>
          </a:xfrm>
          <a:prstGeom prst="rect">
            <a:avLst/>
          </a:prstGeom>
          <a:noFill/>
          <a:ln/>
        </p:spPr>
        <p:txBody>
          <a:bodyPr wrap="square" lIns="0" tIns="0" rIns="0" bIns="0" rtlCol="0" anchor="t"/>
          <a:lstStyle/>
          <a:p>
            <a:pPr indent="0" marL="0">
              <a:buNone/>
            </a:pPr>
            <a:r>
              <a:rPr lang="en-US" sz="1700" b="1" dirty="0">
                <a:solidFill>
                  <a:srgbClr val="0E8477"/>
                </a:solidFill>
                <a:latin typeface="Malgun Gothic" pitchFamily="34" charset="0"/>
                <a:ea typeface="Malgun Gothic" pitchFamily="34" charset="-122"/>
                <a:cs typeface="Malgun Gothic" pitchFamily="34" charset="-120"/>
              </a:rPr>
              <a:t>병렬</a:t>
            </a:r>
            <a:endParaRPr lang="en-US" sz="1700" dirty="0"/>
          </a:p>
        </p:txBody>
      </p:sp>
      <p:sp>
        <p:nvSpPr>
          <p:cNvPr id="24" name="Text 22"/>
          <p:cNvSpPr txBox="1"/>
          <p:nvPr/>
        </p:nvSpPr>
        <p:spPr>
          <a:xfrm>
            <a:off x="1042416" y="4398264"/>
            <a:ext cx="4535424" cy="256032"/>
          </a:xfrm>
          <a:prstGeom prst="rect">
            <a:avLst/>
          </a:prstGeom>
          <a:noFill/>
          <a:ln/>
        </p:spPr>
        <p:txBody>
          <a:bodyPr wrap="square" lIns="0" tIns="0" rIns="0" bIns="0" rtlCol="0" anchor="t"/>
          <a:lstStyle/>
          <a:p>
            <a:pPr indent="0" marL="0">
              <a:buNone/>
            </a:pPr>
            <a:r>
              <a:rPr lang="en-US" sz="950" dirty="0">
                <a:solidFill>
                  <a:srgbClr val="6B7F92"/>
                </a:solidFill>
                <a:latin typeface="Malgun Gothic" pitchFamily="34" charset="0"/>
                <a:ea typeface="Malgun Gothic" pitchFamily="34" charset="-122"/>
                <a:cs typeface="Malgun Gothic" pitchFamily="34" charset="-120"/>
              </a:rPr>
              <a:t>최대 18개 요청 동시 실행 (ThreadPoolExecutor)</a:t>
            </a:r>
            <a:endParaRPr lang="en-US" sz="950" dirty="0"/>
          </a:p>
        </p:txBody>
      </p:sp>
      <p:sp>
        <p:nvSpPr>
          <p:cNvPr id="25" name="Shape 23"/>
          <p:cNvSpPr/>
          <p:nvPr/>
        </p:nvSpPr>
        <p:spPr>
          <a:xfrm>
            <a:off x="859536" y="4809744"/>
            <a:ext cx="4846320" cy="713232"/>
          </a:xfrm>
          <a:prstGeom prst="roundRect">
            <a:avLst>
              <a:gd name="adj" fmla="val 7051"/>
            </a:avLst>
          </a:prstGeom>
          <a:solidFill>
            <a:srgbClr val="F1F6FA"/>
          </a:solidFill>
          <a:ln w="9525">
            <a:solidFill>
              <a:srgbClr val="DCE7F1"/>
            </a:solidFill>
            <a:prstDash val="solid"/>
          </a:ln>
        </p:spPr>
      </p:sp>
      <p:sp>
        <p:nvSpPr>
          <p:cNvPr id="26" name="Text 24"/>
          <p:cNvSpPr txBox="1"/>
          <p:nvPr/>
        </p:nvSpPr>
        <p:spPr>
          <a:xfrm>
            <a:off x="1042416" y="4910328"/>
            <a:ext cx="1645920" cy="237744"/>
          </a:xfrm>
          <a:prstGeom prst="rect">
            <a:avLst/>
          </a:prstGeom>
          <a:noFill/>
          <a:ln/>
        </p:spPr>
        <p:txBody>
          <a:bodyPr wrap="square" lIns="0" tIns="0" rIns="0" bIns="0" rtlCol="0" anchor="t"/>
          <a:lstStyle/>
          <a:p>
            <a:pPr indent="0" marL="0">
              <a:buNone/>
            </a:pPr>
            <a:r>
              <a:rPr lang="en-US" sz="1100" b="1" dirty="0">
                <a:solidFill>
                  <a:srgbClr val="6B7F92"/>
                </a:solidFill>
                <a:latin typeface="Malgun Gothic" pitchFamily="34" charset="0"/>
                <a:ea typeface="Malgun Gothic" pitchFamily="34" charset="-122"/>
                <a:cs typeface="Malgun Gothic" pitchFamily="34" charset="-120"/>
              </a:rPr>
              <a:t>수집·정리 소요</a:t>
            </a:r>
            <a:endParaRPr lang="en-US" sz="1100" dirty="0"/>
          </a:p>
        </p:txBody>
      </p:sp>
      <p:sp>
        <p:nvSpPr>
          <p:cNvPr id="27" name="Text 25"/>
          <p:cNvSpPr txBox="1"/>
          <p:nvPr/>
        </p:nvSpPr>
        <p:spPr>
          <a:xfrm>
            <a:off x="2688336" y="4864608"/>
            <a:ext cx="859536" cy="310896"/>
          </a:xfrm>
          <a:prstGeom prst="rect">
            <a:avLst/>
          </a:prstGeom>
          <a:noFill/>
          <a:ln/>
        </p:spPr>
        <p:txBody>
          <a:bodyPr wrap="square" lIns="0" tIns="0" rIns="0" bIns="0" rtlCol="0" anchor="t"/>
          <a:lstStyle/>
          <a:p>
            <a:pPr algn="r" indent="0" marL="0">
              <a:buNone/>
            </a:pPr>
            <a:r>
              <a:rPr lang="en-US" sz="1500" b="1" dirty="0">
                <a:solidFill>
                  <a:srgbClr val="8A9BAB"/>
                </a:solidFill>
                <a:latin typeface="Malgun Gothic" pitchFamily="34" charset="0"/>
                <a:ea typeface="Malgun Gothic" pitchFamily="34" charset="-122"/>
                <a:cs typeface="Malgun Gothic" pitchFamily="34" charset="-120"/>
              </a:rPr>
              <a:t>월 30h</a:t>
            </a:r>
            <a:endParaRPr lang="en-US" sz="1500" dirty="0"/>
          </a:p>
        </p:txBody>
      </p:sp>
      <p:sp>
        <p:nvSpPr>
          <p:cNvPr id="28" name="Text 26"/>
          <p:cNvSpPr txBox="1"/>
          <p:nvPr/>
        </p:nvSpPr>
        <p:spPr>
          <a:xfrm>
            <a:off x="3584448" y="4901184"/>
            <a:ext cx="347472" cy="274320"/>
          </a:xfrm>
          <a:prstGeom prst="rect">
            <a:avLst/>
          </a:prstGeom>
          <a:noFill/>
          <a:ln/>
        </p:spPr>
        <p:txBody>
          <a:bodyPr wrap="square" lIns="0" tIns="0" rIns="0" bIns="0" rtlCol="0" anchor="t"/>
          <a:lstStyle/>
          <a:p>
            <a:pPr algn="ctr" indent="0" marL="0">
              <a:buNone/>
            </a:pPr>
            <a:r>
              <a:rPr lang="en-US" sz="1400" b="1" dirty="0">
                <a:solidFill>
                  <a:srgbClr val="17B7A6"/>
                </a:solidFill>
                <a:latin typeface="Malgun Gothic" pitchFamily="34" charset="0"/>
                <a:ea typeface="Malgun Gothic" pitchFamily="34" charset="-122"/>
                <a:cs typeface="Malgun Gothic" pitchFamily="34" charset="-120"/>
              </a:rPr>
              <a:t>→</a:t>
            </a:r>
            <a:endParaRPr lang="en-US" sz="1400" dirty="0"/>
          </a:p>
        </p:txBody>
      </p:sp>
      <p:sp>
        <p:nvSpPr>
          <p:cNvPr id="29" name="Text 27"/>
          <p:cNvSpPr txBox="1"/>
          <p:nvPr/>
        </p:nvSpPr>
        <p:spPr>
          <a:xfrm>
            <a:off x="3968496" y="4846320"/>
            <a:ext cx="1005840" cy="329184"/>
          </a:xfrm>
          <a:prstGeom prst="rect">
            <a:avLst/>
          </a:prstGeom>
          <a:noFill/>
          <a:ln/>
        </p:spPr>
        <p:txBody>
          <a:bodyPr wrap="square" lIns="0" tIns="0" rIns="0" bIns="0" rtlCol="0" anchor="t"/>
          <a:lstStyle/>
          <a:p>
            <a:pPr indent="0" marL="0">
              <a:buNone/>
            </a:pPr>
            <a:r>
              <a:rPr lang="en-US" sz="1700" b="1" dirty="0">
                <a:solidFill>
                  <a:srgbClr val="0E8477"/>
                </a:solidFill>
                <a:latin typeface="Malgun Gothic" pitchFamily="34" charset="0"/>
                <a:ea typeface="Malgun Gothic" pitchFamily="34" charset="-122"/>
                <a:cs typeface="Malgun Gothic" pitchFamily="34" charset="-120"/>
              </a:rPr>
              <a:t>0h</a:t>
            </a:r>
            <a:endParaRPr lang="en-US" sz="1700" dirty="0"/>
          </a:p>
        </p:txBody>
      </p:sp>
      <p:sp>
        <p:nvSpPr>
          <p:cNvPr id="30" name="Text 28"/>
          <p:cNvSpPr txBox="1"/>
          <p:nvPr/>
        </p:nvSpPr>
        <p:spPr>
          <a:xfrm>
            <a:off x="1042416" y="5221224"/>
            <a:ext cx="4535424" cy="256032"/>
          </a:xfrm>
          <a:prstGeom prst="rect">
            <a:avLst/>
          </a:prstGeom>
          <a:noFill/>
          <a:ln/>
        </p:spPr>
        <p:txBody>
          <a:bodyPr wrap="square" lIns="0" tIns="0" rIns="0" bIns="0" rtlCol="0" anchor="t"/>
          <a:lstStyle/>
          <a:p>
            <a:pPr indent="0" marL="0">
              <a:buNone/>
            </a:pPr>
            <a:r>
              <a:rPr lang="en-US" sz="950" dirty="0">
                <a:solidFill>
                  <a:srgbClr val="6B7F92"/>
                </a:solidFill>
                <a:latin typeface="Malgun Gothic" pitchFamily="34" charset="0"/>
                <a:ea typeface="Malgun Gothic" pitchFamily="34" charset="-122"/>
                <a:cs typeface="Malgun Gothic" pitchFamily="34" charset="-120"/>
              </a:rPr>
              <a:t>수작업 기준 추정치 · 자동 수집으로 대체</a:t>
            </a:r>
            <a:endParaRPr lang="en-US" sz="950" dirty="0"/>
          </a:p>
        </p:txBody>
      </p:sp>
      <p:sp>
        <p:nvSpPr>
          <p:cNvPr id="31" name="Shape 29"/>
          <p:cNvSpPr/>
          <p:nvPr/>
        </p:nvSpPr>
        <p:spPr>
          <a:xfrm>
            <a:off x="6190488" y="1737360"/>
            <a:ext cx="5431536" cy="3986784"/>
          </a:xfrm>
          <a:prstGeom prst="roundRect">
            <a:avLst>
              <a:gd name="adj" fmla="val 1261"/>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32" name="Text 30"/>
          <p:cNvSpPr txBox="1"/>
          <p:nvPr/>
        </p:nvSpPr>
        <p:spPr>
          <a:xfrm>
            <a:off x="6483096" y="1956816"/>
            <a:ext cx="2743200" cy="274320"/>
          </a:xfrm>
          <a:prstGeom prst="rect">
            <a:avLst/>
          </a:prstGeom>
          <a:noFill/>
          <a:ln/>
        </p:spPr>
        <p:txBody>
          <a:bodyPr wrap="square" lIns="0" tIns="0" rIns="0" bIns="0" rtlCol="0" anchor="t"/>
          <a:lstStyle/>
          <a:p>
            <a:pPr indent="0" marL="0">
              <a:buNone/>
            </a:pPr>
            <a:r>
              <a:rPr lang="en-US" sz="1500" b="1" dirty="0">
                <a:solidFill>
                  <a:srgbClr val="07203C"/>
                </a:solidFill>
                <a:latin typeface="Malgun Gothic" pitchFamily="34" charset="0"/>
                <a:ea typeface="Malgun Gothic" pitchFamily="34" charset="-122"/>
                <a:cs typeface="Malgun Gothic" pitchFamily="34" charset="-120"/>
              </a:rPr>
              <a:t>정성적 효과</a:t>
            </a:r>
            <a:endParaRPr lang="en-US" sz="1500" dirty="0"/>
          </a:p>
        </p:txBody>
      </p:sp>
      <p:sp>
        <p:nvSpPr>
          <p:cNvPr id="33" name="Shape 31"/>
          <p:cNvSpPr/>
          <p:nvPr/>
        </p:nvSpPr>
        <p:spPr>
          <a:xfrm>
            <a:off x="6483096" y="2432304"/>
            <a:ext cx="256032" cy="256032"/>
          </a:xfrm>
          <a:prstGeom prst="ellipse">
            <a:avLst/>
          </a:prstGeom>
          <a:solidFill>
            <a:srgbClr val="17B7A6"/>
          </a:solidFill>
          <a:ln w="12700">
            <a:solidFill>
              <a:srgbClr val="17B7A6"/>
            </a:solidFill>
            <a:prstDash val="solid"/>
          </a:ln>
        </p:spPr>
      </p:sp>
      <p:sp>
        <p:nvSpPr>
          <p:cNvPr id="34" name="Text 32"/>
          <p:cNvSpPr txBox="1"/>
          <p:nvPr/>
        </p:nvSpPr>
        <p:spPr>
          <a:xfrm>
            <a:off x="6867144" y="2414016"/>
            <a:ext cx="4572000" cy="256032"/>
          </a:xfrm>
          <a:prstGeom prst="rect">
            <a:avLst/>
          </a:prstGeom>
          <a:noFill/>
          <a:ln/>
        </p:spPr>
        <p:txBody>
          <a:bodyPr wrap="square" lIns="0" tIns="0" rIns="0" bIns="0" rtlCol="0" anchor="t"/>
          <a:lstStyle/>
          <a:p>
            <a:pPr indent="0" marL="0">
              <a:buNone/>
            </a:pPr>
            <a:r>
              <a:rPr lang="en-US" sz="1300" b="1" dirty="0">
                <a:solidFill>
                  <a:srgbClr val="07203C"/>
                </a:solidFill>
                <a:latin typeface="Malgun Gothic" pitchFamily="34" charset="0"/>
                <a:ea typeface="Malgun Gothic" pitchFamily="34" charset="-122"/>
                <a:cs typeface="Malgun Gothic" pitchFamily="34" charset="-120"/>
              </a:rPr>
              <a:t>근거를 잃지 않는 요약</a:t>
            </a:r>
            <a:endParaRPr lang="en-US" sz="1300" dirty="0"/>
          </a:p>
        </p:txBody>
      </p:sp>
      <p:sp>
        <p:nvSpPr>
          <p:cNvPr id="35" name="Text 33"/>
          <p:cNvSpPr txBox="1"/>
          <p:nvPr/>
        </p:nvSpPr>
        <p:spPr>
          <a:xfrm>
            <a:off x="6867144" y="2706624"/>
            <a:ext cx="4572000" cy="402336"/>
          </a:xfrm>
          <a:prstGeom prst="rect">
            <a:avLst/>
          </a:prstGeom>
          <a:noFill/>
          <a:ln/>
        </p:spPr>
        <p:txBody>
          <a:bodyPr wrap="square" lIns="0" tIns="0" rIns="0" bIns="0" rtlCol="0" anchor="t"/>
          <a:lstStyle/>
          <a:p>
            <a:pPr indent="0" marL="0">
              <a:lnSpc>
                <a:spcPts val="1500"/>
              </a:lnSpc>
              <a:buNone/>
            </a:pPr>
            <a:r>
              <a:rPr lang="en-US" sz="1050" dirty="0">
                <a:solidFill>
                  <a:srgbClr val="6B7F92"/>
                </a:solidFill>
                <a:latin typeface="Malgun Gothic" pitchFamily="34" charset="0"/>
                <a:ea typeface="Malgun Gothic" pitchFamily="34" charset="-122"/>
                <a:cs typeface="Malgun Gothic" pitchFamily="34" charset="-120"/>
              </a:rPr>
              <a:t>모든 AI 결론에 DART 원문·기사 링크가 함께 남아, 틀렸을 때 어디서 틀렸는지 되짚을 수 있습니다.</a:t>
            </a:r>
            <a:endParaRPr lang="en-US" sz="1050" dirty="0"/>
          </a:p>
        </p:txBody>
      </p:sp>
      <p:sp>
        <p:nvSpPr>
          <p:cNvPr id="36" name="Shape 34"/>
          <p:cNvSpPr/>
          <p:nvPr/>
        </p:nvSpPr>
        <p:spPr>
          <a:xfrm>
            <a:off x="6483096" y="3255264"/>
            <a:ext cx="256032" cy="256032"/>
          </a:xfrm>
          <a:prstGeom prst="ellipse">
            <a:avLst/>
          </a:prstGeom>
          <a:solidFill>
            <a:srgbClr val="2C6FE3"/>
          </a:solidFill>
          <a:ln w="12700">
            <a:solidFill>
              <a:srgbClr val="2C6FE3"/>
            </a:solidFill>
            <a:prstDash val="solid"/>
          </a:ln>
        </p:spPr>
      </p:sp>
      <p:sp>
        <p:nvSpPr>
          <p:cNvPr id="37" name="Text 35"/>
          <p:cNvSpPr txBox="1"/>
          <p:nvPr/>
        </p:nvSpPr>
        <p:spPr>
          <a:xfrm>
            <a:off x="6867144" y="3236976"/>
            <a:ext cx="4572000" cy="256032"/>
          </a:xfrm>
          <a:prstGeom prst="rect">
            <a:avLst/>
          </a:prstGeom>
          <a:noFill/>
          <a:ln/>
        </p:spPr>
        <p:txBody>
          <a:bodyPr wrap="square" lIns="0" tIns="0" rIns="0" bIns="0" rtlCol="0" anchor="t"/>
          <a:lstStyle/>
          <a:p>
            <a:pPr indent="0" marL="0">
              <a:buNone/>
            </a:pPr>
            <a:r>
              <a:rPr lang="en-US" sz="1300" b="1" dirty="0">
                <a:solidFill>
                  <a:srgbClr val="07203C"/>
                </a:solidFill>
                <a:latin typeface="Malgun Gothic" pitchFamily="34" charset="0"/>
                <a:ea typeface="Malgun Gothic" pitchFamily="34" charset="-122"/>
                <a:cs typeface="Malgun Gothic" pitchFamily="34" charset="-120"/>
              </a:rPr>
              <a:t>사람이 바뀌어도 같은 기준</a:t>
            </a:r>
            <a:endParaRPr lang="en-US" sz="1300" dirty="0"/>
          </a:p>
        </p:txBody>
      </p:sp>
      <p:sp>
        <p:nvSpPr>
          <p:cNvPr id="38" name="Text 36"/>
          <p:cNvSpPr txBox="1"/>
          <p:nvPr/>
        </p:nvSpPr>
        <p:spPr>
          <a:xfrm>
            <a:off x="6867144" y="3529584"/>
            <a:ext cx="4572000" cy="402336"/>
          </a:xfrm>
          <a:prstGeom prst="rect">
            <a:avLst/>
          </a:prstGeom>
          <a:noFill/>
          <a:ln/>
        </p:spPr>
        <p:txBody>
          <a:bodyPr wrap="square" lIns="0" tIns="0" rIns="0" bIns="0" rtlCol="0" anchor="t"/>
          <a:lstStyle/>
          <a:p>
            <a:pPr indent="0" marL="0">
              <a:lnSpc>
                <a:spcPts val="1500"/>
              </a:lnSpc>
              <a:buNone/>
            </a:pPr>
            <a:r>
              <a:rPr lang="en-US" sz="1050" dirty="0">
                <a:solidFill>
                  <a:srgbClr val="6B7F92"/>
                </a:solidFill>
                <a:latin typeface="Malgun Gothic" pitchFamily="34" charset="0"/>
                <a:ea typeface="Malgun Gothic" pitchFamily="34" charset="-122"/>
                <a:cs typeface="Malgun Gothic" pitchFamily="34" charset="-120"/>
              </a:rPr>
              <a:t>중요도 판단이 담당자 경험이 아니라 12개 공시 유형과 4축 가중치 규칙으로 고정됩니다.</a:t>
            </a:r>
            <a:endParaRPr lang="en-US" sz="1050" dirty="0"/>
          </a:p>
        </p:txBody>
      </p:sp>
      <p:sp>
        <p:nvSpPr>
          <p:cNvPr id="39" name="Shape 37"/>
          <p:cNvSpPr/>
          <p:nvPr/>
        </p:nvSpPr>
        <p:spPr>
          <a:xfrm>
            <a:off x="6483096" y="4078224"/>
            <a:ext cx="256032" cy="256032"/>
          </a:xfrm>
          <a:prstGeom prst="ellipse">
            <a:avLst/>
          </a:prstGeom>
          <a:solidFill>
            <a:srgbClr val="7A5AB5"/>
          </a:solidFill>
          <a:ln w="12700">
            <a:solidFill>
              <a:srgbClr val="7A5AB5"/>
            </a:solidFill>
            <a:prstDash val="solid"/>
          </a:ln>
        </p:spPr>
      </p:sp>
      <p:sp>
        <p:nvSpPr>
          <p:cNvPr id="40" name="Text 38"/>
          <p:cNvSpPr txBox="1"/>
          <p:nvPr/>
        </p:nvSpPr>
        <p:spPr>
          <a:xfrm>
            <a:off x="6867144" y="4059936"/>
            <a:ext cx="4572000" cy="256032"/>
          </a:xfrm>
          <a:prstGeom prst="rect">
            <a:avLst/>
          </a:prstGeom>
          <a:noFill/>
          <a:ln/>
        </p:spPr>
        <p:txBody>
          <a:bodyPr wrap="square" lIns="0" tIns="0" rIns="0" bIns="0" rtlCol="0" anchor="t"/>
          <a:lstStyle/>
          <a:p>
            <a:pPr indent="0" marL="0">
              <a:buNone/>
            </a:pPr>
            <a:r>
              <a:rPr lang="en-US" sz="1300" b="1" dirty="0">
                <a:solidFill>
                  <a:srgbClr val="07203C"/>
                </a:solidFill>
                <a:latin typeface="Malgun Gothic" pitchFamily="34" charset="0"/>
                <a:ea typeface="Malgun Gothic" pitchFamily="34" charset="-122"/>
                <a:cs typeface="Malgun Gothic" pitchFamily="34" charset="-120"/>
              </a:rPr>
              <a:t>비전문가도 읽히는 형태</a:t>
            </a:r>
            <a:endParaRPr lang="en-US" sz="1300" dirty="0"/>
          </a:p>
        </p:txBody>
      </p:sp>
      <p:sp>
        <p:nvSpPr>
          <p:cNvPr id="41" name="Text 39"/>
          <p:cNvSpPr txBox="1"/>
          <p:nvPr/>
        </p:nvSpPr>
        <p:spPr>
          <a:xfrm>
            <a:off x="6867144" y="4352544"/>
            <a:ext cx="4572000" cy="402336"/>
          </a:xfrm>
          <a:prstGeom prst="rect">
            <a:avLst/>
          </a:prstGeom>
          <a:noFill/>
          <a:ln/>
        </p:spPr>
        <p:txBody>
          <a:bodyPr wrap="square" lIns="0" tIns="0" rIns="0" bIns="0" rtlCol="0" anchor="t"/>
          <a:lstStyle/>
          <a:p>
            <a:pPr indent="0" marL="0">
              <a:lnSpc>
                <a:spcPts val="1500"/>
              </a:lnSpc>
              <a:buNone/>
            </a:pPr>
            <a:r>
              <a:rPr lang="en-US" sz="1050" dirty="0">
                <a:solidFill>
                  <a:srgbClr val="6B7F92"/>
                </a:solidFill>
                <a:latin typeface="Malgun Gothic" pitchFamily="34" charset="0"/>
                <a:ea typeface="Malgun Gothic" pitchFamily="34" charset="-122"/>
                <a:cs typeface="Malgun Gothic" pitchFamily="34" charset="-120"/>
              </a:rPr>
              <a:t>‘무슨 공시인가’가 아니라 ‘우리에게 무슨 의미인가’를 세 문장으로 제시합니다.</a:t>
            </a:r>
            <a:endParaRPr lang="en-US" sz="1050" dirty="0"/>
          </a:p>
        </p:txBody>
      </p:sp>
      <p:sp>
        <p:nvSpPr>
          <p:cNvPr id="42" name="Shape 40"/>
          <p:cNvSpPr/>
          <p:nvPr/>
        </p:nvSpPr>
        <p:spPr>
          <a:xfrm>
            <a:off x="6483096" y="4901184"/>
            <a:ext cx="256032" cy="256032"/>
          </a:xfrm>
          <a:prstGeom prst="ellipse">
            <a:avLst/>
          </a:prstGeom>
          <a:solidFill>
            <a:srgbClr val="C98A2B"/>
          </a:solidFill>
          <a:ln w="12700">
            <a:solidFill>
              <a:srgbClr val="C98A2B"/>
            </a:solidFill>
            <a:prstDash val="solid"/>
          </a:ln>
        </p:spPr>
      </p:sp>
      <p:sp>
        <p:nvSpPr>
          <p:cNvPr id="43" name="Text 41"/>
          <p:cNvSpPr txBox="1"/>
          <p:nvPr/>
        </p:nvSpPr>
        <p:spPr>
          <a:xfrm>
            <a:off x="6867144" y="4882896"/>
            <a:ext cx="4572000" cy="256032"/>
          </a:xfrm>
          <a:prstGeom prst="rect">
            <a:avLst/>
          </a:prstGeom>
          <a:noFill/>
          <a:ln/>
        </p:spPr>
        <p:txBody>
          <a:bodyPr wrap="square" lIns="0" tIns="0" rIns="0" bIns="0" rtlCol="0" anchor="t"/>
          <a:lstStyle/>
          <a:p>
            <a:pPr indent="0" marL="0">
              <a:buNone/>
            </a:pPr>
            <a:r>
              <a:rPr lang="en-US" sz="1300" b="1" dirty="0">
                <a:solidFill>
                  <a:srgbClr val="07203C"/>
                </a:solidFill>
                <a:latin typeface="Malgun Gothic" pitchFamily="34" charset="0"/>
                <a:ea typeface="Malgun Gothic" pitchFamily="34" charset="-122"/>
                <a:cs typeface="Malgun Gothic" pitchFamily="34" charset="-120"/>
              </a:rPr>
              <a:t>조직 단위 공유로 확장</a:t>
            </a:r>
            <a:endParaRPr lang="en-US" sz="1300" dirty="0"/>
          </a:p>
        </p:txBody>
      </p:sp>
      <p:sp>
        <p:nvSpPr>
          <p:cNvPr id="44" name="Text 42"/>
          <p:cNvSpPr txBox="1"/>
          <p:nvPr/>
        </p:nvSpPr>
        <p:spPr>
          <a:xfrm>
            <a:off x="6867144" y="5175504"/>
            <a:ext cx="4572000" cy="402336"/>
          </a:xfrm>
          <a:prstGeom prst="rect">
            <a:avLst/>
          </a:prstGeom>
          <a:noFill/>
          <a:ln/>
        </p:spPr>
        <p:txBody>
          <a:bodyPr wrap="square" lIns="0" tIns="0" rIns="0" bIns="0" rtlCol="0" anchor="t"/>
          <a:lstStyle/>
          <a:p>
            <a:pPr indent="0" marL="0">
              <a:lnSpc>
                <a:spcPts val="1500"/>
              </a:lnSpc>
              <a:buNone/>
            </a:pPr>
            <a:r>
              <a:rPr lang="en-US" sz="1050" dirty="0">
                <a:solidFill>
                  <a:srgbClr val="6B7F92"/>
                </a:solidFill>
                <a:latin typeface="Malgun Gothic" pitchFamily="34" charset="0"/>
                <a:ea typeface="Malgun Gothic" pitchFamily="34" charset="-122"/>
                <a:cs typeface="Malgun Gothic" pitchFamily="34" charset="-120"/>
              </a:rPr>
              <a:t>개인이 찾아 공유하던 정보가 수신자 등록만으로 채널에 자동 전달됩니다.</a:t>
            </a:r>
            <a:endParaRPr lang="en-US" sz="1050" dirty="0"/>
          </a:p>
        </p:txBody>
      </p:sp>
      <p:sp>
        <p:nvSpPr>
          <p:cNvPr id="45" name="Shape 43"/>
          <p:cNvSpPr/>
          <p:nvPr/>
        </p:nvSpPr>
        <p:spPr>
          <a:xfrm>
            <a:off x="566928" y="5870448"/>
            <a:ext cx="11055096" cy="457200"/>
          </a:xfrm>
          <a:prstGeom prst="roundRect">
            <a:avLst>
              <a:gd name="adj" fmla="val 11000"/>
            </a:avLst>
          </a:prstGeom>
          <a:solidFill>
            <a:srgbClr val="FBF1DE"/>
          </a:solidFill>
          <a:ln w="9525">
            <a:solidFill>
              <a:srgbClr val="EAD7B2"/>
            </a:solidFill>
            <a:prstDash val="solid"/>
          </a:ln>
        </p:spPr>
      </p:sp>
      <p:sp>
        <p:nvSpPr>
          <p:cNvPr id="46" name="Text 44"/>
          <p:cNvSpPr txBox="1"/>
          <p:nvPr/>
        </p:nvSpPr>
        <p:spPr>
          <a:xfrm>
            <a:off x="841248" y="5971032"/>
            <a:ext cx="10515600" cy="274320"/>
          </a:xfrm>
          <a:prstGeom prst="rect">
            <a:avLst/>
          </a:prstGeom>
          <a:noFill/>
          <a:ln/>
        </p:spPr>
        <p:txBody>
          <a:bodyPr wrap="square" lIns="0" tIns="0" rIns="0" bIns="0" rtlCol="0" anchor="t"/>
          <a:lstStyle/>
          <a:p>
            <a:pPr indent="0" marL="0">
              <a:buNone/>
            </a:pPr>
            <a:r>
              <a:rPr lang="en-US" sz="1100" b="1" dirty="0">
                <a:solidFill>
                  <a:srgbClr val="C97F16"/>
                </a:solidFill>
                <a:latin typeface="Malgun Gothic" pitchFamily="34" charset="0"/>
                <a:ea typeface="Malgun Gothic" pitchFamily="34" charset="-122"/>
                <a:cs typeface="Malgun Gothic" pitchFamily="34" charset="-120"/>
              </a:rPr>
              <a:t>※ 시간 관련 수치(1일 → 5분, 월 30시간)는 수작업 기준 추정치이며, 건수(40건 → 3건)와 수집량은 실제 화면 기준 실측값입니다.</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F6FA"/>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37744"/>
          </a:xfrm>
          <a:prstGeom prst="rect">
            <a:avLst/>
          </a:prstGeom>
          <a:noFill/>
          <a:ln/>
        </p:spPr>
        <p:txBody>
          <a:bodyPr wrap="square" lIns="0" tIns="0" rIns="0" bIns="0" rtlCol="0" anchor="t"/>
          <a:lstStyle/>
          <a:p>
            <a:pPr indent="0" marL="0">
              <a:buNone/>
            </a:pPr>
            <a:r>
              <a:rPr lang="en-US" sz="1100" b="1" spc="110" kern="0" dirty="0">
                <a:solidFill>
                  <a:srgbClr val="0E8477"/>
                </a:solidFill>
                <a:latin typeface="Malgun Gothic" pitchFamily="34" charset="0"/>
                <a:ea typeface="Malgun Gothic" pitchFamily="34" charset="-122"/>
                <a:cs typeface="Malgun Gothic" pitchFamily="34" charset="-120"/>
              </a:rPr>
              <a:t>03  RESULT  ·  회고</a:t>
            </a:r>
            <a:endParaRPr lang="en-US" sz="1100" dirty="0"/>
          </a:p>
        </p:txBody>
      </p:sp>
      <p:sp>
        <p:nvSpPr>
          <p:cNvPr id="3" name="Text 1"/>
          <p:cNvSpPr txBox="1"/>
          <p:nvPr/>
        </p:nvSpPr>
        <p:spPr>
          <a:xfrm>
            <a:off x="566928" y="713232"/>
            <a:ext cx="11057839" cy="566928"/>
          </a:xfrm>
          <a:prstGeom prst="rect">
            <a:avLst/>
          </a:prstGeom>
          <a:noFill/>
          <a:ln/>
        </p:spPr>
        <p:txBody>
          <a:bodyPr wrap="square" lIns="0" tIns="0" rIns="0" bIns="0" rtlCol="0" anchor="t"/>
          <a:lstStyle/>
          <a:p>
            <a:pPr indent="0" marL="0">
              <a:buNone/>
            </a:pPr>
            <a:r>
              <a:rPr lang="en-US" sz="3200" b="1" dirty="0">
                <a:solidFill>
                  <a:srgbClr val="07203C"/>
                </a:solidFill>
                <a:latin typeface="Malgun Gothic" pitchFamily="34" charset="0"/>
                <a:ea typeface="Malgun Gothic" pitchFamily="34" charset="-122"/>
                <a:cs typeface="Malgun Gothic" pitchFamily="34" charset="-120"/>
              </a:rPr>
              <a:t>만들면서 배운 것, 그리고 아쉬운 것</a:t>
            </a:r>
            <a:endParaRPr lang="en-US" sz="3200" dirty="0"/>
          </a:p>
        </p:txBody>
      </p:sp>
      <p:sp>
        <p:nvSpPr>
          <p:cNvPr id="4" name="Text 2"/>
          <p:cNvSpPr txBox="1"/>
          <p:nvPr/>
        </p:nvSpPr>
        <p:spPr>
          <a:xfrm>
            <a:off x="8332927" y="6437376"/>
            <a:ext cx="3291840" cy="219456"/>
          </a:xfrm>
          <a:prstGeom prst="rect">
            <a:avLst/>
          </a:prstGeom>
          <a:noFill/>
          <a:ln/>
        </p:spPr>
        <p:txBody>
          <a:bodyPr wrap="square" lIns="0" tIns="0" rIns="0" bIns="0" rtlCol="0" anchor="t"/>
          <a:lstStyle/>
          <a:p>
            <a:pPr algn="r" indent="0" marL="0">
              <a:buNone/>
            </a:pPr>
            <a:r>
              <a:rPr lang="en-US" sz="950" spc="60" kern="0" dirty="0">
                <a:solidFill>
                  <a:srgbClr val="8A9BAB"/>
                </a:solidFill>
                <a:latin typeface="Malgun Gothic" pitchFamily="34" charset="0"/>
                <a:ea typeface="Malgun Gothic" pitchFamily="34" charset="-122"/>
                <a:cs typeface="Malgun Gothic" pitchFamily="34" charset="-120"/>
              </a:rPr>
              <a:t>15 / 16     FUTURE:M RADAR</a:t>
            </a:r>
            <a:endParaRPr lang="en-US" sz="950" dirty="0"/>
          </a:p>
        </p:txBody>
      </p:sp>
      <p:sp>
        <p:nvSpPr>
          <p:cNvPr id="5" name="Shape 3"/>
          <p:cNvSpPr/>
          <p:nvPr/>
        </p:nvSpPr>
        <p:spPr>
          <a:xfrm>
            <a:off x="566928" y="1737360"/>
            <a:ext cx="5431536" cy="3749040"/>
          </a:xfrm>
          <a:prstGeom prst="roundRect">
            <a:avLst>
              <a:gd name="adj" fmla="val 1341"/>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6" name="Shape 4"/>
          <p:cNvSpPr/>
          <p:nvPr/>
        </p:nvSpPr>
        <p:spPr>
          <a:xfrm>
            <a:off x="859536" y="1956816"/>
            <a:ext cx="1060704" cy="310896"/>
          </a:xfrm>
          <a:prstGeom prst="roundRect">
            <a:avLst>
              <a:gd name="adj" fmla="val 147059"/>
            </a:avLst>
          </a:prstGeom>
          <a:solidFill>
            <a:srgbClr val="EAF5F3"/>
          </a:solidFill>
          <a:ln w="9525">
            <a:solidFill>
              <a:srgbClr val="C7E5E0"/>
            </a:solidFill>
            <a:prstDash val="solid"/>
          </a:ln>
        </p:spPr>
      </p:sp>
      <p:sp>
        <p:nvSpPr>
          <p:cNvPr id="7" name="Text 5"/>
          <p:cNvSpPr txBox="1"/>
          <p:nvPr/>
        </p:nvSpPr>
        <p:spPr>
          <a:xfrm>
            <a:off x="859536" y="1956816"/>
            <a:ext cx="1060704" cy="310896"/>
          </a:xfrm>
          <a:prstGeom prst="rect">
            <a:avLst/>
          </a:prstGeom>
          <a:noFill/>
          <a:ln/>
        </p:spPr>
        <p:txBody>
          <a:bodyPr wrap="square" lIns="0" tIns="0" rIns="0" bIns="0" rtlCol="0" anchor="ctr"/>
          <a:lstStyle/>
          <a:p>
            <a:pPr algn="ctr" indent="0" marL="0">
              <a:buNone/>
            </a:pPr>
            <a:r>
              <a:rPr lang="en-US" sz="1100" b="1" dirty="0">
                <a:solidFill>
                  <a:srgbClr val="0E8477"/>
                </a:solidFill>
                <a:latin typeface="Malgun Gothic" pitchFamily="34" charset="0"/>
                <a:ea typeface="Malgun Gothic" pitchFamily="34" charset="-122"/>
                <a:cs typeface="Malgun Gothic" pitchFamily="34" charset="-120"/>
              </a:rPr>
              <a:t>배운 점</a:t>
            </a:r>
            <a:endParaRPr lang="en-US" sz="1100" dirty="0"/>
          </a:p>
        </p:txBody>
      </p:sp>
      <p:sp>
        <p:nvSpPr>
          <p:cNvPr id="8" name="Text 6"/>
          <p:cNvSpPr txBox="1"/>
          <p:nvPr/>
        </p:nvSpPr>
        <p:spPr>
          <a:xfrm>
            <a:off x="859536" y="2432304"/>
            <a:ext cx="4846320" cy="274320"/>
          </a:xfrm>
          <a:prstGeom prst="rect">
            <a:avLst/>
          </a:prstGeom>
          <a:noFill/>
          <a:ln/>
        </p:spPr>
        <p:txBody>
          <a:bodyPr wrap="square" lIns="0" tIns="0" rIns="0" bIns="0" rtlCol="0" anchor="t"/>
          <a:lstStyle/>
          <a:p>
            <a:pPr indent="0" marL="0">
              <a:buNone/>
            </a:pPr>
            <a:r>
              <a:rPr lang="en-US" sz="1300" b="1" dirty="0">
                <a:solidFill>
                  <a:srgbClr val="07203C"/>
                </a:solidFill>
                <a:latin typeface="Malgun Gothic" pitchFamily="34" charset="0"/>
                <a:ea typeface="Malgun Gothic" pitchFamily="34" charset="-122"/>
                <a:cs typeface="Malgun Gothic" pitchFamily="34" charset="-120"/>
              </a:rPr>
              <a:t>LLM은 프롬프트보다 ‘출력 계약’이 중요했다</a:t>
            </a:r>
            <a:endParaRPr lang="en-US" sz="1300" dirty="0"/>
          </a:p>
        </p:txBody>
      </p:sp>
      <p:sp>
        <p:nvSpPr>
          <p:cNvPr id="9" name="Text 7"/>
          <p:cNvSpPr txBox="1"/>
          <p:nvPr/>
        </p:nvSpPr>
        <p:spPr>
          <a:xfrm>
            <a:off x="859536" y="2743200"/>
            <a:ext cx="4864608" cy="566928"/>
          </a:xfrm>
          <a:prstGeom prst="rect">
            <a:avLst/>
          </a:prstGeom>
          <a:noFill/>
          <a:ln/>
        </p:spPr>
        <p:txBody>
          <a:bodyPr wrap="square" lIns="0" tIns="0" rIns="0" bIns="0" rtlCol="0" anchor="t"/>
          <a:lstStyle/>
          <a:p>
            <a:pPr indent="0" marL="0">
              <a:lnSpc>
                <a:spcPts val="1700"/>
              </a:lnSpc>
              <a:buNone/>
            </a:pPr>
            <a:r>
              <a:rPr lang="en-US" sz="1100" dirty="0">
                <a:solidFill>
                  <a:srgbClr val="6B7F92"/>
                </a:solidFill>
                <a:latin typeface="Malgun Gothic" pitchFamily="34" charset="0"/>
                <a:ea typeface="Malgun Gothic" pitchFamily="34" charset="-122"/>
                <a:cs typeface="Malgun Gothic" pitchFamily="34" charset="-120"/>
              </a:rPr>
              <a:t>처음엔 응답이 형식 없이 돌아와 화면이 통째로 비었습니다. JSON 강제와 값 검증을 넣고 나서야 안정됐습니다.</a:t>
            </a:r>
            <a:endParaRPr lang="en-US" sz="1100" dirty="0"/>
          </a:p>
        </p:txBody>
      </p:sp>
      <p:sp>
        <p:nvSpPr>
          <p:cNvPr id="10" name="Text 8"/>
          <p:cNvSpPr txBox="1"/>
          <p:nvPr/>
        </p:nvSpPr>
        <p:spPr>
          <a:xfrm>
            <a:off x="859536" y="3438144"/>
            <a:ext cx="4846320" cy="274320"/>
          </a:xfrm>
          <a:prstGeom prst="rect">
            <a:avLst/>
          </a:prstGeom>
          <a:noFill/>
          <a:ln/>
        </p:spPr>
        <p:txBody>
          <a:bodyPr wrap="square" lIns="0" tIns="0" rIns="0" bIns="0" rtlCol="0" anchor="t"/>
          <a:lstStyle/>
          <a:p>
            <a:pPr indent="0" marL="0">
              <a:buNone/>
            </a:pPr>
            <a:r>
              <a:rPr lang="en-US" sz="1300" b="1" dirty="0">
                <a:solidFill>
                  <a:srgbClr val="07203C"/>
                </a:solidFill>
                <a:latin typeface="Malgun Gothic" pitchFamily="34" charset="0"/>
                <a:ea typeface="Malgun Gothic" pitchFamily="34" charset="-122"/>
                <a:cs typeface="Malgun Gothic" pitchFamily="34" charset="-120"/>
              </a:rPr>
              <a:t>AI 품질의 절반은 전처리에서 결정된다</a:t>
            </a:r>
            <a:endParaRPr lang="en-US" sz="1300" dirty="0"/>
          </a:p>
        </p:txBody>
      </p:sp>
      <p:sp>
        <p:nvSpPr>
          <p:cNvPr id="11" name="Text 9"/>
          <p:cNvSpPr txBox="1"/>
          <p:nvPr/>
        </p:nvSpPr>
        <p:spPr>
          <a:xfrm>
            <a:off x="859536" y="3749040"/>
            <a:ext cx="4864608" cy="566928"/>
          </a:xfrm>
          <a:prstGeom prst="rect">
            <a:avLst/>
          </a:prstGeom>
          <a:noFill/>
          <a:ln/>
        </p:spPr>
        <p:txBody>
          <a:bodyPr wrap="square" lIns="0" tIns="0" rIns="0" bIns="0" rtlCol="0" anchor="t"/>
          <a:lstStyle/>
          <a:p>
            <a:pPr indent="0" marL="0">
              <a:lnSpc>
                <a:spcPts val="1700"/>
              </a:lnSpc>
              <a:buNone/>
            </a:pPr>
            <a:r>
              <a:rPr lang="en-US" sz="1100" dirty="0">
                <a:solidFill>
                  <a:srgbClr val="6B7F92"/>
                </a:solidFill>
                <a:latin typeface="Malgun Gothic" pitchFamily="34" charset="0"/>
                <a:ea typeface="Malgun Gothic" pitchFamily="34" charset="-122"/>
                <a:cs typeface="Malgun Gothic" pitchFamily="34" charset="-120"/>
              </a:rPr>
              <a:t>중복 기사를 제거하기 전과 후의 브리핑 품질 차이가 모델을 바꾼 것보다 컸습니다.</a:t>
            </a:r>
            <a:endParaRPr lang="en-US" sz="1100" dirty="0"/>
          </a:p>
        </p:txBody>
      </p:sp>
      <p:sp>
        <p:nvSpPr>
          <p:cNvPr id="12" name="Text 10"/>
          <p:cNvSpPr txBox="1"/>
          <p:nvPr/>
        </p:nvSpPr>
        <p:spPr>
          <a:xfrm>
            <a:off x="859536" y="4443984"/>
            <a:ext cx="4846320" cy="274320"/>
          </a:xfrm>
          <a:prstGeom prst="rect">
            <a:avLst/>
          </a:prstGeom>
          <a:noFill/>
          <a:ln/>
        </p:spPr>
        <p:txBody>
          <a:bodyPr wrap="square" lIns="0" tIns="0" rIns="0" bIns="0" rtlCol="0" anchor="t"/>
          <a:lstStyle/>
          <a:p>
            <a:pPr indent="0" marL="0">
              <a:buNone/>
            </a:pPr>
            <a:r>
              <a:rPr lang="en-US" sz="1300" b="1" dirty="0">
                <a:solidFill>
                  <a:srgbClr val="07203C"/>
                </a:solidFill>
                <a:latin typeface="Malgun Gothic" pitchFamily="34" charset="0"/>
                <a:ea typeface="Malgun Gothic" pitchFamily="34" charset="-122"/>
                <a:cs typeface="Malgun Gothic" pitchFamily="34" charset="-120"/>
              </a:rPr>
              <a:t>현실 데이터는 항상 예외로 온다</a:t>
            </a:r>
            <a:endParaRPr lang="en-US" sz="1300" dirty="0"/>
          </a:p>
        </p:txBody>
      </p:sp>
      <p:sp>
        <p:nvSpPr>
          <p:cNvPr id="13" name="Text 11"/>
          <p:cNvSpPr txBox="1"/>
          <p:nvPr/>
        </p:nvSpPr>
        <p:spPr>
          <a:xfrm>
            <a:off x="859536" y="4754880"/>
            <a:ext cx="4864608" cy="566928"/>
          </a:xfrm>
          <a:prstGeom prst="rect">
            <a:avLst/>
          </a:prstGeom>
          <a:noFill/>
          <a:ln/>
        </p:spPr>
        <p:txBody>
          <a:bodyPr wrap="square" lIns="0" tIns="0" rIns="0" bIns="0" rtlCol="0" anchor="t"/>
          <a:lstStyle/>
          <a:p>
            <a:pPr indent="0" marL="0">
              <a:lnSpc>
                <a:spcPts val="1700"/>
              </a:lnSpc>
              <a:buNone/>
            </a:pPr>
            <a:r>
              <a:rPr lang="en-US" sz="1100" dirty="0">
                <a:solidFill>
                  <a:srgbClr val="6B7F92"/>
                </a:solidFill>
                <a:latin typeface="Malgun Gothic" pitchFamily="34" charset="0"/>
                <a:ea typeface="Malgun Gothic" pitchFamily="34" charset="-122"/>
                <a:cs typeface="Malgun Gothic" pitchFamily="34" charset="-120"/>
              </a:rPr>
              <a:t>OpenDART는 ‘SK온’·‘현대차’를 찾지 못했습니다. 결국 별칭 매핑 테이블을 만들어 해결했습니다.</a:t>
            </a:r>
            <a:endParaRPr lang="en-US" sz="1100" dirty="0"/>
          </a:p>
        </p:txBody>
      </p:sp>
      <p:sp>
        <p:nvSpPr>
          <p:cNvPr id="14" name="Shape 12"/>
          <p:cNvSpPr/>
          <p:nvPr/>
        </p:nvSpPr>
        <p:spPr>
          <a:xfrm>
            <a:off x="6190488" y="1737360"/>
            <a:ext cx="5431536" cy="3749040"/>
          </a:xfrm>
          <a:prstGeom prst="roundRect">
            <a:avLst>
              <a:gd name="adj" fmla="val 1341"/>
            </a:avLst>
          </a:prstGeom>
          <a:solidFill>
            <a:srgbClr val="FFFFFF"/>
          </a:solidFill>
          <a:ln w="9525">
            <a:solidFill>
              <a:srgbClr val="DCE7F1"/>
            </a:solidFill>
            <a:prstDash val="solid"/>
          </a:ln>
          <a:effectLst>
            <a:outerShdw sx="100000" sy="100000" kx="0" ky="0" algn="bl" rotWithShape="0" blurRad="114300" dist="25400" dir="5400000">
              <a:srgbClr val="9FB3C6">
                <a:alpha val="28000"/>
              </a:srgbClr>
            </a:outerShdw>
          </a:effectLst>
        </p:spPr>
      </p:sp>
      <p:sp>
        <p:nvSpPr>
          <p:cNvPr id="15" name="Shape 13"/>
          <p:cNvSpPr/>
          <p:nvPr/>
        </p:nvSpPr>
        <p:spPr>
          <a:xfrm>
            <a:off x="6483096" y="1956816"/>
            <a:ext cx="1188720" cy="310896"/>
          </a:xfrm>
          <a:prstGeom prst="roundRect">
            <a:avLst>
              <a:gd name="adj" fmla="val 147059"/>
            </a:avLst>
          </a:prstGeom>
          <a:solidFill>
            <a:srgbClr val="FBEEEE"/>
          </a:solidFill>
          <a:ln w="9525">
            <a:solidFill>
              <a:srgbClr val="EBCFCF"/>
            </a:solidFill>
            <a:prstDash val="solid"/>
          </a:ln>
        </p:spPr>
      </p:sp>
      <p:sp>
        <p:nvSpPr>
          <p:cNvPr id="16" name="Text 14"/>
          <p:cNvSpPr txBox="1"/>
          <p:nvPr/>
        </p:nvSpPr>
        <p:spPr>
          <a:xfrm>
            <a:off x="6483096" y="1956816"/>
            <a:ext cx="1188720" cy="310896"/>
          </a:xfrm>
          <a:prstGeom prst="rect">
            <a:avLst/>
          </a:prstGeom>
          <a:noFill/>
          <a:ln/>
        </p:spPr>
        <p:txBody>
          <a:bodyPr wrap="square" lIns="0" tIns="0" rIns="0" bIns="0" rtlCol="0" anchor="ctr"/>
          <a:lstStyle/>
          <a:p>
            <a:pPr algn="ctr" indent="0" marL="0">
              <a:buNone/>
            </a:pPr>
            <a:r>
              <a:rPr lang="en-US" sz="1100" b="1" dirty="0">
                <a:solidFill>
                  <a:srgbClr val="C2504F"/>
                </a:solidFill>
                <a:latin typeface="Malgun Gothic" pitchFamily="34" charset="0"/>
                <a:ea typeface="Malgun Gothic" pitchFamily="34" charset="-122"/>
                <a:cs typeface="Malgun Gothic" pitchFamily="34" charset="-120"/>
              </a:rPr>
              <a:t>아쉬운 점</a:t>
            </a:r>
            <a:endParaRPr lang="en-US" sz="1100" dirty="0"/>
          </a:p>
        </p:txBody>
      </p:sp>
      <p:sp>
        <p:nvSpPr>
          <p:cNvPr id="17" name="Text 15"/>
          <p:cNvSpPr txBox="1"/>
          <p:nvPr/>
        </p:nvSpPr>
        <p:spPr>
          <a:xfrm>
            <a:off x="6483096" y="2432304"/>
            <a:ext cx="4846320" cy="274320"/>
          </a:xfrm>
          <a:prstGeom prst="rect">
            <a:avLst/>
          </a:prstGeom>
          <a:noFill/>
          <a:ln/>
        </p:spPr>
        <p:txBody>
          <a:bodyPr wrap="square" lIns="0" tIns="0" rIns="0" bIns="0" rtlCol="0" anchor="t"/>
          <a:lstStyle/>
          <a:p>
            <a:pPr indent="0" marL="0">
              <a:buNone/>
            </a:pPr>
            <a:r>
              <a:rPr lang="en-US" sz="1300" b="1" dirty="0">
                <a:solidFill>
                  <a:srgbClr val="07203C"/>
                </a:solidFill>
                <a:latin typeface="Malgun Gothic" pitchFamily="34" charset="0"/>
                <a:ea typeface="Malgun Gothic" pitchFamily="34" charset="-122"/>
                <a:cs typeface="Malgun Gothic" pitchFamily="34" charset="-120"/>
              </a:rPr>
              <a:t>외부 소스 의존이 여전히 취약하다</a:t>
            </a:r>
            <a:endParaRPr lang="en-US" sz="1300" dirty="0"/>
          </a:p>
        </p:txBody>
      </p:sp>
      <p:sp>
        <p:nvSpPr>
          <p:cNvPr id="18" name="Text 16"/>
          <p:cNvSpPr txBox="1"/>
          <p:nvPr/>
        </p:nvSpPr>
        <p:spPr>
          <a:xfrm>
            <a:off x="6483096" y="2743200"/>
            <a:ext cx="4864608" cy="566928"/>
          </a:xfrm>
          <a:prstGeom prst="rect">
            <a:avLst/>
          </a:prstGeom>
          <a:noFill/>
          <a:ln/>
        </p:spPr>
        <p:txBody>
          <a:bodyPr wrap="square" lIns="0" tIns="0" rIns="0" bIns="0" rtlCol="0" anchor="t"/>
          <a:lstStyle/>
          <a:p>
            <a:pPr indent="0" marL="0">
              <a:lnSpc>
                <a:spcPts val="1700"/>
              </a:lnSpc>
              <a:buNone/>
            </a:pPr>
            <a:r>
              <a:rPr lang="en-US" sz="1100" dirty="0">
                <a:solidFill>
                  <a:srgbClr val="6B7F92"/>
                </a:solidFill>
                <a:latin typeface="Malgun Gothic" pitchFamily="34" charset="0"/>
                <a:ea typeface="Malgun Gothic" pitchFamily="34" charset="-122"/>
                <a:cs typeface="Malgun Gothic" pitchFamily="34" charset="-120"/>
              </a:rPr>
              <a:t>KOMIS는 공식 API가 아닌 공개 차트 응답을 읽습니다. 사이트가 개편되면 그대로 깨지고, 재배포 전 이용 허락 확인도 필요합니다.</a:t>
            </a:r>
            <a:endParaRPr lang="en-US" sz="1100" dirty="0"/>
          </a:p>
        </p:txBody>
      </p:sp>
      <p:sp>
        <p:nvSpPr>
          <p:cNvPr id="19" name="Text 17"/>
          <p:cNvSpPr txBox="1"/>
          <p:nvPr/>
        </p:nvSpPr>
        <p:spPr>
          <a:xfrm>
            <a:off x="6483096" y="3438144"/>
            <a:ext cx="4846320" cy="274320"/>
          </a:xfrm>
          <a:prstGeom prst="rect">
            <a:avLst/>
          </a:prstGeom>
          <a:noFill/>
          <a:ln/>
        </p:spPr>
        <p:txBody>
          <a:bodyPr wrap="square" lIns="0" tIns="0" rIns="0" bIns="0" rtlCol="0" anchor="t"/>
          <a:lstStyle/>
          <a:p>
            <a:pPr indent="0" marL="0">
              <a:buNone/>
            </a:pPr>
            <a:r>
              <a:rPr lang="en-US" sz="1300" b="1" dirty="0">
                <a:solidFill>
                  <a:srgbClr val="07203C"/>
                </a:solidFill>
                <a:latin typeface="Malgun Gothic" pitchFamily="34" charset="0"/>
                <a:ea typeface="Malgun Gothic" pitchFamily="34" charset="-122"/>
                <a:cs typeface="Malgun Gothic" pitchFamily="34" charset="-120"/>
              </a:rPr>
              <a:t>신호 가중치가 검증되지 않은 값이다</a:t>
            </a:r>
            <a:endParaRPr lang="en-US" sz="1300" dirty="0"/>
          </a:p>
        </p:txBody>
      </p:sp>
      <p:sp>
        <p:nvSpPr>
          <p:cNvPr id="20" name="Text 18"/>
          <p:cNvSpPr txBox="1"/>
          <p:nvPr/>
        </p:nvSpPr>
        <p:spPr>
          <a:xfrm>
            <a:off x="6483096" y="3749040"/>
            <a:ext cx="4864608" cy="566928"/>
          </a:xfrm>
          <a:prstGeom prst="rect">
            <a:avLst/>
          </a:prstGeom>
          <a:noFill/>
          <a:ln/>
        </p:spPr>
        <p:txBody>
          <a:bodyPr wrap="square" lIns="0" tIns="0" rIns="0" bIns="0" rtlCol="0" anchor="t"/>
          <a:lstStyle/>
          <a:p>
            <a:pPr indent="0" marL="0">
              <a:lnSpc>
                <a:spcPts val="1700"/>
              </a:lnSpc>
              <a:buNone/>
            </a:pPr>
            <a:r>
              <a:rPr lang="en-US" sz="1100" dirty="0">
                <a:solidFill>
                  <a:srgbClr val="6B7F92"/>
                </a:solidFill>
                <a:latin typeface="Malgun Gothic" pitchFamily="34" charset="0"/>
                <a:ea typeface="Malgun Gothic" pitchFamily="34" charset="-122"/>
                <a:cs typeface="Malgun Gothic" pitchFamily="34" charset="-120"/>
              </a:rPr>
              <a:t>0.2·0.2·0.15·0.45는 경험으로 정한 값입니다. 정답 데이터로 검증한 적이 없어 근거가 약합니다.</a:t>
            </a:r>
            <a:endParaRPr lang="en-US" sz="1100" dirty="0"/>
          </a:p>
        </p:txBody>
      </p:sp>
      <p:sp>
        <p:nvSpPr>
          <p:cNvPr id="21" name="Text 19"/>
          <p:cNvSpPr txBox="1"/>
          <p:nvPr/>
        </p:nvSpPr>
        <p:spPr>
          <a:xfrm>
            <a:off x="6483096" y="4443984"/>
            <a:ext cx="4846320" cy="274320"/>
          </a:xfrm>
          <a:prstGeom prst="rect">
            <a:avLst/>
          </a:prstGeom>
          <a:noFill/>
          <a:ln/>
        </p:spPr>
        <p:txBody>
          <a:bodyPr wrap="square" lIns="0" tIns="0" rIns="0" bIns="0" rtlCol="0" anchor="t"/>
          <a:lstStyle/>
          <a:p>
            <a:pPr indent="0" marL="0">
              <a:buNone/>
            </a:pPr>
            <a:r>
              <a:rPr lang="en-US" sz="1300" b="1" dirty="0">
                <a:solidFill>
                  <a:srgbClr val="07203C"/>
                </a:solidFill>
                <a:latin typeface="Malgun Gothic" pitchFamily="34" charset="0"/>
                <a:ea typeface="Malgun Gothic" pitchFamily="34" charset="-122"/>
                <a:cs typeface="Malgun Gothic" pitchFamily="34" charset="-120"/>
              </a:rPr>
              <a:t>테스트와 배포 자동화가 없다</a:t>
            </a:r>
            <a:endParaRPr lang="en-US" sz="1300" dirty="0"/>
          </a:p>
        </p:txBody>
      </p:sp>
      <p:sp>
        <p:nvSpPr>
          <p:cNvPr id="22" name="Text 20"/>
          <p:cNvSpPr txBox="1"/>
          <p:nvPr/>
        </p:nvSpPr>
        <p:spPr>
          <a:xfrm>
            <a:off x="6483096" y="4754880"/>
            <a:ext cx="4864608" cy="566928"/>
          </a:xfrm>
          <a:prstGeom prst="rect">
            <a:avLst/>
          </a:prstGeom>
          <a:noFill/>
          <a:ln/>
        </p:spPr>
        <p:txBody>
          <a:bodyPr wrap="square" lIns="0" tIns="0" rIns="0" bIns="0" rtlCol="0" anchor="t"/>
          <a:lstStyle/>
          <a:p>
            <a:pPr indent="0" marL="0">
              <a:lnSpc>
                <a:spcPts val="1700"/>
              </a:lnSpc>
              <a:buNone/>
            </a:pPr>
            <a:r>
              <a:rPr lang="en-US" sz="1100" dirty="0">
                <a:solidFill>
                  <a:srgbClr val="6B7F92"/>
                </a:solidFill>
                <a:latin typeface="Malgun Gothic" pitchFamily="34" charset="0"/>
                <a:ea typeface="Malgun Gothic" pitchFamily="34" charset="-122"/>
                <a:cs typeface="Malgun Gothic" pitchFamily="34" charset="-120"/>
              </a:rPr>
              <a:t>로컬 실행을 전제로 만들었습니다. 실제 운영으로 넘기려면 테스트 코드와 배포 파이프라인이 먼저 필요합니다.</a:t>
            </a:r>
            <a:endParaRPr lang="en-US" sz="1100" dirty="0"/>
          </a:p>
        </p:txBody>
      </p:sp>
      <p:sp>
        <p:nvSpPr>
          <p:cNvPr id="23" name="Shape 21"/>
          <p:cNvSpPr/>
          <p:nvPr/>
        </p:nvSpPr>
        <p:spPr>
          <a:xfrm>
            <a:off x="566928" y="5650992"/>
            <a:ext cx="11055096" cy="585216"/>
          </a:xfrm>
          <a:prstGeom prst="roundRect">
            <a:avLst>
              <a:gd name="adj" fmla="val 8594"/>
            </a:avLst>
          </a:prstGeom>
          <a:solidFill>
            <a:srgbClr val="07203C"/>
          </a:solidFill>
          <a:ln w="9525">
            <a:solidFill>
              <a:srgbClr val="07203C"/>
            </a:solidFill>
            <a:prstDash val="solid"/>
          </a:ln>
        </p:spPr>
      </p:sp>
      <p:sp>
        <p:nvSpPr>
          <p:cNvPr id="24" name="Text 22"/>
          <p:cNvSpPr txBox="1"/>
          <p:nvPr/>
        </p:nvSpPr>
        <p:spPr>
          <a:xfrm>
            <a:off x="877824" y="5815584"/>
            <a:ext cx="2651760" cy="274320"/>
          </a:xfrm>
          <a:prstGeom prst="rect">
            <a:avLst/>
          </a:prstGeom>
          <a:noFill/>
          <a:ln/>
        </p:spPr>
        <p:txBody>
          <a:bodyPr wrap="square" lIns="0" tIns="0" rIns="0" bIns="0" rtlCol="0" anchor="t"/>
          <a:lstStyle/>
          <a:p>
            <a:pPr indent="0" marL="0">
              <a:buNone/>
            </a:pPr>
            <a:r>
              <a:rPr lang="en-US" sz="1150" b="1" dirty="0">
                <a:solidFill>
                  <a:srgbClr val="6FE0D2"/>
                </a:solidFill>
                <a:latin typeface="Malgun Gothic" pitchFamily="34" charset="0"/>
                <a:ea typeface="Malgun Gothic" pitchFamily="34" charset="-122"/>
                <a:cs typeface="Malgun Gothic" pitchFamily="34" charset="-120"/>
              </a:rPr>
              <a:t>실패에서 얻은 가장 큰 것</a:t>
            </a:r>
            <a:endParaRPr lang="en-US" sz="1150" dirty="0"/>
          </a:p>
        </p:txBody>
      </p:sp>
      <p:sp>
        <p:nvSpPr>
          <p:cNvPr id="25" name="Text 23"/>
          <p:cNvSpPr txBox="1"/>
          <p:nvPr/>
        </p:nvSpPr>
        <p:spPr>
          <a:xfrm>
            <a:off x="3675888" y="5806440"/>
            <a:ext cx="7772400" cy="292608"/>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AI 호출이 실패했을 때 화면이 비었던 경험이 지금의 3단 폴백 구조를 만들었습니다.</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203C"/>
        </a:solidFill>
      </p:bgPr>
    </p:bg>
    <p:spTree>
      <p:nvGrpSpPr>
        <p:cNvPr id="1" name=""/>
        <p:cNvGrpSpPr/>
        <p:nvPr/>
      </p:nvGrpSpPr>
      <p:grpSpPr>
        <a:xfrm>
          <a:off x="0" y="0"/>
          <a:ext cx="0" cy="0"/>
          <a:chOff x="0" y="0"/>
          <a:chExt cx="0" cy="0"/>
        </a:xfrm>
      </p:grpSpPr>
      <p:sp>
        <p:nvSpPr>
          <p:cNvPr id="2" name="Text 0"/>
          <p:cNvSpPr txBox="1"/>
          <p:nvPr/>
        </p:nvSpPr>
        <p:spPr>
          <a:xfrm>
            <a:off x="566928" y="420624"/>
            <a:ext cx="11057839" cy="237744"/>
          </a:xfrm>
          <a:prstGeom prst="rect">
            <a:avLst/>
          </a:prstGeom>
          <a:noFill/>
          <a:ln/>
        </p:spPr>
        <p:txBody>
          <a:bodyPr wrap="square" lIns="0" tIns="0" rIns="0" bIns="0" rtlCol="0" anchor="t"/>
          <a:lstStyle/>
          <a:p>
            <a:pPr indent="0" marL="0">
              <a:buNone/>
            </a:pPr>
            <a:r>
              <a:rPr lang="en-US" sz="1100" b="1" spc="110" kern="0" dirty="0">
                <a:solidFill>
                  <a:srgbClr val="6FE0D2"/>
                </a:solidFill>
                <a:latin typeface="Malgun Gothic" pitchFamily="34" charset="0"/>
                <a:ea typeface="Malgun Gothic" pitchFamily="34" charset="-122"/>
                <a:cs typeface="Malgun Gothic" pitchFamily="34" charset="-120"/>
              </a:rPr>
              <a:t>EPILOGUE</a:t>
            </a:r>
            <a:endParaRPr lang="en-US" sz="1100" dirty="0"/>
          </a:p>
        </p:txBody>
      </p:sp>
      <p:sp>
        <p:nvSpPr>
          <p:cNvPr id="3" name="Text 1"/>
          <p:cNvSpPr txBox="1"/>
          <p:nvPr/>
        </p:nvSpPr>
        <p:spPr>
          <a:xfrm>
            <a:off x="566928" y="713232"/>
            <a:ext cx="11057839" cy="566928"/>
          </a:xfrm>
          <a:prstGeom prst="rect">
            <a:avLst/>
          </a:prstGeom>
          <a:noFill/>
          <a:ln/>
        </p:spPr>
        <p:txBody>
          <a:bodyPr wrap="square" lIns="0" tIns="0" rIns="0" bIns="0" rtlCol="0" anchor="t"/>
          <a:lstStyle/>
          <a:p>
            <a:pPr indent="0" marL="0">
              <a:buNone/>
            </a:pPr>
            <a:r>
              <a:rPr lang="en-US" sz="3200" b="1" dirty="0">
                <a:solidFill>
                  <a:srgbClr val="FFFFFF"/>
                </a:solidFill>
                <a:latin typeface="Malgun Gothic" pitchFamily="34" charset="0"/>
                <a:ea typeface="Malgun Gothic" pitchFamily="34" charset="-122"/>
                <a:cs typeface="Malgun Gothic" pitchFamily="34" charset="-120"/>
              </a:rPr>
              <a:t>교육 소감과 앞으로</a:t>
            </a:r>
            <a:endParaRPr lang="en-US" sz="3200" dirty="0"/>
          </a:p>
        </p:txBody>
      </p:sp>
      <p:sp>
        <p:nvSpPr>
          <p:cNvPr id="4" name="Text 2"/>
          <p:cNvSpPr txBox="1"/>
          <p:nvPr/>
        </p:nvSpPr>
        <p:spPr>
          <a:xfrm>
            <a:off x="8332927" y="6437376"/>
            <a:ext cx="3291840" cy="219456"/>
          </a:xfrm>
          <a:prstGeom prst="rect">
            <a:avLst/>
          </a:prstGeom>
          <a:noFill/>
          <a:ln/>
        </p:spPr>
        <p:txBody>
          <a:bodyPr wrap="square" lIns="0" tIns="0" rIns="0" bIns="0" rtlCol="0" anchor="t"/>
          <a:lstStyle/>
          <a:p>
            <a:pPr algn="r" indent="0" marL="0">
              <a:buNone/>
            </a:pPr>
            <a:r>
              <a:rPr lang="en-US" sz="950" spc="60" kern="0" dirty="0">
                <a:solidFill>
                  <a:srgbClr val="5D7C97"/>
                </a:solidFill>
                <a:latin typeface="Malgun Gothic" pitchFamily="34" charset="0"/>
                <a:ea typeface="Malgun Gothic" pitchFamily="34" charset="-122"/>
                <a:cs typeface="Malgun Gothic" pitchFamily="34" charset="-120"/>
              </a:rPr>
              <a:t>16 / 16     FUTURE:M RADAR</a:t>
            </a:r>
            <a:endParaRPr lang="en-US" sz="950" dirty="0"/>
          </a:p>
        </p:txBody>
      </p:sp>
      <p:sp>
        <p:nvSpPr>
          <p:cNvPr id="5" name="Shape 3"/>
          <p:cNvSpPr/>
          <p:nvPr/>
        </p:nvSpPr>
        <p:spPr>
          <a:xfrm>
            <a:off x="566928" y="1920240"/>
            <a:ext cx="3593592" cy="2615184"/>
          </a:xfrm>
          <a:prstGeom prst="roundRect">
            <a:avLst>
              <a:gd name="adj" fmla="val 1923"/>
            </a:avLst>
          </a:prstGeom>
          <a:solidFill>
            <a:srgbClr val="10375D"/>
          </a:solidFill>
          <a:ln w="9525">
            <a:solidFill>
              <a:srgbClr val="1B4B75"/>
            </a:solidFill>
            <a:prstDash val="solid"/>
          </a:ln>
        </p:spPr>
      </p:sp>
      <p:sp>
        <p:nvSpPr>
          <p:cNvPr id="6" name="Shape 4"/>
          <p:cNvSpPr/>
          <p:nvPr/>
        </p:nvSpPr>
        <p:spPr>
          <a:xfrm>
            <a:off x="859536" y="2176272"/>
            <a:ext cx="402336" cy="365760"/>
          </a:xfrm>
          <a:prstGeom prst="roundRect">
            <a:avLst>
              <a:gd name="adj" fmla="val 30000"/>
            </a:avLst>
          </a:prstGeom>
          <a:solidFill>
            <a:srgbClr val="17B7A6"/>
          </a:solidFill>
          <a:ln w="12700">
            <a:solidFill>
              <a:srgbClr val="17B7A6"/>
            </a:solidFill>
            <a:prstDash val="solid"/>
          </a:ln>
        </p:spPr>
      </p:sp>
      <p:sp>
        <p:nvSpPr>
          <p:cNvPr id="7" name="Text 5"/>
          <p:cNvSpPr txBox="1"/>
          <p:nvPr/>
        </p:nvSpPr>
        <p:spPr>
          <a:xfrm>
            <a:off x="859536" y="2176272"/>
            <a:ext cx="402336"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01</a:t>
            </a:r>
            <a:endParaRPr lang="en-US" sz="1200" dirty="0"/>
          </a:p>
        </p:txBody>
      </p:sp>
      <p:sp>
        <p:nvSpPr>
          <p:cNvPr id="8" name="Text 6"/>
          <p:cNvSpPr txBox="1"/>
          <p:nvPr/>
        </p:nvSpPr>
        <p:spPr>
          <a:xfrm>
            <a:off x="1371600" y="2212848"/>
            <a:ext cx="2651760" cy="292608"/>
          </a:xfrm>
          <a:prstGeom prst="rect">
            <a:avLst/>
          </a:prstGeom>
          <a:noFill/>
          <a:ln/>
        </p:spPr>
        <p:txBody>
          <a:bodyPr wrap="square" lIns="0" tIns="0" rIns="0" bIns="0" rtlCol="0" anchor="t"/>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기억에 남는 순간</a:t>
            </a:r>
            <a:endParaRPr lang="en-US" sz="1500" dirty="0"/>
          </a:p>
        </p:txBody>
      </p:sp>
      <p:sp>
        <p:nvSpPr>
          <p:cNvPr id="9" name="Text 7"/>
          <p:cNvSpPr txBox="1"/>
          <p:nvPr/>
        </p:nvSpPr>
        <p:spPr>
          <a:xfrm>
            <a:off x="859536" y="2761488"/>
            <a:ext cx="3017520" cy="274320"/>
          </a:xfrm>
          <a:prstGeom prst="rect">
            <a:avLst/>
          </a:prstGeom>
          <a:noFill/>
          <a:ln/>
        </p:spPr>
        <p:txBody>
          <a:bodyPr wrap="square" lIns="0" tIns="0" rIns="0" bIns="0" rtlCol="0" anchor="t"/>
          <a:lstStyle/>
          <a:p>
            <a:pPr indent="0" marL="0">
              <a:buNone/>
            </a:pPr>
            <a:r>
              <a:rPr lang="en-US" sz="1050" dirty="0">
                <a:solidFill>
                  <a:srgbClr val="8FAAC1"/>
                </a:solidFill>
                <a:latin typeface="Malgun Gothic" pitchFamily="34" charset="0"/>
                <a:ea typeface="Malgun Gothic" pitchFamily="34" charset="-122"/>
                <a:cs typeface="Malgun Gothic" pitchFamily="34" charset="-120"/>
              </a:rPr>
              <a:t>한 달간 가장 인상 깊었던 장면</a:t>
            </a:r>
            <a:endParaRPr lang="en-US" sz="1050" dirty="0"/>
          </a:p>
        </p:txBody>
      </p:sp>
      <p:sp>
        <p:nvSpPr>
          <p:cNvPr id="10" name="Shape 8"/>
          <p:cNvSpPr/>
          <p:nvPr/>
        </p:nvSpPr>
        <p:spPr>
          <a:xfrm>
            <a:off x="859536" y="3127248"/>
            <a:ext cx="3017520" cy="1133856"/>
          </a:xfrm>
          <a:prstGeom prst="roundRect">
            <a:avLst>
              <a:gd name="adj" fmla="val 4435"/>
            </a:avLst>
          </a:prstGeom>
          <a:solidFill>
            <a:srgbClr val="163F66"/>
          </a:solidFill>
          <a:ln w="9525">
            <a:solidFill>
              <a:srgbClr val="22557F"/>
            </a:solidFill>
            <a:prstDash val="solid"/>
          </a:ln>
        </p:spPr>
      </p:sp>
      <p:sp>
        <p:nvSpPr>
          <p:cNvPr id="11" name="Text 9"/>
          <p:cNvSpPr txBox="1"/>
          <p:nvPr/>
        </p:nvSpPr>
        <p:spPr>
          <a:xfrm>
            <a:off x="1042416" y="3310128"/>
            <a:ext cx="2651760" cy="274320"/>
          </a:xfrm>
          <a:prstGeom prst="rect">
            <a:avLst/>
          </a:prstGeom>
          <a:noFill/>
          <a:ln/>
        </p:spPr>
        <p:txBody>
          <a:bodyPr wrap="square" lIns="0" tIns="0" rIns="0" bIns="0" rtlCol="0" anchor="t"/>
          <a:lstStyle/>
          <a:p>
            <a:pPr indent="0" marL="0">
              <a:buNone/>
            </a:pPr>
            <a:r>
              <a:rPr lang="en-US" sz="1250" b="1" dirty="0">
                <a:solidFill>
                  <a:srgbClr val="F0C270"/>
                </a:solidFill>
                <a:latin typeface="Malgun Gothic" pitchFamily="34" charset="0"/>
                <a:ea typeface="Malgun Gothic" pitchFamily="34" charset="-122"/>
                <a:cs typeface="Malgun Gothic" pitchFamily="34" charset="-120"/>
              </a:rPr>
              <a:t>[입력 필요]</a:t>
            </a:r>
            <a:endParaRPr lang="en-US" sz="1250" dirty="0"/>
          </a:p>
        </p:txBody>
      </p:sp>
      <p:sp>
        <p:nvSpPr>
          <p:cNvPr id="12" name="Shape 10"/>
          <p:cNvSpPr/>
          <p:nvPr/>
        </p:nvSpPr>
        <p:spPr>
          <a:xfrm>
            <a:off x="4334256" y="1920240"/>
            <a:ext cx="3593592" cy="2615184"/>
          </a:xfrm>
          <a:prstGeom prst="roundRect">
            <a:avLst>
              <a:gd name="adj" fmla="val 1923"/>
            </a:avLst>
          </a:prstGeom>
          <a:solidFill>
            <a:srgbClr val="10375D"/>
          </a:solidFill>
          <a:ln w="9525">
            <a:solidFill>
              <a:srgbClr val="1B4B75"/>
            </a:solidFill>
            <a:prstDash val="solid"/>
          </a:ln>
        </p:spPr>
      </p:sp>
      <p:sp>
        <p:nvSpPr>
          <p:cNvPr id="13" name="Shape 11"/>
          <p:cNvSpPr/>
          <p:nvPr/>
        </p:nvSpPr>
        <p:spPr>
          <a:xfrm>
            <a:off x="4626864" y="2176272"/>
            <a:ext cx="402336" cy="365760"/>
          </a:xfrm>
          <a:prstGeom prst="roundRect">
            <a:avLst>
              <a:gd name="adj" fmla="val 30000"/>
            </a:avLst>
          </a:prstGeom>
          <a:solidFill>
            <a:srgbClr val="17B7A6"/>
          </a:solidFill>
          <a:ln w="12700">
            <a:solidFill>
              <a:srgbClr val="17B7A6"/>
            </a:solidFill>
            <a:prstDash val="solid"/>
          </a:ln>
        </p:spPr>
      </p:sp>
      <p:sp>
        <p:nvSpPr>
          <p:cNvPr id="14" name="Text 12"/>
          <p:cNvSpPr txBox="1"/>
          <p:nvPr/>
        </p:nvSpPr>
        <p:spPr>
          <a:xfrm>
            <a:off x="4626864" y="2176272"/>
            <a:ext cx="402336"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02</a:t>
            </a:r>
            <a:endParaRPr lang="en-US" sz="1200" dirty="0"/>
          </a:p>
        </p:txBody>
      </p:sp>
      <p:sp>
        <p:nvSpPr>
          <p:cNvPr id="15" name="Text 13"/>
          <p:cNvSpPr txBox="1"/>
          <p:nvPr/>
        </p:nvSpPr>
        <p:spPr>
          <a:xfrm>
            <a:off x="5138928" y="2212848"/>
            <a:ext cx="2651760" cy="292608"/>
          </a:xfrm>
          <a:prstGeom prst="rect">
            <a:avLst/>
          </a:prstGeom>
          <a:noFill/>
          <a:ln/>
        </p:spPr>
        <p:txBody>
          <a:bodyPr wrap="square" lIns="0" tIns="0" rIns="0" bIns="0" rtlCol="0" anchor="t"/>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가장 크게 성장한 부분</a:t>
            </a:r>
            <a:endParaRPr lang="en-US" sz="1500" dirty="0"/>
          </a:p>
        </p:txBody>
      </p:sp>
      <p:sp>
        <p:nvSpPr>
          <p:cNvPr id="16" name="Text 14"/>
          <p:cNvSpPr txBox="1"/>
          <p:nvPr/>
        </p:nvSpPr>
        <p:spPr>
          <a:xfrm>
            <a:off x="4626864" y="2761488"/>
            <a:ext cx="3017520" cy="274320"/>
          </a:xfrm>
          <a:prstGeom prst="rect">
            <a:avLst/>
          </a:prstGeom>
          <a:noFill/>
          <a:ln/>
        </p:spPr>
        <p:txBody>
          <a:bodyPr wrap="square" lIns="0" tIns="0" rIns="0" bIns="0" rtlCol="0" anchor="t"/>
          <a:lstStyle/>
          <a:p>
            <a:pPr indent="0" marL="0">
              <a:buNone/>
            </a:pPr>
            <a:r>
              <a:rPr lang="en-US" sz="1050" dirty="0">
                <a:solidFill>
                  <a:srgbClr val="8FAAC1"/>
                </a:solidFill>
                <a:latin typeface="Malgun Gothic" pitchFamily="34" charset="0"/>
                <a:ea typeface="Malgun Gothic" pitchFamily="34" charset="-122"/>
                <a:cs typeface="Malgun Gothic" pitchFamily="34" charset="-120"/>
              </a:rPr>
              <a:t>교육 전과 후에 달라진 나의 역량</a:t>
            </a:r>
            <a:endParaRPr lang="en-US" sz="1050" dirty="0"/>
          </a:p>
        </p:txBody>
      </p:sp>
      <p:sp>
        <p:nvSpPr>
          <p:cNvPr id="17" name="Shape 15"/>
          <p:cNvSpPr/>
          <p:nvPr/>
        </p:nvSpPr>
        <p:spPr>
          <a:xfrm>
            <a:off x="4626864" y="3127248"/>
            <a:ext cx="3017520" cy="1133856"/>
          </a:xfrm>
          <a:prstGeom prst="roundRect">
            <a:avLst>
              <a:gd name="adj" fmla="val 4435"/>
            </a:avLst>
          </a:prstGeom>
          <a:solidFill>
            <a:srgbClr val="163F66"/>
          </a:solidFill>
          <a:ln w="9525">
            <a:solidFill>
              <a:srgbClr val="22557F"/>
            </a:solidFill>
            <a:prstDash val="solid"/>
          </a:ln>
        </p:spPr>
      </p:sp>
      <p:sp>
        <p:nvSpPr>
          <p:cNvPr id="18" name="Text 16"/>
          <p:cNvSpPr txBox="1"/>
          <p:nvPr/>
        </p:nvSpPr>
        <p:spPr>
          <a:xfrm>
            <a:off x="4809744" y="3310128"/>
            <a:ext cx="2651760" cy="274320"/>
          </a:xfrm>
          <a:prstGeom prst="rect">
            <a:avLst/>
          </a:prstGeom>
          <a:noFill/>
          <a:ln/>
        </p:spPr>
        <p:txBody>
          <a:bodyPr wrap="square" lIns="0" tIns="0" rIns="0" bIns="0" rtlCol="0" anchor="t"/>
          <a:lstStyle/>
          <a:p>
            <a:pPr indent="0" marL="0">
              <a:buNone/>
            </a:pPr>
            <a:r>
              <a:rPr lang="en-US" sz="1250" b="1" dirty="0">
                <a:solidFill>
                  <a:srgbClr val="F0C270"/>
                </a:solidFill>
                <a:latin typeface="Malgun Gothic" pitchFamily="34" charset="0"/>
                <a:ea typeface="Malgun Gothic" pitchFamily="34" charset="-122"/>
                <a:cs typeface="Malgun Gothic" pitchFamily="34" charset="-120"/>
              </a:rPr>
              <a:t>[입력 필요]</a:t>
            </a:r>
            <a:endParaRPr lang="en-US" sz="1250" dirty="0"/>
          </a:p>
        </p:txBody>
      </p:sp>
      <p:sp>
        <p:nvSpPr>
          <p:cNvPr id="19" name="Shape 17"/>
          <p:cNvSpPr/>
          <p:nvPr/>
        </p:nvSpPr>
        <p:spPr>
          <a:xfrm>
            <a:off x="8101584" y="1920240"/>
            <a:ext cx="3593592" cy="2615184"/>
          </a:xfrm>
          <a:prstGeom prst="roundRect">
            <a:avLst>
              <a:gd name="adj" fmla="val 1923"/>
            </a:avLst>
          </a:prstGeom>
          <a:solidFill>
            <a:srgbClr val="10375D"/>
          </a:solidFill>
          <a:ln w="9525">
            <a:solidFill>
              <a:srgbClr val="1B4B75"/>
            </a:solidFill>
            <a:prstDash val="solid"/>
          </a:ln>
        </p:spPr>
      </p:sp>
      <p:sp>
        <p:nvSpPr>
          <p:cNvPr id="20" name="Shape 18"/>
          <p:cNvSpPr/>
          <p:nvPr/>
        </p:nvSpPr>
        <p:spPr>
          <a:xfrm>
            <a:off x="8394192" y="2176272"/>
            <a:ext cx="402336" cy="365760"/>
          </a:xfrm>
          <a:prstGeom prst="roundRect">
            <a:avLst>
              <a:gd name="adj" fmla="val 30000"/>
            </a:avLst>
          </a:prstGeom>
          <a:solidFill>
            <a:srgbClr val="17B7A6"/>
          </a:solidFill>
          <a:ln w="12700">
            <a:solidFill>
              <a:srgbClr val="17B7A6"/>
            </a:solidFill>
            <a:prstDash val="solid"/>
          </a:ln>
        </p:spPr>
      </p:sp>
      <p:sp>
        <p:nvSpPr>
          <p:cNvPr id="21" name="Text 19"/>
          <p:cNvSpPr txBox="1"/>
          <p:nvPr/>
        </p:nvSpPr>
        <p:spPr>
          <a:xfrm>
            <a:off x="8394192" y="2176272"/>
            <a:ext cx="402336"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03</a:t>
            </a:r>
            <a:endParaRPr lang="en-US" sz="1200" dirty="0"/>
          </a:p>
        </p:txBody>
      </p:sp>
      <p:sp>
        <p:nvSpPr>
          <p:cNvPr id="22" name="Text 20"/>
          <p:cNvSpPr txBox="1"/>
          <p:nvPr/>
        </p:nvSpPr>
        <p:spPr>
          <a:xfrm>
            <a:off x="8906256" y="2212848"/>
            <a:ext cx="2651760" cy="292608"/>
          </a:xfrm>
          <a:prstGeom prst="rect">
            <a:avLst/>
          </a:prstGeom>
          <a:noFill/>
          <a:ln/>
        </p:spPr>
        <p:txBody>
          <a:bodyPr wrap="square" lIns="0" tIns="0" rIns="0" bIns="0" rtlCol="0" anchor="t"/>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실무에서의 활용 계획</a:t>
            </a:r>
            <a:endParaRPr lang="en-US" sz="1500" dirty="0"/>
          </a:p>
        </p:txBody>
      </p:sp>
      <p:sp>
        <p:nvSpPr>
          <p:cNvPr id="23" name="Text 21"/>
          <p:cNvSpPr txBox="1"/>
          <p:nvPr/>
        </p:nvSpPr>
        <p:spPr>
          <a:xfrm>
            <a:off x="8394192" y="2761488"/>
            <a:ext cx="3017520" cy="274320"/>
          </a:xfrm>
          <a:prstGeom prst="rect">
            <a:avLst/>
          </a:prstGeom>
          <a:noFill/>
          <a:ln/>
        </p:spPr>
        <p:txBody>
          <a:bodyPr wrap="square" lIns="0" tIns="0" rIns="0" bIns="0" rtlCol="0" anchor="t"/>
          <a:lstStyle/>
          <a:p>
            <a:pPr indent="0" marL="0">
              <a:buNone/>
            </a:pPr>
            <a:r>
              <a:rPr lang="en-US" sz="1050" dirty="0">
                <a:solidFill>
                  <a:srgbClr val="8FAAC1"/>
                </a:solidFill>
                <a:latin typeface="Malgun Gothic" pitchFamily="34" charset="0"/>
                <a:ea typeface="Malgun Gothic" pitchFamily="34" charset="-122"/>
                <a:cs typeface="Malgun Gothic" pitchFamily="34" charset="-120"/>
              </a:rPr>
              <a:t>이 결과물을 업무에 어떻게 이어갈 것인가</a:t>
            </a:r>
            <a:endParaRPr lang="en-US" sz="1050" dirty="0"/>
          </a:p>
        </p:txBody>
      </p:sp>
      <p:sp>
        <p:nvSpPr>
          <p:cNvPr id="24" name="Shape 22"/>
          <p:cNvSpPr/>
          <p:nvPr/>
        </p:nvSpPr>
        <p:spPr>
          <a:xfrm>
            <a:off x="8394192" y="3127248"/>
            <a:ext cx="3017520" cy="1133856"/>
          </a:xfrm>
          <a:prstGeom prst="roundRect">
            <a:avLst>
              <a:gd name="adj" fmla="val 4435"/>
            </a:avLst>
          </a:prstGeom>
          <a:solidFill>
            <a:srgbClr val="163F66"/>
          </a:solidFill>
          <a:ln w="9525">
            <a:solidFill>
              <a:srgbClr val="22557F"/>
            </a:solidFill>
            <a:prstDash val="solid"/>
          </a:ln>
        </p:spPr>
      </p:sp>
      <p:sp>
        <p:nvSpPr>
          <p:cNvPr id="25" name="Text 23"/>
          <p:cNvSpPr txBox="1"/>
          <p:nvPr/>
        </p:nvSpPr>
        <p:spPr>
          <a:xfrm>
            <a:off x="8577072" y="3310128"/>
            <a:ext cx="2651760" cy="274320"/>
          </a:xfrm>
          <a:prstGeom prst="rect">
            <a:avLst/>
          </a:prstGeom>
          <a:noFill/>
          <a:ln/>
        </p:spPr>
        <p:txBody>
          <a:bodyPr wrap="square" lIns="0" tIns="0" rIns="0" bIns="0" rtlCol="0" anchor="t"/>
          <a:lstStyle/>
          <a:p>
            <a:pPr indent="0" marL="0">
              <a:buNone/>
            </a:pPr>
            <a:r>
              <a:rPr lang="en-US" sz="1250" b="1" dirty="0">
                <a:solidFill>
                  <a:srgbClr val="F0C270"/>
                </a:solidFill>
                <a:latin typeface="Malgun Gothic" pitchFamily="34" charset="0"/>
                <a:ea typeface="Malgun Gothic" pitchFamily="34" charset="-122"/>
                <a:cs typeface="Malgun Gothic" pitchFamily="34" charset="-120"/>
              </a:rPr>
              <a:t>[입력 필요]</a:t>
            </a:r>
            <a:endParaRPr lang="en-US" sz="1250" dirty="0"/>
          </a:p>
        </p:txBody>
      </p:sp>
      <p:sp>
        <p:nvSpPr>
          <p:cNvPr id="26" name="Text 24"/>
          <p:cNvSpPr txBox="1"/>
          <p:nvPr/>
        </p:nvSpPr>
        <p:spPr>
          <a:xfrm>
            <a:off x="566928" y="4956048"/>
            <a:ext cx="6400800" cy="548640"/>
          </a:xfrm>
          <a:prstGeom prst="rect">
            <a:avLst/>
          </a:prstGeom>
          <a:noFill/>
          <a:ln/>
        </p:spPr>
        <p:txBody>
          <a:bodyPr wrap="square" lIns="0" tIns="0" rIns="0" bIns="0" rtlCol="0" anchor="t"/>
          <a:lstStyle/>
          <a:p>
            <a:pPr indent="0" marL="0">
              <a:buNone/>
            </a:pPr>
            <a:r>
              <a:rPr lang="en-US" sz="3200" b="1" dirty="0">
                <a:solidFill>
                  <a:srgbClr val="FFFFFF"/>
                </a:solidFill>
                <a:latin typeface="Malgun Gothic" pitchFamily="34" charset="0"/>
                <a:ea typeface="Malgun Gothic" pitchFamily="34" charset="-122"/>
                <a:cs typeface="Malgun Gothic" pitchFamily="34" charset="-120"/>
              </a:rPr>
              <a:t>FUTURE:M RADAR</a:t>
            </a:r>
            <a:endParaRPr lang="en-US" sz="3200" dirty="0"/>
          </a:p>
        </p:txBody>
      </p:sp>
      <p:sp>
        <p:nvSpPr>
          <p:cNvPr id="27" name="Text 25"/>
          <p:cNvSpPr txBox="1"/>
          <p:nvPr/>
        </p:nvSpPr>
        <p:spPr>
          <a:xfrm>
            <a:off x="566928" y="5522976"/>
            <a:ext cx="6400800" cy="292608"/>
          </a:xfrm>
          <a:prstGeom prst="rect">
            <a:avLst/>
          </a:prstGeom>
          <a:noFill/>
          <a:ln/>
        </p:spPr>
        <p:txBody>
          <a:bodyPr wrap="square" lIns="0" tIns="0" rIns="0" bIns="0" rtlCol="0" anchor="t"/>
          <a:lstStyle/>
          <a:p>
            <a:pPr indent="0" marL="0">
              <a:buNone/>
            </a:pPr>
            <a:r>
              <a:rPr lang="en-US" sz="1300" dirty="0">
                <a:solidFill>
                  <a:srgbClr val="9EB8CD"/>
                </a:solidFill>
                <a:latin typeface="Malgun Gothic" pitchFamily="34" charset="0"/>
                <a:ea typeface="Malgun Gothic" pitchFamily="34" charset="-122"/>
                <a:cs typeface="Malgun Gothic" pitchFamily="34" charset="-120"/>
              </a:rPr>
              <a:t>배터리 소재 산업 경쟁 인텔리전스 자동화 플랫폼</a:t>
            </a:r>
            <a:endParaRPr lang="en-US" sz="1300" dirty="0"/>
          </a:p>
        </p:txBody>
      </p:sp>
      <p:sp>
        <p:nvSpPr>
          <p:cNvPr id="28" name="Text 26"/>
          <p:cNvSpPr txBox="1"/>
          <p:nvPr/>
        </p:nvSpPr>
        <p:spPr>
          <a:xfrm>
            <a:off x="7418527" y="5029200"/>
            <a:ext cx="4206240" cy="548640"/>
          </a:xfrm>
          <a:prstGeom prst="rect">
            <a:avLst/>
          </a:prstGeom>
          <a:noFill/>
          <a:ln/>
        </p:spPr>
        <p:txBody>
          <a:bodyPr wrap="square" lIns="0" tIns="0" rIns="0" bIns="0" rtlCol="0" anchor="t"/>
          <a:lstStyle/>
          <a:p>
            <a:pPr algn="r" indent="0" marL="0">
              <a:buNone/>
            </a:pPr>
            <a:r>
              <a:rPr lang="en-US" sz="3000" b="1" dirty="0">
                <a:solidFill>
                  <a:srgbClr val="6FE0D2"/>
                </a:solidFill>
                <a:latin typeface="Malgun Gothic" pitchFamily="34" charset="0"/>
                <a:ea typeface="Malgun Gothic" pitchFamily="34" charset="-122"/>
                <a:cs typeface="Malgun Gothic" pitchFamily="34" charset="-120"/>
              </a:rPr>
              <a:t>감사합니다</a:t>
            </a:r>
            <a:endParaRPr lang="en-US" sz="3000" dirty="0"/>
          </a:p>
        </p:txBody>
      </p:sp>
      <p:sp>
        <p:nvSpPr>
          <p:cNvPr id="29" name="Text 27"/>
          <p:cNvSpPr txBox="1"/>
          <p:nvPr/>
        </p:nvSpPr>
        <p:spPr>
          <a:xfrm>
            <a:off x="7418527" y="5596128"/>
            <a:ext cx="4206240" cy="292608"/>
          </a:xfrm>
          <a:prstGeom prst="rect">
            <a:avLst/>
          </a:prstGeom>
          <a:noFill/>
          <a:ln/>
        </p:spPr>
        <p:txBody>
          <a:bodyPr wrap="square" lIns="0" tIns="0" rIns="0" bIns="0" rtlCol="0" anchor="t"/>
          <a:lstStyle/>
          <a:p>
            <a:pPr algn="r" indent="0" marL="0">
              <a:buNone/>
            </a:pPr>
            <a:r>
              <a:rPr lang="en-US" sz="1300" spc="240" kern="0" dirty="0">
                <a:solidFill>
                  <a:srgbClr val="6C8AA5"/>
                </a:solidFill>
                <a:latin typeface="Malgun Gothic" pitchFamily="34" charset="0"/>
                <a:ea typeface="Malgun Gothic" pitchFamily="34" charset="-122"/>
                <a:cs typeface="Malgun Gothic" pitchFamily="34" charset="-120"/>
              </a:rPr>
              <a:t>Q &amp; 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FUTURE:M RADAR - AI 교육 최종 발표</dc:title>
  <dc:subject>PptxGenJS Presentation</dc:subject>
  <dc:creator>FUTURE:M RADAR</dc:creator>
  <cp:lastModifiedBy>FUTURE:M RADAR</cp:lastModifiedBy>
  <cp:revision>1</cp:revision>
  <dcterms:created xsi:type="dcterms:W3CDTF">2026-09-10T02:05:50Z</dcterms:created>
  <dcterms:modified xsi:type="dcterms:W3CDTF">2026-09-10T02:05:50Z</dcterms:modified>
</cp:coreProperties>
</file>