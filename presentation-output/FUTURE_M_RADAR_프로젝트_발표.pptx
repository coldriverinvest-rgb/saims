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FUTURE:M RADAR 프로젝트 발표를 시작하겠습니다. 배터리 소재 산업의 경쟁·고객사 동향을 자동으로 모아 경영 판단에 바로 쓸 수 있는 형태로 전달하는 플랫폼입니다. 오늘은 무엇을 왜 만들었는지, 어떻게 구현했는지, 무엇을 배웠는지 순서로 말씀드리겠습니다.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프로젝트를 한 장으로 요약하면 이렇습니다. 무엇을, 왜, 어떻게 만들었는지 세 가지이고, 아래는 실제 실행해서 측정한 수치입니다. 30일 기준 118건을 수집해 6건의 주요 공시를 자동 판별하고 최종 3건을 브리핑으로 올립니다.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제가 개선하려 한 업무는 배터리 소재 밸류체인 9개사 동향 모니터링입니다. 왼쪽이 기존 방식인데 다섯 단계 모두 사람 손을 거칩니다. 여기서 문제를 정보를 모으는 문제가 아니라 판단까지의 거리를 줄이는 문제로 정의했고, 그래서 시스템이 모으기·고르기·해석하기 세 가지를 대신해야 한다고 봤습니다.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장이 오늘 발표에서 제가 가장 강조하고 싶은 부분입니다. 기능을 많이 넣는 것보다 이 세 가지가 중요하다고 봤습니다. 첫째 틀려도 멈추지 않을 것, 실제로 초기에 AI 응답이 깨져서 화면이 통째로 빈 경험에서 나온 원칙입니다. 둘째 근거를 잃지 않을 것, 셋째 판단 기준을 사람이 아니라 코드에 둘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아키텍처는 네 계층으로 분리했습니다. 이렇게 나눈 실질적 이득은 교체 비용인데, 실제로 원자재 소스를 SMM에서 KOMIS로 바꿀 때 수집 모듈 하나만 교체하면 됐습니다. 아래는 상시 실행되는 백그라운드 워커 두 개와 데이터 저장 구조입니다.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기술 스택입니다. 각 카드 아래에 왜 그걸 골랐는지 이유를 적어놨습니다. AI는 Gemini flash-lite를 1차로 쓴 이유가 속도와 비용인데, 안정성은 GPT-4o 폴백으로 확보하는 방식으로 나눴습니다. 전체 규모는 30개 파일, 3,300줄 정도입니다.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번째 기능은 산업 인텔리전스입니다. 9개사의 공시와 뉴스를 하나의 피드로 통합하고, 상단 AI 브리핑이 오늘 확인할 3건을 자동으로 뽑아줍니다. 구현에서 신경 쓴 건 병렬 수집과 브리핑 선별 로직인데, 같은 기업 건이 3개를 다 차지하지 않도록 중복 배제를 넣었습니다.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번째는 경쟁사 신호 히트맵입니다. 수집한 이벤트를 네 개 축으로 정규식 분류하고 가중 합산해서 확인필요, 관찰강화, 일반 등급을 자동으로 붙입니다. 리스크에 0.45로 가장 큰 가중치를 준 이유는 위험 신호를 항상 먼저 보이게 하기 위해서입니다.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번째는 정량 검증 도구 3종입니다. 재무분석에서 기술적으로 까다로웠던 건 DART 재무제표가 누적값으로 오기 때문에 이걸 단일 분기로 환산하는 계산이었습니다. 원자재는 KOMIS 공개 시세를 한 시간마다 백그라운드로 모으는데, 수집에 실패해도 마지막 값을 유지하도록 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번째는 자동 알림입니다. 5분마다 스캔해서 12개 유형에 걸리면 원문을 파싱하고 AI 분석을 붙여 텔레그램과 이메일로 동시에 보냅니다. 여기서 가장 신경 쓴 건 멱등성인데, 5분마다 스캔이 도니까 중복 발송을 막지 않으면 같은 공시가 계속 나갑니다. 복합 기본키로 이력을 남겨 해결했습니다.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라이브러리로 해결이 안 돼서 직접 설계한 세 가지입니다. 첫째 뉴스 중복 제거인데 제목 키워드의 자카드 유사도로 같은 이슈를 묶습니다. 둘째 AI 출력 검증과 3단 폴백, 셋째 병렬 수집과 캐시입니다. 이 프로젝트에서 얻은 가장 큰 교훈은 모델을 바꾸는 것보다 입력을 정리하고 출력 형식을 강제하는 게 품질에 더 크게 작용한다는 점이었습니다.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실제로 막혔던 지점들입니다. 특히 마지막 다섯 번째가 인상 깊었는데, 처음에는 모든 예외를 조용히 삼키고 빈 배열을 돌려주게 짜놨습니다. 그러다 보니 실패해도 아무도 모르는 상태였고, 로깅을 붙이고 나서야 두 번째 항목인 기업명 불일치 버그를 발견했습니다.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결과입니다. 정량 지표 중 앞의 네 개는 실제로 실행해서 측정한 값이고, 마지막 월 30시간만 업무 기준 추정치입니다. 이 구분을 표에 그대로 표시했습니다.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교육에서 배운 내용이 어느 코드에 어떻게 들어갔는지 정리한 표입니다. 주차와 개념 칸, 그리고 아래 멘토링 반영 내용은 발표 전에 실제 커리큘럼에 맞춰 채워 넣으시면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마지막으로 배운 점과 남은 과제입니다. 가장 크게 배운 건 LLM을 쓸 때 프롬프트보다 출력 계약이 중요하다는 점, 그리고 실패를 가정하고 설계해야 한다는 점이었습니다. 남은 과제도 솔직하게 적었습니다. 교육 소감은 발표 전에 채워 넣겠습니다. 발표를 마치겠습니다.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1179576"/>
            <a:ext cx="91440" cy="91440"/>
          </a:xfrm>
          <a:prstGeom prst="rect">
            <a:avLst/>
          </a:prstGeom>
          <a:solidFill>
            <a:srgbClr val="E0A76D"/>
          </a:solidFill>
          <a:ln w="12700">
            <a:solidFill>
              <a:srgbClr val="E0A76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113385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실무 프로젝트   ·   최종 발표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664208"/>
            <a:ext cx="85953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spc="-6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FUTURE:M RADAR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268833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배터리 소재 산업 경쟁 인텔리전스 플랫폼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13232" y="3346704"/>
            <a:ext cx="822960" cy="10973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3602736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공시·뉴스·재무·주가·원자재를 자동으로 모으고,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자사 관점의 시사점까지 붙여 경영 판단 직전 단계로 전달합니다.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13232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0684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8136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75588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63040" y="4956048"/>
            <a:ext cx="118872" cy="20802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50492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37944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25396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12848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00300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87752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75204" y="4956048"/>
            <a:ext cx="118872" cy="20802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62656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50108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37560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5012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12464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99916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87368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74820" y="4956048"/>
            <a:ext cx="118872" cy="20802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62272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49724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37176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4628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12080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99532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13232" y="53583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118건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2633472" y="53583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 안건 3건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278063" y="1133856"/>
            <a:ext cx="18288" cy="4224528"/>
          </a:xfrm>
          <a:prstGeom prst="rect">
            <a:avLst/>
          </a:prstGeom>
          <a:solidFill>
            <a:srgbClr val="2B3A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643823" y="113385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기간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8643823" y="14081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08 ~ 09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643823" y="221284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인원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8643823" y="2487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 (기획·개발 전담)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8643823" y="32918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규모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8643823" y="3566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3,300줄 · 파일 30개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8643823" y="43708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8643823" y="46451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[입력 필요]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713232" y="608990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자료의 수치는 2026년 9월 10일 실행 결과에서 직접 측정한 값입니다.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98348"/>
            <a:ext cx="82296" cy="8229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457200"/>
            <a:ext cx="10564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68096"/>
            <a:ext cx="1076523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한눈에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13232" y="1755648"/>
            <a:ext cx="3401568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4128" y="1993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22860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만들었나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24128" y="2670048"/>
            <a:ext cx="2779776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24128" y="2852928"/>
            <a:ext cx="27980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배터리 소재 9개사의 공시·뉴스·재무·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주가·원자재를 한 화면에 모으고,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요약과 시사점을 붙이는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애플리케이션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70832" y="1755648"/>
            <a:ext cx="3401568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81728" y="1993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84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81728" y="22860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만들었나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81728" y="2670048"/>
            <a:ext cx="2779776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81728" y="2852928"/>
            <a:ext cx="27980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 동향 파악이 매일 9개 사이트를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손으로 도는 일이었고,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건이 하루 늦게 인지되거나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아예 묻히는 구조였습니다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28432" y="1755648"/>
            <a:ext cx="3401568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39328" y="1993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561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39328" y="22860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만들었나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339328" y="2670048"/>
            <a:ext cx="2779776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39328" y="2852928"/>
            <a:ext cx="27980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+ React 분리 구조에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 4종을 병렬로 연동하고,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응답을 스키마로 강제·검증하는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 폴백을 설계했습니다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13232" y="4626864"/>
            <a:ext cx="10765231" cy="1572768"/>
          </a:xfrm>
          <a:prstGeom prst="rect">
            <a:avLst/>
          </a:prstGeom>
          <a:solidFill>
            <a:srgbClr val="0E162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97280" y="48463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 실측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51937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118건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559612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30일 수집량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581558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 80 + 뉴스 38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3145536" y="51937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6건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3145536" y="559612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공시 자동 판별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145536" y="581558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 유형 규칙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5193792" y="51937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3건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5193792" y="559612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 브리핑 안건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193792" y="581558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기업 배제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7242048" y="51937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2.9초</a:t>
            </a:r>
            <a:endParaRPr lang="en-US" sz="2400" dirty="0"/>
          </a:p>
        </p:txBody>
      </p:sp>
      <p:sp>
        <p:nvSpPr>
          <p:cNvPr id="33" name="Text 31"/>
          <p:cNvSpPr txBox="1"/>
          <p:nvPr/>
        </p:nvSpPr>
        <p:spPr>
          <a:xfrm>
            <a:off x="7242048" y="559612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9개사 전체 수집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242048" y="581558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18개 요청 병렬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9290304" y="51937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0.02초</a:t>
            </a:r>
            <a:endParaRPr lang="en-US" sz="2400" dirty="0"/>
          </a:p>
        </p:txBody>
      </p:sp>
      <p:sp>
        <p:nvSpPr>
          <p:cNvPr id="36" name="Text 34"/>
          <p:cNvSpPr txBox="1"/>
          <p:nvPr/>
        </p:nvSpPr>
        <p:spPr>
          <a:xfrm>
            <a:off x="9290304" y="559612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재조회 응답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290304" y="581558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TTL 캐시 적용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1975104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0" b="1" dirty="0">
                <a:solidFill>
                  <a:srgbClr val="2B3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1800" dirty="0"/>
          </a:p>
        </p:txBody>
      </p:sp>
      <p:sp>
        <p:nvSpPr>
          <p:cNvPr id="3" name="Shape 1"/>
          <p:cNvSpPr/>
          <p:nvPr/>
        </p:nvSpPr>
        <p:spPr>
          <a:xfrm>
            <a:off x="749808" y="3968496"/>
            <a:ext cx="118872" cy="118872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42245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무엇을, 왜 만들었나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4956048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정의와 설계에서 가장 신경 쓴 세 가지입니다.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863840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51292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38744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26196" y="3054096"/>
            <a:ext cx="118872" cy="20802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13648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01100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88552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76004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63456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50908" y="3054096"/>
            <a:ext cx="118872" cy="20802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38360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25812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13264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00716" y="3054096"/>
            <a:ext cx="118872" cy="20802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88168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98348"/>
            <a:ext cx="82296" cy="8229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457200"/>
            <a:ext cx="10564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문제 정의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68096"/>
            <a:ext cx="1076523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9개 회사를 손으로 도는 일이었습니다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353312"/>
            <a:ext cx="107652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포스코퓨처엠 기준 배터리 소재 밸류체인 · 자사 1 · 경쟁사 4 · 고객사 4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13232" y="1810512"/>
            <a:ext cx="5029200" cy="3986784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4128" y="2029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방식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2505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24871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DART 전자공시 개별 조회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27432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9개사를 하나씩 검색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24128" y="2999232"/>
            <a:ext cx="4407408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24128" y="310896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30906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 포털 개별 검색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481328" y="33467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회사명 + 소재 키워드 조합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24128" y="3602736"/>
            <a:ext cx="4407408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24128" y="371246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36941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기사 육안 선별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481328" y="395020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이슈가 4~5개 매체로 재생산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24128" y="4206240"/>
            <a:ext cx="4407408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4128" y="431596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481328" y="42976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중요도 판단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481328" y="455371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경험에 의존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24128" y="4809744"/>
            <a:ext cx="4407408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24128" y="491947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84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481328" y="49011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메일·메신저 수동 공유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481328" y="51572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요약과 시사점을 매번 재작성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98464" y="1810512"/>
            <a:ext cx="5477256" cy="1883664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09360" y="2029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프로젝트의 목표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309360" y="2395728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‘정보를 모으는 문제’가 아니라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‘판단까지의 거리’를 줄이는 문제로 정의했습니다.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309360" y="3090672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수집을 자동화하는 데서 그치지 않고, 무엇이 중요한지 판별하고 자사 관점의 시사점까지 붙여 경영 판단 직전 단계로 전달하는 것을 목표로 삼았습니다.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98464" y="3913632"/>
            <a:ext cx="5477256" cy="1883664"/>
          </a:xfrm>
          <a:prstGeom prst="rect">
            <a:avLst/>
          </a:prstGeom>
          <a:solidFill>
            <a:srgbClr val="0E162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09360" y="4133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시스템이 대신해야 할 3가지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09360" y="4590288"/>
            <a:ext cx="73152" cy="73152"/>
          </a:xfrm>
          <a:prstGeom prst="rect">
            <a:avLst/>
          </a:prstGeom>
          <a:solidFill>
            <a:srgbClr val="E0A76D"/>
          </a:solidFill>
          <a:ln w="12700">
            <a:solidFill>
              <a:srgbClr val="E0A76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10528" y="45171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모으기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754112" y="45354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9개사 × 4개 소스를 자동으로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309360" y="4992624"/>
            <a:ext cx="73152" cy="73152"/>
          </a:xfrm>
          <a:prstGeom prst="rect">
            <a:avLst/>
          </a:prstGeom>
          <a:solidFill>
            <a:srgbClr val="E0A76D"/>
          </a:solidFill>
          <a:ln w="12700">
            <a:solidFill>
              <a:srgbClr val="E0A76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10528" y="49194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고르기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754112" y="49377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중요도를 규칙으로 판별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309360" y="5394960"/>
            <a:ext cx="73152" cy="73152"/>
          </a:xfrm>
          <a:prstGeom prst="rect">
            <a:avLst/>
          </a:prstGeom>
          <a:solidFill>
            <a:srgbClr val="E0A76D"/>
          </a:solidFill>
          <a:ln w="12700">
            <a:solidFill>
              <a:srgbClr val="E0A76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510528" y="53218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해석하기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7754112" y="53400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 관점 시사점까지 생성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98348"/>
            <a:ext cx="82296" cy="8229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457200"/>
            <a:ext cx="10564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설계 원칙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68096"/>
            <a:ext cx="1076523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설계에서 가장 신경 쓴 세 가지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353312"/>
            <a:ext cx="107652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기능을 늘리기보다, 이 세 가지가 무너지면 쓸모가 없다고 판단했습니다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13232" y="1792224"/>
            <a:ext cx="3401568" cy="3986784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4128" y="20299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234086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틀려도 멈추지 않을 것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24128" y="3035808"/>
            <a:ext cx="2779776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4128" y="3218688"/>
            <a:ext cx="279806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호출은 반드시 실패합니다. 실제로 초기에 Gemini 응답이 한 번 깨지자 화면 전체가 비었습니다.</a:t>
            </a:r>
            <a:endParaRPr lang="en-US" sz="1050" dirty="0"/>
          </a:p>
          <a:p>
            <a:pPr indent="0" marL="0">
              <a:lnSpc>
                <a:spcPts val="17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Gemini → GPT-4o → 사전 정의 기본값 순으로 내려가는 3단 폴백을 넣었습니다.</a:t>
            </a:r>
            <a:endParaRPr lang="en-US" sz="1050" dirty="0"/>
          </a:p>
          <a:p>
            <a:pPr indent="0" marL="0">
              <a:lnSpc>
                <a:spcPts val="17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소스가 하나 죽어도 나머지 8개사 결과는 그대로 화면에 나옵니다.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24128" y="5230368"/>
            <a:ext cx="2779776" cy="384048"/>
          </a:xfrm>
          <a:prstGeom prst="rect">
            <a:avLst/>
          </a:prstGeom>
          <a:solidFill>
            <a:srgbClr val="F5F6F8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24128" y="5330952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시에도 화면·알림 중단 없음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70832" y="1792224"/>
            <a:ext cx="3401568" cy="3986784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81728" y="20299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561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681728" y="234086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근거를 잃지 않을 것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81728" y="3035808"/>
            <a:ext cx="2779776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81728" y="3218688"/>
            <a:ext cx="279806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요약만 남고 원문이 사라지면, 틀렸을 때 어디서 틀렸는지 확인할 방법이 없습니다.</a:t>
            </a:r>
            <a:endParaRPr lang="en-US" sz="1050" dirty="0"/>
          </a:p>
          <a:p>
            <a:pPr indent="0" marL="0">
              <a:lnSpc>
                <a:spcPts val="17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분석 결과에 DART 원문 또는 기사 링크를 함께 저장하고 화면·알림에 항상 노출했습니다.</a:t>
            </a:r>
            <a:endParaRPr lang="en-US" sz="1050" dirty="0"/>
          </a:p>
          <a:p>
            <a:pPr indent="0" marL="0">
              <a:lnSpc>
                <a:spcPts val="17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 분석은 요약이 아니라 원문 HTML을 직접 파싱해 근거 수치를 추출합니다.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81728" y="5230368"/>
            <a:ext cx="2779776" cy="384048"/>
          </a:xfrm>
          <a:prstGeom prst="rect">
            <a:avLst/>
          </a:prstGeom>
          <a:solidFill>
            <a:srgbClr val="F5F6F8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81728" y="5330952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561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결론에 원문 링크 100%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28432" y="1792224"/>
            <a:ext cx="3401568" cy="3986784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39328" y="20299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C4E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339328" y="234086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기준을 사람에게 두지 말 것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39328" y="3035808"/>
            <a:ext cx="2779776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39328" y="3218688"/>
            <a:ext cx="279806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중요도를 담당자 감각에 맡기면 사람이 바뀔 때마다 기준이 흔들립니다.</a:t>
            </a:r>
            <a:endParaRPr lang="en-US" sz="1050" dirty="0"/>
          </a:p>
          <a:p>
            <a:pPr indent="0" marL="0">
              <a:lnSpc>
                <a:spcPts val="17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공시 12개 유형과 4개 신호 축(수주·투자·기술·리스크)을 코드에 규칙으로 고정했습니다.</a:t>
            </a:r>
            <a:endParaRPr lang="en-US" sz="1050" dirty="0"/>
          </a:p>
          <a:p>
            <a:pPr indent="0" marL="0">
              <a:lnSpc>
                <a:spcPts val="17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리스크에 가중치 0.45를 둬 위험 신호가 항상 먼저 올라오게 했습니다.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339328" y="5230368"/>
            <a:ext cx="2779776" cy="384048"/>
          </a:xfrm>
          <a:prstGeom prst="rect">
            <a:avLst/>
          </a:prstGeom>
          <a:solidFill>
            <a:srgbClr val="F5F6F8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39328" y="5330952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4E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규칙을 코드로 고정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1975104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0" b="1" dirty="0">
                <a:solidFill>
                  <a:srgbClr val="2B3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800" dirty="0"/>
          </a:p>
        </p:txBody>
      </p:sp>
      <p:sp>
        <p:nvSpPr>
          <p:cNvPr id="3" name="Shape 1"/>
          <p:cNvSpPr/>
          <p:nvPr/>
        </p:nvSpPr>
        <p:spPr>
          <a:xfrm>
            <a:off x="749808" y="3968496"/>
            <a:ext cx="118872" cy="118872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42245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만들었나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4956048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아키텍처와 기술 스택, 그리고 실제로 구현한 기능들입니다.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863840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51292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38744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26196" y="3054096"/>
            <a:ext cx="118872" cy="20802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13648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01100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88552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76004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63456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50908" y="3054096"/>
            <a:ext cx="118872" cy="20802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38360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25812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13264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00716" y="3054096"/>
            <a:ext cx="118872" cy="20802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88168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98348"/>
            <a:ext cx="82296" cy="8229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457200"/>
            <a:ext cx="10564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아키텍처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68096"/>
            <a:ext cx="1076523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· 처리 · 분석 · 표현을 분리한 4계층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353312"/>
            <a:ext cx="107652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계층을 나눈 덕에 원자재 소스를 SMM에서 KOMIS로 바꿀 때 수집 모듈만 교체했습니다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13232" y="1792224"/>
            <a:ext cx="2532888" cy="2798064"/>
          </a:xfrm>
          <a:prstGeom prst="rect">
            <a:avLst/>
          </a:prstGeom>
          <a:solidFill>
            <a:srgbClr val="1B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50976" y="2011680"/>
            <a:ext cx="2075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SOURCES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50976" y="2286000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데이터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50976" y="2670048"/>
            <a:ext cx="2057400" cy="10973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" y="2834640"/>
            <a:ext cx="20939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OpenDART 전자공시</a:t>
            </a:r>
            <a:endParaRPr lang="en-US" sz="1100" dirty="0"/>
          </a:p>
          <a:p>
            <a:pPr indent="0" marL="0">
              <a:lnSpc>
                <a:spcPts val="19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News RSS</a:t>
            </a:r>
            <a:endParaRPr lang="en-US" sz="1100" dirty="0"/>
          </a:p>
          <a:p>
            <a:pPr indent="0" marL="0">
              <a:lnSpc>
                <a:spcPts val="19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금융 시세</a:t>
            </a:r>
            <a:endParaRPr lang="en-US" sz="1100" dirty="0"/>
          </a:p>
          <a:p>
            <a:pPr indent="0" marL="0">
              <a:lnSpc>
                <a:spcPts val="19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KOMIS 광물가격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264408" y="296265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538728" y="1792224"/>
            <a:ext cx="2532888" cy="2798064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76472" y="2011680"/>
            <a:ext cx="2075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3776472" y="2286000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처리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776472" y="2670048"/>
            <a:ext cx="2057400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76472" y="2834640"/>
            <a:ext cx="20939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기업명 검증·별칭 매칭</a:t>
            </a:r>
            <a:endParaRPr lang="en-US" sz="1100" dirty="0"/>
          </a:p>
          <a:p>
            <a:pPr indent="0" marL="0">
              <a:lnSpc>
                <a:spcPts val="19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9개사 병렬 수집</a:t>
            </a:r>
            <a:endParaRPr lang="en-US" sz="1100" dirty="0"/>
          </a:p>
          <a:p>
            <a:pPr indent="0" marL="0">
              <a:lnSpc>
                <a:spcPts val="19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 중복 제거</a:t>
            </a:r>
            <a:endParaRPr lang="en-US" sz="1100" dirty="0"/>
          </a:p>
          <a:p>
            <a:pPr indent="0" marL="0">
              <a:lnSpc>
                <a:spcPts val="19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공시 12유형 판별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089904" y="296265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64224" y="1792224"/>
            <a:ext cx="2532888" cy="2798064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01968" y="2011680"/>
            <a:ext cx="2075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INTELLIGENCE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601968" y="2286000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분석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601968" y="2670048"/>
            <a:ext cx="2057400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01968" y="2834640"/>
            <a:ext cx="20939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flash-lite (1차)</a:t>
            </a:r>
            <a:endParaRPr lang="en-US" sz="1100" dirty="0"/>
          </a:p>
          <a:p>
            <a:pPr indent="0" marL="0">
              <a:lnSpc>
                <a:spcPts val="19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GPT-4o (폴백)</a:t>
            </a:r>
            <a:endParaRPr lang="en-US" sz="1100" dirty="0"/>
          </a:p>
          <a:p>
            <a:pPr indent="0" marL="0">
              <a:lnSpc>
                <a:spcPts val="19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스키마 강제 검증</a:t>
            </a:r>
            <a:endParaRPr lang="en-US" sz="1100" dirty="0"/>
          </a:p>
          <a:p>
            <a:pPr indent="0" marL="0">
              <a:lnSpc>
                <a:spcPts val="19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LangSmith 실행 추적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915400" y="296265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189720" y="1792224"/>
            <a:ext cx="2532888" cy="2798064"/>
          </a:xfrm>
          <a:prstGeom prst="rect">
            <a:avLst/>
          </a:prstGeom>
          <a:solidFill>
            <a:srgbClr val="0E162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427464" y="2011680"/>
            <a:ext cx="2075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9427464" y="2286000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 · 전달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427464" y="2670048"/>
            <a:ext cx="2057400" cy="10973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427464" y="2834640"/>
            <a:ext cx="20939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대시보드 5개 뷰</a:t>
            </a:r>
            <a:endParaRPr lang="en-US" sz="1100" dirty="0"/>
          </a:p>
          <a:p>
            <a:pPr indent="0" marL="0">
              <a:lnSpc>
                <a:spcPts val="19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Telegram 자동 알림</a:t>
            </a:r>
            <a:endParaRPr lang="en-US" sz="1100" dirty="0"/>
          </a:p>
          <a:p>
            <a:pPr indent="0" marL="0">
              <a:lnSpc>
                <a:spcPts val="19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이메일(SMTP) 발송</a:t>
            </a:r>
            <a:endParaRPr lang="en-US" sz="1100" dirty="0"/>
          </a:p>
          <a:p>
            <a:pPr indent="0" marL="0">
              <a:lnSpc>
                <a:spcPts val="19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발송 이력 SQLite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13232" y="4809744"/>
            <a:ext cx="5230368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05840" y="5029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상시 실행 백그라운드 워커 2개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1005840" y="5340096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 공시 스캔 5분 주기 · KOMIS 원자재 수집 1시간 주기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lifespan에서 asyncio 태스크로 기동하고 종료 시 정리합니다.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45352" y="4809744"/>
            <a:ext cx="5230368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37960" y="5029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저장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6537960" y="5340096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 2개 — 알림 수신자·발송 이력 / KOMIS 원자재 시세 이력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발송 이력은 (수신자·접수번호·채널) 복합 기본키로 중복을 원천 차단합니다.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98348"/>
            <a:ext cx="82296" cy="8229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457200"/>
            <a:ext cx="10564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기술 스택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68096"/>
            <a:ext cx="1076523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사용한 기술과 선택 이유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13232" y="1737360"/>
            <a:ext cx="340156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2029968"/>
            <a:ext cx="109728" cy="109728"/>
          </a:xfrm>
          <a:prstGeom prst="rect">
            <a:avLst/>
          </a:prstGeom>
          <a:solidFill>
            <a:srgbClr val="35618F"/>
          </a:solidFill>
          <a:ln w="12700">
            <a:solidFill>
              <a:srgbClr val="3561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43584" y="1956816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2359152"/>
            <a:ext cx="2779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19 + Vite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Recharts 차트 8종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Lucide 아이콘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페이지 · 5개 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24128" y="3163824"/>
            <a:ext cx="2779776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4128" y="3291840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561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반복 개발과 차트 표현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70832" y="1737360"/>
            <a:ext cx="340156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81728" y="2029968"/>
            <a:ext cx="109728" cy="109728"/>
          </a:xfrm>
          <a:prstGeom prst="rect">
            <a:avLst/>
          </a:prstGeom>
          <a:solidFill>
            <a:srgbClr val="2E7358"/>
          </a:solidFill>
          <a:ln w="12700">
            <a:solidFill>
              <a:srgbClr val="2E735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01184" y="1956816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81728" y="2359152"/>
            <a:ext cx="2779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+ Uvicorn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17종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ThreadPoolExecutor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Pydantic 스키마 검증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81728" y="3163824"/>
            <a:ext cx="2779776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81728" y="3291840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E73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비동기 + 자동 API 문서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28432" y="1737360"/>
            <a:ext cx="340156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39328" y="2029968"/>
            <a:ext cx="109728" cy="109728"/>
          </a:xfrm>
          <a:prstGeom prst="rect">
            <a:avLst/>
          </a:prstGeom>
          <a:solidFill>
            <a:srgbClr val="5C4E86"/>
          </a:solidFill>
          <a:ln w="12700">
            <a:solidFill>
              <a:srgbClr val="5C4E8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58784" y="1956816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· LLM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339328" y="2359152"/>
            <a:ext cx="2779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flash-lite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GPT-4o (폴백)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응답 강제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지정 프롬프트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339328" y="3163824"/>
            <a:ext cx="2779776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39328" y="3291840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4E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속도·비용 우선, 안정성은 폴백으로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13232" y="3785616"/>
            <a:ext cx="340156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24128" y="4078224"/>
            <a:ext cx="109728" cy="109728"/>
          </a:xfrm>
          <a:prstGeom prst="rect">
            <a:avLst/>
          </a:prstGeom>
          <a:solidFill>
            <a:srgbClr val="1F7FA8"/>
          </a:solidFill>
          <a:ln w="12700">
            <a:solidFill>
              <a:srgbClr val="1F7FA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243584" y="400507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24128" y="4407408"/>
            <a:ext cx="2779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OpenDartReader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feedparser (RSS)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 정규화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 2종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024128" y="5212080"/>
            <a:ext cx="2779776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24128" y="5340096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7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API 우선, 없으면 공개 응답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70832" y="3785616"/>
            <a:ext cx="340156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1728" y="4078224"/>
            <a:ext cx="109728" cy="109728"/>
          </a:xfrm>
          <a:prstGeom prst="rect">
            <a:avLst/>
          </a:prstGeom>
          <a:solidFill>
            <a:srgbClr val="C97F16"/>
          </a:solidFill>
          <a:ln w="12700">
            <a:solidFill>
              <a:srgbClr val="C97F1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01184" y="400507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681728" y="4407408"/>
            <a:ext cx="2779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Telegram Bot API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SMTP · STARTTLS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 + 텍스트 발송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수신자별 채널 on/off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81728" y="5212080"/>
            <a:ext cx="2779776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681728" y="5340096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7F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실무에서 실제 쓰는 채널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028432" y="3785616"/>
            <a:ext cx="340156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39328" y="4078224"/>
            <a:ext cx="109728" cy="109728"/>
          </a:xfrm>
          <a:prstGeom prst="rect">
            <a:avLst/>
          </a:prstGeom>
          <a:solidFill>
            <a:srgbClr val="A8443E"/>
          </a:solidFill>
          <a:ln w="12700">
            <a:solidFill>
              <a:srgbClr val="A8443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58784" y="400507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· 관측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8339328" y="4407408"/>
            <a:ext cx="2779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LangSmith @traceable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인증 (헤더)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.env 시크릿 분리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TTL 캐시 · 로깅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339328" y="5212080"/>
            <a:ext cx="2779776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339328" y="5340096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4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호출 추적과 장애 진단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13232" y="5705856"/>
            <a:ext cx="10765231" cy="493776"/>
          </a:xfrm>
          <a:prstGeom prst="rect">
            <a:avLst/>
          </a:prstGeom>
          <a:solidFill>
            <a:srgbClr val="0E162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97280" y="58155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30개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1993392" y="5861304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2834640" y="58155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3,300줄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3730752" y="5861304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코드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4572000" y="58155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17종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5468112" y="5861304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6309360" y="58155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11개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7205472" y="5861304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모듈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8046720" y="58155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4종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8942832" y="5861304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9784080" y="58155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2개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10680192" y="5861304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워커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98348"/>
            <a:ext cx="82296" cy="8229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457200"/>
            <a:ext cx="10564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구현 기능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68096"/>
            <a:ext cx="1076523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기능 ① 산업 인텔리전스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810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7393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 인텔리전스 + AI 데일리 브리핑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650992" y="18288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9개사 공시·뉴스를 한 피드로 통합하고 오늘 볼 3건을 자동 선별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" y="2212848"/>
            <a:ext cx="10765231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395728"/>
            <a:ext cx="685800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9264" y="2651760"/>
            <a:ext cx="6345936" cy="3099816"/>
          </a:xfrm>
          <a:prstGeom prst="rect">
            <a:avLst/>
          </a:prstGeom>
          <a:solidFill>
            <a:srgbClr val="F5F6F8"/>
          </a:solidFill>
          <a:ln w="9525">
            <a:solidFill>
              <a:srgbClr val="DFE3E8"/>
            </a:solidFill>
            <a:prstDash val="solid"/>
          </a:ln>
        </p:spPr>
      </p:sp>
      <p:pic>
        <p:nvPicPr>
          <p:cNvPr id="12" name="Image 0" descr="C:\Users\POSCOFUTUREM\AppData\Local\Temp\claude\C--Users-POSCOFUTUREM-Desktop-FUTURE-M-RADAR\03eb9f10-e059-4022-9426-4bcf8a16f4d4\scratchpad\assets\mai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651760"/>
            <a:ext cx="6345936" cy="3099816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827264" y="2395728"/>
            <a:ext cx="3648456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19872" y="26151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포인트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119872" y="3026664"/>
            <a:ext cx="73152" cy="73152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02752" y="296265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9개사 병렬 수집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8302752" y="320040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ThreadPoolExecutor로 기업당 공시·뉴스 2개 작업, 최대 18개 요청을 동시 실행해 2.9초에 완료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119872" y="3776472"/>
            <a:ext cx="73152" cy="73152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02752" y="3712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데일리 브리핑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8302752" y="395020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공시에 100점, 뉴스는 전략 태그별 점수를 부여해 정렬하고 같은 기업이 중복되지 않게 3건 선별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119872" y="4526280"/>
            <a:ext cx="73152" cy="73152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302752" y="44622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기업 추가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8302752" y="470001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OpenDART 기업 코드로 상장 여부를 검증한 뒤에만 모니터링 풀에 추가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8119872" y="5276088"/>
            <a:ext cx="73152" cy="73152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302752" y="521208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TTL 캐시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8302752" y="5449824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기업 목록 재조회는 5분간 캐시로 응답 (2.9초 → 0.02초)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98348"/>
            <a:ext cx="82296" cy="8229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457200"/>
            <a:ext cx="10564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구현 기능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68096"/>
            <a:ext cx="1076523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기능 ② 경쟁사 신호 히트맵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810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7393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 신호 히트맵 + AI 공시 분석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650992" y="18288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축으로 자동 분류하고 원문 근거까지 추적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" y="2212848"/>
            <a:ext cx="10765231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395728"/>
            <a:ext cx="594360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9264" y="2670048"/>
            <a:ext cx="5431536" cy="3063240"/>
          </a:xfrm>
          <a:prstGeom prst="rect">
            <a:avLst/>
          </a:prstGeom>
          <a:solidFill>
            <a:srgbClr val="F5F6F8"/>
          </a:solidFill>
          <a:ln w="9525">
            <a:solidFill>
              <a:srgbClr val="DFE3E8"/>
            </a:solidFill>
            <a:prstDash val="solid"/>
          </a:ln>
        </p:spPr>
      </p:sp>
      <p:pic>
        <p:nvPicPr>
          <p:cNvPr id="12" name="Image 0" descr="C:\Users\POSCOFUTUREM\AppData\Local\Temp\claude\C--Users-POSCOFUTUREM-Desktop-FUTURE-M-RADAR\03eb9f10-e059-4022-9426-4bcf8a16f4d4\scratchpad\assets\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670048"/>
            <a:ext cx="5431536" cy="30632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912864" y="2395728"/>
            <a:ext cx="4562856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205472" y="259689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신호 축과 가중치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205472" y="2980944"/>
            <a:ext cx="73152" cy="73152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88352" y="29260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수주·공급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10222992" y="29260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0.20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205472" y="3255264"/>
            <a:ext cx="73152" cy="73152"/>
          </a:xfrm>
          <a:prstGeom prst="rect">
            <a:avLst/>
          </a:prstGeom>
          <a:solidFill>
            <a:srgbClr val="2E7358"/>
          </a:solidFill>
          <a:ln w="12700">
            <a:solidFill>
              <a:srgbClr val="2E735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88352" y="32004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투자·CAPEX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0222992" y="32004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73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0.20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205472" y="3529584"/>
            <a:ext cx="73152" cy="73152"/>
          </a:xfrm>
          <a:prstGeom prst="rect">
            <a:avLst/>
          </a:prstGeom>
          <a:solidFill>
            <a:srgbClr val="5C4E86"/>
          </a:solidFill>
          <a:ln w="12700">
            <a:solidFill>
              <a:srgbClr val="5C4E8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88352" y="34747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기술·포트폴리오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10222992" y="34747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C4E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0.15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205472" y="3803904"/>
            <a:ext cx="73152" cy="73152"/>
          </a:xfrm>
          <a:prstGeom prst="rect">
            <a:avLst/>
          </a:prstGeom>
          <a:solidFill>
            <a:srgbClr val="A8443E"/>
          </a:solidFill>
          <a:ln w="12700">
            <a:solidFill>
              <a:srgbClr val="A8443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88352" y="37490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10222992" y="374904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84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0.45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7205472" y="396849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리스크에 최대 가중치를 둬 위험 신호가 항상 먼저 올라오게 했습니다.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912864" y="4352544"/>
            <a:ext cx="4562856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205472" y="455371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공시 분석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7205472" y="48463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셀을 클릭하면 DART 원문 HTML을 직접 파싱해 본문을 가져오고, LLM이 핵심 요약 3문장·전략 시사점·핵심 수치를 생성합니다. 요약만이 아니라 취득 주식 수, 지분율 같은 원문 수치를 함께 추출하도록 프롬프트에서 명시했습니다.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98348"/>
            <a:ext cx="82296" cy="8229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457200"/>
            <a:ext cx="10564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구현 기능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68096"/>
            <a:ext cx="1076523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기능 ③ 재무 · 주가 · 원자재 분석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810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7393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 검증 도구 3종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650992" y="18288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신호를 발견한 뒤 같은 화면에서 곧바로 교차 검증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" y="2212848"/>
            <a:ext cx="10765231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395728"/>
            <a:ext cx="6858000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25786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재무분석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05840" y="2907792"/>
            <a:ext cx="3931920" cy="1060704"/>
          </a:xfrm>
          <a:prstGeom prst="rect">
            <a:avLst/>
          </a:prstGeom>
          <a:solidFill>
            <a:srgbClr val="F5F6F8"/>
          </a:solidFill>
          <a:ln w="9525">
            <a:solidFill>
              <a:srgbClr val="DFE3E8"/>
            </a:solidFill>
            <a:prstDash val="solid"/>
          </a:ln>
        </p:spPr>
      </p:sp>
      <p:pic>
        <p:nvPicPr>
          <p:cNvPr id="13" name="Image 0" descr="C:\Users\POSCOFUTUREM\AppData\Local\Temp\claude\C--Users-POSCOFUTUREM-Desktop-FUTURE-M-RADAR\03eb9f10-e059-4022-9426-4bcf8a16f4d4\scratchpad\assets\fin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907792"/>
            <a:ext cx="3931920" cy="106070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157216" y="2615184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OpenDART 재무제표 8분기 추이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공시값을 단일 분기로 환산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영업이익률·ROE·ROA 자동 계산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연결/별도, 분기/연간 전환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13232" y="4224528"/>
            <a:ext cx="6858000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05840" y="44074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 분석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1005840" y="4736592"/>
            <a:ext cx="3931920" cy="1060704"/>
          </a:xfrm>
          <a:prstGeom prst="rect">
            <a:avLst/>
          </a:prstGeom>
          <a:solidFill>
            <a:srgbClr val="F5F6F8"/>
          </a:solidFill>
          <a:ln w="9525">
            <a:solidFill>
              <a:srgbClr val="DFE3E8"/>
            </a:solidFill>
            <a:prstDash val="solid"/>
          </a:ln>
        </p:spPr>
      </p:sp>
      <p:pic>
        <p:nvPicPr>
          <p:cNvPr id="18" name="Image 1" descr="C:\Users\POSCOFUTUREM\AppData\Local\Temp\claude\C--Users-POSCOFUTUREM-Desktop-FUTURE-M-RADAR\03eb9f10-e059-4022-9426-4bcf8a16f4d4\scratchpad\assets\st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4736592"/>
            <a:ext cx="3931920" cy="106070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157216" y="4443984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이동평균 20·60·120일, RSI 14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연환산 변동성·52주 고저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 상대수익률 비교 (시작일 100)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과열/낙폭 과대 등 신호 자동 판정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7827264" y="2395728"/>
            <a:ext cx="3648456" cy="3529584"/>
          </a:xfrm>
          <a:prstGeom prst="rect">
            <a:avLst/>
          </a:prstGeom>
          <a:solidFill>
            <a:srgbClr val="0E162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119872" y="26151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원자재 가격 (KOMIS)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8119872" y="288950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리튬·니켈·코발트·망간 4개 품목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8119872" y="3200400"/>
            <a:ext cx="3108960" cy="10973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119872" y="3438144"/>
            <a:ext cx="73152" cy="73152"/>
          </a:xfrm>
          <a:prstGeom prst="rect">
            <a:avLst/>
          </a:prstGeom>
          <a:solidFill>
            <a:srgbClr val="E0A76D"/>
          </a:solidFill>
          <a:ln w="12700">
            <a:solidFill>
              <a:srgbClr val="E0A76D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302752" y="338328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1시간 주기 자동 수집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8302752" y="36027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브라우저를 닫아도 백엔드가 켜져 있으면 계속 축적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8119872" y="4059936"/>
            <a:ext cx="73152" cy="73152"/>
          </a:xfrm>
          <a:prstGeom prst="rect">
            <a:avLst/>
          </a:prstGeom>
          <a:solidFill>
            <a:srgbClr val="E0A76D"/>
          </a:solidFill>
          <a:ln w="12700">
            <a:solidFill>
              <a:srgbClr val="E0A76D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8302752" y="40050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단위·규격 유지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8302752" y="42245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USD/kg, USD/mt 등 출처 표기를 그대로 보존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8119872" y="4681728"/>
            <a:ext cx="73152" cy="73152"/>
          </a:xfrm>
          <a:prstGeom prst="rect">
            <a:avLst/>
          </a:prstGeom>
          <a:solidFill>
            <a:srgbClr val="E0A76D"/>
          </a:solidFill>
          <a:ln w="12700">
            <a:solidFill>
              <a:srgbClr val="E0A76D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8302752" y="462686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 마지막 값 유지</a:t>
            </a:r>
            <a:endParaRPr lang="en-US" sz="1050" dirty="0"/>
          </a:p>
        </p:txBody>
      </p:sp>
      <p:sp>
        <p:nvSpPr>
          <p:cNvPr id="32" name="Text 28"/>
          <p:cNvSpPr txBox="1"/>
          <p:nvPr/>
        </p:nvSpPr>
        <p:spPr>
          <a:xfrm>
            <a:off x="8302752" y="4846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실패해도 화면이 비지 않고 오류·시각을 함께 표시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8119872" y="5303520"/>
            <a:ext cx="73152" cy="73152"/>
          </a:xfrm>
          <a:prstGeom prst="rect">
            <a:avLst/>
          </a:prstGeom>
          <a:solidFill>
            <a:srgbClr val="E0A76D"/>
          </a:solidFill>
          <a:ln w="12700">
            <a:solidFill>
              <a:srgbClr val="E0A76D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8302752" y="524865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SMM 데이터와 분리 저장</a:t>
            </a:r>
            <a:endParaRPr lang="en-US" sz="1050" dirty="0"/>
          </a:p>
        </p:txBody>
      </p:sp>
      <p:sp>
        <p:nvSpPr>
          <p:cNvPr id="35" name="Text 31"/>
          <p:cNvSpPr txBox="1"/>
          <p:nvPr/>
        </p:nvSpPr>
        <p:spPr>
          <a:xfrm>
            <a:off x="8302752" y="54681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통화·규격이 달라 섞이지 않도록 테이블을 나눔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98348"/>
            <a:ext cx="82296" cy="8229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457200"/>
            <a:ext cx="10564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구현 기능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68096"/>
            <a:ext cx="1076523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기능 ④ 중요 공시 자동 알림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810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7393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Telegram · 이메일 자동 발송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650992" y="18288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페이지에서 수신자 관리 · 사람이 찾으러 가지 않아도 5분 내 도착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" y="2212848"/>
            <a:ext cx="10765231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432304"/>
            <a:ext cx="167335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2688" y="261518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889504"/>
            <a:ext cx="125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 주기 스캔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932688" y="3346704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9개사 당일 공시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32888" y="2432304"/>
            <a:ext cx="167335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52344" y="261518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752344" y="2889504"/>
            <a:ext cx="125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공시 판별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752344" y="3346704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 유형 규칙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52544" y="2432304"/>
            <a:ext cx="167335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0" y="261518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2889504"/>
            <a:ext cx="125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본문 수집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3346704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DART 뷰어 파싱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72200" y="2432304"/>
            <a:ext cx="167335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91656" y="261518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391656" y="2889504"/>
            <a:ext cx="125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분석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391656" y="3346704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· 핵심 수치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991856" y="2432304"/>
            <a:ext cx="167335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11312" y="261518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211312" y="2889504"/>
            <a:ext cx="125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발송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211312" y="3346704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Telegram · 이메일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811512" y="2432304"/>
            <a:ext cx="1673352" cy="1371600"/>
          </a:xfrm>
          <a:prstGeom prst="rect">
            <a:avLst/>
          </a:prstGeom>
          <a:solidFill>
            <a:srgbClr val="0E162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030968" y="261518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030968" y="2889504"/>
            <a:ext cx="125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기록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10030968" y="3346704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발송 차단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13232" y="3986784"/>
            <a:ext cx="5230368" cy="1975104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05840" y="41879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구현에서 신경 쓴 점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1005840" y="4553712"/>
            <a:ext cx="73152" cy="73152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188720" y="44988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멱등성 보장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188720" y="47183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(수신자·접수번호·채널) 복합 기본키로 발송 이력을 남겨, 5분마다 스캔이 반복되고 서버를 재시작해도 같은 건이 두 번 나가지 않습니다.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005840" y="5248656"/>
            <a:ext cx="73152" cy="73152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188720" y="51937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 비노출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1188720" y="54132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API는 SMTP·봇 토큰을 응답에 절대 포함하지 않고, .env는 Git에서 제외했습니다.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45352" y="3986784"/>
            <a:ext cx="5230368" cy="1975104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537960" y="41879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페이지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6537960" y="448056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/admin 경로에 비밀번호 인증을 붙여 수신자를 직접 관리합니다.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537960" y="4846320"/>
            <a:ext cx="64008" cy="64008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72084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수신자 이름 · Telegram Chat ID · 이메일 등록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537960" y="5138928"/>
            <a:ext cx="64008" cy="64008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720840" y="508406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채널별 on/off 개별 설정 (Telegram만, 이메일만 가능)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537960" y="5431536"/>
            <a:ext cx="64008" cy="64008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720840" y="53766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발송 버튼으로 연결 상태 즉시 확인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537960" y="5724144"/>
            <a:ext cx="64008" cy="64008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720840" y="56692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봇과 대화한 사용자 목록에서 Chat ID 자동 조회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98348"/>
            <a:ext cx="82296" cy="8229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457200"/>
            <a:ext cx="10564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구현 디테일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68096"/>
            <a:ext cx="1076523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만든 세 가지 로직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353312"/>
            <a:ext cx="107652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라이브러리로 해결되지 않아 알고리즘을 직접 설계한 부분입니다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13232" y="1792224"/>
            <a:ext cx="3401568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4128" y="20116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23042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 중복 제거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24128" y="2743200"/>
            <a:ext cx="2779776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4128" y="2926080"/>
            <a:ext cx="279806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이슈가 4~5개 매체로 재생산돼 브리핑이 중복으로 채워지는 문제가 있었습니다.</a:t>
            </a:r>
            <a:endParaRPr lang="en-US" sz="1050" dirty="0"/>
          </a:p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제목을 토픽 키워드 집합으로 바꾸고 조사·불용어·회사명을 제거한 뒤,</a:t>
            </a:r>
            <a:endParaRPr lang="en-US" sz="1050" dirty="0"/>
          </a:p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자카드 유사도 0.38 이상이거나 공통 키워드 3개 이상이면 동일 이슈로 판정합니다.</a:t>
            </a:r>
            <a:endParaRPr lang="en-US" sz="1050" dirty="0"/>
          </a:p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‘전고체·하이니켈’ 같은 테마 키워드가 2개 이상 겹쳐도 같은 건으로 묶습니다.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70832" y="1792224"/>
            <a:ext cx="3401568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81728" y="20116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C4E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681728" y="23042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출력 검증 · 3단 폴백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81728" y="2743200"/>
            <a:ext cx="2779776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81728" y="2926080"/>
            <a:ext cx="279806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응답에 형식이 없으면 화면이 통째로 비는 문제를 겪었습니다.</a:t>
            </a:r>
            <a:endParaRPr lang="en-US" sz="1050" dirty="0"/>
          </a:p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프롬프트에서 3개 요약 문장의 역할을 각각 지정하고 JSON 응답을 강제한 뒤,</a:t>
            </a:r>
            <a:endParaRPr lang="en-US" sz="1050" dirty="0"/>
          </a:p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감정·우선순위 값을 화이트리스트로 재검증하고 부족한 항목은 기본값으로 채웁니다.</a:t>
            </a:r>
            <a:endParaRPr lang="en-US" sz="1050" dirty="0"/>
          </a:p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실패 → GPT-4o → 사전 정의 기본 결과 순으로 폴백합니다.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28432" y="1792224"/>
            <a:ext cx="3401568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39328" y="20116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73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339328" y="23042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수집 · TTL 캐시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339328" y="2743200"/>
            <a:ext cx="2779776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39328" y="2926080"/>
            <a:ext cx="279806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9개사를 순차 조회하니 화면 진입마다 오래 걸렸습니다.</a:t>
            </a:r>
            <a:endParaRPr lang="en-US" sz="1050" dirty="0"/>
          </a:p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ThreadPoolExecutor로 기업당 공시·뉴스 2개 작업을 최대 18개까지 동시 실행했습니다.</a:t>
            </a:r>
            <a:endParaRPr lang="en-US" sz="1050" dirty="0"/>
          </a:p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여기에 동일 기업 목록에 대한 5분 TTL 캐시를 얹어 재조회를 0.02초로 줄였습니다.</a:t>
            </a:r>
            <a:endParaRPr lang="en-US" sz="1050" dirty="0"/>
          </a:p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‘실시간 갱신’ 버튼은 캐시를 우회하도록 별도 파라미터를 뒀습니다.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3232" y="5705856"/>
            <a:ext cx="10765231" cy="493776"/>
          </a:xfrm>
          <a:prstGeom prst="rect">
            <a:avLst/>
          </a:prstGeom>
          <a:solidFill>
            <a:srgbClr val="0E162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7280" y="5888736"/>
            <a:ext cx="82296" cy="82296"/>
          </a:xfrm>
          <a:prstGeom prst="rect">
            <a:avLst/>
          </a:prstGeom>
          <a:solidFill>
            <a:srgbClr val="E0A76D"/>
          </a:solidFill>
          <a:ln w="12700">
            <a:solidFill>
              <a:srgbClr val="E0A76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298448" y="583387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모델을 쓰더라도 입력 데이터를 정리하고 출력 형식을 강제했을 때 결과 품질이 가장 크게 달라졌습니다.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98348"/>
            <a:ext cx="82296" cy="8229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457200"/>
            <a:ext cx="10564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시행착오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68096"/>
            <a:ext cx="1076523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막혔던 지점과 해결 과정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353312"/>
            <a:ext cx="107652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겪은 문제와 그때 내린 판단입니다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69264" y="18105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913632" y="18105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662672" y="1810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13232" y="2103120"/>
            <a:ext cx="10765231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9264" y="234086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3225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분석 화면이 통째로 비었다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913632" y="223113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형식 없는 텍스트를 반환해 파싱이 실패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571232" y="2231136"/>
            <a:ext cx="14630" cy="438912"/>
          </a:xfrm>
          <a:prstGeom prst="rect">
            <a:avLst/>
          </a:prstGeom>
          <a:solidFill>
            <a:srgbClr val="DFE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90688" y="2231136"/>
            <a:ext cx="3529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응답 강제 + 값 화이트리스트 검증 + 3단 폴백 도입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3232" y="2907792"/>
            <a:ext cx="10765231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9264" y="314553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127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 기업 공시가 0건으로 나왔다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913632" y="303580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DART 등록명이 달랐음 (포스코홀딩스 → POSCO홀딩스, SK온 → 에스케이온)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71232" y="3035808"/>
            <a:ext cx="14630" cy="438912"/>
          </a:xfrm>
          <a:prstGeom prst="rect">
            <a:avLst/>
          </a:prstGeom>
          <a:solidFill>
            <a:srgbClr val="DFE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90688" y="3035808"/>
            <a:ext cx="3529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기업명 별칭 매핑 테이블을 config에 두고 전 서비스가 공유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3232" y="3712464"/>
            <a:ext cx="10765231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9264" y="395020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브리핑이 같은 이슈로 채워졌다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3913632" y="384048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사건이 여러 매체 기사로 중복 수집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571232" y="3840480"/>
            <a:ext cx="14630" cy="438912"/>
          </a:xfrm>
          <a:prstGeom prst="rect">
            <a:avLst/>
          </a:prstGeom>
          <a:solidFill>
            <a:srgbClr val="DFE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90688" y="3840480"/>
            <a:ext cx="3529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토픽 키워드 자카드 유사도 기반 중복 제거 알고리즘 직접 구현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3232" y="4517136"/>
            <a:ext cx="10765231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9264" y="475488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1371600" y="4736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진입이 매번 느렸다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913632" y="464515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9개사를 순차 조회하고 결과를 재사용하지 않음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571232" y="4645152"/>
            <a:ext cx="14630" cy="438912"/>
          </a:xfrm>
          <a:prstGeom prst="rect">
            <a:avLst/>
          </a:prstGeom>
          <a:solidFill>
            <a:srgbClr val="DFE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90688" y="4645152"/>
            <a:ext cx="3529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ThreadPoolExecutor 병렬화 + 5분 TTL 캐시 (2.9초 → 0.02초)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13232" y="5321808"/>
            <a:ext cx="10765231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69264" y="555955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1371600" y="55412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실패해도 아무도 몰랐다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3913632" y="544982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예외를 조용히 삼키고 빈 배열을 반환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571232" y="5449824"/>
            <a:ext cx="14630" cy="438912"/>
          </a:xfrm>
          <a:prstGeom prst="rect">
            <a:avLst/>
          </a:prstGeom>
          <a:solidFill>
            <a:srgbClr val="DFE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790688" y="5449824"/>
            <a:ext cx="3529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예외마다 로깅 추가 — 덕분에 위 2번 버그를 실제로 발견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1975104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0" b="1" dirty="0">
                <a:solidFill>
                  <a:srgbClr val="2B3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800" dirty="0"/>
          </a:p>
        </p:txBody>
      </p:sp>
      <p:sp>
        <p:nvSpPr>
          <p:cNvPr id="3" name="Shape 1"/>
          <p:cNvSpPr/>
          <p:nvPr/>
        </p:nvSpPr>
        <p:spPr>
          <a:xfrm>
            <a:off x="749808" y="3968496"/>
            <a:ext cx="118872" cy="118872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42245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결과와 배운 점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4956048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결과, 교육 내용과의 연계, 그리고 회고입니다.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863840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51292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38744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26196" y="3054096"/>
            <a:ext cx="118872" cy="20802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13648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01100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88552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76004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63456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50908" y="3054096"/>
            <a:ext cx="118872" cy="20802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38360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25812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13264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00716" y="3054096"/>
            <a:ext cx="118872" cy="20802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88168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98348"/>
            <a:ext cx="82296" cy="8229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457200"/>
            <a:ext cx="10564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결과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68096"/>
            <a:ext cx="1076523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얼마나 달라졌나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353312"/>
            <a:ext cx="107652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건수·시간 지표는 실행 측정값이며, 인력 시간만 업무 기준 추정치입니다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13232" y="1792224"/>
            <a:ext cx="6272784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4128" y="20116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24688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대상 건수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798064" y="24323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118건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151376" y="24505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4048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3건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274320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브리핑이 기업 중복을 피해 상위 3건 선별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833872" y="248716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3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24128" y="2980944"/>
            <a:ext cx="5650992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24128" y="31638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 공시 인지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798064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1일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151376" y="314553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30998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024128" y="343814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백그라운드 스캔 주기 기준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833872" y="31821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3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24128" y="3675888"/>
            <a:ext cx="5650992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24128" y="38587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9개사 수집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798064" y="38221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순차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151376" y="38404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37947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2.9초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1024128" y="413308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18개 요청 병렬 실행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833872" y="387705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3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24128" y="4370832"/>
            <a:ext cx="5650992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24128" y="45537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재조회 응답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2798064" y="45171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재수집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151376" y="453542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480560" y="448970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0.02초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1024128" y="482803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 TTL 캐시 적용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833872" y="45720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3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24128" y="5065776"/>
            <a:ext cx="5650992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24128" y="52486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수집·정리 시간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2798064" y="52120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30시간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4151376" y="52303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480560" y="51846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0시간</a:t>
            </a:r>
            <a:endParaRPr lang="en-US" sz="1700" dirty="0"/>
          </a:p>
        </p:txBody>
      </p:sp>
      <p:sp>
        <p:nvSpPr>
          <p:cNvPr id="41" name="Text 39"/>
          <p:cNvSpPr txBox="1"/>
          <p:nvPr/>
        </p:nvSpPr>
        <p:spPr>
          <a:xfrm>
            <a:off x="1024128" y="5522976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수작업 기준 추정치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5833872" y="52669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242048" y="1792224"/>
            <a:ext cx="4233672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552944" y="20116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정성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552944" y="2496312"/>
            <a:ext cx="73152" cy="73152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735824" y="24323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근거를 잃지 않는 요약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7735824" y="2706624"/>
            <a:ext cx="3602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결론에 DART 원문·기사 링크가 남아 틀렸을 때 되짚을 수 있습니다.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552944" y="3337560"/>
            <a:ext cx="73152" cy="73152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735824" y="32735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담당자가 바뀌어도 같은 기준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7735824" y="3547872"/>
            <a:ext cx="3602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중요도가 경험이 아니라 12개 유형·4축 가중치 규칙으로 결정됩니다.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552944" y="4178808"/>
            <a:ext cx="73152" cy="73152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735824" y="41148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비전문가도 읽히는 형태</a:t>
            </a:r>
            <a:endParaRPr lang="en-US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7735824" y="4389120"/>
            <a:ext cx="3602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무슨 공시인가가 아니라 우리에게 어떤 의미인가를 세 문장으로 제시합니다.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552944" y="5020056"/>
            <a:ext cx="73152" cy="73152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735824" y="49560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 단위 공유로 확장</a:t>
            </a:r>
            <a:endParaRPr lang="en-US" sz="1150" dirty="0"/>
          </a:p>
        </p:txBody>
      </p:sp>
      <p:sp>
        <p:nvSpPr>
          <p:cNvPr id="56" name="Text 54"/>
          <p:cNvSpPr txBox="1"/>
          <p:nvPr/>
        </p:nvSpPr>
        <p:spPr>
          <a:xfrm>
            <a:off x="7735824" y="5230368"/>
            <a:ext cx="3602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개인이 찾아 공유하던 정보가 수신자 등록만으로 자동 전달됩니다.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98348"/>
            <a:ext cx="82296" cy="8229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457200"/>
            <a:ext cx="10564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교육 연계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68096"/>
            <a:ext cx="1076523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내용과 구현의 연결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353312"/>
            <a:ext cx="107652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 두 칸은 발표자가 직접 채우는 영역이고, 오른쪽은 실제 코드에 적용된 결과입니다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8105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084832" y="18105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학습한 개념 · 기술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736592" y="1810512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프로젝트에 적용된 결과 (코드 기준)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13232" y="2103120"/>
            <a:ext cx="10765231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249424"/>
            <a:ext cx="566928" cy="365760"/>
          </a:xfrm>
          <a:prstGeom prst="rect">
            <a:avLst/>
          </a:prstGeom>
          <a:solidFill>
            <a:srgbClr val="FBF2E2"/>
          </a:solidFill>
          <a:ln w="9525">
            <a:solidFill>
              <a:srgbClr val="E8D5A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32257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7F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084832" y="23225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97F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[입력 필요]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736592" y="2212848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ai_service.py · 시스템 프롬프트에 ‘배터리·소재 산업 수석 애널리스트’ 역할을 부여하고 3개 요약 문장의 역할을 각각 지정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3232" y="2871216"/>
            <a:ext cx="10765231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017520"/>
            <a:ext cx="566928" cy="365760"/>
          </a:xfrm>
          <a:prstGeom prst="rect">
            <a:avLst/>
          </a:prstGeom>
          <a:solidFill>
            <a:srgbClr val="FBF2E2"/>
          </a:solidFill>
          <a:ln w="9525">
            <a:solidFill>
              <a:srgbClr val="E8D5A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309067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7F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084832" y="30906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97F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[입력 필요]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736592" y="298094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validate_result() · LLM 응답을 JSON으로 강제하고 감정·우선순위 값을 화이트리스트로 재검증한 뒤 화면에 전달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639312"/>
            <a:ext cx="10765231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3785616"/>
            <a:ext cx="566928" cy="365760"/>
          </a:xfrm>
          <a:prstGeom prst="rect">
            <a:avLst/>
          </a:prstGeom>
          <a:solidFill>
            <a:srgbClr val="FBF2E2"/>
          </a:solidFill>
          <a:ln w="9525">
            <a:solidFill>
              <a:srgbClr val="E8D5A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38587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7F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084832" y="385876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97F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[입력 필요]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736592" y="37490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→ GPT-4o → 기본 결과 3단 폴백과 LangSmith @traceable 적용으로 실행 시간·오류 추적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3232" y="4407408"/>
            <a:ext cx="10765231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4553712"/>
            <a:ext cx="566928" cy="365760"/>
          </a:xfrm>
          <a:prstGeom prst="rect">
            <a:avLst/>
          </a:prstGeom>
          <a:solidFill>
            <a:srgbClr val="FBF2E2"/>
          </a:solidFill>
          <a:ln w="9525">
            <a:solidFill>
              <a:srgbClr val="E8D5A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4400" y="462686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7F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2084832" y="46268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97F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[입력 필요]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736592" y="4517136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백엔드와 React 프론트를 분리하고 17종 REST API와 Pydantic 스키마로 계약을 고정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13232" y="5230368"/>
            <a:ext cx="5230368" cy="932688"/>
          </a:xfrm>
          <a:prstGeom prst="rect">
            <a:avLst/>
          </a:prstGeom>
          <a:solidFill>
            <a:srgbClr val="FBF2E2"/>
          </a:solidFill>
          <a:ln w="9525">
            <a:solidFill>
              <a:srgbClr val="E8D5A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87552" y="53949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97F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멘토링 · 코칭 피드백 반영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87552" y="566928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[입력 필요]  받은 피드백 → 반영한 내용 → 바뀐 결과 순으로 작성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987552" y="5870448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‘그래서 코드·화면의 무엇이 바뀌었는가’를 쓰면 전달력이 높습니다.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45352" y="5230368"/>
            <a:ext cx="5230368" cy="932688"/>
          </a:xfrm>
          <a:prstGeom prst="rect">
            <a:avLst/>
          </a:prstGeom>
          <a:solidFill>
            <a:srgbClr val="FBF2E2"/>
          </a:solidFill>
          <a:ln w="9525">
            <a:solidFill>
              <a:srgbClr val="E8D5A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19672" y="53949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97F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선택 이유 · 대안 검토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6519672" y="566928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[입력 필요]  예: Gemini를 1차로 둔 이유, 검토했다 배제한 대안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519672" y="5870448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8페이지 기술 스택 카드 하단에 선택 이유를 한 줄씩 적어두었습니다.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98348"/>
            <a:ext cx="82296" cy="82296"/>
          </a:xfrm>
          <a:prstGeom prst="rect">
            <a:avLst/>
          </a:prstGeom>
          <a:solidFill>
            <a:srgbClr val="E0A76D"/>
          </a:solidFill>
          <a:ln w="12700">
            <a:solidFill>
              <a:srgbClr val="E0A76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457200"/>
            <a:ext cx="10564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RETROSPECTIVE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68096"/>
            <a:ext cx="1076523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점과 앞으로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13232" y="1700784"/>
            <a:ext cx="5230368" cy="2688336"/>
          </a:xfrm>
          <a:prstGeom prst="rect">
            <a:avLst/>
          </a:prstGeom>
          <a:solidFill>
            <a:srgbClr val="1B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2416" y="1920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점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42416" y="234086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LLM은 프롬프트보다 ‘출력 계약’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42416" y="259689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형식을 강제하고 검증하기 전까지는 어떤 프롬프트도 안정적이지 않았습니다.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42416" y="303580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품질의 절반은 전처리에서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2416" y="329184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기사를 제거하기 전과 후의 브리핑 차이가 모델을 바꾼 것보다 컸습니다.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42416" y="37307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실패를 가정하고 설계할 것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42416" y="3986784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화면이 비었던 경험이 3단 폴백을, 조용한 예외가 로깅 체계를 만들었습니다.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45352" y="1700784"/>
            <a:ext cx="5230368" cy="2688336"/>
          </a:xfrm>
          <a:prstGeom prst="rect">
            <a:avLst/>
          </a:prstGeom>
          <a:solidFill>
            <a:srgbClr val="1B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74536" y="1920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과제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74536" y="234086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테스트와 배포 자동화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74536" y="259689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로컬 실행 전제. 순수 함수부터 테스트를 붙이고 사내 배포로 확장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574536" y="303580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 가중치 검증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74536" y="329184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0.2·0.2·0.15·0.45는 경험값. 운영 로그를 쌓아 실제 중요 이벤트와 대조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574536" y="37307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소스 안정화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74536" y="3986784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응답 의존 구간에 상태 표시와 실패 알림 추가, 공식 경로 병행 검토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3232" y="4590288"/>
            <a:ext cx="10765231" cy="914400"/>
          </a:xfrm>
          <a:prstGeom prst="rect">
            <a:avLst/>
          </a:prstGeom>
          <a:solidFill>
            <a:srgbClr val="1B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42416" y="47914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소감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24912" y="4754880"/>
            <a:ext cx="8366760" cy="566928"/>
          </a:xfrm>
          <a:prstGeom prst="rect">
            <a:avLst/>
          </a:prstGeom>
          <a:solidFill>
            <a:srgbClr val="2B3A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944368" y="49377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C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[입력 필요]  한 달간 기억에 남는 순간 · 성장한 부분 · 실무 활용 계획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3232" y="5760720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6968" y="5760720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0704" y="5760720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34440" y="5760720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08176" y="5760720"/>
            <a:ext cx="109728" cy="192024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81912" y="5760720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755648" y="5760720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29384" y="5760720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03120" y="5760720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76856" y="5760720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50592" y="5760720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24328" y="5760720"/>
            <a:ext cx="109728" cy="192024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98064" y="5760720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71800" y="5760720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145536" y="5760720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19272" y="5760720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93008" y="5760720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66744" y="5760720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40480" y="5760720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014216" y="5760720"/>
            <a:ext cx="109728" cy="192024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87952" y="5760720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61688" y="5760720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35424" y="5760720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09160" y="5760720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82896" y="5760720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056632" y="5760720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820863" y="56692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1600" dirty="0"/>
          </a:p>
        </p:txBody>
      </p:sp>
      <p:sp>
        <p:nvSpPr>
          <p:cNvPr id="52" name="Text 50"/>
          <p:cNvSpPr txBox="1"/>
          <p:nvPr/>
        </p:nvSpPr>
        <p:spPr>
          <a:xfrm>
            <a:off x="7820863" y="59984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FUTURE:M RADAR   ·   Q &amp; A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FUTURE:M RADAR — 프로젝트 발표</dc:title>
  <dc:subject>PptxGenJS Presentation</dc:subject>
  <dc:creator>FUTURE:M RADAR</dc:creator>
  <cp:lastModifiedBy>FUTURE:M RADAR</cp:lastModifiedBy>
  <cp:revision>1</cp:revision>
  <dcterms:created xsi:type="dcterms:W3CDTF">2026-09-10T08:05:56Z</dcterms:created>
  <dcterms:modified xsi:type="dcterms:W3CDTF">2026-09-10T08:05:56Z</dcterms:modified>
</cp:coreProperties>
</file>