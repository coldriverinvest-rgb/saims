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B070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E1621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수집 (공시 80 + 뉴스 38)</c:v>
                  </c:pt>
                  <c:pt idx="1">
                    <c:v>주요 공시 자동 판별</c:v>
                  </c:pt>
                  <c:pt idx="2">
                    <c:v>경영 브리핑 안건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</c:v>
                </c:pt>
                <c:pt idx="1">
                  <c:v>6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E1621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공시 건수</c:v>
                </c:pt>
              </c:strCache>
            </c:strRef>
          </c:tx>
          <c:spPr>
            <a:solidFill>
              <a:srgbClr val="B070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1621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070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4F6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E4F6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E4F6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E572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E4F6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E572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E4F6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3E4F62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에코프로비엠</c:v>
                  </c:pt>
                  <c:pt idx="1">
                    <c:v>현대차</c:v>
                  </c:pt>
                  <c:pt idx="2">
                    <c:v>삼성SDI</c:v>
                  </c:pt>
                  <c:pt idx="3">
                    <c:v>LG화학</c:v>
                  </c:pt>
                  <c:pt idx="4">
                    <c:v>포스코퓨처엠</c:v>
                  </c:pt>
                  <c:pt idx="5">
                    <c:v>SK온</c:v>
                  </c:pt>
                  <c:pt idx="6">
                    <c:v>포스코홀딩스</c:v>
                  </c:pt>
                  <c:pt idx="7">
                    <c:v>엘앤에프</c:v>
                  </c:pt>
                  <c:pt idx="8">
                    <c:v>LG에너지솔루션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</c:v>
                </c:pt>
                <c:pt idx="1">
                  <c:v>15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E1621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A556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FUTURE:M RADAR는 배터리 소재 밸류체인 9개사의 공시·뉴스·재무·주가·원자재를 자동으로 모아, 경영진이 판단해야 할 소수 안건으로 좁혀주는 플랫폼입니다. 오늘 보고는 현안, 솔루션, 효과와 결정 요청 순서로 진행하겠습니다.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장으로 요약하면 이렇습니다. 현안은 정보량 대비 판단 속도입니다. 대응은 판별과 해석의 자동화이고, 규칙을 고정해 일관성을 확보했습니다. 효과는 118건이 3건으로 좁혀지고 중요 공시는 5분 내 도달한다는 것입니다. 마지막 장에서 두 가지를 결정해 주시기를 요청드립니다.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현황입니다. 왼쪽이 기존 절차인데 다섯 단계 모두 사람 손을 거치고 기록도 남지 않습니다. 오른쪽이 그 결과인데 지연, 편차, 해석 부재 세 가지입니다. 특히 두 번째 편차는 담당자가 바뀔 때마다 판단 기준이 흔들린다는 뜻이라 경영 관점에서 더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오늘 보고의 핵심입니다. 최근 30일 동안 실제로 118건이 수집됐습니다. 이 중 자동 판별 규칙이 주요 공시로 걸러낸 것이 6건이고, 최종 경영 브리핑에 올라간 것이 3건입니다. 즉 97.5퍼센트는 경영진이 볼 필요가 없는 정보인데, 자동 선별이 없으면 그걸 가려내기 위해 사람이 전부 읽어야 합니다. 문제는 수집량이 아니라 선별입니다.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시스템은 다섯 개 화면으로 구성됩니다. 경영진이 가장 많이 보실 화면은 첫 번째 산업 인텔리전스와 두 번째 경쟁사 신호 히트맵입니다. 나머지 세 개는 실무 검증용입니다.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동작 원리는 네 단계입니다. 수집은 9개사를 병렬로 2.9초에 끝냅니다. 판별에서 118건이 6건으로 줄고, 해석 단계에서 AI가 자사 관점의 시사점을 붙입니다. 전달은 대시보드와 푸시 두 경로입니다. 경영 관점에서 중요한 건 아래 세 가지인데, 특히 판단 기준이 규칙으로 고정된다는 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실제 수집된 기업별 공시량입니다. 최근 30일 기준 에코프로비엠 16건, 현대차 15건이 가장 활발했고, 자사인 포스코퓨처엠은 8건입니다. 오른쪽 히트맵은 이 건수를 네 개 축으로 분류해 어느 영역에서 움직임이 있는지 한눈에 보여줍니다. 붉은 칸이 확인이 필요한 신호입니다.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신호를 발견한 다음이 중요합니다. 같은 화면 안에서 재무와 주가로 교차 검증할 수 있습니다. 오른쪽 원자재는 KOMIS 공개 시세를 한 시간마다 자동 수집하는데, 현재 리튬만 이력이 확보돼 있고 나머지는 축적 중입니다.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중요 공시는 사람이 찾으러 가는 게 아니라 밀어주는 게 맞다는 판단입니다. 5분마다 스캔해서 12개 유형에 걸리면 원문을 파싱하고 AI 분석을 붙여 텔레그램과 이메일로 동시에 보냅니다. 운영 관점에서 가장 중요한 건 중복 발송 차단인데, 복합 키로 이력을 남겨 재시작에도 안전합니다.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정량 효과입니다. 앞의 네 개는 시스템에서 직접 측정한 값이고, 마지막 월 30시간만 업무 기준 추정치입니다. 이 구분을 표에 그대로 표시했습니다. 오른쪽 정성 효과 중에서는 두 번째, 담당자가 바뀌어도 같은 기준이 적용된다는 점이 조직 관점에서 가장 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경영진 판단에 필요한 제약을 숨기지 않고 정리했습니다. 특히 위 두 가지가 중요한데, 하나는 외부 사이트 개편 시 수집이 멈춘다는 점이고, 다른 하나는 KOMIS 원자재 데이터의 재배포 허용 범위를 공식 확인해야 한다는 점입니다. 이건 법무 협조가 필요한 사항입니다.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로드맵은 3단계입니다. 1단계는 추가 투자 없이 지금 구성 그대로 담당 부서에서 바로 시작할 수 있습니다. 2단계부터 인프라 지원이 필요하고, 3단계는 2단계가 끝나야 의미가 있습니다. 오늘은 1단계 승인만 요청드립니다.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요청드리는 결정은 두 가지입니다. 첫째, 1단계 제한 운영 승인입니다. 추가 예산이 들지 않고 한 달 뒤 결과를 보고드리겠습니다. 둘째, 알림 수신 대상 지정입니다. 그리고 원자재 데이터 재배포 범위는 법무 확인이 선행되어야 한다는 점을 다시 말씀드립니다.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1179576"/>
            <a:ext cx="91440" cy="91440"/>
          </a:xfrm>
          <a:prstGeom prst="rect">
            <a:avLst/>
          </a:prstGeom>
          <a:solidFill>
            <a:srgbClr val="E0A76D"/>
          </a:solidFill>
          <a:ln w="12700">
            <a:solidFill>
              <a:srgbClr val="E0A7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11338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DECISION SUPPORT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664208"/>
            <a:ext cx="85953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spc="-6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FUTURE:M RADAR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68833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배터리 소재 산업 경쟁 인텔리전스 플랫폼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13232" y="3310128"/>
            <a:ext cx="822960" cy="18288"/>
          </a:xfrm>
          <a:prstGeom prst="rect">
            <a:avLst/>
          </a:prstGeom>
          <a:solidFill>
            <a:srgbClr val="B07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3584448"/>
            <a:ext cx="6949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쏟아지는 118건의 공시·뉴스를</a:t>
            </a:r>
            <a:endParaRPr lang="en-US" sz="21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경영진이 판단해야 할 3건으로 좁힙니다.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13232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0684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75588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3040" y="4956048"/>
            <a:ext cx="118872" cy="20802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50492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37944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25396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12848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00300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87752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75204" y="4956048"/>
            <a:ext cx="118872" cy="20802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62656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50108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5012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12464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99916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87368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74820" y="4956048"/>
            <a:ext cx="118872" cy="20802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62272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49724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37176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4628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12080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99532" y="4956048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3232" y="53583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118건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2633472" y="53583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 안건 3건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278063" y="1133856"/>
            <a:ext cx="18288" cy="4480560"/>
          </a:xfrm>
          <a:prstGeom prst="rect">
            <a:avLst/>
          </a:prstGeom>
          <a:solidFill>
            <a:srgbClr val="2B3A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643823" y="113385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대상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8643823" y="14081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[입력 필요]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643823" y="20299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보고자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8643823" y="23042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[입력 필요]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643823" y="292608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기준일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8643823" y="3200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9월 10일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643823" y="3822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출처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8643823" y="40965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OpenDART · 뉴스 RSS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금융 · KOMIS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13232" y="608990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자료의 수치는 2026년 9월 10일 시스템 실측값입니다.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8653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84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82496" y="1828800"/>
            <a:ext cx="16459" cy="841248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38528" y="1828800"/>
            <a:ext cx="62727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경쟁·고객사의 공시와 뉴스가 하루 100건 이상 쏟아지지만, 담당자가 수작업으로 확인해 경영 판단까지 최대 1일이 걸립니다. 판단 기준도 담당자 경험에 의존합니다.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926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82496" y="2889504"/>
            <a:ext cx="16459" cy="841248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38528" y="2889504"/>
            <a:ext cx="62727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수집·중복제거·중요도 판별·AI 해석·채널 전달을 자동화했습니다. 규칙은 12개 공시 유형과 4개 신호 축으로 고정해 사람이 바뀌어도 같은 기준이 적용됩니다.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9867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3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682496" y="3950208"/>
            <a:ext cx="16459" cy="841248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38528" y="3950208"/>
            <a:ext cx="62727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118건이 6건의 주요 공시로 자동 판별되고, 최종 3건이 경영 브리핑으로 올라옵니다. 중요 공시는 5분 이내에 Telegram·이메일로 자동 도달합니다.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522208" y="1773936"/>
            <a:ext cx="2944368" cy="3310128"/>
          </a:xfrm>
          <a:prstGeom prst="rect">
            <a:avLst/>
          </a:prstGeom>
          <a:solidFill>
            <a:srgbClr val="0E16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96528" y="20116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지표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796528" y="23957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118건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796528" y="27066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30일 수집량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796528" y="2962656"/>
            <a:ext cx="2377440" cy="10973"/>
          </a:xfrm>
          <a:prstGeom prst="rect">
            <a:avLst/>
          </a:prstGeom>
          <a:solidFill>
            <a:srgbClr val="2B3A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96528" y="30540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6건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796528" y="336499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판별 주요 공시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796528" y="3621024"/>
            <a:ext cx="2377440" cy="10973"/>
          </a:xfrm>
          <a:prstGeom prst="rect">
            <a:avLst/>
          </a:prstGeom>
          <a:solidFill>
            <a:srgbClr val="2B3A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96528" y="37124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3건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8796528" y="40233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 브리핑 안건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796528" y="4279392"/>
            <a:ext cx="2377440" cy="10973"/>
          </a:xfrm>
          <a:prstGeom prst="rect">
            <a:avLst/>
          </a:prstGeom>
          <a:solidFill>
            <a:srgbClr val="2B3A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96528" y="43708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2.9초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8796528" y="46817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9개사 전체 수집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3232" y="5358384"/>
            <a:ext cx="10765231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4128" y="5614416"/>
            <a:ext cx="91440" cy="91440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225296" y="55686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요청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2816352" y="55504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운영 전환 승인과 수신 대상 부서 지정 — 상세는 16페이지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1975104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0" b="1" dirty="0">
                <a:solidFill>
                  <a:srgbClr val="2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800" dirty="0"/>
          </a:p>
        </p:txBody>
      </p:sp>
      <p:sp>
        <p:nvSpPr>
          <p:cNvPr id="3" name="Shape 1"/>
          <p:cNvSpPr/>
          <p:nvPr/>
        </p:nvSpPr>
        <p:spPr>
          <a:xfrm>
            <a:off x="749808" y="3968496"/>
            <a:ext cx="118872" cy="11887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4224528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현안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495604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정보가 부족한 것이 아니라, 판단까지의 거리가 먼 것이 문제였습니다.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52360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39812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27264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14716" y="3054096"/>
            <a:ext cx="118872" cy="20802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2168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89620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77072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64524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51976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39428" y="3054096"/>
            <a:ext cx="118872" cy="20802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0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14332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01784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89236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76688" y="3054096"/>
            <a:ext cx="118872" cy="20802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64140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현황 진단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정보는 넘치고, 판단은 늦습니다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포스코퓨처엠 기준 배터리 소재 밸류체인 9개사 · 최근 30일 실측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1847088"/>
            <a:ext cx="4919472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42416" y="2103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확인 절차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42416" y="239572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반복되지만 어느 단계도 기록으로 남지 않습니다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42416" y="283464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499616" y="28163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 전자공시 개별 조회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99616" y="30540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9개사를 하나씩 검색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42416" y="3310128"/>
            <a:ext cx="4261104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2416" y="340156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499616" y="33832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포털 개별 검색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99616" y="36210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회사명 + 소재 키워드 조합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42416" y="3877056"/>
            <a:ext cx="4261104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42416" y="3968496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499616" y="39502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기사 육안 선별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99616" y="41879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이슈가 4~5개 매체로 재생산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42416" y="4443984"/>
            <a:ext cx="4261104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42416" y="4535424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499616" y="45171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중요도 판단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499616" y="47548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경험에 의존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42416" y="5010912"/>
            <a:ext cx="4261104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42416" y="5102352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84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499616" y="50840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메일·메신저 수동 공유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499616" y="53218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요약과 시사점을 매번 재작성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88736" y="1847088"/>
            <a:ext cx="5586984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81344" y="206654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181344" y="235915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8028432" y="20665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접수 → 경영진 인지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028432" y="2340864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계약·증자 공시는 당일 주가와 경쟁 대응에 직결되지만, 하루 1회 확인 주기라 다음 사이클로 밀립니다.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888736" y="3182112"/>
            <a:ext cx="5586984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181344" y="34015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편차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181344" y="36941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담당자별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8028432" y="34015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중요도 판단 기준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028432" y="3675888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위로 올릴지가 사람마다 다릅니다. 인수인계 시점마다 기준이 다시 흔들립니다.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888736" y="4517136"/>
            <a:ext cx="5586984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81344" y="47365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181344" y="502920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2400" dirty="0"/>
          </a:p>
        </p:txBody>
      </p:sp>
      <p:sp>
        <p:nvSpPr>
          <p:cNvPr id="42" name="Text 40"/>
          <p:cNvSpPr txBox="1"/>
          <p:nvPr/>
        </p:nvSpPr>
        <p:spPr>
          <a:xfrm>
            <a:off x="8028432" y="47365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원문에 담긴 자사 관점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8028432" y="5010912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 원문과 기사에는 ‘우리에게 어떤 의미인가’가 없습니다. 매번 사람이 다시 해석합니다.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문제의 구조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수집량이 아니라 선별이 병목입니다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9월 10일 · 9개사 · 최근 30일 시스템 실측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1847088"/>
            <a:ext cx="6492240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42416" y="2084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수집에서 경영 안건까지</a:t>
            </a:r>
            <a:endParaRPr lang="en-US" sz="13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914400" y="2487168"/>
          <a:ext cx="6089904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461504" y="1847088"/>
            <a:ext cx="4014216" cy="1865376"/>
          </a:xfrm>
          <a:prstGeom prst="rect">
            <a:avLst/>
          </a:prstGeom>
          <a:solidFill>
            <a:srgbClr val="0E16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0" y="215798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97.5%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28163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경영진이 보지 않아도 되는 비중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3108960"/>
            <a:ext cx="3401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118건 중 115건은 판단에 쓰이지 않지만, 자동 판별이 없으면 사람이 전부 읽어야 걸러집니다.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461504" y="3895344"/>
            <a:ext cx="4014216" cy="1865376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0" y="41148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선별의 기준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72400" y="4517136"/>
            <a:ext cx="64008" cy="64008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55280" y="44439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 유형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217152" y="44439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공급계약·시설투자·유상증자 등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772400" y="4919472"/>
            <a:ext cx="64008" cy="64008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55280" y="4846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신호 축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217152" y="48463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 · 투자 · 기술 · 리스크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772400" y="5321808"/>
            <a:ext cx="64008" cy="64008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55280" y="52486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 합산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217152" y="52486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리스크에 0.45 최대 가중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1975104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0" b="1" dirty="0">
                <a:solidFill>
                  <a:srgbClr val="2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800" dirty="0"/>
          </a:p>
        </p:txBody>
      </p:sp>
      <p:sp>
        <p:nvSpPr>
          <p:cNvPr id="3" name="Shape 1"/>
          <p:cNvSpPr/>
          <p:nvPr/>
        </p:nvSpPr>
        <p:spPr>
          <a:xfrm>
            <a:off x="749808" y="3968496"/>
            <a:ext cx="118872" cy="11887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4224528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495604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수집·판별·해석·전달을 분리해 자동화하고, 판단 기준을 규칙으로 고정했습니다.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52360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39812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27264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14716" y="3054096"/>
            <a:ext cx="118872" cy="20802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2168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89620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77072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64524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51976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39428" y="3054096"/>
            <a:ext cx="118872" cy="20802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0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14332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01784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89236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76688" y="3054096"/>
            <a:ext cx="118872" cy="20802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64140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시스템 개요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화면에서 공시·뉴스·재무·주가·원자재까지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13232" y="1700784"/>
            <a:ext cx="3310128" cy="422452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1956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426464" y="19385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인텔리전스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426464" y="2194560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9개사 통합 피드 · AI 데일리 브리핑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" y="2596896"/>
            <a:ext cx="2743200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27432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426464" y="27249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신호 히트맵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426464" y="2980944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축 · 30일 이벤트 자동 등급화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3383280"/>
            <a:ext cx="2743200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352958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426464" y="351129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재무분석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426464" y="376732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손익·재무상태·현금흐름 8분기 추이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4169664"/>
            <a:ext cx="2743200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43159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426464" y="42976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분석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426464" y="4553712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이동평균·RSI·경쟁사 상대수익률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05840" y="4956048"/>
            <a:ext cx="2743200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40" y="510235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426464" y="50840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원자재 가격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426464" y="534009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리튬·니켈·코발트·망간 시세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79392" y="1700784"/>
            <a:ext cx="7196328" cy="422452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53712" y="188366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인텔리전스 화면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53712" y="2176272"/>
            <a:ext cx="6647688" cy="3255264"/>
          </a:xfrm>
          <a:prstGeom prst="rect">
            <a:avLst/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</p:spPr>
      </p:sp>
      <p:pic>
        <p:nvPicPr>
          <p:cNvPr id="29" name="Image 0" descr="C:\Users\POSCOFUTUREM\AppData\Local\Temp\claude\C--Users-POSCOFUTUREM-Desktop-FUTURE-M-RADAR\03eb9f10-e059-4022-9426-4bcf8a16f4d4\scratchpad\assets\ma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3712" y="2176272"/>
            <a:ext cx="6647688" cy="324612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4553712" y="552297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AI 브리핑이 그날 확인할 3건을 선별하고, 하단에 DART 공시와 뉴스 피드가 병렬 표시됩니다.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동작 원리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· 판별 · 해석 · 전달의 4단계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단계를 분리해 한 소스가 바뀌어도 나머지를 건드리지 않습니다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1847088"/>
            <a:ext cx="2532888" cy="321868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0665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3957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27797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9개사 병렬 조회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7552" y="3108960"/>
            <a:ext cx="1984248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3273552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OpenDART 전자공시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RSS 수집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금융 시세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KOMIS 광물가격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87552" y="4517136"/>
            <a:ext cx="1984248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7552" y="4663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2.9초 / 9개사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47288" y="1847088"/>
            <a:ext cx="2532888" cy="321868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21608" y="20665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721608" y="23957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판별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3721608" y="27797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 선별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721608" y="3108960"/>
            <a:ext cx="1984248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21608" y="3273552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공시 12개 유형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중복 제거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신호 축 분류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가중 0.45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21608" y="4517136"/>
            <a:ext cx="1984248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21608" y="4663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118건 → 6건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81344" y="1847088"/>
            <a:ext cx="2532888" cy="321868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55664" y="20665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55664" y="23957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6455664" y="27797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구조화 분석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55664" y="3108960"/>
            <a:ext cx="1984248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55664" y="3273552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3문장 강제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 관점 시사점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수치 추출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스키마 검증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55664" y="4517136"/>
            <a:ext cx="1984248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55664" y="4663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링크 100%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915400" y="1847088"/>
            <a:ext cx="2532888" cy="3218688"/>
          </a:xfrm>
          <a:prstGeom prst="rect">
            <a:avLst/>
          </a:prstGeom>
          <a:solidFill>
            <a:srgbClr val="0E16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89720" y="20665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189720" y="23957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9189720" y="27797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자동 발송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189720" y="3108960"/>
            <a:ext cx="1984248" cy="10973"/>
          </a:xfrm>
          <a:prstGeom prst="rect">
            <a:avLst/>
          </a:prstGeom>
          <a:solidFill>
            <a:srgbClr val="2B3A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89720" y="3273552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상시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 푸시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이메일(SMTP)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발송 차단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89720" y="4517136"/>
            <a:ext cx="1984248" cy="10973"/>
          </a:xfrm>
          <a:prstGeom prst="rect">
            <a:avLst/>
          </a:prstGeom>
          <a:solidFill>
            <a:srgbClr val="2B3A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89720" y="4663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이내 도달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13232" y="5285232"/>
            <a:ext cx="107652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24128" y="54681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구조가 경영 관점에서 갖는 의미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828032" y="5541264"/>
            <a:ext cx="73152" cy="7315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010912" y="54772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기준이 고정된다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010912" y="57424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바뀌어도 같은 규칙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077456" y="5541264"/>
            <a:ext cx="73152" cy="7315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260336" y="54772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사라지지 않는다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7260336" y="57424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결론에 원문 링크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326880" y="5541264"/>
            <a:ext cx="73152" cy="7315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509760" y="54772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교체 비용이 낮다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509760" y="57424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모듈만 교체 가능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경쟁 모니터링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경쟁사가 무엇을 움직이고 있는가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30일 · 기업별 수집 공시 건수 실측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1847088"/>
            <a:ext cx="4864608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2066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기업별 공시 발생량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59536" y="2395728"/>
          <a:ext cx="4572000" cy="33101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833872" y="1847088"/>
            <a:ext cx="5641848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44768" y="2066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신호 히트맵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44768" y="2414016"/>
            <a:ext cx="5020056" cy="2999232"/>
          </a:xfrm>
          <a:prstGeom prst="rect">
            <a:avLst/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</p:spPr>
      </p:sp>
      <p:pic>
        <p:nvPicPr>
          <p:cNvPr id="13" name="Image 0" descr="C:\Users\POSCOFUTUREM\AppData\Local\Temp\claude\C--Users-POSCOFUTUREM-Desktop-FUTURE-M-RADAR\03eb9f10-e059-4022-9426-4bcf8a16f4d4\scratchpad\assets\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2414016"/>
            <a:ext cx="5020056" cy="299008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144768" y="55046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축으로 분류한 뒤 확인필요 / 관찰강화 / 일반 등급을 자동 부여합니다.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검증 도구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판단의 근거를 같은 화면에서 확인합니다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신호를 발견한 뒤 재무·주가·원자재로 곧바로 교차 검증합니다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1847088"/>
            <a:ext cx="6766560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0299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재무분석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913632" y="20482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OpenDART 8분기 손익·수익성·ROE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" y="2377440"/>
            <a:ext cx="6181344" cy="1188720"/>
          </a:xfrm>
          <a:prstGeom prst="rect">
            <a:avLst/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</p:spPr>
      </p:sp>
      <p:pic>
        <p:nvPicPr>
          <p:cNvPr id="11" name="Image 0" descr="C:\Users\POSCOFUTUREM\AppData\Local\Temp\claude\C--Users-POSCOFUTUREM-Desktop-FUTURE-M-RADAR\03eb9f10-e059-4022-9426-4bcf8a16f4d4\scratchpad\assets\fi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77440"/>
            <a:ext cx="6181344" cy="11887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13232" y="3858768"/>
            <a:ext cx="6766560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5840" y="4041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주가 비교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913632" y="40599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시작일 100 기준 상대수익률 순위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005840" y="4389120"/>
            <a:ext cx="6181344" cy="1188720"/>
          </a:xfrm>
          <a:prstGeom prst="rect">
            <a:avLst/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</p:spPr>
      </p:sp>
      <p:pic>
        <p:nvPicPr>
          <p:cNvPr id="16" name="Image 1" descr="C:\Users\POSCOFUTUREM\AppData\Local\Temp\claude\C--Users-POSCOFUTUREM-Desktop-FUTURE-M-RADAR\03eb9f10-e059-4022-9426-4bcf8a16f4d4\scratchpad\assets\st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389120"/>
            <a:ext cx="6181344" cy="11887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735824" y="1847088"/>
            <a:ext cx="3739896" cy="3877056"/>
          </a:xfrm>
          <a:prstGeom prst="rect">
            <a:avLst/>
          </a:prstGeom>
          <a:solidFill>
            <a:srgbClr val="0E16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028432" y="20848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원자재 가격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8028432" y="23774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KOMIS 공개 시세 자동 수집 · 1시간 주기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8028432" y="2834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리튬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9034272" y="2816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19.85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10314432" y="288950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USD/kg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8028432" y="3108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99.5%min CIF China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8028432" y="3346704"/>
            <a:ext cx="3108960" cy="10973"/>
          </a:xfrm>
          <a:prstGeom prst="rect">
            <a:avLst/>
          </a:prstGeom>
          <a:solidFill>
            <a:srgbClr val="2B3A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028432" y="3493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니켈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9034272" y="3474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10314432" y="354787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USD/mt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8028432" y="3767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 99.8%min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8028432" y="4005072"/>
            <a:ext cx="3108960" cy="10973"/>
          </a:xfrm>
          <a:prstGeom prst="rect">
            <a:avLst/>
          </a:prstGeom>
          <a:solidFill>
            <a:srgbClr val="2B3A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8028432" y="41513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코발트</a:t>
            </a:r>
            <a:endParaRPr lang="en-US" sz="1250" dirty="0"/>
          </a:p>
        </p:txBody>
      </p:sp>
      <p:sp>
        <p:nvSpPr>
          <p:cNvPr id="31" name="Text 27"/>
          <p:cNvSpPr txBox="1"/>
          <p:nvPr/>
        </p:nvSpPr>
        <p:spPr>
          <a:xfrm>
            <a:off x="9034272" y="41330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10314432" y="420624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USD/lb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8028432" y="44256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99.3%min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8028432" y="4663440"/>
            <a:ext cx="3108960" cy="10973"/>
          </a:xfrm>
          <a:prstGeom prst="rect">
            <a:avLst/>
          </a:prstGeom>
          <a:solidFill>
            <a:srgbClr val="2B3A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028432" y="48097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망간</a:t>
            </a:r>
            <a:endParaRPr lang="en-US" sz="1250" dirty="0"/>
          </a:p>
        </p:txBody>
      </p:sp>
      <p:sp>
        <p:nvSpPr>
          <p:cNvPr id="36" name="Text 32"/>
          <p:cNvSpPr txBox="1"/>
          <p:nvPr/>
        </p:nvSpPr>
        <p:spPr>
          <a:xfrm>
            <a:off x="9034272" y="4791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10314432" y="48646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USD/mt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8028432" y="50840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Mn 75%min EXW China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8028432" y="52669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리튬은 2026-09-09 공표가 기준.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8028432" y="54498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품목은 이력이 쌓이는 대로 표시됩니다.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자동 알림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 공시는 찾으러 가지 않아도 도착합니다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13232" y="1847088"/>
            <a:ext cx="1673352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02996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34086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주기 스캔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816352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9개사 당일 공시 조회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32888" y="1847088"/>
            <a:ext cx="1673352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52344" y="202996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752344" y="234086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공시 판별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752344" y="2816352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 유형 규칙 적용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52544" y="1847088"/>
            <a:ext cx="1673352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202996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34086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본문 수집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2816352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 뷰어 파싱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1847088"/>
            <a:ext cx="1673352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91656" y="202996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91656" y="234086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91656" y="2816352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3문장 · 핵심 수치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991856" y="1847088"/>
            <a:ext cx="1673352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11312" y="202996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211312" y="234086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발송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11312" y="2816352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 · 이메일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811512" y="1847088"/>
            <a:ext cx="1673352" cy="1536192"/>
          </a:xfrm>
          <a:prstGeom prst="rect">
            <a:avLst/>
          </a:prstGeom>
          <a:solidFill>
            <a:srgbClr val="0E16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30968" y="202996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030968" y="234086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기록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030968" y="2816352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발송 원천 차단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13232" y="3621024"/>
            <a:ext cx="5230368" cy="2139696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05840" y="3822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 결과 예시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4133088"/>
            <a:ext cx="4645152" cy="1426464"/>
          </a:xfrm>
          <a:prstGeom prst="rect">
            <a:avLst/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</p:spPr>
      </p:sp>
      <p:pic>
        <p:nvPicPr>
          <p:cNvPr id="33" name="Image 0" descr="C:\Users\POSCOFUTUREM\AppData\Local\Temp\claude\C--Users-POSCOFUTUREM-Desktop-FUTURE-M-RADAR\03eb9f10-e059-4022-9426-4bcf8a16f4d4\scratchpad\assets\ai-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2848" y="4133088"/>
            <a:ext cx="2231136" cy="1426464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6199632" y="3621024"/>
            <a:ext cx="527608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73952" y="3858768"/>
            <a:ext cx="73152" cy="7315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656832" y="3767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공시를 두 번 보내지 않습니다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6656832" y="400507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수신자·접수번호·채널 복합 키로 기록 — 재스캔·재시작에도 중복 발송 없음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199632" y="4352544"/>
            <a:ext cx="527608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473952" y="4590288"/>
            <a:ext cx="73152" cy="7315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656832" y="44988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 대상은 운영자가 직접 관리합니다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6656832" y="473659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화면에서 채널별 on/off · 테스트 발송으로 연결 상태 즉시 확인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6199632" y="5084064"/>
            <a:ext cx="527608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473952" y="5321808"/>
            <a:ext cx="73152" cy="7315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656832" y="52303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알림과 대시보드가 같은 기준을 씁니다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6656832" y="546811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화면·Telegram·이메일이 동일한 분석 결과와 DART 원문 링크를 공유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1975104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0" b="1" dirty="0">
                <a:solidFill>
                  <a:srgbClr val="2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800" dirty="0"/>
          </a:p>
        </p:txBody>
      </p:sp>
      <p:sp>
        <p:nvSpPr>
          <p:cNvPr id="3" name="Shape 1"/>
          <p:cNvSpPr/>
          <p:nvPr/>
        </p:nvSpPr>
        <p:spPr>
          <a:xfrm>
            <a:off x="749808" y="3968496"/>
            <a:ext cx="118872" cy="11887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4224528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효과와 결정 사항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495604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효과, 남아 있는 한계, 그리고 오늘 요청드리는 두 가지 결정입니다.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52360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39812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27264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14716" y="3054096"/>
            <a:ext cx="118872" cy="20802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2168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89620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77072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64524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51976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39428" y="3054096"/>
            <a:ext cx="118872" cy="20802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0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14332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01784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89236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76688" y="3054096"/>
            <a:ext cx="118872" cy="20802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64140" y="3054096"/>
            <a:ext cx="118872" cy="118872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도입 효과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얼마나 달라지는가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건수·시간 지표는 시스템 실측값, 인력 시간은 업무 기준 추정치입니다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1847088"/>
            <a:ext cx="6272784" cy="416966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20665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285232" y="21031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기준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542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대상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798064" y="25054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118건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151376" y="25237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47802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3건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281635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브리핑이 기업 중복을 피해 상위 3건 선별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833872" y="25603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3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24128" y="3072384"/>
            <a:ext cx="5650992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24128" y="32552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 공시 인지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798064" y="32186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151376" y="32369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319125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352958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 스캔 주기 기준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833872" y="32735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3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24128" y="3785616"/>
            <a:ext cx="5650992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24128" y="39684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9개사 수집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798064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151376" y="39502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39044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2.9초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424281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18개 요청 병렬 실행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833872" y="39867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3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24128" y="4498848"/>
            <a:ext cx="5650992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4128" y="46817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재조회 응답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798064" y="46451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재수집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151376" y="46634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46177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0.02초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495604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TTL 캐시 적용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833872" y="47000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3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24128" y="5212080"/>
            <a:ext cx="5650992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24128" y="53949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수집·정리 시간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2798064" y="53583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30시간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151376" y="53766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480560" y="53309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0시간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1024128" y="566928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수작업 기준 추정치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5833872" y="54132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42048" y="1847088"/>
            <a:ext cx="4233672" cy="416966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552944" y="20665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552944" y="2569464"/>
            <a:ext cx="73152" cy="7315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735824" y="25054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잃지 않는 요약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7735824" y="2779776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결론에 DART 원문·기사 링크가 남아 틀렸을 때 어디서 틀렸는지 되짚을 수 있습니다.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552944" y="3429000"/>
            <a:ext cx="73152" cy="7315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735824" y="33649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바뀌어도 같은 기준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7735824" y="3639312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중요도가 경험이 아니라 12개 유형과 4축 가중치 규칙으로 결정됩니다.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552944" y="4288536"/>
            <a:ext cx="73152" cy="7315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735824" y="42245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비전문가도 읽히는 형태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7735824" y="4498848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무슨 공시인가가 아니라 우리에게 어떤 의미인가를 세 문장으로 제시합니다.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552944" y="5148072"/>
            <a:ext cx="73152" cy="73152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735824" y="50840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단위 공유로 확장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7735824" y="5358384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개인이 찾아 공유하던 정보가 수신자 등록만으로 자동 전달됩니다.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한계와 전제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전 반드시 확인해야 할 사항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 적용 판단에 필요한 제약을 있는 그대로 정리했습니다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836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627632" y="18836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913632" y="188366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119872" y="18836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방향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2194560"/>
            <a:ext cx="10765231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24871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84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627632" y="24871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소스 의존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913632" y="2359152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금융 시세와 DART 뷰어 본문, KOMIS 시세는 공식 API가 아닌 공개 응답을 읽습니다. 해당 사이트가 개편되면 수집이 중단됩니다.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28432" y="2340864"/>
            <a:ext cx="14630" cy="566928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47888" y="235915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소스별 상태 표시와 실패 알림을 추가하고, 공식 데이터 제공 경로를 병행 검토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" y="3163824"/>
            <a:ext cx="10765231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" y="345643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84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627632" y="34564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KOMIS 재배포 허용 범위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913632" y="3328416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KOMIS 저작권 정책은 사내 이용·재배포에 제한을 명시합니다. 사내 운영 및 외부 공유 전 한국광해광업공단 확인이 필요합니다.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28432" y="3310128"/>
            <a:ext cx="14630" cy="566928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47888" y="332841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전환 전 이용 허락 범위 공식 확인 (법무 협조 필요)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" y="4133088"/>
            <a:ext cx="10765231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2688" y="442569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627632" y="44256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 가중치 미검증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13632" y="4297680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4축 가중치 0.2·0.2·0.15·0.45는 경험 기반 설정값으로, 정답 데이터로 검증한 적이 없습니다.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28432" y="4279392"/>
            <a:ext cx="14630" cy="566928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47888" y="42976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운영 로그를 축적해 실제 중요 이벤트와 대조 후 재조정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3232" y="5102352"/>
            <a:ext cx="10765231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2688" y="53949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627632" y="53949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인프라 부재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913632" y="5266944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로컬 실행을 전제로 구성돼 있어 테스트 코드와 배포 자동화가 없습니다.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28432" y="5248656"/>
            <a:ext cx="14630" cy="566928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47888" y="526694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서버 배포 시 테스트·모니터링·백업 체계 선행 구축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8E57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실행 계획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확산 로드맵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시점을 기준으로 한 단계별 범위와 선행 조건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1847088"/>
            <a:ext cx="3401568" cy="3584448"/>
          </a:xfrm>
          <a:prstGeom prst="rect">
            <a:avLst/>
          </a:prstGeom>
          <a:solidFill>
            <a:srgbClr val="0E16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20848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~ 1개월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3957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743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 운영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24128" y="3255264"/>
            <a:ext cx="2779776" cy="10973"/>
          </a:xfrm>
          <a:prstGeom prst="rect">
            <a:avLst/>
          </a:prstGeom>
          <a:solidFill>
            <a:srgbClr val="2B3A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3483864"/>
            <a:ext cx="64008" cy="64008"/>
          </a:xfrm>
          <a:prstGeom prst="rect">
            <a:avLst/>
          </a:prstGeom>
          <a:solidFill>
            <a:srgbClr val="E0A76D"/>
          </a:solidFill>
          <a:ln w="12700">
            <a:solidFill>
              <a:srgbClr val="E0A76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07008" y="3419856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구성 그대로 담당 부서 내 운영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24128" y="3995928"/>
            <a:ext cx="64008" cy="64008"/>
          </a:xfrm>
          <a:prstGeom prst="rect">
            <a:avLst/>
          </a:prstGeom>
          <a:solidFill>
            <a:srgbClr val="E0A76D"/>
          </a:solidFill>
          <a:ln w="12700">
            <a:solidFill>
              <a:srgbClr val="E0A7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07008" y="3931920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수신자 3~5명으로 알림 시범 발송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24128" y="4507992"/>
            <a:ext cx="64008" cy="64008"/>
          </a:xfrm>
          <a:prstGeom prst="rect">
            <a:avLst/>
          </a:prstGeom>
          <a:solidFill>
            <a:srgbClr val="E0A76D"/>
          </a:solidFill>
          <a:ln w="12700">
            <a:solidFill>
              <a:srgbClr val="E0A76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07008" y="4443984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KOMIS 이용 허락 범위 공식 확인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24128" y="4974336"/>
            <a:ext cx="2779776" cy="10973"/>
          </a:xfrm>
          <a:prstGeom prst="rect">
            <a:avLst/>
          </a:prstGeom>
          <a:solidFill>
            <a:srgbClr val="2B3A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24128" y="51206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 조건 없음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70832" y="1847088"/>
            <a:ext cx="3401568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81728" y="20848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~ 3개월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681728" y="23957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681728" y="2743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배포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4681728" y="3255264"/>
            <a:ext cx="2779776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1728" y="3483864"/>
            <a:ext cx="64008" cy="64008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64608" y="3419856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서버 배포 · 계정 접근 권한 적용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81728" y="3995928"/>
            <a:ext cx="64008" cy="64008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64608" y="3931920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코드 및 장애 모니터링 구축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81728" y="4507992"/>
            <a:ext cx="64008" cy="64008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64608" y="4443984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소스별 수집 상태 대시보드 추가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81728" y="4974336"/>
            <a:ext cx="2779776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81728" y="51206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지원 필요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28432" y="1847088"/>
            <a:ext cx="3401568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39328" y="20848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07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~ 6개월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339328" y="23957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7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339328" y="2743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고도화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8339328" y="3255264"/>
            <a:ext cx="2779776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39328" y="3483864"/>
            <a:ext cx="64008" cy="64008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22208" y="3419856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로그 기반 신호 가중치 재조정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339328" y="3995928"/>
            <a:ext cx="64008" cy="64008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522208" y="3931920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수주 파이프라인 연계 검토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339328" y="4507992"/>
            <a:ext cx="64008" cy="64008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522208" y="4443984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경영회의 정례 보고 포맷 표준화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339328" y="4974336"/>
            <a:ext cx="2779776" cy="10973"/>
          </a:xfrm>
          <a:prstGeom prst="rect">
            <a:avLst/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339328" y="51206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87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완료 전제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13232" y="5669280"/>
            <a:ext cx="10765231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24128" y="5888736"/>
            <a:ext cx="82296" cy="82296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225296" y="583387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1단계는 추가 투자 없이 즉시 착수 가능하며, 2단계 진입 여부는 1단계 운영 결과를 보고 재검토합니다.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98348"/>
            <a:ext cx="82296" cy="82296"/>
          </a:xfrm>
          <a:prstGeom prst="rect">
            <a:avLst/>
          </a:prstGeom>
          <a:solidFill>
            <a:srgbClr val="E0A76D"/>
          </a:solidFill>
          <a:ln w="12700">
            <a:solidFill>
              <a:srgbClr val="E0A7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45720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 REQUEST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68096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요청드리는 결정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13232" y="1700784"/>
            <a:ext cx="5294376" cy="2615184"/>
          </a:xfrm>
          <a:prstGeom prst="rect">
            <a:avLst/>
          </a:prstGeom>
          <a:solidFill>
            <a:srgbClr val="1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95681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95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제한 운영 승인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907792"/>
            <a:ext cx="4553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구성 그대로 담당 부서 내 운영을 시작합니다. 추가 예산이나 인프라 투자는 필요하지 않으며, 1개월 후 운영 결과를 보고드립니다.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3803904"/>
            <a:ext cx="4526280" cy="10973"/>
          </a:xfrm>
          <a:prstGeom prst="rect">
            <a:avLst/>
          </a:prstGeom>
          <a:solidFill>
            <a:srgbClr val="2B3A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39502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사항 : 운영 착수 승인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81344" y="1700784"/>
            <a:ext cx="5294376" cy="2615184"/>
          </a:xfrm>
          <a:prstGeom prst="rect">
            <a:avLst/>
          </a:prstGeom>
          <a:solidFill>
            <a:srgbClr val="1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65392" y="195681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2395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수신 대상 지정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2907792"/>
            <a:ext cx="4553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 공시 자동 알림을 받을 임원 및 담당 부서를 지정해 주시기 바랍니다. 수신자별로 Telegram·이메일 채널을 개별 설정합니다.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65392" y="3803904"/>
            <a:ext cx="4526280" cy="10973"/>
          </a:xfrm>
          <a:prstGeom prst="rect">
            <a:avLst/>
          </a:prstGeom>
          <a:solidFill>
            <a:srgbClr val="2B3A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65392" y="39502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사항 : 수신 대상 3~5명 지정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3232" y="4590288"/>
            <a:ext cx="10765231" cy="786384"/>
          </a:xfrm>
          <a:prstGeom prst="rect">
            <a:avLst/>
          </a:prstGeom>
          <a:solidFill>
            <a:srgbClr val="1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7914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E0A7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 확인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724912" y="477316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FAD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원자재(KOMIS) 데이터의 사내 이용·재배포 허용 범위는 운영 전환 전 한국광해광업공단 확인이 필요합니다. 확인 완료 시까지 해당 화면은 내부 참고용으로만 사용합니다.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3232" y="5742432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5742432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704" y="5742432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34440" y="5742432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08176" y="5742432"/>
            <a:ext cx="109728" cy="192024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912" y="5742432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55648" y="5742432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9384" y="5742432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03120" y="5742432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76856" y="5742432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5742432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24328" y="5742432"/>
            <a:ext cx="109728" cy="192024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98064" y="5742432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71800" y="5742432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45536" y="5742432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19272" y="5742432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93008" y="5742432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66744" y="5742432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0" y="5742432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14216" y="5742432"/>
            <a:ext cx="109728" cy="192024"/>
          </a:xfrm>
          <a:prstGeom prst="rect">
            <a:avLst/>
          </a:prstGeom>
          <a:solidFill>
            <a:srgbClr val="B0703A"/>
          </a:solidFill>
          <a:ln w="12700">
            <a:solidFill>
              <a:srgbClr val="B070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87952" y="5742432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61688" y="5742432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35424" y="5742432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9160" y="5742432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82896" y="5742432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56632" y="5742432"/>
            <a:ext cx="109728" cy="109728"/>
          </a:xfrm>
          <a:prstGeom prst="rect">
            <a:avLst/>
          </a:prstGeom>
          <a:solidFill>
            <a:srgbClr val="2B3A4B"/>
          </a:solidFill>
          <a:ln w="12700">
            <a:solidFill>
              <a:srgbClr val="2B3A4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820863" y="5687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FUTURE:M RADAR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7820863" y="59984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배터리 소재 산업 경쟁 인텔리전스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381183" y="6382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FUTURE:M RADAR — 경영진 의사결정 지원</dc:title>
  <dc:subject>PptxGenJS Presentation</dc:subject>
  <dc:creator>FUTURE:M RADAR</dc:creator>
  <cp:lastModifiedBy>FUTURE:M RADAR</cp:lastModifiedBy>
  <cp:revision>1</cp:revision>
  <dcterms:created xsi:type="dcterms:W3CDTF">2026-09-10T07:50:59Z</dcterms:created>
  <dcterms:modified xsi:type="dcterms:W3CDTF">2026-09-10T07:50:59Z</dcterms:modified>
</cp:coreProperties>
</file>